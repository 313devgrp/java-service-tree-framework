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9" r:id="rId1"/>
  </p:sldMasterIdLst>
  <p:notesMasterIdLst>
    <p:notesMasterId r:id="rId49"/>
  </p:notesMasterIdLst>
  <p:sldIdLst>
    <p:sldId id="256" r:id="rId2"/>
    <p:sldId id="275" r:id="rId3"/>
    <p:sldId id="276" r:id="rId4"/>
    <p:sldId id="277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309" r:id="rId14"/>
    <p:sldId id="305" r:id="rId15"/>
    <p:sldId id="310" r:id="rId16"/>
    <p:sldId id="311" r:id="rId17"/>
    <p:sldId id="306" r:id="rId18"/>
    <p:sldId id="307" r:id="rId19"/>
    <p:sldId id="308" r:id="rId20"/>
    <p:sldId id="278" r:id="rId21"/>
    <p:sldId id="279" r:id="rId22"/>
    <p:sldId id="312" r:id="rId23"/>
    <p:sldId id="280" r:id="rId24"/>
    <p:sldId id="281" r:id="rId25"/>
    <p:sldId id="283" r:id="rId26"/>
    <p:sldId id="284" r:id="rId27"/>
    <p:sldId id="285" r:id="rId28"/>
    <p:sldId id="286" r:id="rId29"/>
    <p:sldId id="287" r:id="rId30"/>
    <p:sldId id="288" r:id="rId31"/>
    <p:sldId id="289" r:id="rId32"/>
    <p:sldId id="290" r:id="rId33"/>
    <p:sldId id="292" r:id="rId34"/>
    <p:sldId id="291" r:id="rId35"/>
    <p:sldId id="313" r:id="rId36"/>
    <p:sldId id="282" r:id="rId37"/>
    <p:sldId id="325" r:id="rId38"/>
    <p:sldId id="293" r:id="rId39"/>
    <p:sldId id="294" r:id="rId40"/>
    <p:sldId id="301" r:id="rId41"/>
    <p:sldId id="326" r:id="rId42"/>
    <p:sldId id="327" r:id="rId43"/>
    <p:sldId id="328" r:id="rId44"/>
    <p:sldId id="329" r:id="rId45"/>
    <p:sldId id="330" r:id="rId46"/>
    <p:sldId id="331" r:id="rId47"/>
    <p:sldId id="332" r:id="rId48"/>
  </p:sldIdLst>
  <p:sldSz cx="12192000" cy="6858000"/>
  <p:notesSz cx="6858000" cy="12192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132" y="4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>
                <a:latin typeface="프리젠테이션 5 Medium" pitchFamily="2" charset="-127"/>
                <a:ea typeface="프리젠테이션 5 Medium" pitchFamily="2" charset="-127"/>
              </a:rPr>
              <a:t>shell </a:t>
            </a:r>
            <a:r>
              <a:rPr lang="ko-KR" altLang="en-US" sz="1200" dirty="0">
                <a:latin typeface="프리젠테이션 5 Medium" pitchFamily="2" charset="-127"/>
                <a:ea typeface="프리젠테이션 5 Medium" pitchFamily="2" charset="-127"/>
              </a:rPr>
              <a:t>에 </a:t>
            </a:r>
            <a:r>
              <a:rPr lang="ko-KR" altLang="en-US" sz="1200" dirty="0" err="1">
                <a:latin typeface="프리젠테이션 5 Medium" pitchFamily="2" charset="-127"/>
                <a:ea typeface="프리젠테이션 5 Medium" pitchFamily="2" charset="-127"/>
              </a:rPr>
              <a:t>복붙</a:t>
            </a:r>
            <a:r>
              <a:rPr lang="ko-KR" altLang="en-US" sz="1200" dirty="0">
                <a:latin typeface="프리젠테이션 5 Medium" pitchFamily="2" charset="-127"/>
                <a:ea typeface="프리젠테이션 5 Medium" pitchFamily="2" charset="-127"/>
              </a:rPr>
              <a:t> 할 것</a:t>
            </a:r>
            <a:r>
              <a:rPr lang="en-US" altLang="ko-KR" sz="1200" dirty="0">
                <a:latin typeface="프리젠테이션 5 Medium" pitchFamily="2" charset="-127"/>
                <a:ea typeface="프리젠테이션 5 Medium" pitchFamily="2" charset="-127"/>
              </a:rPr>
              <a:t>. Win, mac</a:t>
            </a:r>
            <a:r>
              <a:rPr lang="ko-KR" altLang="en-US" sz="1200" dirty="0">
                <a:latin typeface="프리젠테이션 5 Medium" pitchFamily="2" charset="-127"/>
                <a:ea typeface="프리젠테이션 5 Medium" pitchFamily="2" charset="-127"/>
              </a:rPr>
              <a:t>도 모를 수 있으니</a:t>
            </a:r>
            <a:endParaRPr lang="en-US" altLang="ko-KR" sz="1200" dirty="0"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>
          <a:extLst>
            <a:ext uri="{FF2B5EF4-FFF2-40B4-BE49-F238E27FC236}">
              <a16:creationId xmlns:a16="http://schemas.microsoft.com/office/drawing/2014/main" id="{C59E2C7F-FD25-4611-DE02-6BFD5D4CD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>
            <a:extLst>
              <a:ext uri="{FF2B5EF4-FFF2-40B4-BE49-F238E27FC236}">
                <a16:creationId xmlns:a16="http://schemas.microsoft.com/office/drawing/2014/main" id="{5210D5BC-B106-53EC-E4D4-0B3A4516D9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>
            <a:extLst>
              <a:ext uri="{FF2B5EF4-FFF2-40B4-BE49-F238E27FC236}">
                <a16:creationId xmlns:a16="http://schemas.microsoft.com/office/drawing/2014/main" id="{12D0175A-4A0F-83BF-9766-5B7F06D10C0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>
            <a:extLst>
              <a:ext uri="{FF2B5EF4-FFF2-40B4-BE49-F238E27FC236}">
                <a16:creationId xmlns:a16="http://schemas.microsoft.com/office/drawing/2014/main" id="{78066F8A-37B0-84F1-EC37-D089A3AD661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542099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" name="Google Shape;38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2" name="Google Shape;62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5" name="Google Shape;105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1" name="Google Shape;141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3" name="Google Shape;173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9" name="Google Shape;199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" name="Google Shape;200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0" name="Google Shape;230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5" name="Google Shape;255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>
          <a:extLst>
            <a:ext uri="{FF2B5EF4-FFF2-40B4-BE49-F238E27FC236}">
              <a16:creationId xmlns:a16="http://schemas.microsoft.com/office/drawing/2014/main" id="{6FD17F9F-B4B9-1CE7-621F-9FF20D479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>
            <a:extLst>
              <a:ext uri="{FF2B5EF4-FFF2-40B4-BE49-F238E27FC236}">
                <a16:creationId xmlns:a16="http://schemas.microsoft.com/office/drawing/2014/main" id="{1624F3B6-4843-797B-DC06-24E38F65317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>
            <a:extLst>
              <a:ext uri="{FF2B5EF4-FFF2-40B4-BE49-F238E27FC236}">
                <a16:creationId xmlns:a16="http://schemas.microsoft.com/office/drawing/2014/main" id="{A74498B8-577F-9A4A-C390-FB31E6884B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>
            <a:extLst>
              <a:ext uri="{FF2B5EF4-FFF2-40B4-BE49-F238E27FC236}">
                <a16:creationId xmlns:a16="http://schemas.microsoft.com/office/drawing/2014/main" id="{5B306417-8FCB-FB08-6A6D-E03F006D509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4401843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3993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F10AD-D58D-AFA0-7422-EF35785A6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813EA5-7C36-76C4-13E5-7E7A871245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E4AE5C-0C93-B2A2-0B27-E0A643AC4A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77CF53-3741-759D-BC7B-A99CB0729D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627837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8820B3-9FA4-F18B-EED7-5350E02A5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6C7D30-7EF0-2FFC-6064-C05B91C893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D5F6CB-3B1C-EF9F-7DAF-4D0D4205D8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42B2E-0B04-0651-2CD5-C565FDA07E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00422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27666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61208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830425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994826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294391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>
          <a:extLst>
            <a:ext uri="{FF2B5EF4-FFF2-40B4-BE49-F238E27FC236}">
              <a16:creationId xmlns:a16="http://schemas.microsoft.com/office/drawing/2014/main" id="{7FEBBA35-376F-FADB-0DFA-FAB9DF32D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>
            <a:extLst>
              <a:ext uri="{FF2B5EF4-FFF2-40B4-BE49-F238E27FC236}">
                <a16:creationId xmlns:a16="http://schemas.microsoft.com/office/drawing/2014/main" id="{6F035ABC-8A56-6FB3-B4A1-9F9571BBA0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>
            <a:extLst>
              <a:ext uri="{FF2B5EF4-FFF2-40B4-BE49-F238E27FC236}">
                <a16:creationId xmlns:a16="http://schemas.microsoft.com/office/drawing/2014/main" id="{88FB738D-FA5C-A129-279F-80EF23FE72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>
            <a:extLst>
              <a:ext uri="{FF2B5EF4-FFF2-40B4-BE49-F238E27FC236}">
                <a16:creationId xmlns:a16="http://schemas.microsoft.com/office/drawing/2014/main" id="{52B90AB7-4DEF-5126-C3F7-442DC233C16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9626013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67071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465105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649714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38516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72443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747064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51968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379060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278204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12258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46167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20037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>
          <a:extLst>
            <a:ext uri="{FF2B5EF4-FFF2-40B4-BE49-F238E27FC236}">
              <a16:creationId xmlns:a16="http://schemas.microsoft.com/office/drawing/2014/main" id="{BDF73409-2011-02DE-764E-1A9E94532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>
            <a:extLst>
              <a:ext uri="{FF2B5EF4-FFF2-40B4-BE49-F238E27FC236}">
                <a16:creationId xmlns:a16="http://schemas.microsoft.com/office/drawing/2014/main" id="{439B88CE-3B17-6AFA-B22F-3C4D9BE6B7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>
            <a:extLst>
              <a:ext uri="{FF2B5EF4-FFF2-40B4-BE49-F238E27FC236}">
                <a16:creationId xmlns:a16="http://schemas.microsoft.com/office/drawing/2014/main" id="{1CAFDBB7-3F5A-8AAD-0E1D-87549923B9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>
            <a:extLst>
              <a:ext uri="{FF2B5EF4-FFF2-40B4-BE49-F238E27FC236}">
                <a16:creationId xmlns:a16="http://schemas.microsoft.com/office/drawing/2014/main" id="{DAE2FD32-DF76-3F25-C8A3-EAA0B5D03E9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114889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782404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0D0FB-0FDD-BF70-3080-82D2D455D0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A40674-336F-882F-FDB4-6D77296A3B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99426E-45E9-2126-3D30-A3736A21A5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0057C3-323E-93AB-9EFD-C3763B7D4C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680956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56131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685263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E91F6-FCCE-DF5E-CFA1-9ABF93C1CD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2B8648-D0C7-3223-C9EF-F1FC2D763B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18DFD6-9868-5CDF-3B0E-7284024F1F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DBD018-369A-E56F-6E45-77E64912981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741154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C51DD-8596-E421-DB2E-BCDA9A452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77E99A-F644-F003-A6C9-9994CB9233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63AFF7-FD0B-AF79-0334-ED4BA08CED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7EB1B3-0F86-FDC9-4E9A-F2DDBA8427C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42443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3A93D-AC63-770D-3FD0-67324B732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36EA31-DDE8-F65A-4D84-FFEBD8B0C6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90D024-2D4F-0692-F95B-064ECBDAD0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0C114B-B2E3-B92E-97D8-892B9FD5A68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446563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AC5C56-FC34-AE59-9E0E-B771C334D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831D14-B388-AD43-4D28-43802AC320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32BDA5-9FBB-594C-521F-AC6D60E736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F3DF64-C569-78C6-A7E2-231F16A6D4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641981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7ED6D-313B-2C88-A6B3-3853F9B0B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47A0F7-3E04-4C97-12C8-C2DB55651E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BC74D7-795F-44B6-5558-234715B18F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CA4EDC-26E7-1FD4-2DB0-F699EAB8472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160789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00975-7B66-72BB-D7CC-206A77E9A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BF7F9F-7592-AA3C-7CAF-6444B9175F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8D84FD-1DB5-CF63-8605-191FB8EF62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18FDDF-3676-68C9-75E5-534D3EADF3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775837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EF570A-896F-4323-3845-14F0B6A4A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E26B77-558A-6A55-111A-0939AC52F5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A72563-2894-F58D-87AF-630096B4DE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EAF013-93A3-5259-9812-717381E8F42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24662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17B93-6434-5FAB-5B6A-E63504B90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7F48F5-B198-55F4-C0B6-B84083A99E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EC4718-084A-A456-5C50-B3B7476A39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35C4DE-914F-B703-8AA7-DFB52445AF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98468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with_summary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F5837C8-A634-463F-8402-E4EF2F987E9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341313"/>
            <a:ext cx="10944225" cy="4587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프리젠테이션 6 SemiBold" pitchFamily="2" charset="-127"/>
                <a:ea typeface="프리젠테이션 6 SemiBold" pitchFamily="2" charset="-127"/>
              </a:defRPr>
            </a:lvl1pPr>
          </a:lstStyle>
          <a:p>
            <a:pPr lvl="0"/>
            <a:r>
              <a:rPr lang="ko-KR" altLang="en-US" dirty="0"/>
              <a:t>마스터 텍스트 스타일 편집</a:t>
            </a:r>
          </a:p>
        </p:txBody>
      </p:sp>
      <p:sp>
        <p:nvSpPr>
          <p:cNvPr id="2" name="내용 개체 틀 6">
            <a:extLst>
              <a:ext uri="{FF2B5EF4-FFF2-40B4-BE49-F238E27FC236}">
                <a16:creationId xmlns:a16="http://schemas.microsoft.com/office/drawing/2014/main" id="{68906FBF-DA87-1C5D-400A-E2B18694122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23888" y="908050"/>
            <a:ext cx="10944225" cy="542378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Char char="•"/>
              <a:defRPr sz="1300">
                <a:latin typeface="프리젠테이션 5 Medium" pitchFamily="2" charset="-127"/>
                <a:ea typeface="프리젠테이션 5 Medium" pitchFamily="2" charset="-127"/>
              </a:defRPr>
            </a:lvl1pPr>
          </a:lstStyle>
          <a:p>
            <a:pPr lvl="0"/>
            <a:r>
              <a:rPr lang="en-US" altLang="ko-KR" dirty="0"/>
              <a:t> </a:t>
            </a:r>
            <a:r>
              <a:rPr lang="ko-KR" altLang="en-US" dirty="0"/>
              <a:t>요약</a:t>
            </a:r>
            <a:endParaRPr lang="en-US" altLang="ko-KR" dirty="0"/>
          </a:p>
          <a:p>
            <a:pPr lvl="0"/>
            <a:r>
              <a:rPr lang="ko-KR" altLang="en-US" dirty="0"/>
              <a:t> 요약</a:t>
            </a:r>
          </a:p>
        </p:txBody>
      </p:sp>
    </p:spTree>
    <p:extLst>
      <p:ext uri="{BB962C8B-B14F-4D97-AF65-F5344CB8AC3E}">
        <p14:creationId xmlns:p14="http://schemas.microsoft.com/office/powerpoint/2010/main" val="42332122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orient="horz" pos="572">
          <p15:clr>
            <a:srgbClr val="FBAE40"/>
          </p15:clr>
        </p15:guide>
        <p15:guide id="3" pos="393">
          <p15:clr>
            <a:srgbClr val="FBAE40"/>
          </p15:clr>
        </p15:guide>
        <p15:guide id="4" pos="7287">
          <p15:clr>
            <a:srgbClr val="FBAE40"/>
          </p15:clr>
        </p15:guide>
        <p15:guide id="5" orient="horz" pos="210">
          <p15:clr>
            <a:srgbClr val="FBAE40"/>
          </p15:clr>
        </p15:guide>
        <p15:guide id="6" orient="horz" pos="504">
          <p15:clr>
            <a:srgbClr val="FBAE40"/>
          </p15:clr>
        </p15:guide>
        <p15:guide id="7" orient="horz" pos="913">
          <p15:clr>
            <a:srgbClr val="FBAE40"/>
          </p15:clr>
        </p15:guide>
        <p15:guide id="8" orient="horz" pos="98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F5837C8-A634-463F-8402-E4EF2F987E9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448700"/>
            <a:ext cx="10944225" cy="4587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프리젠테이션 6 SemiBold" pitchFamily="2" charset="-127"/>
                <a:ea typeface="프리젠테이션 6 SemiBold" pitchFamily="2" charset="-127"/>
              </a:defRPr>
            </a:lvl1pPr>
          </a:lstStyle>
          <a:p>
            <a:pPr lvl="0"/>
            <a:r>
              <a:rPr lang="ko-KR" altLang="en-US" dirty="0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8003506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orient="horz" pos="572">
          <p15:clr>
            <a:srgbClr val="FBAE40"/>
          </p15:clr>
        </p15:guide>
        <p15:guide id="3" pos="393">
          <p15:clr>
            <a:srgbClr val="FBAE40"/>
          </p15:clr>
        </p15:guide>
        <p15:guide id="4" pos="7287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8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6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7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github.com/313DEVGRP/Java-Service-Tree-Framework" TargetMode="Externa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01C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822960" y="822960"/>
            <a:ext cx="2286000" cy="566928"/>
          </a:xfrm>
          <a:prstGeom prst="roundRect">
            <a:avLst>
              <a:gd name="adj" fmla="val 14516"/>
            </a:avLst>
          </a:prstGeom>
          <a:solidFill>
            <a:srgbClr val="2C292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3"/>
          <p:cNvSpPr/>
          <p:nvPr/>
        </p:nvSpPr>
        <p:spPr>
          <a:xfrm>
            <a:off x="987552" y="1060704"/>
            <a:ext cx="100584" cy="100584"/>
          </a:xfrm>
          <a:prstGeom prst="ellipse">
            <a:avLst/>
          </a:prstGeom>
          <a:solidFill>
            <a:srgbClr val="E8695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3"/>
          <p:cNvSpPr/>
          <p:nvPr/>
        </p:nvSpPr>
        <p:spPr>
          <a:xfrm>
            <a:off x="1188720" y="1060704"/>
            <a:ext cx="100584" cy="100584"/>
          </a:xfrm>
          <a:prstGeom prst="ellipse">
            <a:avLst/>
          </a:prstGeom>
          <a:solidFill>
            <a:srgbClr val="F0B95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3"/>
          <p:cNvSpPr/>
          <p:nvPr/>
        </p:nvSpPr>
        <p:spPr>
          <a:xfrm>
            <a:off x="1389888" y="1060704"/>
            <a:ext cx="100584" cy="100584"/>
          </a:xfrm>
          <a:prstGeom prst="ellipse">
            <a:avLst/>
          </a:prstGeom>
          <a:solidFill>
            <a:srgbClr val="8FBF6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3"/>
          <p:cNvSpPr/>
          <p:nvPr/>
        </p:nvSpPr>
        <p:spPr>
          <a:xfrm>
            <a:off x="1600200" y="822960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400"/>
              <a:buFont typeface="Courier New"/>
              <a:buNone/>
            </a:pPr>
            <a:r>
              <a:rPr lang="en-US" sz="1400" b="0" i="0" u="none" strike="noStrike" cap="none">
                <a:solidFill>
                  <a:srgbClr val="D97757"/>
                </a:solidFill>
                <a:latin typeface="Courier New"/>
                <a:ea typeface="Courier New"/>
                <a:cs typeface="Courier New"/>
                <a:sym typeface="Courier New"/>
              </a:rPr>
              <a:t>$ </a:t>
            </a:r>
            <a:r>
              <a:rPr lang="en-US" sz="1400" b="0" i="0" u="none" strike="noStrike" cap="none">
                <a:solidFill>
                  <a:srgbClr val="E8E3DB"/>
                </a:solidFill>
                <a:latin typeface="Courier New"/>
                <a:ea typeface="Courier New"/>
                <a:cs typeface="Courier New"/>
                <a:sym typeface="Courier New"/>
              </a:rPr>
              <a:t>claude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700"/>
              <a:buFont typeface="Malgun Gothic"/>
              <a:buNone/>
            </a:pPr>
            <a:r>
              <a:rPr lang="en-US" sz="47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Multi Agent + Sub Agent </a:t>
            </a:r>
            <a:br>
              <a:rPr lang="en-US" sz="47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lang="en-US" sz="47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설치 및 세팅 가이드</a:t>
            </a:r>
            <a:endParaRPr sz="4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841248" y="352044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9B2A7"/>
              </a:buClr>
              <a:buSzPts val="1700"/>
              <a:buFont typeface="Malgun Gothic"/>
              <a:buNone/>
            </a:pPr>
            <a:r>
              <a:rPr lang="en-US" sz="1700" b="0" i="0" u="none" strike="noStrike" cap="none">
                <a:solidFill>
                  <a:srgbClr val="B9B2A7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개발팀 온보딩  ·  처음 쓰는 분도 그대로 따라 하면 완료됩니다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/>
          <p:nvPr/>
        </p:nvSpPr>
        <p:spPr>
          <a:xfrm>
            <a:off x="841248" y="402336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A8378"/>
              </a:buClr>
              <a:buSzPts val="1300"/>
              <a:buFont typeface="Malgun Gothic"/>
              <a:buNone/>
            </a:pPr>
            <a:r>
              <a:rPr lang="en-US" sz="1300" b="0" i="0" u="none" strike="noStrike" cap="none">
                <a:solidFill>
                  <a:srgbClr val="8A8378"/>
                </a:solidFill>
                <a:latin typeface="Malgun Gothic"/>
                <a:ea typeface="Malgun Gothic"/>
                <a:cs typeface="Malgun Gothic"/>
                <a:sym typeface="Malgun Gothic"/>
              </a:rPr>
              <a:t>소요 시간 약 20~30분  ·  명령어는 모두 복사해서 붙여넣으면 됩니다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3"/>
          <p:cNvSpPr/>
          <p:nvPr/>
        </p:nvSpPr>
        <p:spPr>
          <a:xfrm>
            <a:off x="8229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5;p3"/>
          <p:cNvSpPr/>
          <p:nvPr/>
        </p:nvSpPr>
        <p:spPr>
          <a:xfrm>
            <a:off x="9692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01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설치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3"/>
          <p:cNvSpPr/>
          <p:nvPr/>
        </p:nvSpPr>
        <p:spPr>
          <a:xfrm>
            <a:off x="26517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3"/>
          <p:cNvSpPr/>
          <p:nvPr/>
        </p:nvSpPr>
        <p:spPr>
          <a:xfrm>
            <a:off x="27980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02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실행·로그인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3"/>
          <p:cNvSpPr/>
          <p:nvPr/>
        </p:nvSpPr>
        <p:spPr>
          <a:xfrm>
            <a:off x="44805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3"/>
          <p:cNvSpPr/>
          <p:nvPr/>
        </p:nvSpPr>
        <p:spPr>
          <a:xfrm>
            <a:off x="46268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03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IntelliJ 연동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3"/>
          <p:cNvSpPr/>
          <p:nvPr/>
        </p:nvSpPr>
        <p:spPr>
          <a:xfrm>
            <a:off x="63093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3"/>
          <p:cNvSpPr/>
          <p:nvPr/>
        </p:nvSpPr>
        <p:spPr>
          <a:xfrm>
            <a:off x="64556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04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환경설정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3"/>
          <p:cNvSpPr/>
          <p:nvPr/>
        </p:nvSpPr>
        <p:spPr>
          <a:xfrm>
            <a:off x="81381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3"/>
          <p:cNvSpPr/>
          <p:nvPr/>
        </p:nvSpPr>
        <p:spPr>
          <a:xfrm>
            <a:off x="82844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05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설정 확인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3"/>
          <p:cNvSpPr/>
          <p:nvPr/>
        </p:nvSpPr>
        <p:spPr>
          <a:xfrm>
            <a:off x="99669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3"/>
          <p:cNvSpPr/>
          <p:nvPr/>
        </p:nvSpPr>
        <p:spPr>
          <a:xfrm>
            <a:off x="101132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06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테스트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557338"/>
            <a:ext cx="1830143" cy="457200"/>
          </a:xfrm>
          <a:prstGeom prst="rect">
            <a:avLst/>
          </a:prstGeom>
          <a:solidFill>
            <a:srgbClr val="16232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4654550" y="1557338"/>
            <a:ext cx="3456432" cy="457200"/>
          </a:xfrm>
          <a:prstGeom prst="rect">
            <a:avLst/>
          </a:prstGeom>
          <a:solidFill>
            <a:srgbClr val="1B314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8111681" y="1557338"/>
            <a:ext cx="3456432" cy="457200"/>
          </a:xfrm>
          <a:prstGeom prst="rect">
            <a:avLst/>
          </a:prstGeom>
          <a:solidFill>
            <a:srgbClr val="1B314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623888" y="1557338"/>
            <a:ext cx="18301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프리젠테이션 6 SemiBold" pitchFamily="2" charset="-127"/>
                <a:ea typeface="프리젠테이션 6 SemiBold" pitchFamily="2" charset="-127"/>
              </a:rPr>
              <a:t>도구</a:t>
            </a:r>
            <a:endParaRPr lang="en-US" sz="1200" dirty="0"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8" name="Text 6"/>
          <p:cNvSpPr/>
          <p:nvPr/>
        </p:nvSpPr>
        <p:spPr>
          <a:xfrm>
            <a:off x="4211712" y="1557338"/>
            <a:ext cx="37902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프리젠테이션 6 SemiBold" pitchFamily="2" charset="-127"/>
                <a:ea typeface="프리젠테이션 6 SemiBold" pitchFamily="2" charset="-127"/>
              </a:rPr>
              <a:t>Windows (PowerShell)</a:t>
            </a:r>
            <a:endParaRPr lang="en-US" sz="1200" dirty="0"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9" name="Text 7"/>
          <p:cNvSpPr/>
          <p:nvPr/>
        </p:nvSpPr>
        <p:spPr>
          <a:xfrm>
            <a:off x="8001953" y="155733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프리젠테이션 6 SemiBold" pitchFamily="2" charset="-127"/>
                <a:ea typeface="프리젠테이션 6 SemiBold" pitchFamily="2" charset="-127"/>
              </a:rPr>
              <a:t>macOS (</a:t>
            </a:r>
            <a:r>
              <a:rPr lang="en-US" sz="1200" dirty="0" err="1">
                <a:solidFill>
                  <a:srgbClr val="FFFFFF"/>
                </a:solidFill>
                <a:latin typeface="프리젠테이션 6 SemiBold" pitchFamily="2" charset="-127"/>
                <a:ea typeface="프리젠테이션 6 SemiBold" pitchFamily="2" charset="-127"/>
              </a:rPr>
              <a:t>zsh</a:t>
            </a:r>
            <a:r>
              <a:rPr lang="en-US" sz="1200" dirty="0">
                <a:solidFill>
                  <a:srgbClr val="FFFFFF"/>
                </a:solidFill>
                <a:latin typeface="프리젠테이션 6 SemiBold" pitchFamily="2" charset="-127"/>
                <a:ea typeface="프리젠테이션 6 SemiBold" pitchFamily="2" charset="-127"/>
              </a:rPr>
              <a:t>)</a:t>
            </a:r>
            <a:endParaRPr lang="en-US" sz="1200" dirty="0"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23888" y="2014538"/>
            <a:ext cx="1830143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4654550" y="2014538"/>
            <a:ext cx="3456432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8111681" y="2014538"/>
            <a:ext cx="3456432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761048" y="2014538"/>
            <a:ext cx="16929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232F"/>
                </a:solidFill>
                <a:latin typeface="프리젠테이션 6 SemiBold" pitchFamily="2" charset="-127"/>
                <a:ea typeface="프리젠테이션 6 SemiBold" pitchFamily="2" charset="-127"/>
              </a:rPr>
              <a:t>Node.js 22+</a:t>
            </a:r>
            <a:endParaRPr lang="en-US" sz="1200" dirty="0"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763579" y="2014538"/>
            <a:ext cx="33474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3149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winget install OpenJS.NodeJS.LTS</a:t>
            </a:r>
            <a:endParaRPr lang="en-US" sz="10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216899" y="2014538"/>
            <a:ext cx="327806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3149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brew install node</a:t>
            </a:r>
            <a:endParaRPr lang="en-US" sz="10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23888" y="2581466"/>
            <a:ext cx="1830143" cy="566928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4654550" y="2581466"/>
            <a:ext cx="3456432" cy="566928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8111681" y="2581466"/>
            <a:ext cx="3456432" cy="566928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761048" y="2581466"/>
            <a:ext cx="16929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232F"/>
                </a:solidFill>
                <a:latin typeface="프리젠테이션 6 SemiBold" pitchFamily="2" charset="-127"/>
                <a:ea typeface="프리젠테이션 6 SemiBold" pitchFamily="2" charset="-127"/>
              </a:rPr>
              <a:t>git</a:t>
            </a:r>
            <a:endParaRPr lang="en-US" sz="1200" dirty="0"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763579" y="2581466"/>
            <a:ext cx="33474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3149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winget install Git.Git</a:t>
            </a:r>
            <a:endParaRPr lang="en-US" sz="10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216899" y="2581466"/>
            <a:ext cx="327806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3149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brew install git</a:t>
            </a:r>
            <a:endParaRPr lang="en-US" sz="10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23888" y="3148394"/>
            <a:ext cx="1830143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4654550" y="3148394"/>
            <a:ext cx="3456432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8111681" y="3148394"/>
            <a:ext cx="3456432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761048" y="3148394"/>
            <a:ext cx="16929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232F"/>
                </a:solidFill>
                <a:latin typeface="프리젠테이션 6 SemiBold" pitchFamily="2" charset="-127"/>
                <a:ea typeface="프리젠테이션 6 SemiBold" pitchFamily="2" charset="-127"/>
              </a:rPr>
              <a:t>Python 3</a:t>
            </a:r>
            <a:endParaRPr lang="en-US" sz="1200" dirty="0"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4763579" y="3148394"/>
            <a:ext cx="33474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3149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winget install Python.Python.3.12</a:t>
            </a:r>
            <a:endParaRPr lang="en-US" sz="10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8216899" y="3148394"/>
            <a:ext cx="327806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3149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brew install python@3.12</a:t>
            </a:r>
            <a:endParaRPr lang="en-US" sz="10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23888" y="3715322"/>
            <a:ext cx="1830143" cy="566928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4654550" y="3715322"/>
            <a:ext cx="3456432" cy="566928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8111681" y="3715322"/>
            <a:ext cx="3456432" cy="566928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761048" y="3715322"/>
            <a:ext cx="16929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232F"/>
                </a:solidFill>
                <a:latin typeface="프리젠테이션 6 SemiBold" pitchFamily="2" charset="-127"/>
                <a:ea typeface="프리젠테이션 6 SemiBold" pitchFamily="2" charset="-127"/>
              </a:rPr>
              <a:t>jq</a:t>
            </a:r>
            <a:endParaRPr lang="en-US" sz="1200" dirty="0"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4763579" y="3715322"/>
            <a:ext cx="33474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3149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winget install jqlang.jq</a:t>
            </a:r>
            <a:endParaRPr lang="en-US" sz="10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8216899" y="3715322"/>
            <a:ext cx="327806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3149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brew install jq</a:t>
            </a:r>
            <a:endParaRPr lang="en-US" sz="10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623888" y="4282250"/>
            <a:ext cx="1830143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3"/>
          <p:cNvSpPr/>
          <p:nvPr/>
        </p:nvSpPr>
        <p:spPr>
          <a:xfrm>
            <a:off x="4654550" y="4282250"/>
            <a:ext cx="3456432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4"/>
          <p:cNvSpPr/>
          <p:nvPr/>
        </p:nvSpPr>
        <p:spPr>
          <a:xfrm>
            <a:off x="8111681" y="4282250"/>
            <a:ext cx="3456432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761048" y="4282250"/>
            <a:ext cx="16929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232F"/>
                </a:solidFill>
                <a:latin typeface="프리젠테이션 6 SemiBold" pitchFamily="2" charset="-127"/>
                <a:ea typeface="프리젠테이션 6 SemiBold" pitchFamily="2" charset="-127"/>
              </a:rPr>
              <a:t>Go 1.22+</a:t>
            </a:r>
            <a:endParaRPr lang="en-US" sz="1200" dirty="0"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4763579" y="4282250"/>
            <a:ext cx="33474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3149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winget install GoLang.Go</a:t>
            </a:r>
            <a:endParaRPr lang="en-US" sz="10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8216899" y="4282250"/>
            <a:ext cx="327806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3149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brew install go</a:t>
            </a:r>
            <a:endParaRPr lang="en-US" sz="10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623888" y="5074920"/>
            <a:ext cx="10944224" cy="777240"/>
          </a:xfrm>
          <a:prstGeom prst="roundRect">
            <a:avLst>
              <a:gd name="adj" fmla="val 9412"/>
            </a:avLst>
          </a:prstGeom>
          <a:solidFill>
            <a:srgbClr val="16232F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41" name="Image 0" descr="preencoded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2488" y="5276088"/>
            <a:ext cx="365760" cy="365760"/>
          </a:xfrm>
          <a:prstGeom prst="rect">
            <a:avLst/>
          </a:prstGeom>
        </p:spPr>
      </p:pic>
      <p:sp>
        <p:nvSpPr>
          <p:cNvPr id="42" name="Text 39"/>
          <p:cNvSpPr/>
          <p:nvPr/>
        </p:nvSpPr>
        <p:spPr>
          <a:xfrm>
            <a:off x="1355408" y="507492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E8A13A"/>
                </a:solidFill>
                <a:latin typeface="프리젠테이션 6 SemiBold" pitchFamily="2" charset="-127"/>
                <a:ea typeface="프리젠테이션 6 SemiBold" pitchFamily="2" charset="-127"/>
                <a:cs typeface="Calibri" pitchFamily="34" charset="-120"/>
              </a:rPr>
              <a:t>설치 후 반드시 터미널을 새로 열 것</a:t>
            </a:r>
            <a:r>
              <a:rPr lang="en-US" sz="1200" b="1" dirty="0">
                <a:solidFill>
                  <a:srgbClr val="E8A13A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. </a:t>
            </a:r>
            <a:r>
              <a:rPr lang="en-US" sz="1200" dirty="0">
                <a:solidFill>
                  <a:srgbClr val="9DB2C6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winget/brew는 PATH를 갱신하는데 열린 세션은 옛 PATH를 든다. IntelliJ는 완전 재시작(File→Exit)이 가장 확실.</a:t>
            </a:r>
            <a:endParaRPr lang="en-US" sz="12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43" name="내용 개체 틀 42">
            <a:extLst>
              <a:ext uri="{FF2B5EF4-FFF2-40B4-BE49-F238E27FC236}">
                <a16:creationId xmlns:a16="http://schemas.microsoft.com/office/drawing/2014/main" id="{B1DCFA61-42E2-40A7-BAB5-CC159B7D10E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사전 준비 </a:t>
            </a:r>
            <a:r>
              <a:rPr lang="en-US" altLang="ko-KR" dirty="0"/>
              <a:t>– </a:t>
            </a:r>
            <a:r>
              <a:rPr lang="ko-KR" altLang="en-US" dirty="0"/>
              <a:t>공통 도구</a:t>
            </a:r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60FB5A8E-9993-C96C-C55F-61166452774C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3888" y="907200"/>
            <a:ext cx="10944225" cy="542378"/>
          </a:xfrm>
        </p:spPr>
        <p:txBody>
          <a:bodyPr/>
          <a:lstStyle/>
          <a:p>
            <a:r>
              <a:rPr lang="ko-KR" altLang="en-US" dirty="0"/>
              <a:t> 이미 설치가 되었다면</a:t>
            </a:r>
            <a:r>
              <a:rPr lang="en-US" altLang="ko-KR" dirty="0"/>
              <a:t>, </a:t>
            </a:r>
            <a:r>
              <a:rPr lang="ko-KR" altLang="en-US" dirty="0"/>
              <a:t>따로 설치할 필요 없다</a:t>
            </a:r>
            <a:r>
              <a:rPr lang="en-US" altLang="ko-KR" dirty="0"/>
              <a:t>. </a:t>
            </a:r>
          </a:p>
          <a:p>
            <a:r>
              <a:rPr lang="ko-KR" altLang="en-US" dirty="0"/>
              <a:t> 아래 도구가 없으면 대부분 명확한 에러와 함께 멈춘다</a:t>
            </a:r>
            <a:r>
              <a:rPr lang="en-US" altLang="ko-KR" dirty="0"/>
              <a:t>.</a:t>
            </a:r>
          </a:p>
        </p:txBody>
      </p:sp>
      <p:sp>
        <p:nvSpPr>
          <p:cNvPr id="44" name="Shape 2">
            <a:extLst>
              <a:ext uri="{FF2B5EF4-FFF2-40B4-BE49-F238E27FC236}">
                <a16:creationId xmlns:a16="http://schemas.microsoft.com/office/drawing/2014/main" id="{40687BDF-63E2-E2BC-6CF9-5F0B7B12470D}"/>
              </a:ext>
            </a:extLst>
          </p:cNvPr>
          <p:cNvSpPr/>
          <p:nvPr/>
        </p:nvSpPr>
        <p:spPr>
          <a:xfrm>
            <a:off x="2454031" y="1557338"/>
            <a:ext cx="2200519" cy="457200"/>
          </a:xfrm>
          <a:prstGeom prst="rect">
            <a:avLst/>
          </a:prstGeom>
          <a:solidFill>
            <a:srgbClr val="16232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Text 5">
            <a:extLst>
              <a:ext uri="{FF2B5EF4-FFF2-40B4-BE49-F238E27FC236}">
                <a16:creationId xmlns:a16="http://schemas.microsoft.com/office/drawing/2014/main" id="{6DCC1E2D-EC59-33AC-377C-56E48BF078A5}"/>
              </a:ext>
            </a:extLst>
          </p:cNvPr>
          <p:cNvSpPr/>
          <p:nvPr/>
        </p:nvSpPr>
        <p:spPr>
          <a:xfrm>
            <a:off x="2454031" y="1557338"/>
            <a:ext cx="21998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FFFFFF"/>
                </a:solidFill>
                <a:latin typeface="프리젠테이션 6 SemiBold" pitchFamily="2" charset="-127"/>
                <a:ea typeface="프리젠테이션 6 SemiBold" pitchFamily="2" charset="-127"/>
              </a:rPr>
              <a:t>용도</a:t>
            </a:r>
            <a:endParaRPr lang="en-US" sz="1200" dirty="0"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47" name="Shape 8">
            <a:extLst>
              <a:ext uri="{FF2B5EF4-FFF2-40B4-BE49-F238E27FC236}">
                <a16:creationId xmlns:a16="http://schemas.microsoft.com/office/drawing/2014/main" id="{CD7D978E-4F74-9F4D-D1C0-7144E48BE0D7}"/>
              </a:ext>
            </a:extLst>
          </p:cNvPr>
          <p:cNvSpPr/>
          <p:nvPr/>
        </p:nvSpPr>
        <p:spPr>
          <a:xfrm>
            <a:off x="2454030" y="2018983"/>
            <a:ext cx="2200519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 anchor="ctr"/>
          <a:lstStyle/>
          <a:p>
            <a:r>
              <a:rPr lang="en-US" altLang="ko-KR" sz="1000" dirty="0">
                <a:latin typeface="프리젠테이션 5 Medium" pitchFamily="2" charset="-127"/>
                <a:ea typeface="프리젠테이션 5 Medium" pitchFamily="2" charset="-127"/>
              </a:rPr>
              <a:t>Claude Code</a:t>
            </a:r>
            <a:r>
              <a:rPr lang="ko-KR" altLang="en-US" sz="1000" dirty="0"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000" dirty="0">
                <a:latin typeface="프리젠테이션 5 Medium" pitchFamily="2" charset="-127"/>
                <a:ea typeface="프리젠테이션 5 Medium" pitchFamily="2" charset="-127"/>
              </a:rPr>
              <a:t>CLI</a:t>
            </a:r>
            <a:r>
              <a:rPr lang="ko-KR" altLang="en-US" sz="1000" dirty="0">
                <a:latin typeface="프리젠테이션 5 Medium" pitchFamily="2" charset="-127"/>
                <a:ea typeface="프리젠테이션 5 Medium" pitchFamily="2" charset="-127"/>
              </a:rPr>
              <a:t>의 런타임</a:t>
            </a:r>
          </a:p>
        </p:txBody>
      </p:sp>
      <p:sp>
        <p:nvSpPr>
          <p:cNvPr id="48" name="Shape 8">
            <a:extLst>
              <a:ext uri="{FF2B5EF4-FFF2-40B4-BE49-F238E27FC236}">
                <a16:creationId xmlns:a16="http://schemas.microsoft.com/office/drawing/2014/main" id="{2A20ED63-B744-D5F7-26BC-EE43EC0D1EF8}"/>
              </a:ext>
            </a:extLst>
          </p:cNvPr>
          <p:cNvSpPr/>
          <p:nvPr/>
        </p:nvSpPr>
        <p:spPr>
          <a:xfrm>
            <a:off x="2454030" y="3148394"/>
            <a:ext cx="2200519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 anchor="ctr"/>
          <a:lstStyle/>
          <a:p>
            <a:r>
              <a:rPr lang="ko-KR" altLang="en-US" sz="1000" dirty="0">
                <a:latin typeface="프리젠테이션 5 Medium" pitchFamily="2" charset="-127"/>
                <a:ea typeface="프리젠테이션 5 Medium" pitchFamily="2" charset="-127"/>
              </a:rPr>
              <a:t>워커 </a:t>
            </a:r>
            <a:r>
              <a:rPr lang="en-US" altLang="ko-KR" sz="1000" dirty="0">
                <a:latin typeface="프리젠테이션 5 Medium" pitchFamily="2" charset="-127"/>
                <a:ea typeface="프리젠테이션 5 Medium" pitchFamily="2" charset="-127"/>
              </a:rPr>
              <a:t>/ </a:t>
            </a:r>
            <a:r>
              <a:rPr lang="ko-KR" altLang="en-US" sz="1000" dirty="0">
                <a:latin typeface="프리젠테이션 5 Medium" pitchFamily="2" charset="-127"/>
                <a:ea typeface="프리젠테이션 5 Medium" pitchFamily="2" charset="-127"/>
              </a:rPr>
              <a:t>도구  실행 </a:t>
            </a:r>
            <a:r>
              <a:rPr lang="en-US" altLang="ko-KR" sz="1000" dirty="0">
                <a:latin typeface="프리젠테이션 5 Medium" pitchFamily="2" charset="-127"/>
                <a:ea typeface="프리젠테이션 5 Medium" pitchFamily="2" charset="-127"/>
              </a:rPr>
              <a:t>+ </a:t>
            </a:r>
            <a:r>
              <a:rPr lang="ko-KR" altLang="en-US" sz="1000" dirty="0">
                <a:latin typeface="프리젠테이션 5 Medium" pitchFamily="2" charset="-127"/>
                <a:ea typeface="프리젠테이션 5 Medium" pitchFamily="2" charset="-127"/>
              </a:rPr>
              <a:t>스크립트</a:t>
            </a:r>
          </a:p>
        </p:txBody>
      </p:sp>
      <p:sp>
        <p:nvSpPr>
          <p:cNvPr id="49" name="Shape 8">
            <a:extLst>
              <a:ext uri="{FF2B5EF4-FFF2-40B4-BE49-F238E27FC236}">
                <a16:creationId xmlns:a16="http://schemas.microsoft.com/office/drawing/2014/main" id="{C39EAA07-22F7-E5CE-AE9D-211552A0EEB2}"/>
              </a:ext>
            </a:extLst>
          </p:cNvPr>
          <p:cNvSpPr/>
          <p:nvPr/>
        </p:nvSpPr>
        <p:spPr>
          <a:xfrm>
            <a:off x="2454030" y="4282250"/>
            <a:ext cx="2200519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 anchor="ctr"/>
          <a:lstStyle/>
          <a:p>
            <a:r>
              <a:rPr lang="en-US" altLang="ko-KR" sz="1000" dirty="0">
                <a:latin typeface="프리젠테이션 5 Medium" pitchFamily="2" charset="-127"/>
                <a:ea typeface="프리젠테이션 5 Medium" pitchFamily="2" charset="-127"/>
              </a:rPr>
              <a:t>MAT </a:t>
            </a:r>
            <a:r>
              <a:rPr lang="ko-KR" altLang="en-US" sz="1000" dirty="0">
                <a:latin typeface="프리젠테이션 5 Medium" pitchFamily="2" charset="-127"/>
                <a:ea typeface="프리젠테이션 5 Medium" pitchFamily="2" charset="-127"/>
              </a:rPr>
              <a:t>빌드 및 실행</a:t>
            </a:r>
            <a:endParaRPr lang="en-US" altLang="ko-KR" sz="1000" dirty="0"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000" dirty="0">
                <a:latin typeface="프리젠테이션 5 Medium" pitchFamily="2" charset="-127"/>
                <a:ea typeface="프리젠테이션 5 Medium" pitchFamily="2" charset="-127"/>
              </a:rPr>
              <a:t>(mac) MAT</a:t>
            </a:r>
            <a:r>
              <a:rPr lang="ko-KR" altLang="en-US" sz="1000" dirty="0">
                <a:latin typeface="프리젠테이션 5 Medium" pitchFamily="2" charset="-127"/>
                <a:ea typeface="프리젠테이션 5 Medium" pitchFamily="2" charset="-127"/>
              </a:rPr>
              <a:t>를 직접 설치시</a:t>
            </a:r>
            <a:r>
              <a:rPr lang="en-US" altLang="ko-KR" sz="1000" dirty="0">
                <a:latin typeface="프리젠테이션 5 Medium" pitchFamily="2" charset="-127"/>
                <a:ea typeface="프리젠테이션 5 Medium" pitchFamily="2" charset="-127"/>
              </a:rPr>
              <a:t>, go </a:t>
            </a:r>
            <a:r>
              <a:rPr lang="ko-KR" altLang="en-US" sz="1000" dirty="0">
                <a:latin typeface="프리젠테이션 5 Medium" pitchFamily="2" charset="-127"/>
                <a:ea typeface="프리젠테이션 5 Medium" pitchFamily="2" charset="-127"/>
              </a:rPr>
              <a:t>설치 불필요</a:t>
            </a:r>
          </a:p>
        </p:txBody>
      </p:sp>
      <p:sp>
        <p:nvSpPr>
          <p:cNvPr id="50" name="Shape 26">
            <a:extLst>
              <a:ext uri="{FF2B5EF4-FFF2-40B4-BE49-F238E27FC236}">
                <a16:creationId xmlns:a16="http://schemas.microsoft.com/office/drawing/2014/main" id="{D9AD35B1-3FF0-B9EE-B6A6-88C6A2F1C4E7}"/>
              </a:ext>
            </a:extLst>
          </p:cNvPr>
          <p:cNvSpPr/>
          <p:nvPr/>
        </p:nvSpPr>
        <p:spPr>
          <a:xfrm>
            <a:off x="2453340" y="3715322"/>
            <a:ext cx="2200519" cy="566928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prstDash val="solid"/>
          </a:ln>
        </p:spPr>
        <p:txBody>
          <a:bodyPr anchor="ctr"/>
          <a:lstStyle/>
          <a:p>
            <a:r>
              <a:rPr lang="en-US" altLang="ko-KR" sz="1000" dirty="0" err="1">
                <a:latin typeface="프리젠테이션 5 Medium" pitchFamily="2" charset="-127"/>
                <a:ea typeface="프리젠테이션 5 Medium" pitchFamily="2" charset="-127"/>
              </a:rPr>
              <a:t>gemini</a:t>
            </a:r>
            <a:r>
              <a:rPr lang="en-US" altLang="ko-KR" sz="1000" dirty="0">
                <a:latin typeface="프리젠테이션 5 Medium" pitchFamily="2" charset="-127"/>
                <a:ea typeface="프리젠테이션 5 Medium" pitchFamily="2" charset="-127"/>
              </a:rPr>
              <a:t> (</a:t>
            </a:r>
            <a:r>
              <a:rPr lang="en-US" altLang="ko-KR" sz="1000" dirty="0" err="1">
                <a:latin typeface="프리젠테이션 5 Medium" pitchFamily="2" charset="-127"/>
                <a:ea typeface="프리젠테이션 5 Medium" pitchFamily="2" charset="-127"/>
              </a:rPr>
              <a:t>agy</a:t>
            </a:r>
            <a:r>
              <a:rPr lang="en-US" altLang="ko-KR" sz="1000" dirty="0">
                <a:latin typeface="프리젠테이션 5 Medium" pitchFamily="2" charset="-127"/>
                <a:ea typeface="프리젠테이션 5 Medium" pitchFamily="2" charset="-127"/>
              </a:rPr>
              <a:t>)</a:t>
            </a:r>
            <a:r>
              <a:rPr lang="ko-KR" altLang="en-US" sz="1000" dirty="0">
                <a:latin typeface="프리젠테이션 5 Medium" pitchFamily="2" charset="-127"/>
                <a:ea typeface="프리젠테이션 5 Medium" pitchFamily="2" charset="-127"/>
              </a:rPr>
              <a:t>의 </a:t>
            </a:r>
            <a:r>
              <a:rPr lang="en-US" altLang="ko-KR" sz="1000" dirty="0" err="1">
                <a:latin typeface="프리젠테이션 5 Medium" pitchFamily="2" charset="-127"/>
                <a:ea typeface="프리젠테이션 5 Medium" pitchFamily="2" charset="-127"/>
              </a:rPr>
              <a:t>json</a:t>
            </a:r>
            <a:r>
              <a:rPr lang="ko-KR" altLang="en-US" sz="1000" dirty="0">
                <a:latin typeface="프리젠테이션 5 Medium" pitchFamily="2" charset="-127"/>
                <a:ea typeface="프리젠테이션 5 Medium" pitchFamily="2" charset="-127"/>
              </a:rPr>
              <a:t> 응답 파싱</a:t>
            </a:r>
            <a:endParaRPr lang="en-US" altLang="ko-KR" sz="1000" dirty="0"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000" dirty="0"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en-US" altLang="ko-KR" sz="1000" dirty="0" err="1">
                <a:latin typeface="프리젠테이션 5 Medium" pitchFamily="2" charset="-127"/>
                <a:ea typeface="프리젠테이션 5 Medium" pitchFamily="2" charset="-127"/>
              </a:rPr>
              <a:t>gemini</a:t>
            </a:r>
            <a:r>
              <a:rPr lang="en-US" altLang="ko-KR" sz="1000" dirty="0"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en-US" altLang="ko-KR" sz="1000" dirty="0" err="1">
                <a:latin typeface="프리젠테이션 5 Medium" pitchFamily="2" charset="-127"/>
                <a:ea typeface="프리젠테이션 5 Medium" pitchFamily="2" charset="-127"/>
              </a:rPr>
              <a:t>agy</a:t>
            </a:r>
            <a:r>
              <a:rPr lang="en-US" altLang="ko-KR" sz="1000" dirty="0"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000" dirty="0">
                <a:latin typeface="프리젠테이션 5 Medium" pitchFamily="2" charset="-127"/>
                <a:ea typeface="프리젠테이션 5 Medium" pitchFamily="2" charset="-127"/>
              </a:rPr>
              <a:t>사용 </a:t>
            </a:r>
            <a:r>
              <a:rPr lang="ko-KR" altLang="en-US" sz="1000" dirty="0" err="1">
                <a:latin typeface="프리젠테이션 5 Medium" pitchFamily="2" charset="-127"/>
                <a:ea typeface="프리젠테이션 5 Medium" pitchFamily="2" charset="-127"/>
              </a:rPr>
              <a:t>안하는</a:t>
            </a:r>
            <a:r>
              <a:rPr lang="ko-KR" altLang="en-US" sz="1000" dirty="0">
                <a:latin typeface="프리젠테이션 5 Medium" pitchFamily="2" charset="-127"/>
                <a:ea typeface="프리젠테이션 5 Medium" pitchFamily="2" charset="-127"/>
              </a:rPr>
              <a:t> 경우 설치 불필요</a:t>
            </a:r>
            <a:r>
              <a:rPr lang="en-US" altLang="ko-KR" sz="1000" dirty="0">
                <a:latin typeface="프리젠테이션 5 Medium" pitchFamily="2" charset="-127"/>
                <a:ea typeface="프리젠테이션 5 Medium" pitchFamily="2" charset="-127"/>
              </a:rPr>
              <a:t>)</a:t>
            </a:r>
            <a:endParaRPr lang="ko-KR" altLang="en-US" sz="10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51" name="Shape 26">
            <a:extLst>
              <a:ext uri="{FF2B5EF4-FFF2-40B4-BE49-F238E27FC236}">
                <a16:creationId xmlns:a16="http://schemas.microsoft.com/office/drawing/2014/main" id="{B0DD2C92-1DD1-D128-E57C-2183D6B65CA4}"/>
              </a:ext>
            </a:extLst>
          </p:cNvPr>
          <p:cNvSpPr/>
          <p:nvPr/>
        </p:nvSpPr>
        <p:spPr>
          <a:xfrm>
            <a:off x="2454030" y="2581466"/>
            <a:ext cx="2200519" cy="566928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prstDash val="solid"/>
          </a:ln>
        </p:spPr>
        <p:txBody>
          <a:bodyPr anchor="ctr"/>
          <a:lstStyle/>
          <a:p>
            <a:r>
              <a:rPr lang="ko-KR" altLang="en-US" sz="1000" dirty="0">
                <a:latin typeface="프리젠테이션 5 Medium" pitchFamily="2" charset="-127"/>
                <a:ea typeface="프리젠테이션 5 Medium" pitchFamily="2" charset="-127"/>
              </a:rPr>
              <a:t>대상 </a:t>
            </a:r>
            <a:r>
              <a:rPr lang="en-US" altLang="ko-KR" sz="1000" dirty="0">
                <a:latin typeface="프리젠테이션 5 Medium" pitchFamily="2" charset="-127"/>
                <a:ea typeface="프리젠테이션 5 Medium" pitchFamily="2" charset="-127"/>
              </a:rPr>
              <a:t>repo </a:t>
            </a:r>
            <a:r>
              <a:rPr lang="ko-KR" altLang="en-US" sz="1000" dirty="0">
                <a:latin typeface="프리젠테이션 5 Medium" pitchFamily="2" charset="-127"/>
                <a:ea typeface="프리젠테이션 5 Medium" pitchFamily="2" charset="-127"/>
              </a:rPr>
              <a:t>작업 </a:t>
            </a:r>
            <a:r>
              <a:rPr lang="en-US" altLang="ko-KR" sz="1000" dirty="0">
                <a:latin typeface="프리젠테이션 5 Medium" pitchFamily="2" charset="-127"/>
                <a:ea typeface="프리젠테이션 5 Medium" pitchFamily="2" charset="-127"/>
              </a:rPr>
              <a:t>+ </a:t>
            </a:r>
            <a:r>
              <a:rPr lang="ko-KR" altLang="en-US" sz="1000" dirty="0">
                <a:latin typeface="프리젠테이션 5 Medium" pitchFamily="2" charset="-127"/>
                <a:ea typeface="프리젠테이션 5 Medium" pitchFamily="2" charset="-127"/>
              </a:rPr>
              <a:t>산출물 관리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그룹 79">
            <a:extLst>
              <a:ext uri="{FF2B5EF4-FFF2-40B4-BE49-F238E27FC236}">
                <a16:creationId xmlns:a16="http://schemas.microsoft.com/office/drawing/2014/main" id="{32F11E5A-5D6F-C024-8DDC-F0864903AC06}"/>
              </a:ext>
            </a:extLst>
          </p:cNvPr>
          <p:cNvGrpSpPr/>
          <p:nvPr/>
        </p:nvGrpSpPr>
        <p:grpSpPr>
          <a:xfrm>
            <a:off x="623887" y="5135966"/>
            <a:ext cx="10944225" cy="1178095"/>
            <a:chOff x="623888" y="5135966"/>
            <a:chExt cx="10944225" cy="1178095"/>
          </a:xfrm>
        </p:grpSpPr>
        <p:sp>
          <p:nvSpPr>
            <p:cNvPr id="47" name="Shape 10">
              <a:extLst>
                <a:ext uri="{FF2B5EF4-FFF2-40B4-BE49-F238E27FC236}">
                  <a16:creationId xmlns:a16="http://schemas.microsoft.com/office/drawing/2014/main" id="{D17A65E2-11CB-F9CB-DD11-3FA82CD845EF}"/>
                </a:ext>
              </a:extLst>
            </p:cNvPr>
            <p:cNvSpPr/>
            <p:nvPr/>
          </p:nvSpPr>
          <p:spPr>
            <a:xfrm>
              <a:off x="623888" y="5135966"/>
              <a:ext cx="10944225" cy="1178095"/>
            </a:xfrm>
            <a:prstGeom prst="roundRect">
              <a:avLst>
                <a:gd name="adj" fmla="val 5161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  <a:effectLst>
              <a:outerShdw blurRad="88900" dist="38100" dir="5400000" algn="bl" rotWithShape="0">
                <a:srgbClr val="000000">
                  <a:alpha val="16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8" name="Text 12">
              <a:extLst>
                <a:ext uri="{FF2B5EF4-FFF2-40B4-BE49-F238E27FC236}">
                  <a16:creationId xmlns:a16="http://schemas.microsoft.com/office/drawing/2014/main" id="{A5525A5B-D834-1195-3353-A67146B5389E}"/>
                </a:ext>
              </a:extLst>
            </p:cNvPr>
            <p:cNvSpPr/>
            <p:nvPr/>
          </p:nvSpPr>
          <p:spPr>
            <a:xfrm>
              <a:off x="1446849" y="5318846"/>
              <a:ext cx="274320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400" dirty="0">
                  <a:solidFill>
                    <a:srgbClr val="16232F"/>
                  </a:solidFill>
                  <a:latin typeface="프리젠테이션 6 SemiBold" pitchFamily="2" charset="-127"/>
                  <a:ea typeface="프리젠테이션 6 SemiBold" pitchFamily="2" charset="-127"/>
                  <a:cs typeface="Calibri" pitchFamily="34" charset="-120"/>
                </a:rPr>
                <a:t>Cursor CLI</a:t>
              </a:r>
            </a:p>
          </p:txBody>
        </p:sp>
        <p:sp>
          <p:nvSpPr>
            <p:cNvPr id="49" name="Text 13">
              <a:extLst>
                <a:ext uri="{FF2B5EF4-FFF2-40B4-BE49-F238E27FC236}">
                  <a16:creationId xmlns:a16="http://schemas.microsoft.com/office/drawing/2014/main" id="{F0C6AD0F-858B-256F-CD42-BA73878E35B7}"/>
                </a:ext>
              </a:extLst>
            </p:cNvPr>
            <p:cNvSpPr/>
            <p:nvPr/>
          </p:nvSpPr>
          <p:spPr>
            <a:xfrm>
              <a:off x="1446849" y="5664323"/>
              <a:ext cx="3022360" cy="6074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05000"/>
                </a:lnSpc>
              </a:pP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가장 큰 특징은 모델을 골라서 실행할 수 있다는 점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. "cursor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로 </a:t>
              </a:r>
              <a:r>
                <a:rPr lang="en-US" altLang="ko-KR" sz="1000" dirty="0" err="1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gemini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", "cursor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로 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gpt-5.5"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처럼 원하는 모델을 지정해 기획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·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분석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·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리뷰를 시킬 수 있어 유연함</a:t>
              </a:r>
              <a:endParaRPr lang="en-US" altLang="ko-KR" sz="1000" dirty="0">
                <a:latin typeface="프리젠테이션 5 Medium" pitchFamily="2" charset="-127"/>
                <a:ea typeface="프리젠테이션 5 Medium" pitchFamily="2" charset="-127"/>
              </a:endParaRPr>
            </a:p>
          </p:txBody>
        </p:sp>
        <p:sp>
          <p:nvSpPr>
            <p:cNvPr id="50" name="Shape 6">
              <a:extLst>
                <a:ext uri="{FF2B5EF4-FFF2-40B4-BE49-F238E27FC236}">
                  <a16:creationId xmlns:a16="http://schemas.microsoft.com/office/drawing/2014/main" id="{AF532411-15A4-DD7E-0861-C60BFC9071F5}"/>
                </a:ext>
              </a:extLst>
            </p:cNvPr>
            <p:cNvSpPr/>
            <p:nvPr/>
          </p:nvSpPr>
          <p:spPr>
            <a:xfrm>
              <a:off x="4555809" y="5238310"/>
              <a:ext cx="6925707" cy="457200"/>
            </a:xfrm>
            <a:prstGeom prst="roundRect">
              <a:avLst>
                <a:gd name="adj" fmla="val 10000"/>
              </a:avLst>
            </a:prstGeom>
            <a:solidFill>
              <a:srgbClr val="0F1E2E"/>
            </a:solidFill>
            <a:ln/>
          </p:spPr>
          <p:txBody>
            <a:bodyPr anchor="ctr"/>
            <a:lstStyle/>
            <a:p>
              <a:r>
                <a:rPr lang="en-US" altLang="ko-KR" sz="1000" dirty="0">
                  <a:solidFill>
                    <a:srgbClr val="E8A13A"/>
                  </a:solidFill>
                  <a:latin typeface="프리젠테이션 6 SemiBold" pitchFamily="2" charset="-127"/>
                  <a:ea typeface="프리젠테이션 6 SemiBold" pitchFamily="2" charset="-127"/>
                </a:rPr>
                <a:t>PowerShell</a:t>
              </a:r>
              <a:endParaRPr lang="ko-KR" altLang="en-US" sz="1000" dirty="0">
                <a:solidFill>
                  <a:srgbClr val="E8A13A"/>
                </a:solidFill>
                <a:latin typeface="프리젠테이션 6 SemiBold" pitchFamily="2" charset="-127"/>
                <a:ea typeface="프리젠테이션 6 SemiBold" pitchFamily="2" charset="-127"/>
              </a:endParaRPr>
            </a:p>
          </p:txBody>
        </p:sp>
        <p:sp>
          <p:nvSpPr>
            <p:cNvPr id="51" name="Text 15">
              <a:extLst>
                <a:ext uri="{FF2B5EF4-FFF2-40B4-BE49-F238E27FC236}">
                  <a16:creationId xmlns:a16="http://schemas.microsoft.com/office/drawing/2014/main" id="{F46DF249-504A-ACA6-A1C4-7EC80CB96F5C}"/>
                </a:ext>
              </a:extLst>
            </p:cNvPr>
            <p:cNvSpPr/>
            <p:nvPr/>
          </p:nvSpPr>
          <p:spPr>
            <a:xfrm>
              <a:off x="5389808" y="5240199"/>
              <a:ext cx="6091707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dirty="0" err="1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</a:rPr>
                <a:t>irm</a:t>
              </a:r>
              <a:r>
                <a:rPr lang="en-US" sz="950" dirty="0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</a:rPr>
                <a:t> 'https://cursor.com/install?win32=true' | </a:t>
              </a:r>
              <a:r>
                <a:rPr lang="en-US" sz="950" dirty="0" err="1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</a:rPr>
                <a:t>iex</a:t>
              </a:r>
              <a:endParaRPr lang="en-US" sz="9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endParaRPr>
            </a:p>
          </p:txBody>
        </p:sp>
        <p:sp>
          <p:nvSpPr>
            <p:cNvPr id="52" name="Shape 8">
              <a:extLst>
                <a:ext uri="{FF2B5EF4-FFF2-40B4-BE49-F238E27FC236}">
                  <a16:creationId xmlns:a16="http://schemas.microsoft.com/office/drawing/2014/main" id="{B0666B71-B428-3333-EF07-243D1F03D84B}"/>
                </a:ext>
              </a:extLst>
            </p:cNvPr>
            <p:cNvSpPr/>
            <p:nvPr/>
          </p:nvSpPr>
          <p:spPr>
            <a:xfrm>
              <a:off x="4555808" y="5768662"/>
              <a:ext cx="6925707" cy="457200"/>
            </a:xfrm>
            <a:prstGeom prst="roundRect">
              <a:avLst>
                <a:gd name="adj" fmla="val 10000"/>
              </a:avLst>
            </a:prstGeom>
            <a:solidFill>
              <a:srgbClr val="0F1E2E"/>
            </a:solidFill>
            <a:ln/>
          </p:spPr>
          <p:txBody>
            <a:bodyPr anchor="ctr"/>
            <a:lstStyle/>
            <a:p>
              <a:r>
                <a:rPr lang="en-US" altLang="ko-KR" sz="1000" dirty="0">
                  <a:solidFill>
                    <a:srgbClr val="4285F4"/>
                  </a:solidFill>
                  <a:latin typeface="프리젠테이션 6 SemiBold" pitchFamily="2" charset="-127"/>
                  <a:ea typeface="프리젠테이션 6 SemiBold" pitchFamily="2" charset="-127"/>
                </a:rPr>
                <a:t>Linux / WSL</a:t>
              </a:r>
              <a:endParaRPr lang="ko-KR" altLang="en-US" sz="1000" dirty="0">
                <a:solidFill>
                  <a:srgbClr val="4285F4"/>
                </a:solidFill>
                <a:latin typeface="프리젠테이션 6 SemiBold" pitchFamily="2" charset="-127"/>
                <a:ea typeface="프리젠테이션 6 SemiBold" pitchFamily="2" charset="-127"/>
              </a:endParaRPr>
            </a:p>
          </p:txBody>
        </p:sp>
        <p:sp>
          <p:nvSpPr>
            <p:cNvPr id="53" name="Text 17">
              <a:extLst>
                <a:ext uri="{FF2B5EF4-FFF2-40B4-BE49-F238E27FC236}">
                  <a16:creationId xmlns:a16="http://schemas.microsoft.com/office/drawing/2014/main" id="{4BE921C6-E274-8998-21D1-31482E3A0E5D}"/>
                </a:ext>
              </a:extLst>
            </p:cNvPr>
            <p:cNvSpPr/>
            <p:nvPr/>
          </p:nvSpPr>
          <p:spPr>
            <a:xfrm>
              <a:off x="5389810" y="5766773"/>
              <a:ext cx="609170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dirty="0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  <a:cs typeface="Courier New" pitchFamily="34" charset="-120"/>
                </a:rPr>
                <a:t>curl https://cursor.com/install -</a:t>
              </a:r>
              <a:r>
                <a:rPr lang="en-US" sz="950" dirty="0" err="1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  <a:cs typeface="Courier New" pitchFamily="34" charset="-120"/>
                </a:rPr>
                <a:t>fsS</a:t>
              </a:r>
              <a:r>
                <a:rPr lang="en-US" sz="950" dirty="0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  <a:cs typeface="Courier New" pitchFamily="34" charset="-120"/>
                </a:rPr>
                <a:t> | bash</a:t>
              </a:r>
            </a:p>
          </p:txBody>
        </p:sp>
        <p:sp>
          <p:nvSpPr>
            <p:cNvPr id="54" name="Shape 19">
              <a:extLst>
                <a:ext uri="{FF2B5EF4-FFF2-40B4-BE49-F238E27FC236}">
                  <a16:creationId xmlns:a16="http://schemas.microsoft.com/office/drawing/2014/main" id="{8798CA9B-B8AE-0D54-8931-8FD1AA96065E}"/>
                </a:ext>
              </a:extLst>
            </p:cNvPr>
            <p:cNvSpPr/>
            <p:nvPr/>
          </p:nvSpPr>
          <p:spPr>
            <a:xfrm>
              <a:off x="847492" y="5364115"/>
              <a:ext cx="457200" cy="457200"/>
            </a:xfrm>
            <a:prstGeom prst="ellipse">
              <a:avLst/>
            </a:prstGeom>
            <a:solidFill>
              <a:schemeClr val="bg1"/>
            </a:solidFill>
            <a:ln w="12700"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66" name="그림 65">
              <a:extLst>
                <a:ext uri="{FF2B5EF4-FFF2-40B4-BE49-F238E27FC236}">
                  <a16:creationId xmlns:a16="http://schemas.microsoft.com/office/drawing/2014/main" id="{B58F5F8D-F746-B0EB-6223-ACB7CDFAE80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969335" y="5482915"/>
              <a:ext cx="219600" cy="219600"/>
            </a:xfrm>
            <a:prstGeom prst="rect">
              <a:avLst/>
            </a:prstGeom>
          </p:spPr>
        </p:pic>
      </p:grp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65F9708B-2AC7-A61A-69DE-67BF50016E75}"/>
              </a:ext>
            </a:extLst>
          </p:cNvPr>
          <p:cNvGrpSpPr/>
          <p:nvPr/>
        </p:nvGrpSpPr>
        <p:grpSpPr>
          <a:xfrm>
            <a:off x="623887" y="3879654"/>
            <a:ext cx="10944225" cy="1178095"/>
            <a:chOff x="623888" y="3921059"/>
            <a:chExt cx="10944225" cy="1178095"/>
          </a:xfrm>
        </p:grpSpPr>
        <p:sp>
          <p:nvSpPr>
            <p:cNvPr id="36" name="Shape 10">
              <a:extLst>
                <a:ext uri="{FF2B5EF4-FFF2-40B4-BE49-F238E27FC236}">
                  <a16:creationId xmlns:a16="http://schemas.microsoft.com/office/drawing/2014/main" id="{9989639A-6DC9-C557-50D0-2C6760BBE7B6}"/>
                </a:ext>
              </a:extLst>
            </p:cNvPr>
            <p:cNvSpPr/>
            <p:nvPr/>
          </p:nvSpPr>
          <p:spPr>
            <a:xfrm>
              <a:off x="623888" y="3921059"/>
              <a:ext cx="10944225" cy="1178095"/>
            </a:xfrm>
            <a:prstGeom prst="roundRect">
              <a:avLst>
                <a:gd name="adj" fmla="val 5161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  <a:effectLst>
              <a:outerShdw blurRad="88900" dist="38100" dir="5400000" algn="bl" rotWithShape="0">
                <a:srgbClr val="000000">
                  <a:alpha val="16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9" name="Text 12">
              <a:extLst>
                <a:ext uri="{FF2B5EF4-FFF2-40B4-BE49-F238E27FC236}">
                  <a16:creationId xmlns:a16="http://schemas.microsoft.com/office/drawing/2014/main" id="{5BB63F55-C108-9B1A-E5BB-39E66E92E714}"/>
                </a:ext>
              </a:extLst>
            </p:cNvPr>
            <p:cNvSpPr/>
            <p:nvPr/>
          </p:nvSpPr>
          <p:spPr>
            <a:xfrm>
              <a:off x="1446849" y="4103939"/>
              <a:ext cx="274320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400" dirty="0">
                  <a:solidFill>
                    <a:srgbClr val="16232F"/>
                  </a:solidFill>
                  <a:latin typeface="프리젠테이션 6 SemiBold" pitchFamily="2" charset="-127"/>
                  <a:ea typeface="프리젠테이션 6 SemiBold" pitchFamily="2" charset="-127"/>
                  <a:cs typeface="Calibri" pitchFamily="34" charset="-120"/>
                </a:rPr>
                <a:t>Codex CLI </a:t>
              </a:r>
            </a:p>
          </p:txBody>
        </p:sp>
        <p:sp>
          <p:nvSpPr>
            <p:cNvPr id="40" name="Text 13">
              <a:extLst>
                <a:ext uri="{FF2B5EF4-FFF2-40B4-BE49-F238E27FC236}">
                  <a16:creationId xmlns:a16="http://schemas.microsoft.com/office/drawing/2014/main" id="{54E37409-059E-9E32-BA6B-9E9A36E42742}"/>
                </a:ext>
              </a:extLst>
            </p:cNvPr>
            <p:cNvSpPr/>
            <p:nvPr/>
          </p:nvSpPr>
          <p:spPr>
            <a:xfrm>
              <a:off x="1446849" y="4469699"/>
              <a:ext cx="3022360" cy="5854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05000"/>
                </a:lnSpc>
              </a:pP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GPT 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계열 코딩 워커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. 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보조 구현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·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테스트 작성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·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이미지 생성 등에 활용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.</a:t>
              </a:r>
              <a:b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</a:b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정상 경로는 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MCP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를 통해 붙고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, ChatGPT 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유료 구독 또는 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OPENAI_API_KEY(</a:t>
              </a:r>
              <a:r>
                <a:rPr lang="ko-KR" altLang="en-US" sz="1000" dirty="0" err="1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종량과금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) 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중 하나로 인증</a:t>
              </a:r>
              <a:endParaRPr lang="en-US" altLang="ko-KR" sz="1000" dirty="0">
                <a:latin typeface="프리젠테이션 5 Medium" pitchFamily="2" charset="-127"/>
                <a:ea typeface="프리젠테이션 5 Medium" pitchFamily="2" charset="-127"/>
              </a:endParaRPr>
            </a:p>
          </p:txBody>
        </p:sp>
        <p:sp>
          <p:nvSpPr>
            <p:cNvPr id="41" name="Shape 6">
              <a:extLst>
                <a:ext uri="{FF2B5EF4-FFF2-40B4-BE49-F238E27FC236}">
                  <a16:creationId xmlns:a16="http://schemas.microsoft.com/office/drawing/2014/main" id="{6C566630-2762-7746-051C-1FF82C5DCDC7}"/>
                </a:ext>
              </a:extLst>
            </p:cNvPr>
            <p:cNvSpPr/>
            <p:nvPr/>
          </p:nvSpPr>
          <p:spPr>
            <a:xfrm>
              <a:off x="4555809" y="4023403"/>
              <a:ext cx="6925707" cy="457200"/>
            </a:xfrm>
            <a:prstGeom prst="roundRect">
              <a:avLst>
                <a:gd name="adj" fmla="val 10000"/>
              </a:avLst>
            </a:prstGeom>
            <a:solidFill>
              <a:srgbClr val="0F1E2E"/>
            </a:solidFill>
            <a:ln/>
          </p:spPr>
          <p:txBody>
            <a:bodyPr anchor="ctr"/>
            <a:lstStyle/>
            <a:p>
              <a:r>
                <a:rPr lang="en-US" altLang="ko-KR" sz="1000" dirty="0">
                  <a:solidFill>
                    <a:srgbClr val="E8A13A"/>
                  </a:solidFill>
                  <a:latin typeface="프리젠테이션 6 SemiBold" pitchFamily="2" charset="-127"/>
                  <a:ea typeface="프리젠테이션 6 SemiBold" pitchFamily="2" charset="-127"/>
                </a:rPr>
                <a:t>PowerShell</a:t>
              </a:r>
              <a:endParaRPr lang="ko-KR" altLang="en-US" sz="1000" dirty="0">
                <a:solidFill>
                  <a:srgbClr val="E8A13A"/>
                </a:solidFill>
                <a:latin typeface="프리젠테이션 6 SemiBold" pitchFamily="2" charset="-127"/>
                <a:ea typeface="프리젠테이션 6 SemiBold" pitchFamily="2" charset="-127"/>
              </a:endParaRPr>
            </a:p>
          </p:txBody>
        </p:sp>
        <p:sp>
          <p:nvSpPr>
            <p:cNvPr id="42" name="Text 15">
              <a:extLst>
                <a:ext uri="{FF2B5EF4-FFF2-40B4-BE49-F238E27FC236}">
                  <a16:creationId xmlns:a16="http://schemas.microsoft.com/office/drawing/2014/main" id="{BC513CDC-6E67-E636-F883-8920A1CFF376}"/>
                </a:ext>
              </a:extLst>
            </p:cNvPr>
            <p:cNvSpPr/>
            <p:nvPr/>
          </p:nvSpPr>
          <p:spPr>
            <a:xfrm>
              <a:off x="5389808" y="4025292"/>
              <a:ext cx="6091707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dirty="0" err="1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</a:rPr>
                <a:t>irm</a:t>
              </a:r>
              <a:r>
                <a:rPr lang="en-US" sz="950" dirty="0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</a:rPr>
                <a:t> https://chatgpt.com/codex/install.ps1 | </a:t>
              </a:r>
              <a:r>
                <a:rPr lang="en-US" sz="950" dirty="0" err="1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</a:rPr>
                <a:t>iex</a:t>
              </a:r>
              <a:endParaRPr lang="en-US" sz="9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endParaRPr>
            </a:p>
          </p:txBody>
        </p:sp>
        <p:sp>
          <p:nvSpPr>
            <p:cNvPr id="43" name="Shape 8">
              <a:extLst>
                <a:ext uri="{FF2B5EF4-FFF2-40B4-BE49-F238E27FC236}">
                  <a16:creationId xmlns:a16="http://schemas.microsoft.com/office/drawing/2014/main" id="{0B650D36-A8E1-AC0A-BD10-5E9B6597BA5C}"/>
                </a:ext>
              </a:extLst>
            </p:cNvPr>
            <p:cNvSpPr/>
            <p:nvPr/>
          </p:nvSpPr>
          <p:spPr>
            <a:xfrm>
              <a:off x="4555808" y="4553755"/>
              <a:ext cx="6925707" cy="457200"/>
            </a:xfrm>
            <a:prstGeom prst="roundRect">
              <a:avLst>
                <a:gd name="adj" fmla="val 10000"/>
              </a:avLst>
            </a:prstGeom>
            <a:solidFill>
              <a:srgbClr val="0F1E2E"/>
            </a:solidFill>
            <a:ln/>
          </p:spPr>
          <p:txBody>
            <a:bodyPr anchor="ctr"/>
            <a:lstStyle/>
            <a:p>
              <a:r>
                <a:rPr lang="en-US" altLang="ko-KR" sz="1000" dirty="0">
                  <a:solidFill>
                    <a:srgbClr val="4285F4"/>
                  </a:solidFill>
                  <a:latin typeface="프리젠테이션 6 SemiBold" pitchFamily="2" charset="-127"/>
                  <a:ea typeface="프리젠테이션 6 SemiBold" pitchFamily="2" charset="-127"/>
                </a:rPr>
                <a:t>Linux / WSL</a:t>
              </a:r>
              <a:endParaRPr lang="ko-KR" altLang="en-US" sz="1000" dirty="0">
                <a:solidFill>
                  <a:srgbClr val="4285F4"/>
                </a:solidFill>
                <a:latin typeface="프리젠테이션 6 SemiBold" pitchFamily="2" charset="-127"/>
                <a:ea typeface="프리젠테이션 6 SemiBold" pitchFamily="2" charset="-127"/>
              </a:endParaRPr>
            </a:p>
          </p:txBody>
        </p:sp>
        <p:sp>
          <p:nvSpPr>
            <p:cNvPr id="44" name="Text 17">
              <a:extLst>
                <a:ext uri="{FF2B5EF4-FFF2-40B4-BE49-F238E27FC236}">
                  <a16:creationId xmlns:a16="http://schemas.microsoft.com/office/drawing/2014/main" id="{C0C27703-2208-4F9E-5CAA-7664F4A7DEE0}"/>
                </a:ext>
              </a:extLst>
            </p:cNvPr>
            <p:cNvSpPr/>
            <p:nvPr/>
          </p:nvSpPr>
          <p:spPr>
            <a:xfrm>
              <a:off x="5389810" y="4551866"/>
              <a:ext cx="609170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dirty="0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  <a:cs typeface="Courier New" pitchFamily="34" charset="-120"/>
                </a:rPr>
                <a:t>curl -</a:t>
              </a:r>
              <a:r>
                <a:rPr lang="en-US" sz="950" dirty="0" err="1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  <a:cs typeface="Courier New" pitchFamily="34" charset="-120"/>
                </a:rPr>
                <a:t>fsSL</a:t>
              </a:r>
              <a:r>
                <a:rPr lang="en-US" sz="950" dirty="0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  <a:cs typeface="Courier New" pitchFamily="34" charset="-120"/>
                </a:rPr>
                <a:t> https://chatgpt.com/codex/install.sh | </a:t>
              </a:r>
              <a:r>
                <a:rPr lang="en-US" sz="950" dirty="0" err="1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  <a:cs typeface="Courier New" pitchFamily="34" charset="-120"/>
                </a:rPr>
                <a:t>sh</a:t>
              </a:r>
              <a:endParaRPr lang="en-US" sz="9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endParaRPr>
            </a:p>
          </p:txBody>
        </p:sp>
        <p:pic>
          <p:nvPicPr>
            <p:cNvPr id="68" name="그림 67">
              <a:extLst>
                <a:ext uri="{FF2B5EF4-FFF2-40B4-BE49-F238E27FC236}">
                  <a16:creationId xmlns:a16="http://schemas.microsoft.com/office/drawing/2014/main" id="{3A42B519-2E44-16F2-CD26-0F56E50EB52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847492" y="4174859"/>
              <a:ext cx="457200" cy="45720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grpSp>
        <p:nvGrpSpPr>
          <p:cNvPr id="78" name="그룹 77">
            <a:extLst>
              <a:ext uri="{FF2B5EF4-FFF2-40B4-BE49-F238E27FC236}">
                <a16:creationId xmlns:a16="http://schemas.microsoft.com/office/drawing/2014/main" id="{2683841D-54C8-7A02-56AF-434FA7DA8470}"/>
              </a:ext>
            </a:extLst>
          </p:cNvPr>
          <p:cNvGrpSpPr/>
          <p:nvPr/>
        </p:nvGrpSpPr>
        <p:grpSpPr>
          <a:xfrm>
            <a:off x="623887" y="2623341"/>
            <a:ext cx="10944225" cy="1178095"/>
            <a:chOff x="623887" y="2618275"/>
            <a:chExt cx="10944225" cy="1178095"/>
          </a:xfrm>
        </p:grpSpPr>
        <p:sp>
          <p:nvSpPr>
            <p:cNvPr id="13" name="Shape 10"/>
            <p:cNvSpPr/>
            <p:nvPr/>
          </p:nvSpPr>
          <p:spPr>
            <a:xfrm>
              <a:off x="623887" y="2618275"/>
              <a:ext cx="10944225" cy="1178095"/>
            </a:xfrm>
            <a:prstGeom prst="roundRect">
              <a:avLst>
                <a:gd name="adj" fmla="val 5161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  <a:effectLst>
              <a:outerShdw blurRad="88900" dist="38100" dir="5400000" algn="bl" rotWithShape="0">
                <a:srgbClr val="000000">
                  <a:alpha val="16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Shape 11"/>
            <p:cNvSpPr/>
            <p:nvPr/>
          </p:nvSpPr>
          <p:spPr>
            <a:xfrm>
              <a:off x="852488" y="2846875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Text 12"/>
            <p:cNvSpPr/>
            <p:nvPr/>
          </p:nvSpPr>
          <p:spPr>
            <a:xfrm>
              <a:off x="1446848" y="2801155"/>
              <a:ext cx="274320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400" dirty="0">
                  <a:solidFill>
                    <a:srgbClr val="16232F"/>
                  </a:solidFill>
                  <a:latin typeface="프리젠테이션 6 SemiBold" pitchFamily="2" charset="-127"/>
                  <a:ea typeface="프리젠테이션 6 SemiBold" pitchFamily="2" charset="-127"/>
                  <a:cs typeface="Calibri" pitchFamily="34" charset="-120"/>
                </a:rPr>
                <a:t>Antigravity (</a:t>
              </a:r>
              <a:r>
                <a:rPr lang="en-US" sz="1400" dirty="0" err="1">
                  <a:solidFill>
                    <a:srgbClr val="16232F"/>
                  </a:solidFill>
                  <a:latin typeface="프리젠테이션 6 SemiBold" pitchFamily="2" charset="-127"/>
                  <a:ea typeface="프리젠테이션 6 SemiBold" pitchFamily="2" charset="-127"/>
                  <a:cs typeface="Calibri" pitchFamily="34" charset="-120"/>
                </a:rPr>
                <a:t>agy</a:t>
              </a:r>
              <a:r>
                <a:rPr lang="en-US" sz="1400" dirty="0">
                  <a:solidFill>
                    <a:srgbClr val="16232F"/>
                  </a:solidFill>
                  <a:latin typeface="프리젠테이션 6 SemiBold" pitchFamily="2" charset="-127"/>
                  <a:ea typeface="프리젠테이션 6 SemiBold" pitchFamily="2" charset="-127"/>
                  <a:cs typeface="Calibri" pitchFamily="34" charset="-120"/>
                </a:rPr>
                <a:t>)</a:t>
              </a:r>
            </a:p>
          </p:txBody>
        </p:sp>
        <p:sp>
          <p:nvSpPr>
            <p:cNvPr id="17" name="Text 13"/>
            <p:cNvSpPr/>
            <p:nvPr/>
          </p:nvSpPr>
          <p:spPr>
            <a:xfrm>
              <a:off x="1446847" y="3166915"/>
              <a:ext cx="3022362" cy="5412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05000"/>
                </a:lnSpc>
              </a:pP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Gemini </a:t>
              </a:r>
              <a:r>
                <a:rPr lang="ko-KR" altLang="en-US" sz="1000" dirty="0" err="1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백엔드를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 쓰는 워커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. </a:t>
              </a:r>
              <a:b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</a:b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강점은 대용량 문서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·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이미지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·</a:t>
              </a:r>
              <a:r>
                <a:rPr lang="ko-KR" altLang="en-US" sz="1000" dirty="0" err="1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멀티모달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 처리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 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및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 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넓은 컨텍스트에 유리 </a:t>
              </a:r>
              <a:endParaRPr lang="en-US" altLang="ko-KR" sz="100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</a:endParaRPr>
            </a:p>
            <a:p>
              <a:pPr>
                <a:lnSpc>
                  <a:spcPct val="105000"/>
                </a:lnSpc>
              </a:pPr>
              <a:r>
                <a:rPr lang="en-US" altLang="ko-KR" sz="1000" dirty="0" err="1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agy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 → OAuth </a:t>
              </a:r>
              <a:r>
                <a:rPr lang="en-US" altLang="ko-KR" sz="1000" dirty="0" err="1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로그인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. </a:t>
              </a:r>
              <a:r>
                <a:rPr lang="en-US" altLang="ko-KR" sz="1000" dirty="0" err="1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무료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=</a:t>
              </a:r>
              <a:r>
                <a:rPr lang="en-US" altLang="ko-KR" sz="1000" dirty="0" err="1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주간쿼터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.</a:t>
              </a:r>
              <a:endParaRPr lang="en-US" sz="100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</a:endParaRPr>
            </a:p>
          </p:txBody>
        </p:sp>
        <p:sp>
          <p:nvSpPr>
            <p:cNvPr id="32" name="Shape 6">
              <a:extLst>
                <a:ext uri="{FF2B5EF4-FFF2-40B4-BE49-F238E27FC236}">
                  <a16:creationId xmlns:a16="http://schemas.microsoft.com/office/drawing/2014/main" id="{ECA444C2-3014-9457-F27D-270FEF9AA24B}"/>
                </a:ext>
              </a:extLst>
            </p:cNvPr>
            <p:cNvSpPr/>
            <p:nvPr/>
          </p:nvSpPr>
          <p:spPr>
            <a:xfrm>
              <a:off x="4555808" y="2720619"/>
              <a:ext cx="6925707" cy="457200"/>
            </a:xfrm>
            <a:prstGeom prst="roundRect">
              <a:avLst>
                <a:gd name="adj" fmla="val 10000"/>
              </a:avLst>
            </a:prstGeom>
            <a:solidFill>
              <a:srgbClr val="0F1E2E"/>
            </a:solidFill>
            <a:ln/>
          </p:spPr>
          <p:txBody>
            <a:bodyPr anchor="ctr"/>
            <a:lstStyle/>
            <a:p>
              <a:r>
                <a:rPr lang="en-US" altLang="ko-KR" sz="1000" dirty="0">
                  <a:solidFill>
                    <a:srgbClr val="E8A13A"/>
                  </a:solidFill>
                  <a:latin typeface="프리젠테이션 6 SemiBold" pitchFamily="2" charset="-127"/>
                  <a:ea typeface="프리젠테이션 6 SemiBold" pitchFamily="2" charset="-127"/>
                </a:rPr>
                <a:t>PowerShell</a:t>
              </a:r>
              <a:endParaRPr lang="ko-KR" altLang="en-US" sz="1000" dirty="0">
                <a:solidFill>
                  <a:srgbClr val="E8A13A"/>
                </a:solidFill>
                <a:latin typeface="프리젠테이션 6 SemiBold" pitchFamily="2" charset="-127"/>
                <a:ea typeface="프리젠테이션 6 SemiBold" pitchFamily="2" charset="-127"/>
              </a:endParaRPr>
            </a:p>
          </p:txBody>
        </p:sp>
        <p:sp>
          <p:nvSpPr>
            <p:cNvPr id="19" name="Text 15"/>
            <p:cNvSpPr/>
            <p:nvPr/>
          </p:nvSpPr>
          <p:spPr>
            <a:xfrm>
              <a:off x="5389807" y="2722508"/>
              <a:ext cx="6091707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dirty="0" err="1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  <a:cs typeface="Courier New" pitchFamily="34" charset="-120"/>
                </a:rPr>
                <a:t>irm</a:t>
              </a:r>
              <a:r>
                <a:rPr lang="en-US" sz="950" dirty="0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  <a:cs typeface="Courier New" pitchFamily="34" charset="-120"/>
                </a:rPr>
                <a:t> https://antigravity.google/cli/install.ps1 | iex</a:t>
              </a:r>
              <a:endParaRPr lang="en-US" sz="9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endParaRPr>
            </a:p>
          </p:txBody>
        </p:sp>
        <p:sp>
          <p:nvSpPr>
            <p:cNvPr id="34" name="Shape 8">
              <a:extLst>
                <a:ext uri="{FF2B5EF4-FFF2-40B4-BE49-F238E27FC236}">
                  <a16:creationId xmlns:a16="http://schemas.microsoft.com/office/drawing/2014/main" id="{4301ED1D-23B6-9609-4114-D91E1984ADDF}"/>
                </a:ext>
              </a:extLst>
            </p:cNvPr>
            <p:cNvSpPr/>
            <p:nvPr/>
          </p:nvSpPr>
          <p:spPr>
            <a:xfrm>
              <a:off x="4555807" y="3250971"/>
              <a:ext cx="6925707" cy="457200"/>
            </a:xfrm>
            <a:prstGeom prst="roundRect">
              <a:avLst>
                <a:gd name="adj" fmla="val 10000"/>
              </a:avLst>
            </a:prstGeom>
            <a:solidFill>
              <a:srgbClr val="0F1E2E"/>
            </a:solidFill>
            <a:ln/>
          </p:spPr>
          <p:txBody>
            <a:bodyPr anchor="ctr"/>
            <a:lstStyle/>
            <a:p>
              <a:r>
                <a:rPr lang="en-US" altLang="ko-KR" sz="1000" dirty="0">
                  <a:solidFill>
                    <a:srgbClr val="4285F4"/>
                  </a:solidFill>
                  <a:latin typeface="프리젠테이션 6 SemiBold" pitchFamily="2" charset="-127"/>
                  <a:ea typeface="프리젠테이션 6 SemiBold" pitchFamily="2" charset="-127"/>
                </a:rPr>
                <a:t>Linux / WSL</a:t>
              </a:r>
              <a:endParaRPr lang="ko-KR" altLang="en-US" sz="1000" dirty="0">
                <a:solidFill>
                  <a:srgbClr val="4285F4"/>
                </a:solidFill>
                <a:latin typeface="프리젠테이션 6 SemiBold" pitchFamily="2" charset="-127"/>
                <a:ea typeface="프리젠테이션 6 SemiBold" pitchFamily="2" charset="-127"/>
              </a:endParaRPr>
            </a:p>
          </p:txBody>
        </p:sp>
        <p:sp>
          <p:nvSpPr>
            <p:cNvPr id="21" name="Text 17"/>
            <p:cNvSpPr/>
            <p:nvPr/>
          </p:nvSpPr>
          <p:spPr>
            <a:xfrm>
              <a:off x="5389809" y="3249082"/>
              <a:ext cx="609170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dirty="0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  <a:cs typeface="Courier New" pitchFamily="34" charset="-120"/>
                </a:rPr>
                <a:t>curl -fsSL https://antigravity.google/cli/install.sh | bash</a:t>
              </a:r>
              <a:endParaRPr lang="en-US" sz="9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endParaRPr>
            </a:p>
          </p:txBody>
        </p:sp>
        <p:pic>
          <p:nvPicPr>
            <p:cNvPr id="72" name="그래픽 71">
              <a:extLst>
                <a:ext uri="{FF2B5EF4-FFF2-40B4-BE49-F238E27FC236}">
                  <a16:creationId xmlns:a16="http://schemas.microsoft.com/office/drawing/2014/main" id="{67C9AEE4-35EF-75B0-3F8F-7120E96CAE3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66352" y="2965675"/>
              <a:ext cx="219600" cy="219600"/>
            </a:xfrm>
            <a:prstGeom prst="rect">
              <a:avLst/>
            </a:prstGeom>
          </p:spPr>
        </p:pic>
      </p:grpSp>
      <p:grpSp>
        <p:nvGrpSpPr>
          <p:cNvPr id="77" name="그룹 76">
            <a:extLst>
              <a:ext uri="{FF2B5EF4-FFF2-40B4-BE49-F238E27FC236}">
                <a16:creationId xmlns:a16="http://schemas.microsoft.com/office/drawing/2014/main" id="{CE470E62-177D-55ED-27CE-E5E9BC1660B1}"/>
              </a:ext>
            </a:extLst>
          </p:cNvPr>
          <p:cNvGrpSpPr/>
          <p:nvPr/>
        </p:nvGrpSpPr>
        <p:grpSpPr>
          <a:xfrm>
            <a:off x="623887" y="1367028"/>
            <a:ext cx="10944225" cy="1178095"/>
            <a:chOff x="623887" y="1367028"/>
            <a:chExt cx="10944225" cy="1178095"/>
          </a:xfrm>
        </p:grpSpPr>
        <p:sp>
          <p:nvSpPr>
            <p:cNvPr id="4" name="Shape 2"/>
            <p:cNvSpPr/>
            <p:nvPr/>
          </p:nvSpPr>
          <p:spPr>
            <a:xfrm>
              <a:off x="623887" y="1367028"/>
              <a:ext cx="10944225" cy="1178095"/>
            </a:xfrm>
            <a:prstGeom prst="roundRect">
              <a:avLst>
                <a:gd name="adj" fmla="val 5161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  <a:effectLst>
              <a:outerShdw blurRad="88900" dist="38100" dir="5400000" algn="bl" rotWithShape="0">
                <a:srgbClr val="000000">
                  <a:alpha val="16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" name="Shape 3"/>
            <p:cNvSpPr/>
            <p:nvPr/>
          </p:nvSpPr>
          <p:spPr>
            <a:xfrm>
              <a:off x="851344" y="1630723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 4"/>
            <p:cNvSpPr/>
            <p:nvPr/>
          </p:nvSpPr>
          <p:spPr>
            <a:xfrm>
              <a:off x="1446848" y="1566715"/>
              <a:ext cx="274320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6232F"/>
                  </a:solidFill>
                  <a:latin typeface="프리젠테이션 6 SemiBold" pitchFamily="2" charset="-127"/>
                  <a:ea typeface="프리젠테이션 6 SemiBold" pitchFamily="2" charset="-127"/>
                  <a:cs typeface="Calibri" pitchFamily="34" charset="-120"/>
                </a:rPr>
                <a:t>Claude Code</a:t>
              </a:r>
              <a:endParaRPr lang="en-US" sz="1400" dirty="0">
                <a:latin typeface="프리젠테이션 6 SemiBold" pitchFamily="2" charset="-127"/>
                <a:ea typeface="프리젠테이션 6 SemiBold" pitchFamily="2" charset="-127"/>
              </a:endParaRPr>
            </a:p>
          </p:txBody>
        </p:sp>
        <p:sp>
          <p:nvSpPr>
            <p:cNvPr id="8" name="Text 5"/>
            <p:cNvSpPr/>
            <p:nvPr/>
          </p:nvSpPr>
          <p:spPr>
            <a:xfrm>
              <a:off x="1446846" y="1915668"/>
              <a:ext cx="3022363" cy="6144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05000"/>
                </a:lnSpc>
                <a:buNone/>
              </a:pPr>
              <a:r>
                <a:rPr lang="ko-KR" altLang="en-US" sz="1000" dirty="0" err="1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오케스트레이터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 및 중심 워커로 활용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.</a:t>
              </a:r>
            </a:p>
            <a:p>
              <a:pPr marL="0" indent="0">
                <a:lnSpc>
                  <a:spcPct val="105000"/>
                </a:lnSpc>
                <a:buNone/>
              </a:pP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복잡한 코딩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·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구현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·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설계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·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기획 등 전반에서 안정적이고 추론이 깊다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.</a:t>
              </a:r>
            </a:p>
            <a:p>
              <a:pPr>
                <a:lnSpc>
                  <a:spcPct val="105000"/>
                </a:lnSpc>
              </a:pP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Claude Pro/Max 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구독으로 로그인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. </a:t>
              </a:r>
              <a:endParaRPr lang="en-US" sz="100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</a:endParaRPr>
            </a:p>
          </p:txBody>
        </p:sp>
        <p:sp>
          <p:nvSpPr>
            <p:cNvPr id="9" name="Shape 6"/>
            <p:cNvSpPr/>
            <p:nvPr/>
          </p:nvSpPr>
          <p:spPr>
            <a:xfrm>
              <a:off x="4555807" y="1459949"/>
              <a:ext cx="6925707" cy="457200"/>
            </a:xfrm>
            <a:prstGeom prst="roundRect">
              <a:avLst>
                <a:gd name="adj" fmla="val 10000"/>
              </a:avLst>
            </a:prstGeom>
            <a:solidFill>
              <a:srgbClr val="0F1E2E"/>
            </a:solidFill>
            <a:ln/>
          </p:spPr>
          <p:txBody>
            <a:bodyPr anchor="ctr"/>
            <a:lstStyle/>
            <a:p>
              <a:r>
                <a:rPr lang="en-US" altLang="ko-KR" sz="1000" dirty="0">
                  <a:solidFill>
                    <a:srgbClr val="E8A13A"/>
                  </a:solidFill>
                  <a:latin typeface="프리젠테이션 6 SemiBold" pitchFamily="2" charset="-127"/>
                  <a:ea typeface="프리젠테이션 6 SemiBold" pitchFamily="2" charset="-127"/>
                </a:rPr>
                <a:t>PowerShell</a:t>
              </a:r>
              <a:endParaRPr lang="ko-KR" altLang="en-US" sz="1000" dirty="0">
                <a:solidFill>
                  <a:srgbClr val="E8A13A"/>
                </a:solidFill>
                <a:latin typeface="프리젠테이션 6 SemiBold" pitchFamily="2" charset="-127"/>
                <a:ea typeface="프리젠테이션 6 SemiBold" pitchFamily="2" charset="-127"/>
              </a:endParaRPr>
            </a:p>
          </p:txBody>
        </p:sp>
        <p:sp>
          <p:nvSpPr>
            <p:cNvPr id="10" name="Text 7"/>
            <p:cNvSpPr/>
            <p:nvPr/>
          </p:nvSpPr>
          <p:spPr>
            <a:xfrm>
              <a:off x="5389807" y="1459949"/>
              <a:ext cx="2801155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dirty="0" err="1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  <a:cs typeface="Courier New" pitchFamily="34" charset="-120"/>
                </a:rPr>
                <a:t>irm</a:t>
              </a:r>
              <a:r>
                <a:rPr lang="en-US" sz="1000" dirty="0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  <a:cs typeface="Courier New" pitchFamily="34" charset="-120"/>
                </a:rPr>
                <a:t> https://claude.ai/install.ps1 | iex</a:t>
              </a:r>
              <a:endParaRPr lang="en-US" sz="10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endParaRPr>
            </a:p>
          </p:txBody>
        </p:sp>
        <p:sp>
          <p:nvSpPr>
            <p:cNvPr id="11" name="Shape 8"/>
            <p:cNvSpPr/>
            <p:nvPr/>
          </p:nvSpPr>
          <p:spPr>
            <a:xfrm>
              <a:off x="4555807" y="1990301"/>
              <a:ext cx="6925707" cy="457200"/>
            </a:xfrm>
            <a:prstGeom prst="roundRect">
              <a:avLst>
                <a:gd name="adj" fmla="val 10000"/>
              </a:avLst>
            </a:prstGeom>
            <a:solidFill>
              <a:srgbClr val="0F1E2E"/>
            </a:solidFill>
            <a:ln/>
          </p:spPr>
          <p:txBody>
            <a:bodyPr anchor="ctr"/>
            <a:lstStyle/>
            <a:p>
              <a:r>
                <a:rPr lang="en-US" altLang="ko-KR" sz="1000" dirty="0">
                  <a:solidFill>
                    <a:srgbClr val="4285F4"/>
                  </a:solidFill>
                  <a:latin typeface="프리젠테이션 6 SemiBold" pitchFamily="2" charset="-127"/>
                  <a:ea typeface="프리젠테이션 6 SemiBold" pitchFamily="2" charset="-127"/>
                </a:rPr>
                <a:t>Linux / WSL</a:t>
              </a:r>
              <a:endParaRPr lang="ko-KR" altLang="en-US" sz="1000" dirty="0">
                <a:solidFill>
                  <a:srgbClr val="4285F4"/>
                </a:solidFill>
                <a:latin typeface="프리젠테이션 6 SemiBold" pitchFamily="2" charset="-127"/>
                <a:ea typeface="프리젠테이션 6 SemiBold" pitchFamily="2" charset="-127"/>
              </a:endParaRPr>
            </a:p>
          </p:txBody>
        </p:sp>
        <p:sp>
          <p:nvSpPr>
            <p:cNvPr id="12" name="Text 9"/>
            <p:cNvSpPr/>
            <p:nvPr/>
          </p:nvSpPr>
          <p:spPr>
            <a:xfrm>
              <a:off x="5389808" y="1990301"/>
              <a:ext cx="5493648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dirty="0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  <a:cs typeface="Courier New" pitchFamily="34" charset="-120"/>
                </a:rPr>
                <a:t>curl -fsSL https://claude.ai/install.sh | bash</a:t>
              </a:r>
              <a:endParaRPr lang="en-US" sz="10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endParaRPr>
            </a:p>
          </p:txBody>
        </p:sp>
        <p:pic>
          <p:nvPicPr>
            <p:cNvPr id="74" name="그림 73">
              <a:extLst>
                <a:ext uri="{FF2B5EF4-FFF2-40B4-BE49-F238E27FC236}">
                  <a16:creationId xmlns:a16="http://schemas.microsoft.com/office/drawing/2014/main" id="{D3EE8B9E-0F06-8AA4-737E-5C12C529B37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966352" y="1749595"/>
              <a:ext cx="219380" cy="219600"/>
            </a:xfrm>
            <a:prstGeom prst="rect">
              <a:avLst/>
            </a:prstGeom>
          </p:spPr>
        </p:pic>
      </p:grpSp>
      <p:sp>
        <p:nvSpPr>
          <p:cNvPr id="75" name="내용 개체 틀 74">
            <a:extLst>
              <a:ext uri="{FF2B5EF4-FFF2-40B4-BE49-F238E27FC236}">
                <a16:creationId xmlns:a16="http://schemas.microsoft.com/office/drawing/2014/main" id="{575B5C5B-9F1A-8E2C-691B-347F82E2612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/>
              <a:t>AI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 dirty="0"/>
              <a:t>CLI </a:t>
            </a:r>
            <a:r>
              <a:rPr lang="ko-KR" altLang="en-US" dirty="0"/>
              <a:t>설치</a:t>
            </a:r>
          </a:p>
        </p:txBody>
      </p:sp>
      <p:sp>
        <p:nvSpPr>
          <p:cNvPr id="76" name="내용 개체 틀 75">
            <a:extLst>
              <a:ext uri="{FF2B5EF4-FFF2-40B4-BE49-F238E27FC236}">
                <a16:creationId xmlns:a16="http://schemas.microsoft.com/office/drawing/2014/main" id="{24702F6D-E89E-A2AD-BBE2-D50BD7B02C97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3888" y="908050"/>
            <a:ext cx="10944225" cy="458978"/>
          </a:xfrm>
        </p:spPr>
        <p:txBody>
          <a:bodyPr/>
          <a:lstStyle/>
          <a:p>
            <a:r>
              <a:rPr lang="en-US" altLang="ko-KR" dirty="0"/>
              <a:t> </a:t>
            </a:r>
            <a:r>
              <a:rPr lang="ko-KR" altLang="en-US" dirty="0"/>
              <a:t>모든 </a:t>
            </a:r>
            <a:r>
              <a:rPr lang="en-US" altLang="ko-KR" dirty="0"/>
              <a:t>CLI</a:t>
            </a:r>
            <a:r>
              <a:rPr lang="ko-KR" altLang="en-US" dirty="0"/>
              <a:t>는 </a:t>
            </a:r>
            <a:r>
              <a:rPr lang="ko-KR" altLang="en-US" dirty="0" err="1"/>
              <a:t>오케스트레이터가</a:t>
            </a:r>
            <a:r>
              <a:rPr lang="ko-KR" altLang="en-US" dirty="0"/>
              <a:t> 도는 것과 같은 쉘</a:t>
            </a:r>
            <a:r>
              <a:rPr lang="en-US" altLang="ko-KR" dirty="0"/>
              <a:t>(Shell)</a:t>
            </a:r>
            <a:r>
              <a:rPr lang="ko-KR" altLang="en-US" dirty="0"/>
              <a:t>에 있어야 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2" name="화살표: 아래쪽 1">
            <a:extLst>
              <a:ext uri="{FF2B5EF4-FFF2-40B4-BE49-F238E27FC236}">
                <a16:creationId xmlns:a16="http://schemas.microsoft.com/office/drawing/2014/main" id="{EF862866-3263-451C-1A47-103D9878DB2F}"/>
              </a:ext>
            </a:extLst>
          </p:cNvPr>
          <p:cNvSpPr/>
          <p:nvPr/>
        </p:nvSpPr>
        <p:spPr>
          <a:xfrm rot="3422748">
            <a:off x="3411600" y="1082684"/>
            <a:ext cx="854918" cy="115413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필수</a:t>
            </a:r>
            <a:endParaRPr lang="en-US" altLang="ko-K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01C"/>
        </a:solidFill>
        <a:effectLst/>
      </p:bgPr>
    </p:bg>
    <p:spTree>
      <p:nvGrpSpPr>
        <p:cNvPr id="1" name="Shape 15">
          <a:extLst>
            <a:ext uri="{FF2B5EF4-FFF2-40B4-BE49-F238E27FC236}">
              <a16:creationId xmlns:a16="http://schemas.microsoft.com/office/drawing/2014/main" id="{ED8FB5DE-78EE-1305-0BC2-F0B191F816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>
            <a:extLst>
              <a:ext uri="{FF2B5EF4-FFF2-40B4-BE49-F238E27FC236}">
                <a16:creationId xmlns:a16="http://schemas.microsoft.com/office/drawing/2014/main" id="{EF063581-8DA5-FA9B-5B42-2881243D5C6C}"/>
              </a:ext>
            </a:extLst>
          </p:cNvPr>
          <p:cNvSpPr/>
          <p:nvPr/>
        </p:nvSpPr>
        <p:spPr>
          <a:xfrm>
            <a:off x="822960" y="822960"/>
            <a:ext cx="2286000" cy="566928"/>
          </a:xfrm>
          <a:prstGeom prst="roundRect">
            <a:avLst>
              <a:gd name="adj" fmla="val 14516"/>
            </a:avLst>
          </a:prstGeom>
          <a:solidFill>
            <a:srgbClr val="2C292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3">
            <a:extLst>
              <a:ext uri="{FF2B5EF4-FFF2-40B4-BE49-F238E27FC236}">
                <a16:creationId xmlns:a16="http://schemas.microsoft.com/office/drawing/2014/main" id="{F0396184-A4A8-09B4-19EE-98EAA47DD985}"/>
              </a:ext>
            </a:extLst>
          </p:cNvPr>
          <p:cNvSpPr/>
          <p:nvPr/>
        </p:nvSpPr>
        <p:spPr>
          <a:xfrm>
            <a:off x="987552" y="1060704"/>
            <a:ext cx="100584" cy="100584"/>
          </a:xfrm>
          <a:prstGeom prst="ellipse">
            <a:avLst/>
          </a:prstGeom>
          <a:solidFill>
            <a:srgbClr val="E8695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3">
            <a:extLst>
              <a:ext uri="{FF2B5EF4-FFF2-40B4-BE49-F238E27FC236}">
                <a16:creationId xmlns:a16="http://schemas.microsoft.com/office/drawing/2014/main" id="{DBE483A1-3714-C965-EBE3-B9734E9B8731}"/>
              </a:ext>
            </a:extLst>
          </p:cNvPr>
          <p:cNvSpPr/>
          <p:nvPr/>
        </p:nvSpPr>
        <p:spPr>
          <a:xfrm>
            <a:off x="1188720" y="1060704"/>
            <a:ext cx="100584" cy="100584"/>
          </a:xfrm>
          <a:prstGeom prst="ellipse">
            <a:avLst/>
          </a:prstGeom>
          <a:solidFill>
            <a:srgbClr val="F0B95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3">
            <a:extLst>
              <a:ext uri="{FF2B5EF4-FFF2-40B4-BE49-F238E27FC236}">
                <a16:creationId xmlns:a16="http://schemas.microsoft.com/office/drawing/2014/main" id="{13218B43-8A02-51D8-70E3-8A6B6A41FA3D}"/>
              </a:ext>
            </a:extLst>
          </p:cNvPr>
          <p:cNvSpPr/>
          <p:nvPr/>
        </p:nvSpPr>
        <p:spPr>
          <a:xfrm>
            <a:off x="1389888" y="1060704"/>
            <a:ext cx="100584" cy="100584"/>
          </a:xfrm>
          <a:prstGeom prst="ellipse">
            <a:avLst/>
          </a:prstGeom>
          <a:solidFill>
            <a:srgbClr val="8FBF6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3">
            <a:extLst>
              <a:ext uri="{FF2B5EF4-FFF2-40B4-BE49-F238E27FC236}">
                <a16:creationId xmlns:a16="http://schemas.microsoft.com/office/drawing/2014/main" id="{3B49D09B-ECDA-6AA7-A146-71C6D1826475}"/>
              </a:ext>
            </a:extLst>
          </p:cNvPr>
          <p:cNvSpPr/>
          <p:nvPr/>
        </p:nvSpPr>
        <p:spPr>
          <a:xfrm>
            <a:off x="1600200" y="822960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400"/>
              <a:buFont typeface="Courier New"/>
              <a:buNone/>
            </a:pPr>
            <a:r>
              <a:rPr lang="en-US" sz="1400" b="0" i="0" u="none" strike="noStrike" cap="none">
                <a:solidFill>
                  <a:srgbClr val="D97757"/>
                </a:solidFill>
                <a:latin typeface="Courier New"/>
                <a:ea typeface="Courier New"/>
                <a:cs typeface="Courier New"/>
                <a:sym typeface="Courier New"/>
              </a:rPr>
              <a:t>$ </a:t>
            </a:r>
            <a:r>
              <a:rPr lang="en-US" sz="1400" b="0" i="0" u="none" strike="noStrike" cap="none">
                <a:solidFill>
                  <a:srgbClr val="E8E3DB"/>
                </a:solidFill>
                <a:latin typeface="Courier New"/>
                <a:ea typeface="Courier New"/>
                <a:cs typeface="Courier New"/>
                <a:sym typeface="Courier New"/>
              </a:rPr>
              <a:t>claude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>
            <a:extLst>
              <a:ext uri="{FF2B5EF4-FFF2-40B4-BE49-F238E27FC236}">
                <a16:creationId xmlns:a16="http://schemas.microsoft.com/office/drawing/2014/main" id="{9427F2A7-427F-92A6-C6D1-7C33E37F9BEE}"/>
              </a:ext>
            </a:extLst>
          </p:cNvPr>
          <p:cNvSpPr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700"/>
              <a:buFont typeface="Malgun Gothic"/>
              <a:buNone/>
            </a:pPr>
            <a:r>
              <a:rPr lang="ko-KR" altLang="en-US" sz="47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클로드 </a:t>
            </a:r>
            <a:r>
              <a:rPr lang="en-US" sz="47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설치 및 세팅 가이드</a:t>
            </a:r>
            <a:endParaRPr sz="4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>
            <a:extLst>
              <a:ext uri="{FF2B5EF4-FFF2-40B4-BE49-F238E27FC236}">
                <a16:creationId xmlns:a16="http://schemas.microsoft.com/office/drawing/2014/main" id="{BCF07BCF-FAFA-CD5C-AA03-6CFCA55B601F}"/>
              </a:ext>
            </a:extLst>
          </p:cNvPr>
          <p:cNvSpPr/>
          <p:nvPr/>
        </p:nvSpPr>
        <p:spPr>
          <a:xfrm>
            <a:off x="841248" y="352044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9B2A7"/>
              </a:buClr>
              <a:buSzPts val="1700"/>
              <a:buFont typeface="Malgun Gothic"/>
              <a:buNone/>
            </a:pPr>
            <a:r>
              <a:rPr lang="en-US" sz="1700" b="0" i="0" u="none" strike="noStrike" cap="none">
                <a:solidFill>
                  <a:srgbClr val="B9B2A7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개발팀 온보딩  ·  처음 쓰는 분도 그대로 따라 하면 완료됩니다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>
            <a:extLst>
              <a:ext uri="{FF2B5EF4-FFF2-40B4-BE49-F238E27FC236}">
                <a16:creationId xmlns:a16="http://schemas.microsoft.com/office/drawing/2014/main" id="{C49415F8-792A-E882-493B-9E88FA1942CD}"/>
              </a:ext>
            </a:extLst>
          </p:cNvPr>
          <p:cNvSpPr/>
          <p:nvPr/>
        </p:nvSpPr>
        <p:spPr>
          <a:xfrm>
            <a:off x="841248" y="402336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A8378"/>
              </a:buClr>
              <a:buSzPts val="1300"/>
              <a:buFont typeface="Malgun Gothic"/>
              <a:buNone/>
            </a:pPr>
            <a:r>
              <a:rPr lang="en-US" sz="1300" b="0" i="0" u="none" strike="noStrike" cap="none">
                <a:solidFill>
                  <a:srgbClr val="8A8378"/>
                </a:solidFill>
                <a:latin typeface="Malgun Gothic"/>
                <a:ea typeface="Malgun Gothic"/>
                <a:cs typeface="Malgun Gothic"/>
                <a:sym typeface="Malgun Gothic"/>
              </a:rPr>
              <a:t>소요 시간 약 20~30분  ·  명령어는 모두 복사해서 붙여넣으면 됩니다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3">
            <a:extLst>
              <a:ext uri="{FF2B5EF4-FFF2-40B4-BE49-F238E27FC236}">
                <a16:creationId xmlns:a16="http://schemas.microsoft.com/office/drawing/2014/main" id="{3E17029F-AF26-6312-D4C4-B4221D6E4B1F}"/>
              </a:ext>
            </a:extLst>
          </p:cNvPr>
          <p:cNvSpPr/>
          <p:nvPr/>
        </p:nvSpPr>
        <p:spPr>
          <a:xfrm>
            <a:off x="8229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5;p3">
            <a:extLst>
              <a:ext uri="{FF2B5EF4-FFF2-40B4-BE49-F238E27FC236}">
                <a16:creationId xmlns:a16="http://schemas.microsoft.com/office/drawing/2014/main" id="{3CEB636A-3863-BCB7-9A86-6B40535CCB8C}"/>
              </a:ext>
            </a:extLst>
          </p:cNvPr>
          <p:cNvSpPr/>
          <p:nvPr/>
        </p:nvSpPr>
        <p:spPr>
          <a:xfrm>
            <a:off x="9692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01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설치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3">
            <a:extLst>
              <a:ext uri="{FF2B5EF4-FFF2-40B4-BE49-F238E27FC236}">
                <a16:creationId xmlns:a16="http://schemas.microsoft.com/office/drawing/2014/main" id="{540EC4E7-7828-61B5-F88E-325557F47622}"/>
              </a:ext>
            </a:extLst>
          </p:cNvPr>
          <p:cNvSpPr/>
          <p:nvPr/>
        </p:nvSpPr>
        <p:spPr>
          <a:xfrm>
            <a:off x="26517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3">
            <a:extLst>
              <a:ext uri="{FF2B5EF4-FFF2-40B4-BE49-F238E27FC236}">
                <a16:creationId xmlns:a16="http://schemas.microsoft.com/office/drawing/2014/main" id="{704074CD-A6DF-6609-E63E-881A5571A467}"/>
              </a:ext>
            </a:extLst>
          </p:cNvPr>
          <p:cNvSpPr/>
          <p:nvPr/>
        </p:nvSpPr>
        <p:spPr>
          <a:xfrm>
            <a:off x="27980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02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실행·로그인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3">
            <a:extLst>
              <a:ext uri="{FF2B5EF4-FFF2-40B4-BE49-F238E27FC236}">
                <a16:creationId xmlns:a16="http://schemas.microsoft.com/office/drawing/2014/main" id="{CEF12B9A-26C2-B954-FD3B-E1793257BFE3}"/>
              </a:ext>
            </a:extLst>
          </p:cNvPr>
          <p:cNvSpPr/>
          <p:nvPr/>
        </p:nvSpPr>
        <p:spPr>
          <a:xfrm>
            <a:off x="44805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3">
            <a:extLst>
              <a:ext uri="{FF2B5EF4-FFF2-40B4-BE49-F238E27FC236}">
                <a16:creationId xmlns:a16="http://schemas.microsoft.com/office/drawing/2014/main" id="{D6FD9AF1-6FB5-E3A0-5B17-87492BEB9B97}"/>
              </a:ext>
            </a:extLst>
          </p:cNvPr>
          <p:cNvSpPr/>
          <p:nvPr/>
        </p:nvSpPr>
        <p:spPr>
          <a:xfrm>
            <a:off x="46268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03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IntelliJ 연동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3">
            <a:extLst>
              <a:ext uri="{FF2B5EF4-FFF2-40B4-BE49-F238E27FC236}">
                <a16:creationId xmlns:a16="http://schemas.microsoft.com/office/drawing/2014/main" id="{F76EF038-9B06-86EA-B969-7B3A68779B8F}"/>
              </a:ext>
            </a:extLst>
          </p:cNvPr>
          <p:cNvSpPr/>
          <p:nvPr/>
        </p:nvSpPr>
        <p:spPr>
          <a:xfrm>
            <a:off x="63093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3">
            <a:extLst>
              <a:ext uri="{FF2B5EF4-FFF2-40B4-BE49-F238E27FC236}">
                <a16:creationId xmlns:a16="http://schemas.microsoft.com/office/drawing/2014/main" id="{FED2E46C-0EFA-4E72-D4D6-B559ABD821A6}"/>
              </a:ext>
            </a:extLst>
          </p:cNvPr>
          <p:cNvSpPr/>
          <p:nvPr/>
        </p:nvSpPr>
        <p:spPr>
          <a:xfrm>
            <a:off x="64556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04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환경설정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3">
            <a:extLst>
              <a:ext uri="{FF2B5EF4-FFF2-40B4-BE49-F238E27FC236}">
                <a16:creationId xmlns:a16="http://schemas.microsoft.com/office/drawing/2014/main" id="{C3F49E45-52BE-2245-E041-E0D3EE1CC9EE}"/>
              </a:ext>
            </a:extLst>
          </p:cNvPr>
          <p:cNvSpPr/>
          <p:nvPr/>
        </p:nvSpPr>
        <p:spPr>
          <a:xfrm>
            <a:off x="81381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3">
            <a:extLst>
              <a:ext uri="{FF2B5EF4-FFF2-40B4-BE49-F238E27FC236}">
                <a16:creationId xmlns:a16="http://schemas.microsoft.com/office/drawing/2014/main" id="{FC44A538-63AF-C76F-4199-208B736A8272}"/>
              </a:ext>
            </a:extLst>
          </p:cNvPr>
          <p:cNvSpPr/>
          <p:nvPr/>
        </p:nvSpPr>
        <p:spPr>
          <a:xfrm>
            <a:off x="82844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05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설정 확인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3">
            <a:extLst>
              <a:ext uri="{FF2B5EF4-FFF2-40B4-BE49-F238E27FC236}">
                <a16:creationId xmlns:a16="http://schemas.microsoft.com/office/drawing/2014/main" id="{D0A92C18-5B6F-2D89-9D12-B9DC31CB2EFE}"/>
              </a:ext>
            </a:extLst>
          </p:cNvPr>
          <p:cNvSpPr/>
          <p:nvPr/>
        </p:nvSpPr>
        <p:spPr>
          <a:xfrm>
            <a:off x="99669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3">
            <a:extLst>
              <a:ext uri="{FF2B5EF4-FFF2-40B4-BE49-F238E27FC236}">
                <a16:creationId xmlns:a16="http://schemas.microsoft.com/office/drawing/2014/main" id="{DF3BF159-DBD1-0C28-58F0-8642684245E1}"/>
              </a:ext>
            </a:extLst>
          </p:cNvPr>
          <p:cNvSpPr/>
          <p:nvPr/>
        </p:nvSpPr>
        <p:spPr>
          <a:xfrm>
            <a:off x="101132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06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테스트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584475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4"/>
          <p:cNvSpPr/>
          <p:nvPr/>
        </p:nvSpPr>
        <p:spPr>
          <a:xfrm>
            <a:off x="502920" y="384048"/>
            <a:ext cx="1005840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시작하기 전에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3000"/>
              <a:buFont typeface="Malgun Gothic"/>
              <a:buNone/>
            </a:pPr>
            <a:r>
              <a:rPr lang="en-US" sz="30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터미널 여는 방법부터 확인하세요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4"/>
          <p:cNvSpPr/>
          <p:nvPr/>
        </p:nvSpPr>
        <p:spPr>
          <a:xfrm>
            <a:off x="521208" y="1143000"/>
            <a:ext cx="111556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300"/>
              <a:buFont typeface="Malgun Gothic"/>
              <a:buNone/>
            </a:pPr>
            <a:r>
              <a:rPr lang="en-US" sz="130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 가이드의 모든 명령어는 “터미널”이라는 검은 입력 창에 입력합니다. 내 환경에 맞는 방법으로 터미널을 열어 두세요.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4"/>
          <p:cNvSpPr/>
          <p:nvPr/>
        </p:nvSpPr>
        <p:spPr>
          <a:xfrm>
            <a:off x="502920" y="1828800"/>
            <a:ext cx="3639312" cy="3017520"/>
          </a:xfrm>
          <a:prstGeom prst="roundRect">
            <a:avLst>
              <a:gd name="adj" fmla="val 2727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4"/>
          <p:cNvSpPr/>
          <p:nvPr/>
        </p:nvSpPr>
        <p:spPr>
          <a:xfrm>
            <a:off x="777240" y="2103120"/>
            <a:ext cx="512064" cy="512064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5" name="Google Shape;45;p4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5256" y="2231136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4"/>
          <p:cNvSpPr/>
          <p:nvPr/>
        </p:nvSpPr>
        <p:spPr>
          <a:xfrm>
            <a:off x="777240" y="2788920"/>
            <a:ext cx="3090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650"/>
              <a:buFont typeface="Malgun Gothic"/>
              <a:buNone/>
            </a:pPr>
            <a:r>
              <a:rPr lang="en-US" sz="16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Windows</a:t>
            </a:r>
            <a:endParaRPr sz="16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4"/>
          <p:cNvSpPr/>
          <p:nvPr/>
        </p:nvSpPr>
        <p:spPr>
          <a:xfrm>
            <a:off x="777240" y="3200400"/>
            <a:ext cx="3090672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시작 메뉴에서 </a:t>
            </a:r>
            <a:r>
              <a:rPr lang="en-US" sz="11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PowerShell</a:t>
            </a: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 을 검색해 실행합니다.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50"/>
              <a:buFont typeface="Calibri"/>
              <a:buNone/>
            </a:pP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또는 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150"/>
              <a:buFont typeface="Malgun Gothic"/>
              <a:buNone/>
            </a:pPr>
            <a:r>
              <a:rPr lang="en-US" sz="11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윈도우 키 + R</a:t>
            </a: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 → “powershell” 입력 → Enter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4"/>
          <p:cNvSpPr/>
          <p:nvPr/>
        </p:nvSpPr>
        <p:spPr>
          <a:xfrm>
            <a:off x="4288536" y="1828800"/>
            <a:ext cx="3639312" cy="3017520"/>
          </a:xfrm>
          <a:prstGeom prst="roundRect">
            <a:avLst>
              <a:gd name="adj" fmla="val 2727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p4"/>
          <p:cNvSpPr/>
          <p:nvPr/>
        </p:nvSpPr>
        <p:spPr>
          <a:xfrm>
            <a:off x="4562856" y="2103120"/>
            <a:ext cx="512064" cy="512064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0" name="Google Shape;50;p4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90872" y="2231136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4"/>
          <p:cNvSpPr/>
          <p:nvPr/>
        </p:nvSpPr>
        <p:spPr>
          <a:xfrm>
            <a:off x="4562856" y="2788920"/>
            <a:ext cx="3090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650"/>
              <a:buFont typeface="Malgun Gothic"/>
              <a:buNone/>
            </a:pPr>
            <a:r>
              <a:rPr lang="en-US" sz="16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macOS</a:t>
            </a:r>
            <a:endParaRPr sz="16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4"/>
          <p:cNvSpPr/>
          <p:nvPr/>
        </p:nvSpPr>
        <p:spPr>
          <a:xfrm>
            <a:off x="4562856" y="3200400"/>
            <a:ext cx="3090672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150"/>
              <a:buFont typeface="Malgun Gothic"/>
              <a:buNone/>
            </a:pPr>
            <a:r>
              <a:rPr lang="en-US" sz="11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⌘ + Space</a:t>
            </a: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 로 Spotlight를 열고 </a:t>
            </a:r>
            <a:r>
              <a:rPr lang="en-US" sz="11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터미널</a:t>
            </a: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 을 검색해 실행합니다.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4"/>
          <p:cNvSpPr/>
          <p:nvPr/>
        </p:nvSpPr>
        <p:spPr>
          <a:xfrm>
            <a:off x="8074152" y="1828800"/>
            <a:ext cx="3639312" cy="3017520"/>
          </a:xfrm>
          <a:prstGeom prst="roundRect">
            <a:avLst>
              <a:gd name="adj" fmla="val 2727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4"/>
          <p:cNvSpPr/>
          <p:nvPr/>
        </p:nvSpPr>
        <p:spPr>
          <a:xfrm>
            <a:off x="8348472" y="2103120"/>
            <a:ext cx="512064" cy="512064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5" name="Google Shape;55;p4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476488" y="2231136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4"/>
          <p:cNvSpPr/>
          <p:nvPr/>
        </p:nvSpPr>
        <p:spPr>
          <a:xfrm>
            <a:off x="8348472" y="2788920"/>
            <a:ext cx="3090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650"/>
              <a:buFont typeface="Malgun Gothic"/>
              <a:buNone/>
            </a:pPr>
            <a:r>
              <a:rPr lang="en-US" sz="16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IntelliJ 안에서 (권장)</a:t>
            </a:r>
            <a:endParaRPr sz="16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4"/>
          <p:cNvSpPr/>
          <p:nvPr/>
        </p:nvSpPr>
        <p:spPr>
          <a:xfrm>
            <a:off x="8348472" y="3200400"/>
            <a:ext cx="3090672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IntelliJ 하단의 </a:t>
            </a:r>
            <a:r>
              <a:rPr lang="en-US" sz="11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터미널 탭</a:t>
            </a: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 을 클릭합니다.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50"/>
              <a:buFont typeface="Calibri"/>
              <a:buNone/>
            </a:pP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단축키: 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150"/>
              <a:buFont typeface="Malgun Gothic"/>
              <a:buNone/>
            </a:pPr>
            <a:r>
              <a:rPr lang="en-US" sz="11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Alt + F12</a:t>
            </a: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  (macOS: ⌥ + F12)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프로젝트 폴더에서 바로 열려 편리합니다.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4"/>
          <p:cNvSpPr/>
          <p:nvPr/>
        </p:nvSpPr>
        <p:spPr>
          <a:xfrm>
            <a:off x="502920" y="5166360"/>
            <a:ext cx="11183112" cy="1097280"/>
          </a:xfrm>
          <a:prstGeom prst="roundRect">
            <a:avLst>
              <a:gd name="adj" fmla="val 7500"/>
            </a:avLst>
          </a:prstGeom>
          <a:solidFill>
            <a:srgbClr val="F9EFE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4"/>
          <p:cNvSpPr/>
          <p:nvPr/>
        </p:nvSpPr>
        <p:spPr>
          <a:xfrm>
            <a:off x="777240" y="5166360"/>
            <a:ext cx="10607040" cy="109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복사 · 붙여넣기만 하면 됩니다   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가이드의 명령어를 드래그해 복사(Ctrl+C)한 뒤 터미널에 붙여넣고 Enter를 누르세요.  붙여넣기: Windows PowerShell은 </a:t>
            </a:r>
            <a:r>
              <a:rPr lang="en-US" sz="11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마우스 우클릭</a:t>
            </a:r>
            <a:r>
              <a:rPr lang="en-US" sz="1150" b="0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 또는 Ctrl+V,  macOS는 ⌘+V 입니다.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5"/>
          <p:cNvSpPr/>
          <p:nvPr/>
        </p:nvSpPr>
        <p:spPr>
          <a:xfrm>
            <a:off x="502920" y="384048"/>
            <a:ext cx="1005840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전체 흐름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3000"/>
              <a:buFont typeface="Malgun Gothic"/>
              <a:buNone/>
            </a:pPr>
            <a:r>
              <a:rPr lang="en-US" sz="30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여섯 단계만 따라 하면 끝납니다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5"/>
          <p:cNvSpPr/>
          <p:nvPr/>
        </p:nvSpPr>
        <p:spPr>
          <a:xfrm>
            <a:off x="521208" y="1143000"/>
            <a:ext cx="111556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300"/>
              <a:buFont typeface="Malgun Gothic"/>
              <a:buNone/>
            </a:pPr>
            <a:r>
              <a:rPr lang="en-US" sz="130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각 단계마다 “어떻게 하는지”와 “어떤 화면이 나오면 성공인지”를 함께 안내합니다.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5"/>
          <p:cNvSpPr/>
          <p:nvPr/>
        </p:nvSpPr>
        <p:spPr>
          <a:xfrm>
            <a:off x="502920" y="1783080"/>
            <a:ext cx="3611880" cy="2057400"/>
          </a:xfrm>
          <a:prstGeom prst="roundRect">
            <a:avLst>
              <a:gd name="adj" fmla="val 4000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5"/>
          <p:cNvSpPr/>
          <p:nvPr/>
        </p:nvSpPr>
        <p:spPr>
          <a:xfrm>
            <a:off x="777240" y="2057400"/>
            <a:ext cx="530352" cy="53035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9" name="Google Shape;69;p5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5256" y="2185416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5"/>
          <p:cNvSpPr/>
          <p:nvPr/>
        </p:nvSpPr>
        <p:spPr>
          <a:xfrm>
            <a:off x="3337560" y="2020824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D8D2C9"/>
              </a:buClr>
              <a:buSzPts val="1600"/>
              <a:buFont typeface="Malgun Gothic"/>
              <a:buNone/>
            </a:pPr>
            <a:r>
              <a:rPr lang="en-US" sz="1600" b="1" i="0" u="none" strike="noStrike" cap="none">
                <a:solidFill>
                  <a:srgbClr val="D8D2C9"/>
                </a:solidFill>
                <a:latin typeface="Malgun Gothic"/>
                <a:ea typeface="Malgun Gothic"/>
                <a:cs typeface="Malgun Gothic"/>
                <a:sym typeface="Malgun Gothic"/>
              </a:rPr>
              <a:t>01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5"/>
          <p:cNvSpPr/>
          <p:nvPr/>
        </p:nvSpPr>
        <p:spPr>
          <a:xfrm>
            <a:off x="777240" y="2743200"/>
            <a:ext cx="30632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700"/>
              <a:buFont typeface="Malgun Gothic"/>
              <a:buNone/>
            </a:pPr>
            <a:r>
              <a:rPr lang="en-US" sz="17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설치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5"/>
          <p:cNvSpPr/>
          <p:nvPr/>
        </p:nvSpPr>
        <p:spPr>
          <a:xfrm>
            <a:off x="777240" y="3136392"/>
            <a:ext cx="306324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터미널에 설치 명령어를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붙여넣고 Enter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5"/>
          <p:cNvSpPr/>
          <p:nvPr/>
        </p:nvSpPr>
        <p:spPr>
          <a:xfrm>
            <a:off x="4315968" y="1783080"/>
            <a:ext cx="3611880" cy="2057400"/>
          </a:xfrm>
          <a:prstGeom prst="roundRect">
            <a:avLst>
              <a:gd name="adj" fmla="val 4000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5"/>
          <p:cNvSpPr/>
          <p:nvPr/>
        </p:nvSpPr>
        <p:spPr>
          <a:xfrm>
            <a:off x="4590288" y="2057400"/>
            <a:ext cx="530352" cy="53035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5" name="Google Shape;75;p5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718304" y="2185416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5"/>
          <p:cNvSpPr/>
          <p:nvPr/>
        </p:nvSpPr>
        <p:spPr>
          <a:xfrm>
            <a:off x="7150608" y="2020824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D8D2C9"/>
              </a:buClr>
              <a:buSzPts val="1600"/>
              <a:buFont typeface="Malgun Gothic"/>
              <a:buNone/>
            </a:pPr>
            <a:r>
              <a:rPr lang="en-US" sz="1600" b="1" i="0" u="none" strike="noStrike" cap="none">
                <a:solidFill>
                  <a:srgbClr val="D8D2C9"/>
                </a:solidFill>
                <a:latin typeface="Malgun Gothic"/>
                <a:ea typeface="Malgun Gothic"/>
                <a:cs typeface="Malgun Gothic"/>
                <a:sym typeface="Malgun Gothic"/>
              </a:rPr>
              <a:t>02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5"/>
          <p:cNvSpPr/>
          <p:nvPr/>
        </p:nvSpPr>
        <p:spPr>
          <a:xfrm>
            <a:off x="4590288" y="2743200"/>
            <a:ext cx="30632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700"/>
              <a:buFont typeface="Malgun Gothic"/>
              <a:buNone/>
            </a:pPr>
            <a:r>
              <a:rPr lang="en-US" sz="17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실행 · 로그인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5"/>
          <p:cNvSpPr/>
          <p:nvPr/>
        </p:nvSpPr>
        <p:spPr>
          <a:xfrm>
            <a:off x="4590288" y="3136392"/>
            <a:ext cx="306324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claude 입력 → 화면에서 1번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선택 → 브라우저에서 로그인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5"/>
          <p:cNvSpPr/>
          <p:nvPr/>
        </p:nvSpPr>
        <p:spPr>
          <a:xfrm>
            <a:off x="8129016" y="1783080"/>
            <a:ext cx="3611880" cy="2057400"/>
          </a:xfrm>
          <a:prstGeom prst="roundRect">
            <a:avLst>
              <a:gd name="adj" fmla="val 4000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5"/>
          <p:cNvSpPr/>
          <p:nvPr/>
        </p:nvSpPr>
        <p:spPr>
          <a:xfrm>
            <a:off x="8403336" y="2057400"/>
            <a:ext cx="530352" cy="53035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1" name="Google Shape;81;p5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531352" y="2185416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5"/>
          <p:cNvSpPr/>
          <p:nvPr/>
        </p:nvSpPr>
        <p:spPr>
          <a:xfrm>
            <a:off x="10963656" y="2020824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D8D2C9"/>
              </a:buClr>
              <a:buSzPts val="1600"/>
              <a:buFont typeface="Malgun Gothic"/>
              <a:buNone/>
            </a:pPr>
            <a:r>
              <a:rPr lang="en-US" sz="1600" b="1" i="0" u="none" strike="noStrike" cap="none">
                <a:solidFill>
                  <a:srgbClr val="D8D2C9"/>
                </a:solidFill>
                <a:latin typeface="Malgun Gothic"/>
                <a:ea typeface="Malgun Gothic"/>
                <a:cs typeface="Malgun Gothic"/>
                <a:sym typeface="Malgun Gothic"/>
              </a:rPr>
              <a:t>03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5"/>
          <p:cNvSpPr/>
          <p:nvPr/>
        </p:nvSpPr>
        <p:spPr>
          <a:xfrm>
            <a:off x="8403336" y="2743200"/>
            <a:ext cx="30632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700"/>
              <a:buFont typeface="Malgun Gothic"/>
              <a:buNone/>
            </a:pPr>
            <a:r>
              <a:rPr lang="en-US" sz="17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IntelliJ 연동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5"/>
          <p:cNvSpPr/>
          <p:nvPr/>
        </p:nvSpPr>
        <p:spPr>
          <a:xfrm>
            <a:off x="8403336" y="3136392"/>
            <a:ext cx="306324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플러그인 설치 후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Claude 아이콘으로 실행 확인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5"/>
          <p:cNvSpPr/>
          <p:nvPr/>
        </p:nvSpPr>
        <p:spPr>
          <a:xfrm>
            <a:off x="502920" y="4114800"/>
            <a:ext cx="3611880" cy="2057400"/>
          </a:xfrm>
          <a:prstGeom prst="roundRect">
            <a:avLst>
              <a:gd name="adj" fmla="val 4000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5"/>
          <p:cNvSpPr/>
          <p:nvPr/>
        </p:nvSpPr>
        <p:spPr>
          <a:xfrm>
            <a:off x="777240" y="4389120"/>
            <a:ext cx="530352" cy="53035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7" name="Google Shape;87;p5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05256" y="4517136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"/>
          <p:cNvSpPr/>
          <p:nvPr/>
        </p:nvSpPr>
        <p:spPr>
          <a:xfrm>
            <a:off x="3337560" y="4352544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D8D2C9"/>
              </a:buClr>
              <a:buSzPts val="1600"/>
              <a:buFont typeface="Malgun Gothic"/>
              <a:buNone/>
            </a:pPr>
            <a:r>
              <a:rPr lang="en-US" sz="1600" b="1" i="0" u="none" strike="noStrike" cap="none">
                <a:solidFill>
                  <a:srgbClr val="D8D2C9"/>
                </a:solidFill>
                <a:latin typeface="Malgun Gothic"/>
                <a:ea typeface="Malgun Gothic"/>
                <a:cs typeface="Malgun Gothic"/>
                <a:sym typeface="Malgun Gothic"/>
              </a:rPr>
              <a:t>04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5"/>
          <p:cNvSpPr/>
          <p:nvPr/>
        </p:nvSpPr>
        <p:spPr>
          <a:xfrm>
            <a:off x="777240" y="5074920"/>
            <a:ext cx="30632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700"/>
              <a:buFont typeface="Malgun Gothic"/>
              <a:buNone/>
            </a:pPr>
            <a:r>
              <a:rPr lang="en-US" sz="17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환경설정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5"/>
          <p:cNvSpPr/>
          <p:nvPr/>
        </p:nvSpPr>
        <p:spPr>
          <a:xfrm>
            <a:off x="777240" y="5468112"/>
            <a:ext cx="306324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세팅 파일 압축 해제 후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프롬프트 한 줄 입력하면 자동 진행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5"/>
          <p:cNvSpPr/>
          <p:nvPr/>
        </p:nvSpPr>
        <p:spPr>
          <a:xfrm>
            <a:off x="4315968" y="4114800"/>
            <a:ext cx="3611880" cy="2057400"/>
          </a:xfrm>
          <a:prstGeom prst="roundRect">
            <a:avLst>
              <a:gd name="adj" fmla="val 4000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5"/>
          <p:cNvSpPr/>
          <p:nvPr/>
        </p:nvSpPr>
        <p:spPr>
          <a:xfrm>
            <a:off x="4590288" y="4389120"/>
            <a:ext cx="530352" cy="53035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93" name="Google Shape;93;p5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718304" y="4517136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5"/>
          <p:cNvSpPr/>
          <p:nvPr/>
        </p:nvSpPr>
        <p:spPr>
          <a:xfrm>
            <a:off x="7150608" y="4352544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D8D2C9"/>
              </a:buClr>
              <a:buSzPts val="1600"/>
              <a:buFont typeface="Malgun Gothic"/>
              <a:buNone/>
            </a:pPr>
            <a:r>
              <a:rPr lang="en-US" sz="1600" b="1" i="0" u="none" strike="noStrike" cap="none">
                <a:solidFill>
                  <a:srgbClr val="D8D2C9"/>
                </a:solidFill>
                <a:latin typeface="Malgun Gothic"/>
                <a:ea typeface="Malgun Gothic"/>
                <a:cs typeface="Malgun Gothic"/>
                <a:sym typeface="Malgun Gothic"/>
              </a:rPr>
              <a:t>05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5"/>
          <p:cNvSpPr/>
          <p:nvPr/>
        </p:nvSpPr>
        <p:spPr>
          <a:xfrm>
            <a:off x="4590288" y="5074920"/>
            <a:ext cx="30632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700"/>
              <a:buFont typeface="Malgun Gothic"/>
              <a:buNone/>
            </a:pPr>
            <a:r>
              <a:rPr lang="en-US" sz="17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설정 확인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5"/>
          <p:cNvSpPr/>
          <p:nvPr/>
        </p:nvSpPr>
        <p:spPr>
          <a:xfrm>
            <a:off x="4590288" y="5468112"/>
            <a:ext cx="306324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에이전트 목록이 표로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출력되는지 확인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5"/>
          <p:cNvSpPr/>
          <p:nvPr/>
        </p:nvSpPr>
        <p:spPr>
          <a:xfrm>
            <a:off x="8129016" y="4114800"/>
            <a:ext cx="3611880" cy="2057400"/>
          </a:xfrm>
          <a:prstGeom prst="roundRect">
            <a:avLst>
              <a:gd name="adj" fmla="val 4000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5"/>
          <p:cNvSpPr/>
          <p:nvPr/>
        </p:nvSpPr>
        <p:spPr>
          <a:xfrm>
            <a:off x="8403336" y="4389120"/>
            <a:ext cx="530352" cy="53035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99" name="Google Shape;99;p5" descr="preencoded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531352" y="4517136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5"/>
          <p:cNvSpPr/>
          <p:nvPr/>
        </p:nvSpPr>
        <p:spPr>
          <a:xfrm>
            <a:off x="10963656" y="4352544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D8D2C9"/>
              </a:buClr>
              <a:buSzPts val="1600"/>
              <a:buFont typeface="Malgun Gothic"/>
              <a:buNone/>
            </a:pPr>
            <a:r>
              <a:rPr lang="en-US" sz="1600" b="1" i="0" u="none" strike="noStrike" cap="none">
                <a:solidFill>
                  <a:srgbClr val="D8D2C9"/>
                </a:solidFill>
                <a:latin typeface="Malgun Gothic"/>
                <a:ea typeface="Malgun Gothic"/>
                <a:cs typeface="Malgun Gothic"/>
                <a:sym typeface="Malgun Gothic"/>
              </a:rPr>
              <a:t>06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5"/>
          <p:cNvSpPr/>
          <p:nvPr/>
        </p:nvSpPr>
        <p:spPr>
          <a:xfrm>
            <a:off x="8403336" y="5074920"/>
            <a:ext cx="30632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700"/>
              <a:buFont typeface="Malgun Gothic"/>
              <a:buNone/>
            </a:pPr>
            <a:r>
              <a:rPr lang="en-US" sz="17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테스트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5"/>
          <p:cNvSpPr/>
          <p:nvPr/>
        </p:nvSpPr>
        <p:spPr>
          <a:xfrm>
            <a:off x="8403336" y="5468112"/>
            <a:ext cx="306324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분석 프롬프트를 입력해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동작을 최종 확인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6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6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Malgun Gothic"/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6"/>
          <p:cNvSpPr/>
          <p:nvPr/>
        </p:nvSpPr>
        <p:spPr>
          <a:xfrm>
            <a:off x="1280160" y="384048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STEP 1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3000"/>
              <a:buFont typeface="Malgun Gothic"/>
              <a:buNone/>
            </a:pPr>
            <a:r>
              <a:rPr lang="en-US" sz="30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Claude Code 설치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6"/>
          <p:cNvSpPr/>
          <p:nvPr/>
        </p:nvSpPr>
        <p:spPr>
          <a:xfrm>
            <a:off x="1298448" y="1115568"/>
            <a:ext cx="10332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300"/>
              <a:buFont typeface="Malgun Gothic"/>
              <a:buNone/>
            </a:pPr>
            <a:r>
              <a:rPr lang="en-US" sz="130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내 환경에 맞는 카드 하나를 골라, 명령어를 통째로 복사해 터미널에 붙여넣고 Enter를 누르세요.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6"/>
          <p:cNvSpPr/>
          <p:nvPr/>
        </p:nvSpPr>
        <p:spPr>
          <a:xfrm>
            <a:off x="502920" y="1874520"/>
            <a:ext cx="3639312" cy="3611880"/>
          </a:xfrm>
          <a:prstGeom prst="roundRect">
            <a:avLst>
              <a:gd name="adj" fmla="val 2278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6"/>
          <p:cNvSpPr/>
          <p:nvPr/>
        </p:nvSpPr>
        <p:spPr>
          <a:xfrm>
            <a:off x="777240" y="2130552"/>
            <a:ext cx="3090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650"/>
              <a:buFont typeface="Malgun Gothic"/>
              <a:buNone/>
            </a:pPr>
            <a:r>
              <a:rPr lang="en-US" sz="16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macOS · Linux · WSL</a:t>
            </a:r>
            <a:endParaRPr sz="16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6"/>
          <p:cNvSpPr/>
          <p:nvPr/>
        </p:nvSpPr>
        <p:spPr>
          <a:xfrm>
            <a:off x="777240" y="2532888"/>
            <a:ext cx="3090672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Mac이나 Linux를 쓴다면 이 명령어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6"/>
          <p:cNvSpPr/>
          <p:nvPr/>
        </p:nvSpPr>
        <p:spPr>
          <a:xfrm>
            <a:off x="777240" y="3246120"/>
            <a:ext cx="3090672" cy="1920240"/>
          </a:xfrm>
          <a:prstGeom prst="roundRect">
            <a:avLst>
              <a:gd name="adj" fmla="val 4286"/>
            </a:avLst>
          </a:prstGeom>
          <a:solidFill>
            <a:srgbClr val="2C2925"/>
          </a:solidFill>
          <a:ln>
            <a:noFill/>
          </a:ln>
          <a:effectLst>
            <a:outerShdw blurRad="127000" dist="25400" dir="54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6"/>
          <p:cNvSpPr/>
          <p:nvPr/>
        </p:nvSpPr>
        <p:spPr>
          <a:xfrm>
            <a:off x="978408" y="3429000"/>
            <a:ext cx="100584" cy="100584"/>
          </a:xfrm>
          <a:prstGeom prst="ellipse">
            <a:avLst/>
          </a:prstGeom>
          <a:solidFill>
            <a:srgbClr val="E8695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6"/>
          <p:cNvSpPr/>
          <p:nvPr/>
        </p:nvSpPr>
        <p:spPr>
          <a:xfrm>
            <a:off x="1179576" y="3429000"/>
            <a:ext cx="100584" cy="100584"/>
          </a:xfrm>
          <a:prstGeom prst="ellipse">
            <a:avLst/>
          </a:prstGeom>
          <a:solidFill>
            <a:srgbClr val="F0B95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6"/>
          <p:cNvSpPr/>
          <p:nvPr/>
        </p:nvSpPr>
        <p:spPr>
          <a:xfrm>
            <a:off x="1380744" y="3429000"/>
            <a:ext cx="100584" cy="100584"/>
          </a:xfrm>
          <a:prstGeom prst="ellipse">
            <a:avLst/>
          </a:prstGeom>
          <a:solidFill>
            <a:srgbClr val="8FBF6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6"/>
          <p:cNvSpPr/>
          <p:nvPr/>
        </p:nvSpPr>
        <p:spPr>
          <a:xfrm>
            <a:off x="1033272" y="3630168"/>
            <a:ext cx="2578608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50"/>
              <a:buFont typeface="Courier New"/>
              <a:buNone/>
            </a:pPr>
            <a:r>
              <a:rPr lang="en-US" sz="1150" b="0" i="0" u="none" strike="noStrike" cap="none">
                <a:solidFill>
                  <a:srgbClr val="D97757"/>
                </a:solidFill>
                <a:latin typeface="Courier New"/>
                <a:ea typeface="Courier New"/>
                <a:cs typeface="Courier New"/>
                <a:sym typeface="Courier New"/>
              </a:rPr>
              <a:t>$ </a:t>
            </a:r>
            <a:r>
              <a:rPr lang="en-US" sz="1150" b="0" i="0" u="none" strike="noStrike" cap="none">
                <a:solidFill>
                  <a:srgbClr val="E8E3DB"/>
                </a:solidFill>
                <a:latin typeface="Courier New"/>
                <a:ea typeface="Courier New"/>
                <a:cs typeface="Courier New"/>
                <a:sym typeface="Courier New"/>
              </a:rPr>
              <a:t>curl -fsSL https://claude.ai/install.sh | bash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6"/>
          <p:cNvSpPr/>
          <p:nvPr/>
        </p:nvSpPr>
        <p:spPr>
          <a:xfrm>
            <a:off x="4288536" y="1874520"/>
            <a:ext cx="3639312" cy="3611880"/>
          </a:xfrm>
          <a:prstGeom prst="roundRect">
            <a:avLst>
              <a:gd name="adj" fmla="val 2278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p6"/>
          <p:cNvSpPr/>
          <p:nvPr/>
        </p:nvSpPr>
        <p:spPr>
          <a:xfrm>
            <a:off x="4562856" y="2130552"/>
            <a:ext cx="3090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650"/>
              <a:buFont typeface="Malgun Gothic"/>
              <a:buNone/>
            </a:pPr>
            <a:r>
              <a:rPr lang="en-US" sz="16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Windows PowerShell</a:t>
            </a:r>
            <a:endParaRPr sz="16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6"/>
          <p:cNvSpPr/>
          <p:nvPr/>
        </p:nvSpPr>
        <p:spPr>
          <a:xfrm>
            <a:off x="4562856" y="2532888"/>
            <a:ext cx="3090672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Windows라면 이 명령어 (권장)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6"/>
          <p:cNvSpPr/>
          <p:nvPr/>
        </p:nvSpPr>
        <p:spPr>
          <a:xfrm>
            <a:off x="4562856" y="3246120"/>
            <a:ext cx="3090672" cy="1920240"/>
          </a:xfrm>
          <a:prstGeom prst="roundRect">
            <a:avLst>
              <a:gd name="adj" fmla="val 4286"/>
            </a:avLst>
          </a:prstGeom>
          <a:solidFill>
            <a:srgbClr val="2C2925"/>
          </a:solidFill>
          <a:ln>
            <a:noFill/>
          </a:ln>
          <a:effectLst>
            <a:outerShdw blurRad="127000" dist="25400" dir="54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" name="Google Shape;124;p6"/>
          <p:cNvSpPr/>
          <p:nvPr/>
        </p:nvSpPr>
        <p:spPr>
          <a:xfrm>
            <a:off x="4764024" y="3429000"/>
            <a:ext cx="100584" cy="100584"/>
          </a:xfrm>
          <a:prstGeom prst="ellipse">
            <a:avLst/>
          </a:prstGeom>
          <a:solidFill>
            <a:srgbClr val="E8695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6"/>
          <p:cNvSpPr/>
          <p:nvPr/>
        </p:nvSpPr>
        <p:spPr>
          <a:xfrm>
            <a:off x="4965192" y="3429000"/>
            <a:ext cx="100584" cy="100584"/>
          </a:xfrm>
          <a:prstGeom prst="ellipse">
            <a:avLst/>
          </a:prstGeom>
          <a:solidFill>
            <a:srgbClr val="F0B95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p6"/>
          <p:cNvSpPr/>
          <p:nvPr/>
        </p:nvSpPr>
        <p:spPr>
          <a:xfrm>
            <a:off x="5166360" y="3429000"/>
            <a:ext cx="100584" cy="100584"/>
          </a:xfrm>
          <a:prstGeom prst="ellipse">
            <a:avLst/>
          </a:prstGeom>
          <a:solidFill>
            <a:srgbClr val="8FBF6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p6"/>
          <p:cNvSpPr/>
          <p:nvPr/>
        </p:nvSpPr>
        <p:spPr>
          <a:xfrm>
            <a:off x="4818888" y="3630168"/>
            <a:ext cx="2578608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50"/>
              <a:buFont typeface="Courier New"/>
              <a:buNone/>
            </a:pPr>
            <a:r>
              <a:rPr lang="en-US" sz="1150" b="0" i="0" u="none" strike="noStrike" cap="none">
                <a:solidFill>
                  <a:srgbClr val="D97757"/>
                </a:solidFill>
                <a:latin typeface="Courier New"/>
                <a:ea typeface="Courier New"/>
                <a:cs typeface="Courier New"/>
                <a:sym typeface="Courier New"/>
              </a:rPr>
              <a:t>PS&gt; </a:t>
            </a:r>
            <a:r>
              <a:rPr lang="en-US" sz="1150" b="0" i="0" u="none" strike="noStrike" cap="none">
                <a:solidFill>
                  <a:srgbClr val="E8E3DB"/>
                </a:solidFill>
                <a:latin typeface="Courier New"/>
                <a:ea typeface="Courier New"/>
                <a:cs typeface="Courier New"/>
                <a:sym typeface="Courier New"/>
              </a:rPr>
              <a:t>irm https://claude.ai/install.ps1 | iex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6"/>
          <p:cNvSpPr/>
          <p:nvPr/>
        </p:nvSpPr>
        <p:spPr>
          <a:xfrm>
            <a:off x="8074152" y="1874520"/>
            <a:ext cx="3639312" cy="3611880"/>
          </a:xfrm>
          <a:prstGeom prst="roundRect">
            <a:avLst>
              <a:gd name="adj" fmla="val 2278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6"/>
          <p:cNvSpPr/>
          <p:nvPr/>
        </p:nvSpPr>
        <p:spPr>
          <a:xfrm>
            <a:off x="8348472" y="2130552"/>
            <a:ext cx="3090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650"/>
              <a:buFont typeface="Malgun Gothic"/>
              <a:buNone/>
            </a:pPr>
            <a:r>
              <a:rPr lang="en-US" sz="16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Windows CMD</a:t>
            </a:r>
            <a:endParaRPr sz="16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6"/>
          <p:cNvSpPr/>
          <p:nvPr/>
        </p:nvSpPr>
        <p:spPr>
          <a:xfrm>
            <a:off x="8348472" y="2532888"/>
            <a:ext cx="3090672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명령 프롬프트(cmd)를 쓸 때만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6"/>
          <p:cNvSpPr/>
          <p:nvPr/>
        </p:nvSpPr>
        <p:spPr>
          <a:xfrm>
            <a:off x="8348472" y="3246120"/>
            <a:ext cx="3090672" cy="1920240"/>
          </a:xfrm>
          <a:prstGeom prst="roundRect">
            <a:avLst>
              <a:gd name="adj" fmla="val 4286"/>
            </a:avLst>
          </a:prstGeom>
          <a:solidFill>
            <a:srgbClr val="2C2925"/>
          </a:solidFill>
          <a:ln>
            <a:noFill/>
          </a:ln>
          <a:effectLst>
            <a:outerShdw blurRad="127000" dist="25400" dir="54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6"/>
          <p:cNvSpPr/>
          <p:nvPr/>
        </p:nvSpPr>
        <p:spPr>
          <a:xfrm>
            <a:off x="8549640" y="3429000"/>
            <a:ext cx="100584" cy="100584"/>
          </a:xfrm>
          <a:prstGeom prst="ellipse">
            <a:avLst/>
          </a:prstGeom>
          <a:solidFill>
            <a:srgbClr val="E8695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6"/>
          <p:cNvSpPr/>
          <p:nvPr/>
        </p:nvSpPr>
        <p:spPr>
          <a:xfrm>
            <a:off x="8750808" y="3429000"/>
            <a:ext cx="100584" cy="100584"/>
          </a:xfrm>
          <a:prstGeom prst="ellipse">
            <a:avLst/>
          </a:prstGeom>
          <a:solidFill>
            <a:srgbClr val="F0B95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6"/>
          <p:cNvSpPr/>
          <p:nvPr/>
        </p:nvSpPr>
        <p:spPr>
          <a:xfrm>
            <a:off x="8951976" y="3429000"/>
            <a:ext cx="100584" cy="100584"/>
          </a:xfrm>
          <a:prstGeom prst="ellipse">
            <a:avLst/>
          </a:prstGeom>
          <a:solidFill>
            <a:srgbClr val="8FBF6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6"/>
          <p:cNvSpPr/>
          <p:nvPr/>
        </p:nvSpPr>
        <p:spPr>
          <a:xfrm>
            <a:off x="8604504" y="3630168"/>
            <a:ext cx="2578608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50"/>
              <a:buFont typeface="Courier New"/>
              <a:buNone/>
            </a:pPr>
            <a:r>
              <a:rPr lang="en-US" sz="1150" b="0" i="0" u="none" strike="noStrike" cap="none">
                <a:solidFill>
                  <a:srgbClr val="D97757"/>
                </a:solidFill>
                <a:latin typeface="Courier New"/>
                <a:ea typeface="Courier New"/>
                <a:cs typeface="Courier New"/>
                <a:sym typeface="Courier New"/>
              </a:rPr>
              <a:t>&gt; </a:t>
            </a:r>
            <a:r>
              <a:rPr lang="en-US" sz="1150" b="0" i="0" u="none" strike="noStrike" cap="none">
                <a:solidFill>
                  <a:srgbClr val="E8E3DB"/>
                </a:solidFill>
                <a:latin typeface="Courier New"/>
                <a:ea typeface="Courier New"/>
                <a:cs typeface="Courier New"/>
                <a:sym typeface="Courier New"/>
              </a:rPr>
              <a:t>curl -fsSL https://claude.ai/install.cmd -o install.cmd &amp;&amp; install.cmd &amp;&amp; del install.cmd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6"/>
          <p:cNvSpPr/>
          <p:nvPr/>
        </p:nvSpPr>
        <p:spPr>
          <a:xfrm>
            <a:off x="502920" y="5715000"/>
            <a:ext cx="11183112" cy="777240"/>
          </a:xfrm>
          <a:prstGeom prst="roundRect">
            <a:avLst>
              <a:gd name="adj" fmla="val 9412"/>
            </a:avLst>
          </a:prstGeom>
          <a:solidFill>
            <a:srgbClr val="F9EFE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37" name="Google Shape;137;p6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4088" y="5975604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6"/>
          <p:cNvSpPr/>
          <p:nvPr/>
        </p:nvSpPr>
        <p:spPr>
          <a:xfrm>
            <a:off x="1069848" y="5715000"/>
            <a:ext cx="10433304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설치가 끝나면 터미널을 완전히 닫았다가 새로 연 뒤  </a:t>
            </a:r>
            <a:r>
              <a:rPr lang="en-US" sz="1150" b="1" i="0" u="none" strike="noStrike" cap="none">
                <a:solidFill>
                  <a:srgbClr val="D97757"/>
                </a:solidFill>
                <a:latin typeface="Courier New"/>
                <a:ea typeface="Courier New"/>
                <a:cs typeface="Courier New"/>
                <a:sym typeface="Courier New"/>
              </a:rPr>
              <a:t>claude --version</a:t>
            </a:r>
            <a:r>
              <a:rPr lang="en-US" sz="1150" b="0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  을 입력해 보세요. 버전 번호(예: 2.1.207)가 나오면 성공입니다. “명령을 찾을 수 없음”이 나오면 터미널을 다시 열어 재시도하세요.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7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7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Malgun Gothic"/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7"/>
          <p:cNvSpPr/>
          <p:nvPr/>
        </p:nvSpPr>
        <p:spPr>
          <a:xfrm>
            <a:off x="1280160" y="384048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STEP 2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3000"/>
              <a:buFont typeface="Malgun Gothic"/>
              <a:buNone/>
            </a:pPr>
            <a:r>
              <a:rPr lang="en-US" sz="30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Claude Code 실행하기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7"/>
          <p:cNvSpPr/>
          <p:nvPr/>
        </p:nvSpPr>
        <p:spPr>
          <a:xfrm>
            <a:off x="1298448" y="1115568"/>
            <a:ext cx="10332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300"/>
              <a:buFont typeface="Malgun Gothic"/>
              <a:buNone/>
            </a:pPr>
            <a:r>
              <a:rPr lang="en-US" sz="130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설치가 끝났다면 이제 실행해 봅니다. 터미널에 딱 한 단어만 입력하면 됩니다.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7"/>
          <p:cNvSpPr/>
          <p:nvPr/>
        </p:nvSpPr>
        <p:spPr>
          <a:xfrm>
            <a:off x="502920" y="182880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7"/>
          <p:cNvSpPr/>
          <p:nvPr/>
        </p:nvSpPr>
        <p:spPr>
          <a:xfrm>
            <a:off x="502920" y="182880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7"/>
          <p:cNvSpPr/>
          <p:nvPr/>
        </p:nvSpPr>
        <p:spPr>
          <a:xfrm>
            <a:off x="978408" y="1837944"/>
            <a:ext cx="4736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프로젝트 폴더로 이동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7"/>
          <p:cNvSpPr/>
          <p:nvPr/>
        </p:nvSpPr>
        <p:spPr>
          <a:xfrm>
            <a:off x="978408" y="2157984"/>
            <a:ext cx="4736592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IntelliJ 하단 터미널을 쓰면 이미 프로젝트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폴더라서 이 단계는 건너뛰어도 됩니다.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일반 터미널이라면 cd 폴더경로 로 이동하세요.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7"/>
          <p:cNvSpPr/>
          <p:nvPr/>
        </p:nvSpPr>
        <p:spPr>
          <a:xfrm>
            <a:off x="502920" y="297180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7"/>
          <p:cNvSpPr/>
          <p:nvPr/>
        </p:nvSpPr>
        <p:spPr>
          <a:xfrm>
            <a:off x="502920" y="297180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7"/>
          <p:cNvSpPr/>
          <p:nvPr/>
        </p:nvSpPr>
        <p:spPr>
          <a:xfrm>
            <a:off x="978408" y="2980944"/>
            <a:ext cx="4736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claude 입력 후 Enter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7"/>
          <p:cNvSpPr/>
          <p:nvPr/>
        </p:nvSpPr>
        <p:spPr>
          <a:xfrm>
            <a:off x="978408" y="3300984"/>
            <a:ext cx="4736592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소문자로 claude 라고만 입력하면 됩니다.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7"/>
          <p:cNvSpPr/>
          <p:nvPr/>
        </p:nvSpPr>
        <p:spPr>
          <a:xfrm>
            <a:off x="502920" y="365760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7"/>
          <p:cNvSpPr/>
          <p:nvPr/>
        </p:nvSpPr>
        <p:spPr>
          <a:xfrm>
            <a:off x="502920" y="365760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7"/>
          <p:cNvSpPr/>
          <p:nvPr/>
        </p:nvSpPr>
        <p:spPr>
          <a:xfrm>
            <a:off x="978408" y="3666744"/>
            <a:ext cx="4736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잠시 기다리기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7"/>
          <p:cNvSpPr/>
          <p:nvPr/>
        </p:nvSpPr>
        <p:spPr>
          <a:xfrm>
            <a:off x="978408" y="3986784"/>
            <a:ext cx="4736592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몇 초 뒤 오른쪽과 같은 환영 화면이 나타나고,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처음 실행이라면 로그인 화면으로 이어집니다.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7"/>
          <p:cNvSpPr/>
          <p:nvPr/>
        </p:nvSpPr>
        <p:spPr>
          <a:xfrm>
            <a:off x="502920" y="4709160"/>
            <a:ext cx="5212080" cy="1371600"/>
          </a:xfrm>
          <a:prstGeom prst="roundRect">
            <a:avLst>
              <a:gd name="adj" fmla="val 5333"/>
            </a:avLst>
          </a:prstGeom>
          <a:solidFill>
            <a:srgbClr val="F9EFE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61" name="Google Shape;161;p7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4088" y="5266944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7"/>
          <p:cNvSpPr/>
          <p:nvPr/>
        </p:nvSpPr>
        <p:spPr>
          <a:xfrm>
            <a:off x="1069848" y="4709160"/>
            <a:ext cx="4462272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Claude Code 로고 배너와 버전 정보가 보이면 정상 실행된 것입니다. 종료하고 싶을 땐  </a:t>
            </a:r>
            <a:r>
              <a:rPr lang="en-US" sz="1150" b="1" i="0" u="none" strike="noStrike" cap="none">
                <a:solidFill>
                  <a:srgbClr val="D97757"/>
                </a:solidFill>
                <a:latin typeface="Courier New"/>
                <a:ea typeface="Courier New"/>
                <a:cs typeface="Courier New"/>
                <a:sym typeface="Courier New"/>
              </a:rPr>
              <a:t>/exit</a:t>
            </a:r>
            <a:r>
              <a:rPr lang="en-US" sz="1150" b="0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  를 입력하거나 Ctrl+C를 두 번 누르면 됩니다.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7"/>
          <p:cNvSpPr/>
          <p:nvPr/>
        </p:nvSpPr>
        <p:spPr>
          <a:xfrm>
            <a:off x="6126480" y="178308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400"/>
              <a:buFont typeface="Malgun Gothic"/>
              <a:buNone/>
            </a:pPr>
            <a:r>
              <a:rPr lang="en-US" sz="14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실행하면 이런 화면이 나옵니다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7"/>
          <p:cNvSpPr/>
          <p:nvPr/>
        </p:nvSpPr>
        <p:spPr>
          <a:xfrm>
            <a:off x="6126480" y="221284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00"/>
              <a:buFont typeface="Malgun Gothic"/>
              <a:buNone/>
            </a:pPr>
            <a:r>
              <a:rPr lang="en-US" sz="110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터미널에 claude 를 입력한 모습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7"/>
          <p:cNvSpPr/>
          <p:nvPr/>
        </p:nvSpPr>
        <p:spPr>
          <a:xfrm>
            <a:off x="6080760" y="2496312"/>
            <a:ext cx="5650992" cy="402857"/>
          </a:xfrm>
          <a:prstGeom prst="roundRect">
            <a:avLst>
              <a:gd name="adj" fmla="val 15889"/>
            </a:avLst>
          </a:prstGeom>
          <a:solidFill>
            <a:srgbClr val="FFFFFF"/>
          </a:solidFill>
          <a:ln w="12700" cap="flat" cmpd="sng">
            <a:solidFill>
              <a:srgbClr val="E4E0DA"/>
            </a:solidFill>
            <a:prstDash val="solid"/>
            <a:round/>
            <a:headEnd type="none" w="sm" len="sm"/>
            <a:tailEnd type="none" w="sm" len="sm"/>
          </a:ln>
          <a:effectLst>
            <a:outerShdw blurRad="152400" dist="38100" dir="5400000" algn="bl" rotWithShape="0">
              <a:srgbClr val="000000">
                <a:alpha val="21961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66" name="Google Shape;166;p7" descr="shots/run_prompt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126480" y="2542032"/>
            <a:ext cx="5559552" cy="311417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7"/>
          <p:cNvSpPr/>
          <p:nvPr/>
        </p:nvSpPr>
        <p:spPr>
          <a:xfrm>
            <a:off x="6126480" y="331012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00"/>
              <a:buFont typeface="Malgun Gothic"/>
              <a:buNone/>
            </a:pPr>
            <a:r>
              <a:rPr lang="en-US" sz="110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Enter를 누르면 잠시 후 환영 화면이 표시됩니다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7"/>
          <p:cNvSpPr/>
          <p:nvPr/>
        </p:nvSpPr>
        <p:spPr>
          <a:xfrm>
            <a:off x="6080760" y="3593592"/>
            <a:ext cx="5650992" cy="1157756"/>
          </a:xfrm>
          <a:prstGeom prst="roundRect">
            <a:avLst>
              <a:gd name="adj" fmla="val 5529"/>
            </a:avLst>
          </a:prstGeom>
          <a:solidFill>
            <a:srgbClr val="FFFFFF"/>
          </a:solidFill>
          <a:ln w="12700" cap="flat" cmpd="sng">
            <a:solidFill>
              <a:srgbClr val="E4E0DA"/>
            </a:solidFill>
            <a:prstDash val="solid"/>
            <a:round/>
            <a:headEnd type="none" w="sm" len="sm"/>
            <a:tailEnd type="none" w="sm" len="sm"/>
          </a:ln>
          <a:effectLst>
            <a:outerShdw blurRad="152400" dist="38100" dir="5400000" algn="bl" rotWithShape="0">
              <a:srgbClr val="000000">
                <a:alpha val="21961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69" name="Google Shape;169;p7" descr="shots/run_banner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126480" y="3639312"/>
            <a:ext cx="5559552" cy="1066316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7"/>
          <p:cNvSpPr/>
          <p:nvPr/>
        </p:nvSpPr>
        <p:spPr>
          <a:xfrm>
            <a:off x="6126480" y="4983480"/>
            <a:ext cx="5559552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00"/>
              <a:buFont typeface="Malgun Gothic"/>
              <a:buNone/>
            </a:pPr>
            <a:r>
              <a:rPr lang="en-US" sz="110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화면의 버전 · 모델 표기는 시점에 따라 다를 수 있습니다. </a:t>
            </a:r>
            <a:r>
              <a:rPr lang="en-US" sz="11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처음 실행이라면 곧바로 로그인 선택 화면이 이어집니다 → 다음 페이지에서 계속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8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p8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Malgun Gothic"/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8"/>
          <p:cNvSpPr/>
          <p:nvPr/>
        </p:nvSpPr>
        <p:spPr>
          <a:xfrm>
            <a:off x="1280160" y="384048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STEP 2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3000"/>
              <a:buFont typeface="Malgun Gothic"/>
              <a:buNone/>
            </a:pPr>
            <a:r>
              <a:rPr lang="en-US" sz="30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로그인 화면 — 1번을 선택하세요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8"/>
          <p:cNvSpPr/>
          <p:nvPr/>
        </p:nvSpPr>
        <p:spPr>
          <a:xfrm>
            <a:off x="1298448" y="1115568"/>
            <a:ext cx="10332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300"/>
              <a:buFont typeface="Malgun Gothic"/>
              <a:buNone/>
            </a:pPr>
            <a:r>
              <a:rPr lang="en-US" sz="130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처음 실행하면 자동으로 나타나는 화면입니다. 마우스는 쓰지 않고 키보드로만 조작합니다.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8"/>
          <p:cNvSpPr/>
          <p:nvPr/>
        </p:nvSpPr>
        <p:spPr>
          <a:xfrm>
            <a:off x="745236" y="1965960"/>
            <a:ext cx="10698480" cy="2397318"/>
          </a:xfrm>
          <a:prstGeom prst="roundRect">
            <a:avLst>
              <a:gd name="adj" fmla="val 2670"/>
            </a:avLst>
          </a:prstGeom>
          <a:solidFill>
            <a:srgbClr val="FFFFFF"/>
          </a:solidFill>
          <a:ln w="12700" cap="flat" cmpd="sng">
            <a:solidFill>
              <a:srgbClr val="E4E0DA"/>
            </a:solidFill>
            <a:prstDash val="solid"/>
            <a:round/>
            <a:headEnd type="none" w="sm" len="sm"/>
            <a:tailEnd type="none" w="sm" len="sm"/>
          </a:ln>
          <a:effectLst>
            <a:outerShdw blurRad="152400" dist="38100" dir="5400000" algn="bl" rotWithShape="0">
              <a:srgbClr val="000000">
                <a:alpha val="21961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81" name="Google Shape;181;p8" descr="shots/login1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90956" y="2011680"/>
            <a:ext cx="10607040" cy="2305878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8"/>
          <p:cNvSpPr/>
          <p:nvPr/>
        </p:nvSpPr>
        <p:spPr>
          <a:xfrm>
            <a:off x="502920" y="4709160"/>
            <a:ext cx="3611880" cy="1600200"/>
          </a:xfrm>
          <a:prstGeom prst="roundRect">
            <a:avLst>
              <a:gd name="adj" fmla="val 5143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8"/>
          <p:cNvSpPr/>
          <p:nvPr/>
        </p:nvSpPr>
        <p:spPr>
          <a:xfrm>
            <a:off x="731520" y="493776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p8"/>
          <p:cNvSpPr/>
          <p:nvPr/>
        </p:nvSpPr>
        <p:spPr>
          <a:xfrm>
            <a:off x="731520" y="493776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8"/>
          <p:cNvSpPr/>
          <p:nvPr/>
        </p:nvSpPr>
        <p:spPr>
          <a:xfrm>
            <a:off x="1216152" y="4946904"/>
            <a:ext cx="2697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화면 확인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8"/>
          <p:cNvSpPr/>
          <p:nvPr/>
        </p:nvSpPr>
        <p:spPr>
          <a:xfrm>
            <a:off x="731520" y="5394960"/>
            <a:ext cx="315468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00"/>
              <a:buFont typeface="Malgun Gothic"/>
              <a:buNone/>
            </a:pPr>
            <a:r>
              <a:rPr lang="en-US" sz="110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“Select login method” 라는 선택 화면이 보입니다. 세 가지 로그인 방법 중 하나를 고르는 단계입니다.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8"/>
          <p:cNvSpPr/>
          <p:nvPr/>
        </p:nvSpPr>
        <p:spPr>
          <a:xfrm>
            <a:off x="4288536" y="4709160"/>
            <a:ext cx="3611880" cy="1600200"/>
          </a:xfrm>
          <a:prstGeom prst="roundRect">
            <a:avLst>
              <a:gd name="adj" fmla="val 5143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p8"/>
          <p:cNvSpPr/>
          <p:nvPr/>
        </p:nvSpPr>
        <p:spPr>
          <a:xfrm>
            <a:off x="4517136" y="493776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9" name="Google Shape;189;p8"/>
          <p:cNvSpPr/>
          <p:nvPr/>
        </p:nvSpPr>
        <p:spPr>
          <a:xfrm>
            <a:off x="4517136" y="493776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8"/>
          <p:cNvSpPr/>
          <p:nvPr/>
        </p:nvSpPr>
        <p:spPr>
          <a:xfrm>
            <a:off x="5001768" y="4946904"/>
            <a:ext cx="2697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키보드 ↑ ↓ 로 이동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8"/>
          <p:cNvSpPr/>
          <p:nvPr/>
        </p:nvSpPr>
        <p:spPr>
          <a:xfrm>
            <a:off x="4517136" y="5394960"/>
            <a:ext cx="315468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00"/>
              <a:buFont typeface="Malgun Gothic"/>
              <a:buNone/>
            </a:pPr>
            <a:r>
              <a:rPr lang="en-US" sz="110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방향키로 항목을 이동할 수 있습니다. </a:t>
            </a:r>
            <a:r>
              <a:rPr lang="en-US" sz="11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❯ 표시가 1번에 있는지</a:t>
            </a:r>
            <a:r>
              <a:rPr lang="en-US" sz="110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 확인하세요. (기본으로 1번에 있습니다)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8"/>
          <p:cNvSpPr/>
          <p:nvPr/>
        </p:nvSpPr>
        <p:spPr>
          <a:xfrm>
            <a:off x="8074152" y="4709160"/>
            <a:ext cx="3611880" cy="1600200"/>
          </a:xfrm>
          <a:prstGeom prst="roundRect">
            <a:avLst>
              <a:gd name="adj" fmla="val 5143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8"/>
          <p:cNvSpPr/>
          <p:nvPr/>
        </p:nvSpPr>
        <p:spPr>
          <a:xfrm>
            <a:off x="8302752" y="493776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" name="Google Shape;194;p8"/>
          <p:cNvSpPr/>
          <p:nvPr/>
        </p:nvSpPr>
        <p:spPr>
          <a:xfrm>
            <a:off x="8302752" y="493776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8"/>
          <p:cNvSpPr/>
          <p:nvPr/>
        </p:nvSpPr>
        <p:spPr>
          <a:xfrm>
            <a:off x="8787384" y="4946904"/>
            <a:ext cx="2697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Enter 로 선택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8"/>
          <p:cNvSpPr/>
          <p:nvPr/>
        </p:nvSpPr>
        <p:spPr>
          <a:xfrm>
            <a:off x="8302752" y="5394960"/>
            <a:ext cx="315468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050"/>
              <a:buFont typeface="Courier New"/>
              <a:buNone/>
            </a:pPr>
            <a:r>
              <a:rPr lang="en-US" sz="1050" b="1" i="0" u="none" strike="noStrike" cap="none">
                <a:solidFill>
                  <a:srgbClr val="D97757"/>
                </a:solidFill>
                <a:latin typeface="Courier New"/>
                <a:ea typeface="Courier New"/>
                <a:cs typeface="Courier New"/>
                <a:sym typeface="Courier New"/>
              </a:rPr>
              <a:t>1. Claude account with subscription</a:t>
            </a:r>
            <a:r>
              <a:rPr lang="en-US" sz="110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 에서 Enter를 누릅니다. 우리 팀은 항상 1번만 사용합니다.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9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9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Malgun Gothic"/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9"/>
          <p:cNvSpPr/>
          <p:nvPr/>
        </p:nvSpPr>
        <p:spPr>
          <a:xfrm>
            <a:off x="1280160" y="384048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STEP 2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3000"/>
              <a:buFont typeface="Malgun Gothic"/>
              <a:buNone/>
            </a:pPr>
            <a:r>
              <a:rPr lang="en-US" sz="30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브라우저에서 로그인 완료하기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9"/>
          <p:cNvSpPr/>
          <p:nvPr/>
        </p:nvSpPr>
        <p:spPr>
          <a:xfrm>
            <a:off x="1298448" y="1115568"/>
            <a:ext cx="10332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300"/>
              <a:buFont typeface="Malgun Gothic"/>
              <a:buNone/>
            </a:pPr>
            <a:r>
              <a:rPr lang="en-US" sz="130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1번을 선택하면 브라우저가 자동으로 열립니다. 실제 화면과 함께 순서대로 진행해 보세요.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9"/>
          <p:cNvSpPr/>
          <p:nvPr/>
        </p:nvSpPr>
        <p:spPr>
          <a:xfrm>
            <a:off x="502920" y="178308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9"/>
          <p:cNvSpPr/>
          <p:nvPr/>
        </p:nvSpPr>
        <p:spPr>
          <a:xfrm>
            <a:off x="502920" y="178308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9"/>
          <p:cNvSpPr/>
          <p:nvPr/>
        </p:nvSpPr>
        <p:spPr>
          <a:xfrm>
            <a:off x="978408" y="1792224"/>
            <a:ext cx="31363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브라우저에서 [승인] 클릭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9"/>
          <p:cNvSpPr/>
          <p:nvPr/>
        </p:nvSpPr>
        <p:spPr>
          <a:xfrm>
            <a:off x="978408" y="2121408"/>
            <a:ext cx="3136392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050"/>
              <a:buFont typeface="Malgun Gothic"/>
              <a:buNone/>
            </a:pPr>
            <a:r>
              <a:rPr lang="en-US" sz="10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연결 요청 화면이 뜨면 팀 계정으로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050"/>
              <a:buFont typeface="Malgun Gothic"/>
              <a:buNone/>
            </a:pPr>
            <a:r>
              <a:rPr lang="en-US" sz="10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로그인한 뒤 승인 버튼을 누릅니다.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9"/>
          <p:cNvSpPr/>
          <p:nvPr/>
        </p:nvSpPr>
        <p:spPr>
          <a:xfrm>
            <a:off x="1120140" y="2834640"/>
            <a:ext cx="2377440" cy="2836957"/>
          </a:xfrm>
          <a:prstGeom prst="roundRect">
            <a:avLst>
              <a:gd name="adj" fmla="val 2692"/>
            </a:avLst>
          </a:prstGeom>
          <a:solidFill>
            <a:srgbClr val="FFFFFF"/>
          </a:solidFill>
          <a:ln w="12700" cap="flat" cmpd="sng">
            <a:solidFill>
              <a:srgbClr val="E4E0DA"/>
            </a:solidFill>
            <a:prstDash val="solid"/>
            <a:round/>
            <a:headEnd type="none" w="sm" len="sm"/>
            <a:tailEnd type="none" w="sm" len="sm"/>
          </a:ln>
          <a:effectLst>
            <a:outerShdw blurRad="152400" dist="38100" dir="5400000" algn="bl" rotWithShape="0">
              <a:srgbClr val="000000">
                <a:alpha val="21961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11" name="Google Shape;211;p9" descr="shots/login3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65860" y="2880360"/>
            <a:ext cx="2286000" cy="2745517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9"/>
          <p:cNvSpPr/>
          <p:nvPr/>
        </p:nvSpPr>
        <p:spPr>
          <a:xfrm>
            <a:off x="4297680" y="178308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9"/>
          <p:cNvSpPr/>
          <p:nvPr/>
        </p:nvSpPr>
        <p:spPr>
          <a:xfrm>
            <a:off x="4297680" y="178308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9"/>
          <p:cNvSpPr/>
          <p:nvPr/>
        </p:nvSpPr>
        <p:spPr>
          <a:xfrm>
            <a:off x="4773168" y="1792224"/>
            <a:ext cx="31363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완료 화면이 뜨면 창 닫기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9"/>
          <p:cNvSpPr/>
          <p:nvPr/>
        </p:nvSpPr>
        <p:spPr>
          <a:xfrm>
            <a:off x="4773168" y="2121408"/>
            <a:ext cx="3136392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050"/>
              <a:buFont typeface="Malgun Gothic"/>
              <a:buNone/>
            </a:pPr>
            <a:r>
              <a:rPr lang="en-US" sz="10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“Claude Code 설정이 완료되었습니다”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050"/>
              <a:buFont typeface="Malgun Gothic"/>
              <a:buNone/>
            </a:pPr>
            <a:r>
              <a:rPr lang="en-US" sz="10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 보이면 브라우저는 닫아도 됩니다.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9"/>
          <p:cNvSpPr/>
          <p:nvPr/>
        </p:nvSpPr>
        <p:spPr>
          <a:xfrm>
            <a:off x="4572000" y="2834640"/>
            <a:ext cx="3063240" cy="2374463"/>
          </a:xfrm>
          <a:prstGeom prst="roundRect">
            <a:avLst>
              <a:gd name="adj" fmla="val 2696"/>
            </a:avLst>
          </a:prstGeom>
          <a:solidFill>
            <a:srgbClr val="FFFFFF"/>
          </a:solidFill>
          <a:ln w="12700" cap="flat" cmpd="sng">
            <a:solidFill>
              <a:srgbClr val="E4E0DA"/>
            </a:solidFill>
            <a:prstDash val="solid"/>
            <a:round/>
            <a:headEnd type="none" w="sm" len="sm"/>
            <a:tailEnd type="none" w="sm" len="sm"/>
          </a:ln>
          <a:effectLst>
            <a:outerShdw blurRad="152400" dist="38100" dir="5400000" algn="bl" rotWithShape="0">
              <a:srgbClr val="000000">
                <a:alpha val="21961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17" name="Google Shape;217;p9" descr="shots/login4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17720" y="2880360"/>
            <a:ext cx="2971800" cy="2283023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9"/>
          <p:cNvSpPr/>
          <p:nvPr/>
        </p:nvSpPr>
        <p:spPr>
          <a:xfrm>
            <a:off x="8092440" y="178308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9"/>
          <p:cNvSpPr/>
          <p:nvPr/>
        </p:nvSpPr>
        <p:spPr>
          <a:xfrm>
            <a:off x="8092440" y="178308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9"/>
          <p:cNvSpPr/>
          <p:nvPr/>
        </p:nvSpPr>
        <p:spPr>
          <a:xfrm>
            <a:off x="8567928" y="1792224"/>
            <a:ext cx="3118104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터미널로 돌아와 Enter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9"/>
          <p:cNvSpPr/>
          <p:nvPr/>
        </p:nvSpPr>
        <p:spPr>
          <a:xfrm>
            <a:off x="8567928" y="2121408"/>
            <a:ext cx="3118104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050"/>
              <a:buFont typeface="Malgun Gothic"/>
              <a:buNone/>
            </a:pPr>
            <a:r>
              <a:rPr lang="en-US" sz="10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Logged in as 회사계정 · Login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050"/>
              <a:buFont typeface="Malgun Gothic"/>
              <a:buNone/>
            </a:pPr>
            <a:r>
              <a:rPr lang="en-US" sz="10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successful 확인 후 Enter를 누릅니다.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9"/>
          <p:cNvSpPr/>
          <p:nvPr/>
        </p:nvSpPr>
        <p:spPr>
          <a:xfrm>
            <a:off x="8083296" y="2834640"/>
            <a:ext cx="3611880" cy="869829"/>
          </a:xfrm>
          <a:prstGeom prst="roundRect">
            <a:avLst>
              <a:gd name="adj" fmla="val 7359"/>
            </a:avLst>
          </a:prstGeom>
          <a:solidFill>
            <a:srgbClr val="FFFFFF"/>
          </a:solidFill>
          <a:ln w="12700" cap="flat" cmpd="sng">
            <a:solidFill>
              <a:srgbClr val="E4E0DA"/>
            </a:solidFill>
            <a:prstDash val="solid"/>
            <a:round/>
            <a:headEnd type="none" w="sm" len="sm"/>
            <a:tailEnd type="none" w="sm" len="sm"/>
          </a:ln>
          <a:effectLst>
            <a:outerShdw blurRad="152400" dist="38100" dir="5400000" algn="bl" rotWithShape="0">
              <a:srgbClr val="000000">
                <a:alpha val="21961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23" name="Google Shape;223;p9" descr="shots/login5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129016" y="2880360"/>
            <a:ext cx="3520440" cy="778389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9"/>
          <p:cNvSpPr/>
          <p:nvPr/>
        </p:nvSpPr>
        <p:spPr>
          <a:xfrm>
            <a:off x="502920" y="5897880"/>
            <a:ext cx="11183112" cy="548640"/>
          </a:xfrm>
          <a:prstGeom prst="roundRect">
            <a:avLst>
              <a:gd name="adj" fmla="val 13333"/>
            </a:avLst>
          </a:prstGeom>
          <a:solidFill>
            <a:srgbClr val="F9EFE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25" name="Google Shape;225;p9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04088" y="6044184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9"/>
          <p:cNvSpPr/>
          <p:nvPr/>
        </p:nvSpPr>
        <p:spPr>
          <a:xfrm>
            <a:off x="1069848" y="5897880"/>
            <a:ext cx="10433304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한 번 로그인하면 자격 증명이 저장되어 </a:t>
            </a:r>
            <a:r>
              <a:rPr lang="en-US" sz="11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다시 로그인할 필요가 없습니다.</a:t>
            </a:r>
            <a:r>
              <a:rPr lang="en-US" sz="1150" b="0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  다음부터는 claude 만 입력하면 바로 시작됩니다.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9"/>
          <p:cNvSpPr/>
          <p:nvPr/>
        </p:nvSpPr>
        <p:spPr>
          <a:xfrm>
            <a:off x="502920" y="6510528"/>
            <a:ext cx="1115568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막히면?  </a:t>
            </a:r>
            <a:r>
              <a:rPr lang="en-US" sz="110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브라우저가 안 열리면 터미널에 표시된 URL을 (c 키로 복사해) 주소창에 붙여넣으세요. 잘못 선택했다면 Esc를 누른 뒤 </a:t>
            </a:r>
            <a:r>
              <a:rPr lang="en-US" sz="1100" b="1" i="0" u="none" strike="noStrike" cap="none">
                <a:solidFill>
                  <a:srgbClr val="D97757"/>
                </a:solidFill>
                <a:latin typeface="Courier New"/>
                <a:ea typeface="Courier New"/>
                <a:cs typeface="Courier New"/>
                <a:sym typeface="Courier New"/>
              </a:rPr>
              <a:t>/login</a:t>
            </a:r>
            <a:r>
              <a:rPr lang="en-US" sz="110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 으로 언제든 다시 시작할 수 있습니다.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1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p10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Malgun Gothic"/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0"/>
          <p:cNvSpPr/>
          <p:nvPr/>
        </p:nvSpPr>
        <p:spPr>
          <a:xfrm>
            <a:off x="1280160" y="384048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STEP 3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3000"/>
              <a:buFont typeface="Malgun Gothic"/>
              <a:buNone/>
            </a:pPr>
            <a:r>
              <a:rPr lang="en-US" sz="30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IntelliJ 연동 — 플러그인 설치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10"/>
          <p:cNvSpPr/>
          <p:nvPr/>
        </p:nvSpPr>
        <p:spPr>
          <a:xfrm>
            <a:off x="502920" y="178308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" name="Google Shape;237;p10"/>
          <p:cNvSpPr/>
          <p:nvPr/>
        </p:nvSpPr>
        <p:spPr>
          <a:xfrm>
            <a:off x="502920" y="178308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0"/>
          <p:cNvSpPr/>
          <p:nvPr/>
        </p:nvSpPr>
        <p:spPr>
          <a:xfrm>
            <a:off x="978408" y="1792224"/>
            <a:ext cx="309067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설정 창 열기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0"/>
          <p:cNvSpPr/>
          <p:nvPr/>
        </p:nvSpPr>
        <p:spPr>
          <a:xfrm>
            <a:off x="978408" y="2112264"/>
            <a:ext cx="3090672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IntelliJ 메뉴에서 File → Settings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(macOS: IntelliJ IDEA → Settings)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0"/>
          <p:cNvSpPr/>
          <p:nvPr/>
        </p:nvSpPr>
        <p:spPr>
          <a:xfrm>
            <a:off x="502920" y="265176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" name="Google Shape;241;p10"/>
          <p:cNvSpPr/>
          <p:nvPr/>
        </p:nvSpPr>
        <p:spPr>
          <a:xfrm>
            <a:off x="502920" y="265176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0"/>
          <p:cNvSpPr/>
          <p:nvPr/>
        </p:nvSpPr>
        <p:spPr>
          <a:xfrm>
            <a:off x="978408" y="2660904"/>
            <a:ext cx="309067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Plugins 에서 검색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0"/>
          <p:cNvSpPr/>
          <p:nvPr/>
        </p:nvSpPr>
        <p:spPr>
          <a:xfrm>
            <a:off x="978408" y="2980944"/>
            <a:ext cx="3090672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왼쪽 목록에서 “플러그인”을 누르고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검색창에 claude code 입력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0"/>
          <p:cNvSpPr/>
          <p:nvPr/>
        </p:nvSpPr>
        <p:spPr>
          <a:xfrm>
            <a:off x="502920" y="352044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0"/>
          <p:cNvSpPr/>
          <p:nvPr/>
        </p:nvSpPr>
        <p:spPr>
          <a:xfrm>
            <a:off x="502920" y="352044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0"/>
          <p:cNvSpPr/>
          <p:nvPr/>
        </p:nvSpPr>
        <p:spPr>
          <a:xfrm>
            <a:off x="978408" y="3529584"/>
            <a:ext cx="309067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설치 후 재시작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10"/>
          <p:cNvSpPr/>
          <p:nvPr/>
        </p:nvSpPr>
        <p:spPr>
          <a:xfrm>
            <a:off x="978408" y="3849624"/>
            <a:ext cx="3090672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Anthropic PBC가 만든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Claude Code [Beta] 의 “설치”를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누르고 IDE를 재시작합니다.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0"/>
          <p:cNvSpPr/>
          <p:nvPr/>
        </p:nvSpPr>
        <p:spPr>
          <a:xfrm>
            <a:off x="502920" y="4709160"/>
            <a:ext cx="3566160" cy="1188720"/>
          </a:xfrm>
          <a:prstGeom prst="roundRect">
            <a:avLst>
              <a:gd name="adj" fmla="val 6154"/>
            </a:avLst>
          </a:prstGeom>
          <a:solidFill>
            <a:srgbClr val="F9EFE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49" name="Google Shape;249;p10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4088" y="5175504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10"/>
          <p:cNvSpPr/>
          <p:nvPr/>
        </p:nvSpPr>
        <p:spPr>
          <a:xfrm>
            <a:off x="1069848" y="4709160"/>
            <a:ext cx="2816352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비슷한 이름의 플러그인이 많습니다. 제작사가 </a:t>
            </a:r>
            <a:r>
              <a:rPr lang="en-US" sz="115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Anthropic PBC</a:t>
            </a:r>
            <a:r>
              <a:rPr lang="en-US" sz="1150" b="0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 인 것을 설치하세요.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0"/>
          <p:cNvSpPr/>
          <p:nvPr/>
        </p:nvSpPr>
        <p:spPr>
          <a:xfrm>
            <a:off x="4434840" y="1554480"/>
            <a:ext cx="6765816" cy="4937760"/>
          </a:xfrm>
          <a:prstGeom prst="roundRect">
            <a:avLst>
              <a:gd name="adj" fmla="val 1296"/>
            </a:avLst>
          </a:prstGeom>
          <a:solidFill>
            <a:srgbClr val="FFFFFF"/>
          </a:solidFill>
          <a:ln w="12700" cap="flat" cmpd="sng">
            <a:solidFill>
              <a:srgbClr val="E4E0DA"/>
            </a:solidFill>
            <a:prstDash val="solid"/>
            <a:round/>
            <a:headEnd type="none" w="sm" len="sm"/>
            <a:tailEnd type="none" w="sm" len="sm"/>
          </a:ln>
          <a:effectLst>
            <a:outerShdw blurRad="152400" dist="38100" dir="5400000" algn="bl" rotWithShape="0">
              <a:srgbClr val="000000">
                <a:alpha val="21961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52" name="Google Shape;252;p10" descr="shots/intellij1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480560" y="1600200"/>
            <a:ext cx="6674376" cy="48463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9" name="Google Shape;259;p1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Malgun Gothic"/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1"/>
          <p:cNvSpPr/>
          <p:nvPr/>
        </p:nvSpPr>
        <p:spPr>
          <a:xfrm>
            <a:off x="1280160" y="384048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STEP 3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3000"/>
              <a:buFont typeface="Malgun Gothic"/>
              <a:buNone/>
            </a:pPr>
            <a:r>
              <a:rPr lang="en-US" sz="30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IntelliJ 연동 — 실행 확인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11"/>
          <p:cNvSpPr/>
          <p:nvPr/>
        </p:nvSpPr>
        <p:spPr>
          <a:xfrm>
            <a:off x="502920" y="178308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11"/>
          <p:cNvSpPr/>
          <p:nvPr/>
        </p:nvSpPr>
        <p:spPr>
          <a:xfrm>
            <a:off x="502920" y="178308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1"/>
          <p:cNvSpPr/>
          <p:nvPr/>
        </p:nvSpPr>
        <p:spPr>
          <a:xfrm>
            <a:off x="978408" y="1792224"/>
            <a:ext cx="309067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Claude 아이콘 클릭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11"/>
          <p:cNvSpPr/>
          <p:nvPr/>
        </p:nvSpPr>
        <p:spPr>
          <a:xfrm>
            <a:off x="978408" y="2112264"/>
            <a:ext cx="3090672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재시작 후 IDE 화면 상단(우측)에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생긴 Claude 아이콘을 누릅니다.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11"/>
          <p:cNvSpPr/>
          <p:nvPr/>
        </p:nvSpPr>
        <p:spPr>
          <a:xfrm>
            <a:off x="502920" y="265176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p11"/>
          <p:cNvSpPr/>
          <p:nvPr/>
        </p:nvSpPr>
        <p:spPr>
          <a:xfrm>
            <a:off x="502920" y="265176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11"/>
          <p:cNvSpPr/>
          <p:nvPr/>
        </p:nvSpPr>
        <p:spPr>
          <a:xfrm>
            <a:off x="978408" y="2660904"/>
            <a:ext cx="309067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터미널 탭 자동 실행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11"/>
          <p:cNvSpPr/>
          <p:nvPr/>
        </p:nvSpPr>
        <p:spPr>
          <a:xfrm>
            <a:off x="978408" y="2980944"/>
            <a:ext cx="3090672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하단에 Claude Code 탭이 열리고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자동으로 실행됩니다. 앞에서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로그인했다면 바로 사용 가능합니다.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11"/>
          <p:cNvSpPr/>
          <p:nvPr/>
        </p:nvSpPr>
        <p:spPr>
          <a:xfrm>
            <a:off x="502920" y="3840480"/>
            <a:ext cx="3566160" cy="1143000"/>
          </a:xfrm>
          <a:prstGeom prst="roundRect">
            <a:avLst>
              <a:gd name="adj" fmla="val 6400"/>
            </a:avLst>
          </a:prstGeom>
          <a:solidFill>
            <a:srgbClr val="F9EFE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70" name="Google Shape;270;p11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4088" y="4283964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p11"/>
          <p:cNvSpPr/>
          <p:nvPr/>
        </p:nvSpPr>
        <p:spPr>
          <a:xfrm>
            <a:off x="1069848" y="3840480"/>
            <a:ext cx="2816352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오른쪽처럼 Claude Code 배너와 입력창이 보이면 연동 완료입니다. 이후 작업은 모두 이 창에서 진행합니다.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1"/>
          <p:cNvSpPr/>
          <p:nvPr/>
        </p:nvSpPr>
        <p:spPr>
          <a:xfrm>
            <a:off x="4160520" y="1554480"/>
            <a:ext cx="7554044" cy="4937760"/>
          </a:xfrm>
          <a:prstGeom prst="roundRect">
            <a:avLst>
              <a:gd name="adj" fmla="val 1296"/>
            </a:avLst>
          </a:prstGeom>
          <a:solidFill>
            <a:srgbClr val="FFFFFF"/>
          </a:solidFill>
          <a:ln w="12700" cap="flat" cmpd="sng">
            <a:solidFill>
              <a:srgbClr val="E4E0DA"/>
            </a:solidFill>
            <a:prstDash val="solid"/>
            <a:round/>
            <a:headEnd type="none" w="sm" len="sm"/>
            <a:tailEnd type="none" w="sm" len="sm"/>
          </a:ln>
          <a:effectLst>
            <a:outerShdw blurRad="152400" dist="38100" dir="5400000" algn="bl" rotWithShape="0">
              <a:srgbClr val="000000">
                <a:alpha val="21961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73" name="Google Shape;273;p11" descr="shots/intellij2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206240" y="1600200"/>
            <a:ext cx="7462604" cy="48463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01C"/>
        </a:solidFill>
        <a:effectLst/>
      </p:bgPr>
    </p:bg>
    <p:spTree>
      <p:nvGrpSpPr>
        <p:cNvPr id="1" name="Shape 15">
          <a:extLst>
            <a:ext uri="{FF2B5EF4-FFF2-40B4-BE49-F238E27FC236}">
              <a16:creationId xmlns:a16="http://schemas.microsoft.com/office/drawing/2014/main" id="{C6D29E2D-7501-A672-3353-301E5278F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>
            <a:extLst>
              <a:ext uri="{FF2B5EF4-FFF2-40B4-BE49-F238E27FC236}">
                <a16:creationId xmlns:a16="http://schemas.microsoft.com/office/drawing/2014/main" id="{9857F58E-7FBD-122E-8247-6113EE450FE1}"/>
              </a:ext>
            </a:extLst>
          </p:cNvPr>
          <p:cNvSpPr/>
          <p:nvPr/>
        </p:nvSpPr>
        <p:spPr>
          <a:xfrm>
            <a:off x="822960" y="822960"/>
            <a:ext cx="2286000" cy="566928"/>
          </a:xfrm>
          <a:prstGeom prst="roundRect">
            <a:avLst>
              <a:gd name="adj" fmla="val 14516"/>
            </a:avLst>
          </a:prstGeom>
          <a:solidFill>
            <a:srgbClr val="2C292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3">
            <a:extLst>
              <a:ext uri="{FF2B5EF4-FFF2-40B4-BE49-F238E27FC236}">
                <a16:creationId xmlns:a16="http://schemas.microsoft.com/office/drawing/2014/main" id="{6985B587-9C2B-B685-E3B1-4106B691CB40}"/>
              </a:ext>
            </a:extLst>
          </p:cNvPr>
          <p:cNvSpPr/>
          <p:nvPr/>
        </p:nvSpPr>
        <p:spPr>
          <a:xfrm>
            <a:off x="987552" y="1060704"/>
            <a:ext cx="100584" cy="100584"/>
          </a:xfrm>
          <a:prstGeom prst="ellipse">
            <a:avLst/>
          </a:prstGeom>
          <a:solidFill>
            <a:srgbClr val="E8695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3">
            <a:extLst>
              <a:ext uri="{FF2B5EF4-FFF2-40B4-BE49-F238E27FC236}">
                <a16:creationId xmlns:a16="http://schemas.microsoft.com/office/drawing/2014/main" id="{27BC7415-504D-9AC2-E9A7-5D687F8DA0D7}"/>
              </a:ext>
            </a:extLst>
          </p:cNvPr>
          <p:cNvSpPr/>
          <p:nvPr/>
        </p:nvSpPr>
        <p:spPr>
          <a:xfrm>
            <a:off x="1188720" y="1060704"/>
            <a:ext cx="100584" cy="100584"/>
          </a:xfrm>
          <a:prstGeom prst="ellipse">
            <a:avLst/>
          </a:prstGeom>
          <a:solidFill>
            <a:srgbClr val="F0B95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3">
            <a:extLst>
              <a:ext uri="{FF2B5EF4-FFF2-40B4-BE49-F238E27FC236}">
                <a16:creationId xmlns:a16="http://schemas.microsoft.com/office/drawing/2014/main" id="{17C65AFD-FFA5-1CB9-14F5-2A1D8690F492}"/>
              </a:ext>
            </a:extLst>
          </p:cNvPr>
          <p:cNvSpPr/>
          <p:nvPr/>
        </p:nvSpPr>
        <p:spPr>
          <a:xfrm>
            <a:off x="1389888" y="1060704"/>
            <a:ext cx="100584" cy="100584"/>
          </a:xfrm>
          <a:prstGeom prst="ellipse">
            <a:avLst/>
          </a:prstGeom>
          <a:solidFill>
            <a:srgbClr val="8FBF6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3">
            <a:extLst>
              <a:ext uri="{FF2B5EF4-FFF2-40B4-BE49-F238E27FC236}">
                <a16:creationId xmlns:a16="http://schemas.microsoft.com/office/drawing/2014/main" id="{4D34FBB6-AF77-14FE-79BB-ADD5B48D98C9}"/>
              </a:ext>
            </a:extLst>
          </p:cNvPr>
          <p:cNvSpPr/>
          <p:nvPr/>
        </p:nvSpPr>
        <p:spPr>
          <a:xfrm>
            <a:off x="1600200" y="822960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400"/>
              <a:buFont typeface="Courier New"/>
              <a:buNone/>
            </a:pPr>
            <a:r>
              <a:rPr lang="en-US" sz="1400" b="0" i="0" u="none" strike="noStrike" cap="none">
                <a:solidFill>
                  <a:srgbClr val="D97757"/>
                </a:solidFill>
                <a:latin typeface="Courier New"/>
                <a:ea typeface="Courier New"/>
                <a:cs typeface="Courier New"/>
                <a:sym typeface="Courier New"/>
              </a:rPr>
              <a:t>$ </a:t>
            </a:r>
            <a:r>
              <a:rPr lang="en-US" sz="1400" b="0" i="0" u="none" strike="noStrike" cap="none">
                <a:solidFill>
                  <a:srgbClr val="E8E3DB"/>
                </a:solidFill>
                <a:latin typeface="Courier New"/>
                <a:ea typeface="Courier New"/>
                <a:cs typeface="Courier New"/>
                <a:sym typeface="Courier New"/>
              </a:rPr>
              <a:t>claude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>
            <a:extLst>
              <a:ext uri="{FF2B5EF4-FFF2-40B4-BE49-F238E27FC236}">
                <a16:creationId xmlns:a16="http://schemas.microsoft.com/office/drawing/2014/main" id="{663911F3-DE5F-C518-BD3D-19DFD77535CF}"/>
              </a:ext>
            </a:extLst>
          </p:cNvPr>
          <p:cNvSpPr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r>
              <a:rPr lang="en-US" altLang="ko-KR" sz="4800">
                <a:solidFill>
                  <a:schemeClr val="bg1"/>
                </a:solidFill>
                <a:latin typeface="프리젠테이션 6 SemiBold" pitchFamily="2" charset="-127"/>
                <a:ea typeface="프리젠테이션 6 SemiBold" pitchFamily="2" charset="-127"/>
              </a:rPr>
              <a:t>Multi-agent-starter (</a:t>
            </a:r>
            <a:r>
              <a:rPr lang="ko-KR" altLang="en-US" sz="4800">
                <a:solidFill>
                  <a:schemeClr val="bg1"/>
                </a:solidFill>
                <a:latin typeface="프리젠테이션 6 SemiBold" pitchFamily="2" charset="-127"/>
                <a:ea typeface="프리젠테이션 6 SemiBold" pitchFamily="2" charset="-127"/>
              </a:rPr>
              <a:t>스타터</a:t>
            </a:r>
            <a:r>
              <a:rPr lang="en-US" altLang="ko-KR" sz="4800">
                <a:solidFill>
                  <a:schemeClr val="bg1"/>
                </a:solidFill>
                <a:latin typeface="프리젠테이션 6 SemiBold" pitchFamily="2" charset="-127"/>
                <a:ea typeface="프리젠테이션 6 SemiBold" pitchFamily="2" charset="-127"/>
              </a:rPr>
              <a:t>)</a:t>
            </a:r>
            <a:r>
              <a:rPr lang="ko-KR" altLang="en-US" sz="4800">
                <a:solidFill>
                  <a:schemeClr val="bg1"/>
                </a:solidFill>
                <a:latin typeface="프리젠테이션 6 SemiBold" pitchFamily="2" charset="-127"/>
                <a:ea typeface="프리젠테이션 6 SemiBold" pitchFamily="2" charset="-127"/>
              </a:rPr>
              <a:t> 설치</a:t>
            </a:r>
            <a:endParaRPr lang="en-US" altLang="ko-KR" sz="4800">
              <a:solidFill>
                <a:schemeClr val="bg1"/>
              </a:solidFill>
              <a:latin typeface="프리젠테이션 6 SemiBold" pitchFamily="2" charset="-127"/>
              <a:ea typeface="프리젠테이션 6 SemiBold" pitchFamily="2" charset="-127"/>
            </a:endParaRPr>
          </a:p>
          <a:p>
            <a:r>
              <a:rPr lang="en-US" altLang="ko-KR" sz="4800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Multi-agent</a:t>
            </a:r>
            <a:r>
              <a:rPr lang="ko-KR" altLang="en-US" sz="4800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4800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System </a:t>
            </a:r>
            <a:r>
              <a:rPr lang="ko-KR" altLang="en-US" sz="4800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구성</a:t>
            </a:r>
            <a:endParaRPr lang="en-US" altLang="ko-KR" sz="4800" dirty="0">
              <a:solidFill>
                <a:schemeClr val="accent3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22" name="Google Shape;22;p3">
            <a:extLst>
              <a:ext uri="{FF2B5EF4-FFF2-40B4-BE49-F238E27FC236}">
                <a16:creationId xmlns:a16="http://schemas.microsoft.com/office/drawing/2014/main" id="{D1909742-2010-3566-D9C4-8FE510BD99FB}"/>
              </a:ext>
            </a:extLst>
          </p:cNvPr>
          <p:cNvSpPr/>
          <p:nvPr/>
        </p:nvSpPr>
        <p:spPr>
          <a:xfrm>
            <a:off x="841248" y="352044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9B2A7"/>
              </a:buClr>
              <a:buSzPts val="1700"/>
              <a:buFont typeface="Malgun Gothic"/>
              <a:buNone/>
            </a:pPr>
            <a:r>
              <a:rPr lang="en-US" sz="1700" b="0" i="0" u="none" strike="noStrike" cap="none">
                <a:solidFill>
                  <a:srgbClr val="B9B2A7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개발팀 온보딩  ·  처음 쓰는 분도 그대로 따라 하면 완료됩니다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>
            <a:extLst>
              <a:ext uri="{FF2B5EF4-FFF2-40B4-BE49-F238E27FC236}">
                <a16:creationId xmlns:a16="http://schemas.microsoft.com/office/drawing/2014/main" id="{9CC070EE-8DCB-8288-0A8F-56A78E892461}"/>
              </a:ext>
            </a:extLst>
          </p:cNvPr>
          <p:cNvSpPr/>
          <p:nvPr/>
        </p:nvSpPr>
        <p:spPr>
          <a:xfrm>
            <a:off x="841248" y="402336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A8378"/>
              </a:buClr>
              <a:buSzPts val="1300"/>
              <a:buFont typeface="Malgun Gothic"/>
              <a:buNone/>
            </a:pPr>
            <a:r>
              <a:rPr lang="en-US" sz="1300" b="0" i="0" u="none" strike="noStrike" cap="none">
                <a:solidFill>
                  <a:srgbClr val="8A8378"/>
                </a:solidFill>
                <a:latin typeface="Malgun Gothic"/>
                <a:ea typeface="Malgun Gothic"/>
                <a:cs typeface="Malgun Gothic"/>
                <a:sym typeface="Malgun Gothic"/>
              </a:rPr>
              <a:t>소요 시간 약 20~30분  ·  명령어는 모두 복사해서 붙여넣으면 됩니다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3">
            <a:extLst>
              <a:ext uri="{FF2B5EF4-FFF2-40B4-BE49-F238E27FC236}">
                <a16:creationId xmlns:a16="http://schemas.microsoft.com/office/drawing/2014/main" id="{02D43642-0EBE-ED7E-D441-B3C0C283199B}"/>
              </a:ext>
            </a:extLst>
          </p:cNvPr>
          <p:cNvSpPr/>
          <p:nvPr/>
        </p:nvSpPr>
        <p:spPr>
          <a:xfrm>
            <a:off x="8229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5;p3">
            <a:extLst>
              <a:ext uri="{FF2B5EF4-FFF2-40B4-BE49-F238E27FC236}">
                <a16:creationId xmlns:a16="http://schemas.microsoft.com/office/drawing/2014/main" id="{C90A3BBC-5B32-C4A8-3239-0E8BF040992E}"/>
              </a:ext>
            </a:extLst>
          </p:cNvPr>
          <p:cNvSpPr/>
          <p:nvPr/>
        </p:nvSpPr>
        <p:spPr>
          <a:xfrm>
            <a:off x="9692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01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설치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3">
            <a:extLst>
              <a:ext uri="{FF2B5EF4-FFF2-40B4-BE49-F238E27FC236}">
                <a16:creationId xmlns:a16="http://schemas.microsoft.com/office/drawing/2014/main" id="{3903D50D-4B8B-A439-9458-8388B25DF98D}"/>
              </a:ext>
            </a:extLst>
          </p:cNvPr>
          <p:cNvSpPr/>
          <p:nvPr/>
        </p:nvSpPr>
        <p:spPr>
          <a:xfrm>
            <a:off x="26517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3">
            <a:extLst>
              <a:ext uri="{FF2B5EF4-FFF2-40B4-BE49-F238E27FC236}">
                <a16:creationId xmlns:a16="http://schemas.microsoft.com/office/drawing/2014/main" id="{1F856ABF-C7CB-E5C7-3820-B1146227E6F7}"/>
              </a:ext>
            </a:extLst>
          </p:cNvPr>
          <p:cNvSpPr/>
          <p:nvPr/>
        </p:nvSpPr>
        <p:spPr>
          <a:xfrm>
            <a:off x="27980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02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실행·로그인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3">
            <a:extLst>
              <a:ext uri="{FF2B5EF4-FFF2-40B4-BE49-F238E27FC236}">
                <a16:creationId xmlns:a16="http://schemas.microsoft.com/office/drawing/2014/main" id="{84D0B0AC-DB58-F0D8-3C01-DD3C79B3CE7B}"/>
              </a:ext>
            </a:extLst>
          </p:cNvPr>
          <p:cNvSpPr/>
          <p:nvPr/>
        </p:nvSpPr>
        <p:spPr>
          <a:xfrm>
            <a:off x="44805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3">
            <a:extLst>
              <a:ext uri="{FF2B5EF4-FFF2-40B4-BE49-F238E27FC236}">
                <a16:creationId xmlns:a16="http://schemas.microsoft.com/office/drawing/2014/main" id="{837AA453-DBA0-C98C-B5E0-563717F36F8E}"/>
              </a:ext>
            </a:extLst>
          </p:cNvPr>
          <p:cNvSpPr/>
          <p:nvPr/>
        </p:nvSpPr>
        <p:spPr>
          <a:xfrm>
            <a:off x="46268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03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IntelliJ 연동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3">
            <a:extLst>
              <a:ext uri="{FF2B5EF4-FFF2-40B4-BE49-F238E27FC236}">
                <a16:creationId xmlns:a16="http://schemas.microsoft.com/office/drawing/2014/main" id="{41BEB656-526F-240F-3D18-7C9482AB7FB8}"/>
              </a:ext>
            </a:extLst>
          </p:cNvPr>
          <p:cNvSpPr/>
          <p:nvPr/>
        </p:nvSpPr>
        <p:spPr>
          <a:xfrm>
            <a:off x="63093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3">
            <a:extLst>
              <a:ext uri="{FF2B5EF4-FFF2-40B4-BE49-F238E27FC236}">
                <a16:creationId xmlns:a16="http://schemas.microsoft.com/office/drawing/2014/main" id="{BA0CDC59-052A-B494-AC26-3CC92DD3F6B0}"/>
              </a:ext>
            </a:extLst>
          </p:cNvPr>
          <p:cNvSpPr/>
          <p:nvPr/>
        </p:nvSpPr>
        <p:spPr>
          <a:xfrm>
            <a:off x="64556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04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환경설정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3">
            <a:extLst>
              <a:ext uri="{FF2B5EF4-FFF2-40B4-BE49-F238E27FC236}">
                <a16:creationId xmlns:a16="http://schemas.microsoft.com/office/drawing/2014/main" id="{AA000127-387C-8F1B-4B6C-94377CE89EF2}"/>
              </a:ext>
            </a:extLst>
          </p:cNvPr>
          <p:cNvSpPr/>
          <p:nvPr/>
        </p:nvSpPr>
        <p:spPr>
          <a:xfrm>
            <a:off x="81381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3">
            <a:extLst>
              <a:ext uri="{FF2B5EF4-FFF2-40B4-BE49-F238E27FC236}">
                <a16:creationId xmlns:a16="http://schemas.microsoft.com/office/drawing/2014/main" id="{71CE2E44-719C-628A-7B5A-0B2C5EDB07CF}"/>
              </a:ext>
            </a:extLst>
          </p:cNvPr>
          <p:cNvSpPr/>
          <p:nvPr/>
        </p:nvSpPr>
        <p:spPr>
          <a:xfrm>
            <a:off x="82844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05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설정 확인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3">
            <a:extLst>
              <a:ext uri="{FF2B5EF4-FFF2-40B4-BE49-F238E27FC236}">
                <a16:creationId xmlns:a16="http://schemas.microsoft.com/office/drawing/2014/main" id="{9EF824D5-AA73-7ADE-D858-860A7D2FA939}"/>
              </a:ext>
            </a:extLst>
          </p:cNvPr>
          <p:cNvSpPr/>
          <p:nvPr/>
        </p:nvSpPr>
        <p:spPr>
          <a:xfrm>
            <a:off x="99669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3">
            <a:extLst>
              <a:ext uri="{FF2B5EF4-FFF2-40B4-BE49-F238E27FC236}">
                <a16:creationId xmlns:a16="http://schemas.microsoft.com/office/drawing/2014/main" id="{2A93A782-8EB6-B009-9B13-F8945CC1DA4E}"/>
              </a:ext>
            </a:extLst>
          </p:cNvPr>
          <p:cNvSpPr/>
          <p:nvPr/>
        </p:nvSpPr>
        <p:spPr>
          <a:xfrm>
            <a:off x="101132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06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테스트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313136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0" y="1323436"/>
            <a:ext cx="8155857" cy="4587211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2717319" y="2319450"/>
            <a:ext cx="1354347" cy="21566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83945DB-322F-46D4-8E80-BCC440728498}"/>
              </a:ext>
            </a:extLst>
          </p:cNvPr>
          <p:cNvSpPr/>
          <p:nvPr/>
        </p:nvSpPr>
        <p:spPr>
          <a:xfrm>
            <a:off x="3480758" y="2612308"/>
            <a:ext cx="677174" cy="21566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2511300" y="2096691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1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9D53630B-8EF9-4BE3-A13E-B33C6A457904}"/>
              </a:ext>
            </a:extLst>
          </p:cNvPr>
          <p:cNvSpPr>
            <a:spLocks noChangeAspect="1"/>
          </p:cNvSpPr>
          <p:nvPr/>
        </p:nvSpPr>
        <p:spPr>
          <a:xfrm>
            <a:off x="4093724" y="2427280"/>
            <a:ext cx="27000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2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9554F44C-D06A-4250-AD97-FFF2CF5DD56C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 설치할 디렉토리 생성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스크린샷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orchestrator)</a:t>
            </a: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claude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시작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/plugins 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입력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Marketplaces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+Add Marketplace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netwaif/multi-agent-starter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입력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multi-agent-starter 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Install for you, in this repo only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⑨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/reload-plugins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 입력</a:t>
            </a:r>
          </a:p>
        </p:txBody>
      </p:sp>
      <p:sp>
        <p:nvSpPr>
          <p:cNvPr id="15" name="내용 개체 틀 31">
            <a:extLst>
              <a:ext uri="{FF2B5EF4-FFF2-40B4-BE49-F238E27FC236}">
                <a16:creationId xmlns:a16="http://schemas.microsoft.com/office/drawing/2014/main" id="{9DDFE01A-C5E9-41F7-9251-068B289EF52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449263"/>
            <a:ext cx="10944225" cy="458787"/>
          </a:xfrm>
        </p:spPr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플러그인 설치 ①②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7493651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67FAC2-BAEA-DD7D-8CDC-FEC494C5C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내용 개체 틀 31">
            <a:extLst>
              <a:ext uri="{FF2B5EF4-FFF2-40B4-BE49-F238E27FC236}">
                <a16:creationId xmlns:a16="http://schemas.microsoft.com/office/drawing/2014/main" id="{3B4F3B03-9935-031D-0CD5-56F21B1873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09360" y="193231"/>
            <a:ext cx="10944225" cy="458787"/>
          </a:xfrm>
        </p:spPr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플러그인 설치 ①②</a:t>
            </a:r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E22F264-C93E-2C56-C5E8-A40ACDCB72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6532" y="714819"/>
            <a:ext cx="8304764" cy="59499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09BD151-0577-4597-B2C9-9CB1A230AA6F}"/>
              </a:ext>
            </a:extLst>
          </p:cNvPr>
          <p:cNvSpPr txBox="1"/>
          <p:nvPr/>
        </p:nvSpPr>
        <p:spPr>
          <a:xfrm>
            <a:off x="209360" y="714819"/>
            <a:ext cx="2765488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/>
              <a:t>14</a:t>
            </a:r>
            <a:r>
              <a:rPr lang="ko-KR" altLang="en-US"/>
              <a:t>페이지 </a:t>
            </a:r>
            <a:r>
              <a:rPr lang="en-US" altLang="ko-KR"/>
              <a:t>1</a:t>
            </a:r>
            <a:r>
              <a:rPr lang="ko-KR" altLang="en-US"/>
              <a:t>번 마크에서 폴더를 만들고 작업하는것은</a:t>
            </a:r>
            <a:r>
              <a:rPr lang="en-US" altLang="ko-KR"/>
              <a:t>. </a:t>
            </a:r>
            <a:r>
              <a:rPr lang="ko-KR" altLang="en-US"/>
              <a:t>예제를 위한것이고</a:t>
            </a:r>
            <a:endParaRPr lang="en-US" altLang="ko-KR"/>
          </a:p>
          <a:p>
            <a:endParaRPr lang="en-US" altLang="ko-KR"/>
          </a:p>
          <a:p>
            <a:r>
              <a:rPr lang="ko-KR" altLang="en-US"/>
              <a:t>실무에서는 다음과 같이 </a:t>
            </a:r>
            <a:endParaRPr lang="en-US" altLang="ko-KR"/>
          </a:p>
          <a:p>
            <a:r>
              <a:rPr lang="en-US" altLang="ko-KR"/>
              <a:t>Root Project </a:t>
            </a:r>
            <a:r>
              <a:rPr lang="ko-KR" altLang="en-US"/>
              <a:t>를 하나 만들고</a:t>
            </a:r>
            <a:endParaRPr lang="en-US" altLang="ko-KR"/>
          </a:p>
          <a:p>
            <a:r>
              <a:rPr lang="ko-KR" altLang="en-US"/>
              <a:t>그 프로젝트에 다음의 코드를 </a:t>
            </a:r>
            <a:endParaRPr lang="en-US" altLang="ko-KR"/>
          </a:p>
          <a:p>
            <a:r>
              <a:rPr lang="ko-KR" altLang="en-US"/>
              <a:t>푸쉬하고 </a:t>
            </a:r>
            <a:r>
              <a:rPr lang="en-US" altLang="ko-KR"/>
              <a:t>, </a:t>
            </a:r>
            <a:r>
              <a:rPr lang="ko-KR" altLang="en-US"/>
              <a:t>풀 받으세요</a:t>
            </a:r>
            <a:endParaRPr lang="en-US" altLang="ko-KR"/>
          </a:p>
          <a:p>
            <a:endParaRPr lang="en-US" altLang="ko-KR"/>
          </a:p>
          <a:p>
            <a:r>
              <a:rPr lang="ko-KR" altLang="en-US"/>
              <a:t>그리고 로컬 피씨에 </a:t>
            </a:r>
            <a:r>
              <a:rPr lang="en-US" altLang="ko-KR"/>
              <a:t>Git Pull </a:t>
            </a:r>
            <a:r>
              <a:rPr lang="ko-KR" altLang="en-US"/>
              <a:t>하세요</a:t>
            </a:r>
            <a:endParaRPr lang="en-US" altLang="ko-KR"/>
          </a:p>
          <a:p>
            <a:endParaRPr lang="en-US" altLang="ko-KR"/>
          </a:p>
          <a:p>
            <a:r>
              <a:rPr lang="ko-KR" altLang="en-US"/>
              <a:t>https://github.com/313DEVGRP/Java-Service-Tree-Framework</a:t>
            </a:r>
          </a:p>
        </p:txBody>
      </p:sp>
    </p:spTree>
    <p:extLst>
      <p:ext uri="{BB962C8B-B14F-4D97-AF65-F5344CB8AC3E}">
        <p14:creationId xmlns:p14="http://schemas.microsoft.com/office/powerpoint/2010/main" val="35579243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CCC44-BFC2-AD0F-390A-B9F535BAA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내용 개체 틀 31">
            <a:extLst>
              <a:ext uri="{FF2B5EF4-FFF2-40B4-BE49-F238E27FC236}">
                <a16:creationId xmlns:a16="http://schemas.microsoft.com/office/drawing/2014/main" id="{F3DC2C49-D969-8B5F-857C-FD478C78413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09360" y="193231"/>
            <a:ext cx="10944225" cy="458787"/>
          </a:xfrm>
        </p:spPr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플러그인 설치 ①②</a:t>
            </a:r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3C06C4B-A4D9-3117-6B69-4EFDE1F7047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796532" y="714819"/>
            <a:ext cx="8304764" cy="594994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0230CE5-5C4C-60C3-AB1A-8946450FD207}"/>
              </a:ext>
            </a:extLst>
          </p:cNvPr>
          <p:cNvSpPr txBox="1"/>
          <p:nvPr/>
        </p:nvSpPr>
        <p:spPr>
          <a:xfrm>
            <a:off x="209360" y="714819"/>
            <a:ext cx="2802064" cy="4185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/>
              <a:t>14</a:t>
            </a:r>
            <a:r>
              <a:rPr lang="ko-KR" altLang="en-US"/>
              <a:t>페이지 </a:t>
            </a:r>
            <a:r>
              <a:rPr lang="en-US" altLang="ko-KR"/>
              <a:t>2</a:t>
            </a:r>
            <a:r>
              <a:rPr lang="ko-KR" altLang="en-US"/>
              <a:t>번 마크는 파워쉘에서 하는 경우도 있는데</a:t>
            </a:r>
            <a:r>
              <a:rPr lang="en-US" altLang="ko-KR"/>
              <a:t>, </a:t>
            </a:r>
            <a:r>
              <a:rPr lang="ko-KR" altLang="en-US"/>
              <a:t>인텔리제이 안에서 플러그인 </a:t>
            </a:r>
            <a:r>
              <a:rPr lang="en-US" altLang="ko-KR"/>
              <a:t>( Claude ) </a:t>
            </a:r>
            <a:r>
              <a:rPr lang="ko-KR" altLang="en-US"/>
              <a:t>를 설치하면 </a:t>
            </a:r>
            <a:endParaRPr lang="en-US" altLang="ko-KR"/>
          </a:p>
          <a:p>
            <a:endParaRPr lang="en-US" altLang="ko-KR"/>
          </a:p>
          <a:p>
            <a:r>
              <a:rPr lang="ko-KR" altLang="en-US"/>
              <a:t>다음과 같은 화면을 볼 수 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이 화면을 통해서 지속적으로 개발을 이어갈 것이다</a:t>
            </a:r>
            <a:r>
              <a:rPr lang="en-US" altLang="ko-KR"/>
              <a:t>.</a:t>
            </a:r>
          </a:p>
          <a:p>
            <a:r>
              <a:rPr lang="en-US" altLang="ko-KR"/>
              <a:t>( No. </a:t>
            </a:r>
            <a:r>
              <a:rPr lang="ko-KR" altLang="en-US"/>
              <a:t>브라우저</a:t>
            </a:r>
            <a:r>
              <a:rPr lang="en-US" altLang="ko-KR"/>
              <a:t>, No Desktop</a:t>
            </a:r>
            <a:r>
              <a:rPr lang="ko-KR" altLang="en-US"/>
              <a:t> </a:t>
            </a:r>
            <a:r>
              <a:rPr lang="en-US" altLang="ko-KR"/>
              <a:t>App )</a:t>
            </a:r>
          </a:p>
          <a:p>
            <a:endParaRPr lang="en-US" altLang="ko-KR"/>
          </a:p>
          <a:p>
            <a:endParaRPr lang="en-US" altLang="ko-KR"/>
          </a:p>
          <a:p>
            <a:r>
              <a:rPr lang="ko-KR" altLang="en-US"/>
              <a:t>아래쪽 터미널에서 </a:t>
            </a:r>
            <a:r>
              <a:rPr lang="en-US" altLang="ko-KR"/>
              <a:t>“claude” </a:t>
            </a:r>
            <a:r>
              <a:rPr lang="ko-KR" altLang="en-US"/>
              <a:t>명령어를 실행하고 </a:t>
            </a:r>
            <a:r>
              <a:rPr lang="en-US" altLang="ko-KR"/>
              <a:t>17</a:t>
            </a:r>
            <a:r>
              <a:rPr lang="ko-KR" altLang="en-US"/>
              <a:t>페이지의 명령어를 수행하면 된다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또한 클로드에 브라우저 스타일로 명령을 하는 방식은</a:t>
            </a:r>
            <a:endParaRPr lang="en-US" altLang="ko-KR"/>
          </a:p>
          <a:p>
            <a:r>
              <a:rPr lang="ko-KR" altLang="en-US"/>
              <a:t>우측 상단에 질의를 하면 된다</a:t>
            </a:r>
            <a:r>
              <a:rPr lang="en-US" altLang="ko-KR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009539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플러그인 설치 ③④⑤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1" y="1323436"/>
            <a:ext cx="8155855" cy="4587211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24218" y="3549352"/>
            <a:ext cx="7988461" cy="27000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83945DB-322F-46D4-8E80-BCC440728498}"/>
              </a:ext>
            </a:extLst>
          </p:cNvPr>
          <p:cNvSpPr/>
          <p:nvPr/>
        </p:nvSpPr>
        <p:spPr>
          <a:xfrm>
            <a:off x="2926135" y="4007866"/>
            <a:ext cx="955752" cy="21566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623886" y="3378758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3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9D53630B-8EF9-4BE3-A13E-B33C6A457904}"/>
              </a:ext>
            </a:extLst>
          </p:cNvPr>
          <p:cNvSpPr>
            <a:spLocks noChangeAspect="1"/>
          </p:cNvSpPr>
          <p:nvPr/>
        </p:nvSpPr>
        <p:spPr>
          <a:xfrm>
            <a:off x="2791135" y="3817878"/>
            <a:ext cx="27000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4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5813CC6-723F-42CB-8380-855DB25349DC}"/>
              </a:ext>
            </a:extLst>
          </p:cNvPr>
          <p:cNvSpPr/>
          <p:nvPr/>
        </p:nvSpPr>
        <p:spPr>
          <a:xfrm>
            <a:off x="741562" y="4563971"/>
            <a:ext cx="1509932" cy="21566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2A9D1BDE-56EB-431F-B72B-5C1A7DB0541A}"/>
              </a:ext>
            </a:extLst>
          </p:cNvPr>
          <p:cNvSpPr>
            <a:spLocks noChangeAspect="1"/>
          </p:cNvSpPr>
          <p:nvPr/>
        </p:nvSpPr>
        <p:spPr>
          <a:xfrm>
            <a:off x="624336" y="4430353"/>
            <a:ext cx="27000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5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4" name="Shape 6">
            <a:extLst>
              <a:ext uri="{FF2B5EF4-FFF2-40B4-BE49-F238E27FC236}">
                <a16:creationId xmlns:a16="http://schemas.microsoft.com/office/drawing/2014/main" id="{BCC0D627-4E2A-4851-934D-B946F9FF73A9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 설치할 디렉토리 생성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스크린샷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orchestrator)</a:t>
            </a: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claude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시작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/plugins 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입력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Marketplaces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+Add Marketplace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netwaif/multi-agent-starter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입력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multi-agent-starter 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Install for you, in this repo only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⑨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/reload-plugins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 입력</a:t>
            </a:r>
          </a:p>
        </p:txBody>
      </p:sp>
    </p:spTree>
    <p:extLst>
      <p:ext uri="{BB962C8B-B14F-4D97-AF65-F5344CB8AC3E}">
        <p14:creationId xmlns:p14="http://schemas.microsoft.com/office/powerpoint/2010/main" val="25510429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플러그인 설치 ⑥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1" y="1323436"/>
            <a:ext cx="8155855" cy="458721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24218" y="5093472"/>
            <a:ext cx="7988461" cy="27000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623886" y="4922878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6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5" name="Shape 6">
            <a:extLst>
              <a:ext uri="{FF2B5EF4-FFF2-40B4-BE49-F238E27FC236}">
                <a16:creationId xmlns:a16="http://schemas.microsoft.com/office/drawing/2014/main" id="{90CB3539-1604-41F7-86F7-19FD485D5290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 설치할 디렉토리 생성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스크린샷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orchestrator)</a:t>
            </a: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claude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시작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/plugins 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입력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Marketplaces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+Add Marketplace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netwaif/multi-agent-starter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입력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multi-agent-starter 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Install for you, in this repo only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⑨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/reload-plugins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 입력</a:t>
            </a:r>
          </a:p>
        </p:txBody>
      </p:sp>
    </p:spTree>
    <p:extLst>
      <p:ext uri="{BB962C8B-B14F-4D97-AF65-F5344CB8AC3E}">
        <p14:creationId xmlns:p14="http://schemas.microsoft.com/office/powerpoint/2010/main" val="41567296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플러그인 설치 ⑦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2" y="1323436"/>
            <a:ext cx="8155853" cy="458721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24218" y="5093472"/>
            <a:ext cx="7988461" cy="27000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623886" y="4922878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7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0B14EC29-0100-40F0-905B-5E36E415F0CF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 설치할 디렉토리 생성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스크린샷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orchestrator)</a:t>
            </a: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claude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시작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/plugins 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입력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Marketplaces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+Add Marketplace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netwaif/multi-agent-starter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입력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multi-agent-starter 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Install for you, in this repo only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⑨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/reload-plugins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 입력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86D971FA-2D5A-FAAE-70CE-93058AFFA447}"/>
              </a:ext>
            </a:extLst>
          </p:cNvPr>
          <p:cNvSpPr/>
          <p:nvPr/>
        </p:nvSpPr>
        <p:spPr>
          <a:xfrm>
            <a:off x="1894907" y="5490024"/>
            <a:ext cx="1165927" cy="27000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20642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플러그인 설치 ⑧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2" y="1323436"/>
            <a:ext cx="8155853" cy="4587209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24218" y="5093472"/>
            <a:ext cx="7988461" cy="27000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623886" y="4922878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8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0D2D5766-9E24-48B0-A7EB-BA62B046864C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 설치할 디렉토리 생성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스크린샷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orchestrator)</a:t>
            </a: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claude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시작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/plugins 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입력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Marketplaces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+Add Marketplace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netwaif/multi-agent-starter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입력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multi-agent-starter 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Install for you, in this repo only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⑨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/reload-plugins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 입력</a:t>
            </a:r>
          </a:p>
        </p:txBody>
      </p:sp>
    </p:spTree>
    <p:extLst>
      <p:ext uri="{BB962C8B-B14F-4D97-AF65-F5344CB8AC3E}">
        <p14:creationId xmlns:p14="http://schemas.microsoft.com/office/powerpoint/2010/main" val="29918244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플러그인 설치 ⑨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2" y="1323436"/>
            <a:ext cx="8155852" cy="4587209"/>
          </a:xfrm>
          <a:prstGeom prst="rect">
            <a:avLst/>
          </a:prstGeom>
        </p:spPr>
      </p:pic>
      <p:sp>
        <p:nvSpPr>
          <p:cNvPr id="35" name="Shape 6">
            <a:extLst>
              <a:ext uri="{FF2B5EF4-FFF2-40B4-BE49-F238E27FC236}">
                <a16:creationId xmlns:a16="http://schemas.microsoft.com/office/drawing/2014/main" id="{C0596C7C-7ABE-4399-AEB6-6602BB68A4A7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 설치할 디렉토리 생성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스크린샷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orchestrator)</a:t>
            </a: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claude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시작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/plugins 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입력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Marketplaces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+Add Marketplace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netwaif/multi-agent-starter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입력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multi-agent-starter 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Install for you, in this repo only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⑨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/reload-plugins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 입력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24218" y="3281933"/>
            <a:ext cx="7988461" cy="27000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623886" y="3111339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9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855622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01C"/>
        </a:solidFill>
        <a:effectLst/>
      </p:bgPr>
    </p:bg>
    <p:spTree>
      <p:nvGrpSpPr>
        <p:cNvPr id="1" name="Shape 15">
          <a:extLst>
            <a:ext uri="{FF2B5EF4-FFF2-40B4-BE49-F238E27FC236}">
              <a16:creationId xmlns:a16="http://schemas.microsoft.com/office/drawing/2014/main" id="{ADEFD382-1FE2-4366-1CE9-89155796B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>
            <a:extLst>
              <a:ext uri="{FF2B5EF4-FFF2-40B4-BE49-F238E27FC236}">
                <a16:creationId xmlns:a16="http://schemas.microsoft.com/office/drawing/2014/main" id="{779A3724-8726-DD0E-01DE-46AA2A4230C0}"/>
              </a:ext>
            </a:extLst>
          </p:cNvPr>
          <p:cNvSpPr/>
          <p:nvPr/>
        </p:nvSpPr>
        <p:spPr>
          <a:xfrm>
            <a:off x="822960" y="822960"/>
            <a:ext cx="2286000" cy="566928"/>
          </a:xfrm>
          <a:prstGeom prst="roundRect">
            <a:avLst>
              <a:gd name="adj" fmla="val 14516"/>
            </a:avLst>
          </a:prstGeom>
          <a:solidFill>
            <a:srgbClr val="2C292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3">
            <a:extLst>
              <a:ext uri="{FF2B5EF4-FFF2-40B4-BE49-F238E27FC236}">
                <a16:creationId xmlns:a16="http://schemas.microsoft.com/office/drawing/2014/main" id="{8BC297E1-26D0-8E39-E986-BBF4AB980C31}"/>
              </a:ext>
            </a:extLst>
          </p:cNvPr>
          <p:cNvSpPr/>
          <p:nvPr/>
        </p:nvSpPr>
        <p:spPr>
          <a:xfrm>
            <a:off x="987552" y="1060704"/>
            <a:ext cx="100584" cy="100584"/>
          </a:xfrm>
          <a:prstGeom prst="ellipse">
            <a:avLst/>
          </a:prstGeom>
          <a:solidFill>
            <a:srgbClr val="E8695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3">
            <a:extLst>
              <a:ext uri="{FF2B5EF4-FFF2-40B4-BE49-F238E27FC236}">
                <a16:creationId xmlns:a16="http://schemas.microsoft.com/office/drawing/2014/main" id="{377A8FC6-6F0E-FDFF-1BCD-F815BB1BF3EC}"/>
              </a:ext>
            </a:extLst>
          </p:cNvPr>
          <p:cNvSpPr/>
          <p:nvPr/>
        </p:nvSpPr>
        <p:spPr>
          <a:xfrm>
            <a:off x="1188720" y="1060704"/>
            <a:ext cx="100584" cy="100584"/>
          </a:xfrm>
          <a:prstGeom prst="ellipse">
            <a:avLst/>
          </a:prstGeom>
          <a:solidFill>
            <a:srgbClr val="F0B95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3">
            <a:extLst>
              <a:ext uri="{FF2B5EF4-FFF2-40B4-BE49-F238E27FC236}">
                <a16:creationId xmlns:a16="http://schemas.microsoft.com/office/drawing/2014/main" id="{C47F3021-9489-3E82-9EFB-EA00FAA66F6F}"/>
              </a:ext>
            </a:extLst>
          </p:cNvPr>
          <p:cNvSpPr/>
          <p:nvPr/>
        </p:nvSpPr>
        <p:spPr>
          <a:xfrm>
            <a:off x="1389888" y="1060704"/>
            <a:ext cx="100584" cy="100584"/>
          </a:xfrm>
          <a:prstGeom prst="ellipse">
            <a:avLst/>
          </a:prstGeom>
          <a:solidFill>
            <a:srgbClr val="8FBF6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3">
            <a:extLst>
              <a:ext uri="{FF2B5EF4-FFF2-40B4-BE49-F238E27FC236}">
                <a16:creationId xmlns:a16="http://schemas.microsoft.com/office/drawing/2014/main" id="{777ECA11-45F0-69DE-E2E6-08BAD642C65D}"/>
              </a:ext>
            </a:extLst>
          </p:cNvPr>
          <p:cNvSpPr/>
          <p:nvPr/>
        </p:nvSpPr>
        <p:spPr>
          <a:xfrm>
            <a:off x="1600200" y="822960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400"/>
              <a:buFont typeface="Courier New"/>
              <a:buNone/>
            </a:pPr>
            <a:r>
              <a:rPr lang="en-US" sz="1400" b="0" i="0" u="none" strike="noStrike" cap="none">
                <a:solidFill>
                  <a:srgbClr val="D97757"/>
                </a:solidFill>
                <a:latin typeface="Courier New"/>
                <a:ea typeface="Courier New"/>
                <a:cs typeface="Courier New"/>
                <a:sym typeface="Courier New"/>
              </a:rPr>
              <a:t>$ </a:t>
            </a:r>
            <a:r>
              <a:rPr lang="en-US" sz="1400" b="0" i="0" u="none" strike="noStrike" cap="none">
                <a:solidFill>
                  <a:srgbClr val="E8E3DB"/>
                </a:solidFill>
                <a:latin typeface="Courier New"/>
                <a:ea typeface="Courier New"/>
                <a:cs typeface="Courier New"/>
                <a:sym typeface="Courier New"/>
              </a:rPr>
              <a:t>claude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>
            <a:extLst>
              <a:ext uri="{FF2B5EF4-FFF2-40B4-BE49-F238E27FC236}">
                <a16:creationId xmlns:a16="http://schemas.microsoft.com/office/drawing/2014/main" id="{A3127DDB-2FF4-F35F-58CC-76F25A039479}"/>
              </a:ext>
            </a:extLst>
          </p:cNvPr>
          <p:cNvSpPr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r>
              <a:rPr lang="en-US" altLang="ko-KR" sz="4800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Multi-agent-starter (</a:t>
            </a:r>
            <a:r>
              <a:rPr lang="ko-KR" altLang="en-US" sz="4800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스타터</a:t>
            </a:r>
            <a:r>
              <a:rPr lang="en-US" altLang="ko-KR" sz="4800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)</a:t>
            </a:r>
            <a:r>
              <a:rPr lang="ko-KR" altLang="en-US" sz="4800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 설치</a:t>
            </a:r>
            <a:endParaRPr lang="en-US" altLang="ko-KR" sz="4800">
              <a:solidFill>
                <a:schemeClr val="accent3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4800">
                <a:solidFill>
                  <a:schemeClr val="bg1"/>
                </a:solidFill>
                <a:latin typeface="프리젠테이션 6 SemiBold" pitchFamily="2" charset="-127"/>
                <a:ea typeface="프리젠테이션 6 SemiBold" pitchFamily="2" charset="-127"/>
              </a:rPr>
              <a:t>Multi-agent</a:t>
            </a:r>
            <a:r>
              <a:rPr lang="ko-KR" altLang="en-US" sz="4800">
                <a:solidFill>
                  <a:schemeClr val="bg1"/>
                </a:solidFill>
                <a:latin typeface="프리젠테이션 6 SemiBold" pitchFamily="2" charset="-127"/>
                <a:ea typeface="프리젠테이션 6 SemiBold" pitchFamily="2" charset="-127"/>
              </a:rPr>
              <a:t> </a:t>
            </a:r>
            <a:r>
              <a:rPr lang="en-US" altLang="ko-KR" sz="4800">
                <a:solidFill>
                  <a:schemeClr val="bg1"/>
                </a:solidFill>
                <a:latin typeface="프리젠테이션 6 SemiBold" pitchFamily="2" charset="-127"/>
                <a:ea typeface="프리젠테이션 6 SemiBold" pitchFamily="2" charset="-127"/>
              </a:rPr>
              <a:t>System </a:t>
            </a:r>
            <a:r>
              <a:rPr lang="ko-KR" altLang="en-US" sz="4800">
                <a:solidFill>
                  <a:schemeClr val="bg1"/>
                </a:solidFill>
                <a:latin typeface="프리젠테이션 6 SemiBold" pitchFamily="2" charset="-127"/>
                <a:ea typeface="프리젠테이션 6 SemiBold" pitchFamily="2" charset="-127"/>
              </a:rPr>
              <a:t>구성</a:t>
            </a:r>
            <a:endParaRPr lang="en-US" altLang="ko-KR" sz="4800" dirty="0">
              <a:solidFill>
                <a:schemeClr val="bg1"/>
              </a:solidFill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22" name="Google Shape;22;p3">
            <a:extLst>
              <a:ext uri="{FF2B5EF4-FFF2-40B4-BE49-F238E27FC236}">
                <a16:creationId xmlns:a16="http://schemas.microsoft.com/office/drawing/2014/main" id="{4CDA689C-1461-A4D3-C559-F83C12083480}"/>
              </a:ext>
            </a:extLst>
          </p:cNvPr>
          <p:cNvSpPr/>
          <p:nvPr/>
        </p:nvSpPr>
        <p:spPr>
          <a:xfrm>
            <a:off x="841248" y="352044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9B2A7"/>
              </a:buClr>
              <a:buSzPts val="1700"/>
              <a:buFont typeface="Malgun Gothic"/>
              <a:buNone/>
            </a:pPr>
            <a:r>
              <a:rPr lang="en-US" sz="1700" b="0" i="0" u="none" strike="noStrike" cap="none">
                <a:solidFill>
                  <a:srgbClr val="B9B2A7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개발팀 온보딩  ·  처음 쓰는 분도 그대로 따라 하면 완료됩니다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>
            <a:extLst>
              <a:ext uri="{FF2B5EF4-FFF2-40B4-BE49-F238E27FC236}">
                <a16:creationId xmlns:a16="http://schemas.microsoft.com/office/drawing/2014/main" id="{B87F2134-86F0-8103-9D78-CD18904F75DB}"/>
              </a:ext>
            </a:extLst>
          </p:cNvPr>
          <p:cNvSpPr/>
          <p:nvPr/>
        </p:nvSpPr>
        <p:spPr>
          <a:xfrm>
            <a:off x="841248" y="402336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A8378"/>
              </a:buClr>
              <a:buSzPts val="1300"/>
              <a:buFont typeface="Malgun Gothic"/>
              <a:buNone/>
            </a:pPr>
            <a:r>
              <a:rPr lang="en-US" sz="1300" b="0" i="0" u="none" strike="noStrike" cap="none">
                <a:solidFill>
                  <a:srgbClr val="8A8378"/>
                </a:solidFill>
                <a:latin typeface="Malgun Gothic"/>
                <a:ea typeface="Malgun Gothic"/>
                <a:cs typeface="Malgun Gothic"/>
                <a:sym typeface="Malgun Gothic"/>
              </a:rPr>
              <a:t>소요 시간 약 20~30분  ·  명령어는 모두 복사해서 붙여넣으면 됩니다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3">
            <a:extLst>
              <a:ext uri="{FF2B5EF4-FFF2-40B4-BE49-F238E27FC236}">
                <a16:creationId xmlns:a16="http://schemas.microsoft.com/office/drawing/2014/main" id="{4D334C8D-1D1B-53AD-811F-9AAF3273355F}"/>
              </a:ext>
            </a:extLst>
          </p:cNvPr>
          <p:cNvSpPr/>
          <p:nvPr/>
        </p:nvSpPr>
        <p:spPr>
          <a:xfrm>
            <a:off x="8229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5;p3">
            <a:extLst>
              <a:ext uri="{FF2B5EF4-FFF2-40B4-BE49-F238E27FC236}">
                <a16:creationId xmlns:a16="http://schemas.microsoft.com/office/drawing/2014/main" id="{EA9E21F8-A5C4-D22B-5CBD-936222B6E6A7}"/>
              </a:ext>
            </a:extLst>
          </p:cNvPr>
          <p:cNvSpPr/>
          <p:nvPr/>
        </p:nvSpPr>
        <p:spPr>
          <a:xfrm>
            <a:off x="9692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01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설치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3">
            <a:extLst>
              <a:ext uri="{FF2B5EF4-FFF2-40B4-BE49-F238E27FC236}">
                <a16:creationId xmlns:a16="http://schemas.microsoft.com/office/drawing/2014/main" id="{353EAE59-66A9-891D-BF2B-ED5887C799A4}"/>
              </a:ext>
            </a:extLst>
          </p:cNvPr>
          <p:cNvSpPr/>
          <p:nvPr/>
        </p:nvSpPr>
        <p:spPr>
          <a:xfrm>
            <a:off x="26517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3">
            <a:extLst>
              <a:ext uri="{FF2B5EF4-FFF2-40B4-BE49-F238E27FC236}">
                <a16:creationId xmlns:a16="http://schemas.microsoft.com/office/drawing/2014/main" id="{DB89350B-628D-A2D1-2DA7-ECE1888C032B}"/>
              </a:ext>
            </a:extLst>
          </p:cNvPr>
          <p:cNvSpPr/>
          <p:nvPr/>
        </p:nvSpPr>
        <p:spPr>
          <a:xfrm>
            <a:off x="27980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02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실행·로그인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3">
            <a:extLst>
              <a:ext uri="{FF2B5EF4-FFF2-40B4-BE49-F238E27FC236}">
                <a16:creationId xmlns:a16="http://schemas.microsoft.com/office/drawing/2014/main" id="{58C141A9-DC8E-7C81-18E2-03340697452D}"/>
              </a:ext>
            </a:extLst>
          </p:cNvPr>
          <p:cNvSpPr/>
          <p:nvPr/>
        </p:nvSpPr>
        <p:spPr>
          <a:xfrm>
            <a:off x="44805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3">
            <a:extLst>
              <a:ext uri="{FF2B5EF4-FFF2-40B4-BE49-F238E27FC236}">
                <a16:creationId xmlns:a16="http://schemas.microsoft.com/office/drawing/2014/main" id="{AE153162-596D-8510-0BFA-385F5A2D6785}"/>
              </a:ext>
            </a:extLst>
          </p:cNvPr>
          <p:cNvSpPr/>
          <p:nvPr/>
        </p:nvSpPr>
        <p:spPr>
          <a:xfrm>
            <a:off x="46268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03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IntelliJ 연동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3">
            <a:extLst>
              <a:ext uri="{FF2B5EF4-FFF2-40B4-BE49-F238E27FC236}">
                <a16:creationId xmlns:a16="http://schemas.microsoft.com/office/drawing/2014/main" id="{199511D5-C38D-AF9E-FF51-B4325DFEC2E3}"/>
              </a:ext>
            </a:extLst>
          </p:cNvPr>
          <p:cNvSpPr/>
          <p:nvPr/>
        </p:nvSpPr>
        <p:spPr>
          <a:xfrm>
            <a:off x="63093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3">
            <a:extLst>
              <a:ext uri="{FF2B5EF4-FFF2-40B4-BE49-F238E27FC236}">
                <a16:creationId xmlns:a16="http://schemas.microsoft.com/office/drawing/2014/main" id="{CF3237DC-DFA0-AC7E-5359-15F930CC203A}"/>
              </a:ext>
            </a:extLst>
          </p:cNvPr>
          <p:cNvSpPr/>
          <p:nvPr/>
        </p:nvSpPr>
        <p:spPr>
          <a:xfrm>
            <a:off x="64556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04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환경설정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3">
            <a:extLst>
              <a:ext uri="{FF2B5EF4-FFF2-40B4-BE49-F238E27FC236}">
                <a16:creationId xmlns:a16="http://schemas.microsoft.com/office/drawing/2014/main" id="{C1BD5476-7295-87B2-63B3-D81AA39D5A6E}"/>
              </a:ext>
            </a:extLst>
          </p:cNvPr>
          <p:cNvSpPr/>
          <p:nvPr/>
        </p:nvSpPr>
        <p:spPr>
          <a:xfrm>
            <a:off x="81381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3">
            <a:extLst>
              <a:ext uri="{FF2B5EF4-FFF2-40B4-BE49-F238E27FC236}">
                <a16:creationId xmlns:a16="http://schemas.microsoft.com/office/drawing/2014/main" id="{0433A6CE-245A-0E9D-DF65-2DA0F9922229}"/>
              </a:ext>
            </a:extLst>
          </p:cNvPr>
          <p:cNvSpPr/>
          <p:nvPr/>
        </p:nvSpPr>
        <p:spPr>
          <a:xfrm>
            <a:off x="82844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05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설정 확인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3">
            <a:extLst>
              <a:ext uri="{FF2B5EF4-FFF2-40B4-BE49-F238E27FC236}">
                <a16:creationId xmlns:a16="http://schemas.microsoft.com/office/drawing/2014/main" id="{FB72A03F-95F9-7C96-4D1F-E2E4FBC2B91C}"/>
              </a:ext>
            </a:extLst>
          </p:cNvPr>
          <p:cNvSpPr/>
          <p:nvPr/>
        </p:nvSpPr>
        <p:spPr>
          <a:xfrm>
            <a:off x="99669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3">
            <a:extLst>
              <a:ext uri="{FF2B5EF4-FFF2-40B4-BE49-F238E27FC236}">
                <a16:creationId xmlns:a16="http://schemas.microsoft.com/office/drawing/2014/main" id="{E1376734-7C4E-35DE-E3B1-816369CCD53A}"/>
              </a:ext>
            </a:extLst>
          </p:cNvPr>
          <p:cNvSpPr/>
          <p:nvPr/>
        </p:nvSpPr>
        <p:spPr>
          <a:xfrm>
            <a:off x="101132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06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테스트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347904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멀티 에이전트 시스템 구성 ①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2" y="1323436"/>
            <a:ext cx="8155852" cy="4587208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24218" y="4386107"/>
            <a:ext cx="7988461" cy="27000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623886" y="4215513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1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D5881D1C-2D5F-4723-A8BF-DE003C3AF499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9B9B90E5-2904-4EB1-84ED-4396A699ED6A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멀티 에이전트 시스템 구성해줘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입력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“claude”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설치 경로 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현재 작업 폴더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,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설치경로 제출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(submit)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(Python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없는 경우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 진행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생성기 실행 및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디렉토리에 스타터 설치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사용법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406936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멀티 에이전트 시스템 구성 ②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3" y="1323436"/>
            <a:ext cx="8155850" cy="4587208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24218" y="3963408"/>
            <a:ext cx="8057473" cy="53095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623886" y="3792815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2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D5881D1C-2D5F-4723-A8BF-DE003C3AF499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2" name="Shape 6">
            <a:extLst>
              <a:ext uri="{FF2B5EF4-FFF2-40B4-BE49-F238E27FC236}">
                <a16:creationId xmlns:a16="http://schemas.microsoft.com/office/drawing/2014/main" id="{B270E4AC-3434-4975-AA3C-6874FB1AA9DD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멀티 에이전트 시스템 구성해줘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입력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“claude”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설치 경로 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현재 작업 폴더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,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설치경로 제출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(submit)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(Python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없는 경우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 진행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생성기 실행 및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디렉토리에 스타터 설치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사용법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28815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멀티 에이전트 시스템 구성 ③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3" y="1323436"/>
            <a:ext cx="8155850" cy="4587207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24218" y="3963408"/>
            <a:ext cx="8057473" cy="44666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623886" y="3792815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3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D5881D1C-2D5F-4723-A8BF-DE003C3AF499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2" name="Shape 6">
            <a:extLst>
              <a:ext uri="{FF2B5EF4-FFF2-40B4-BE49-F238E27FC236}">
                <a16:creationId xmlns:a16="http://schemas.microsoft.com/office/drawing/2014/main" id="{27B72A6E-1CB5-4BC1-B7C1-700F9F674606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멀티 에이전트 시스템 구성해줘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입력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“claude”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설치 경로 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현재 작업 폴더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,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설치경로 제출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(submit)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(Python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없는 경우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 진행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생성기 실행 및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디렉토리에 스타터 설치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사용법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627986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멀티 에이전트 시스템 구성 ④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4" y="1323436"/>
            <a:ext cx="8155848" cy="4587207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24218" y="3963408"/>
            <a:ext cx="8057473" cy="150394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623886" y="3792815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4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D5881D1C-2D5F-4723-A8BF-DE003C3AF499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2" name="Shape 6">
            <a:extLst>
              <a:ext uri="{FF2B5EF4-FFF2-40B4-BE49-F238E27FC236}">
                <a16:creationId xmlns:a16="http://schemas.microsoft.com/office/drawing/2014/main" id="{6372ED8F-C555-4950-A408-35707F944218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멀티 에이전트 시스템 구성해줘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입력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“claude”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설치 경로 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현재 작업 폴더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,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설치경로 제출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(submit)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(Python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없는 경우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 진행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생성기 실행 및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디렉토리에 스타터 설치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사용법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057285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멀티 에이전트 시스템 구성 ⑤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4" y="1323436"/>
            <a:ext cx="8155848" cy="4587206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24218" y="3562350"/>
            <a:ext cx="8057473" cy="122872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623886" y="3345140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5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D5881D1C-2D5F-4723-A8BF-DE003C3AF499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2" name="Shape 6">
            <a:extLst>
              <a:ext uri="{FF2B5EF4-FFF2-40B4-BE49-F238E27FC236}">
                <a16:creationId xmlns:a16="http://schemas.microsoft.com/office/drawing/2014/main" id="{42FC2494-33EE-473D-B3C5-C8ED22B71D6F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멀티 에이전트 시스템 구성해줘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입력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“claude”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설치 경로 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현재 작업 폴더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,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설치경로 제출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(submit)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(Python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없는 경우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 진행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생성기 실행 및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디렉토리에 스타터 설치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사용법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12804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멀티 에이전트 시스템 구성 ⑤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4" y="1327550"/>
            <a:ext cx="8155848" cy="4578978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3533775" y="2552700"/>
            <a:ext cx="4895850" cy="307657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3398550" y="2417700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5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D5881D1C-2D5F-4723-A8BF-DE003C3AF499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623CF54B-FDBF-4936-9E45-43F051E25377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멀티 에이전트 시스템 구성해줘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입력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“claude”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설치 경로 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현재 작업 폴더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,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설치경로 제출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(submit)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(Python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없는 경우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 진행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생성기 실행 및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디렉토리에 스타터 설치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사용법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924709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멀티 에이전트 시스템 구성 ⑥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5" y="1323436"/>
            <a:ext cx="8155846" cy="4587206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24218" y="2581275"/>
            <a:ext cx="8057473" cy="276224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604926" y="2444750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6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D5881D1C-2D5F-4723-A8BF-DE003C3AF499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0A4A6965-0496-483B-BED2-4D1649226AA1}"/>
              </a:ext>
            </a:extLst>
          </p:cNvPr>
          <p:cNvCxnSpPr/>
          <p:nvPr/>
        </p:nvCxnSpPr>
        <p:spPr>
          <a:xfrm>
            <a:off x="5419725" y="2809875"/>
            <a:ext cx="1543050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Shape 6">
            <a:extLst>
              <a:ext uri="{FF2B5EF4-FFF2-40B4-BE49-F238E27FC236}">
                <a16:creationId xmlns:a16="http://schemas.microsoft.com/office/drawing/2014/main" id="{89C83319-B8FB-438C-85C1-CDFCB6B82A85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멀티 에이전트 시스템 구성해줘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입력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“claude”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설치 경로 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현재 작업 폴더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,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설치경로 제출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(submit)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(Python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없는 경우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 진행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생성기 실행 및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디렉토리에 스타터 설치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사용법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003256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멀티 에이전트 시스템 구성 ⑥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5" y="1323436"/>
            <a:ext cx="8155846" cy="4587205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24218" y="2976302"/>
            <a:ext cx="8057473" cy="127570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588993" y="2839777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6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D5881D1C-2D5F-4723-A8BF-DE003C3AF499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0A4A6965-0496-483B-BED2-4D1649226AA1}"/>
              </a:ext>
            </a:extLst>
          </p:cNvPr>
          <p:cNvCxnSpPr>
            <a:cxnSpLocks/>
          </p:cNvCxnSpPr>
          <p:nvPr/>
        </p:nvCxnSpPr>
        <p:spPr>
          <a:xfrm>
            <a:off x="4010025" y="4181475"/>
            <a:ext cx="2352675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Shape 6">
            <a:extLst>
              <a:ext uri="{FF2B5EF4-FFF2-40B4-BE49-F238E27FC236}">
                <a16:creationId xmlns:a16="http://schemas.microsoft.com/office/drawing/2014/main" id="{F8E49602-913F-4B2F-9D81-B53C3C43FD00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멀티 에이전트 시스템 구성해줘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입력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“claude”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설치 경로 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현재 작업 폴더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,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설치경로 제출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(submit)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(Python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없는 경우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 진행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생성기 실행 및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디렉토리에 스타터 설치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사용법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5449037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멀티 에이전트 시스템 구성 ⑦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5" y="1341911"/>
            <a:ext cx="8155846" cy="4550255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2590800" y="1657349"/>
            <a:ext cx="6190891" cy="319087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2455575" y="1520824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7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D5881D1C-2D5F-4723-A8BF-DE003C3AF499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CD17AF32-DBC2-41F8-B31D-5419EC2330D7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멀티 에이전트 시스템 구성해줘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입력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“claude”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설치 경로 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현재 작업 폴더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,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설치경로 제출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(submit)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(Python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없는 경우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 진행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생성기 실행 및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디렉토리에 스타터 설치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사용법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4BB61E27-22DD-46B4-860A-EF1FC11CED9D}"/>
              </a:ext>
            </a:extLst>
          </p:cNvPr>
          <p:cNvSpPr/>
          <p:nvPr/>
        </p:nvSpPr>
        <p:spPr>
          <a:xfrm>
            <a:off x="3467100" y="1772825"/>
            <a:ext cx="270450" cy="9512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711478C-046E-4393-9F20-76A333263BDE}"/>
              </a:ext>
            </a:extLst>
          </p:cNvPr>
          <p:cNvSpPr/>
          <p:nvPr/>
        </p:nvSpPr>
        <p:spPr>
          <a:xfrm>
            <a:off x="1019175" y="3944525"/>
            <a:ext cx="270450" cy="9512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995728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멀티 에이전트 시스템 구성 ⑧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6" y="1323436"/>
            <a:ext cx="8155844" cy="4587205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24218" y="2976301"/>
            <a:ext cx="8057473" cy="191136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588993" y="2839777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8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D5881D1C-2D5F-4723-A8BF-DE003C3AF499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2" name="Shape 6">
            <a:extLst>
              <a:ext uri="{FF2B5EF4-FFF2-40B4-BE49-F238E27FC236}">
                <a16:creationId xmlns:a16="http://schemas.microsoft.com/office/drawing/2014/main" id="{F8E49602-913F-4B2F-9D81-B53C3C43FD00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멀티 에이전트 시스템 구성해줘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입력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“claude”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설치 경로 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현재 작업 폴더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,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설치경로 제출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(submit)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(Python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없는 경우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 진행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생성기 실행 및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디렉토리에 스타터 설치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사용법 확인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(1, 2, 3)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A8A8D72-19C4-43F3-AEF3-F4FCE5EB8E0B}"/>
              </a:ext>
            </a:extLst>
          </p:cNvPr>
          <p:cNvSpPr/>
          <p:nvPr/>
        </p:nvSpPr>
        <p:spPr>
          <a:xfrm>
            <a:off x="724218" y="1614043"/>
            <a:ext cx="8057473" cy="27000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235959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멀티 에이전트 시스템 구성 ⑧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6" y="1323436"/>
            <a:ext cx="8155844" cy="4587204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24218" y="1647825"/>
            <a:ext cx="8057473" cy="301942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588993" y="1512825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8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D5881D1C-2D5F-4723-A8BF-DE003C3AF499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2" name="Shape 6">
            <a:extLst>
              <a:ext uri="{FF2B5EF4-FFF2-40B4-BE49-F238E27FC236}">
                <a16:creationId xmlns:a16="http://schemas.microsoft.com/office/drawing/2014/main" id="{F8E49602-913F-4B2F-9D81-B53C3C43FD00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멀티 에이전트 시스템 구성해줘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입력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“claude”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설치 경로 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현재 작업 폴더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,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설치경로 제출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(submit)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(Python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없는 경우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 진행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생성기 실행 및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디렉토리에 스타터 설치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사용법 확인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(1, 2, 3)</a:t>
            </a:r>
          </a:p>
        </p:txBody>
      </p:sp>
    </p:spTree>
    <p:extLst>
      <p:ext uri="{BB962C8B-B14F-4D97-AF65-F5344CB8AC3E}">
        <p14:creationId xmlns:p14="http://schemas.microsoft.com/office/powerpoint/2010/main" val="3045885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멀티 에이전트 시스템 구성 ⑧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6" y="1323436"/>
            <a:ext cx="8155844" cy="4587204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24218" y="2219325"/>
            <a:ext cx="8057473" cy="256222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588993" y="2082800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8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D5881D1C-2D5F-4723-A8BF-DE003C3AF499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2" name="Shape 6">
            <a:extLst>
              <a:ext uri="{FF2B5EF4-FFF2-40B4-BE49-F238E27FC236}">
                <a16:creationId xmlns:a16="http://schemas.microsoft.com/office/drawing/2014/main" id="{F8E49602-913F-4B2F-9D81-B53C3C43FD00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멀티 에이전트 시스템 구성해줘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입력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“claude”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설치 경로 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현재 작업 폴더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,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설치경로 제출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(submit)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(Python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없는 경우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 진행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생성기 실행 및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디렉토리에 스타터 설치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사용법 확인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(1, 2, 3)</a:t>
            </a:r>
          </a:p>
        </p:txBody>
      </p:sp>
    </p:spTree>
    <p:extLst>
      <p:ext uri="{BB962C8B-B14F-4D97-AF65-F5344CB8AC3E}">
        <p14:creationId xmlns:p14="http://schemas.microsoft.com/office/powerpoint/2010/main" val="8523898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01C"/>
        </a:solidFill>
        <a:effectLst/>
      </p:bgPr>
    </p:bg>
    <p:spTree>
      <p:nvGrpSpPr>
        <p:cNvPr id="1" name="Shape 15">
          <a:extLst>
            <a:ext uri="{FF2B5EF4-FFF2-40B4-BE49-F238E27FC236}">
              <a16:creationId xmlns:a16="http://schemas.microsoft.com/office/drawing/2014/main" id="{4B924039-8F0D-9C8A-773E-DA89C5E97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>
            <a:extLst>
              <a:ext uri="{FF2B5EF4-FFF2-40B4-BE49-F238E27FC236}">
                <a16:creationId xmlns:a16="http://schemas.microsoft.com/office/drawing/2014/main" id="{F5B8AC51-8DFE-8536-E3F7-74DFC40AC94F}"/>
              </a:ext>
            </a:extLst>
          </p:cNvPr>
          <p:cNvSpPr/>
          <p:nvPr/>
        </p:nvSpPr>
        <p:spPr>
          <a:xfrm>
            <a:off x="822960" y="822960"/>
            <a:ext cx="2286000" cy="566928"/>
          </a:xfrm>
          <a:prstGeom prst="roundRect">
            <a:avLst>
              <a:gd name="adj" fmla="val 14516"/>
            </a:avLst>
          </a:prstGeom>
          <a:solidFill>
            <a:srgbClr val="2C292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3">
            <a:extLst>
              <a:ext uri="{FF2B5EF4-FFF2-40B4-BE49-F238E27FC236}">
                <a16:creationId xmlns:a16="http://schemas.microsoft.com/office/drawing/2014/main" id="{6A4E4C21-74BE-0811-33E7-57B72CBF0CAA}"/>
              </a:ext>
            </a:extLst>
          </p:cNvPr>
          <p:cNvSpPr/>
          <p:nvPr/>
        </p:nvSpPr>
        <p:spPr>
          <a:xfrm>
            <a:off x="987552" y="1060704"/>
            <a:ext cx="100584" cy="100584"/>
          </a:xfrm>
          <a:prstGeom prst="ellipse">
            <a:avLst/>
          </a:prstGeom>
          <a:solidFill>
            <a:srgbClr val="E8695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3">
            <a:extLst>
              <a:ext uri="{FF2B5EF4-FFF2-40B4-BE49-F238E27FC236}">
                <a16:creationId xmlns:a16="http://schemas.microsoft.com/office/drawing/2014/main" id="{0C3C1EE9-65AF-C361-532F-D2573F429C8A}"/>
              </a:ext>
            </a:extLst>
          </p:cNvPr>
          <p:cNvSpPr/>
          <p:nvPr/>
        </p:nvSpPr>
        <p:spPr>
          <a:xfrm>
            <a:off x="1188720" y="1060704"/>
            <a:ext cx="100584" cy="100584"/>
          </a:xfrm>
          <a:prstGeom prst="ellipse">
            <a:avLst/>
          </a:prstGeom>
          <a:solidFill>
            <a:srgbClr val="F0B95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3">
            <a:extLst>
              <a:ext uri="{FF2B5EF4-FFF2-40B4-BE49-F238E27FC236}">
                <a16:creationId xmlns:a16="http://schemas.microsoft.com/office/drawing/2014/main" id="{ED529027-769D-B975-F90C-39BC9EE19FC2}"/>
              </a:ext>
            </a:extLst>
          </p:cNvPr>
          <p:cNvSpPr/>
          <p:nvPr/>
        </p:nvSpPr>
        <p:spPr>
          <a:xfrm>
            <a:off x="1389888" y="1060704"/>
            <a:ext cx="100584" cy="100584"/>
          </a:xfrm>
          <a:prstGeom prst="ellipse">
            <a:avLst/>
          </a:prstGeom>
          <a:solidFill>
            <a:srgbClr val="8FBF6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3">
            <a:extLst>
              <a:ext uri="{FF2B5EF4-FFF2-40B4-BE49-F238E27FC236}">
                <a16:creationId xmlns:a16="http://schemas.microsoft.com/office/drawing/2014/main" id="{EDB60AA3-8EB1-3EEB-DB3A-0355D5331D5D}"/>
              </a:ext>
            </a:extLst>
          </p:cNvPr>
          <p:cNvSpPr/>
          <p:nvPr/>
        </p:nvSpPr>
        <p:spPr>
          <a:xfrm>
            <a:off x="1600200" y="822960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400"/>
              <a:buFont typeface="Courier New"/>
              <a:buNone/>
            </a:pPr>
            <a:r>
              <a:rPr lang="en-US" sz="1400" b="0" i="0" u="none" strike="noStrike" cap="none">
                <a:solidFill>
                  <a:srgbClr val="D97757"/>
                </a:solidFill>
                <a:latin typeface="Courier New"/>
                <a:ea typeface="Courier New"/>
                <a:cs typeface="Courier New"/>
                <a:sym typeface="Courier New"/>
              </a:rPr>
              <a:t>$ </a:t>
            </a:r>
            <a:r>
              <a:rPr lang="en-US" sz="1400" b="0" i="0" u="none" strike="noStrike" cap="none">
                <a:solidFill>
                  <a:srgbClr val="E8E3DB"/>
                </a:solidFill>
                <a:latin typeface="Courier New"/>
                <a:ea typeface="Courier New"/>
                <a:cs typeface="Courier New"/>
                <a:sym typeface="Courier New"/>
              </a:rPr>
              <a:t>claude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>
            <a:extLst>
              <a:ext uri="{FF2B5EF4-FFF2-40B4-BE49-F238E27FC236}">
                <a16:creationId xmlns:a16="http://schemas.microsoft.com/office/drawing/2014/main" id="{9AB5C87F-1D3C-FAC7-96F6-17D30D9EF203}"/>
              </a:ext>
            </a:extLst>
          </p:cNvPr>
          <p:cNvSpPr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indent="0">
              <a:buNone/>
            </a:pPr>
            <a:r>
              <a:rPr lang="en-US" altLang="ko-KR" sz="480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TUI  </a:t>
            </a:r>
            <a:r>
              <a:rPr lang="ko-KR" altLang="en-US" sz="480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모니터링 툴 설치</a:t>
            </a:r>
            <a:endParaRPr lang="en-US" altLang="ko-KR" sz="48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22" name="Google Shape;22;p3">
            <a:extLst>
              <a:ext uri="{FF2B5EF4-FFF2-40B4-BE49-F238E27FC236}">
                <a16:creationId xmlns:a16="http://schemas.microsoft.com/office/drawing/2014/main" id="{9386B59A-1AE6-E947-A1F7-F15291DDB97F}"/>
              </a:ext>
            </a:extLst>
          </p:cNvPr>
          <p:cNvSpPr/>
          <p:nvPr/>
        </p:nvSpPr>
        <p:spPr>
          <a:xfrm>
            <a:off x="841248" y="352044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9B2A7"/>
              </a:buClr>
              <a:buSzPts val="1700"/>
              <a:buFont typeface="Malgun Gothic"/>
              <a:buNone/>
            </a:pPr>
            <a:r>
              <a:rPr lang="en-US" sz="1700" b="0" i="0" u="none" strike="noStrike" cap="none">
                <a:solidFill>
                  <a:srgbClr val="B9B2A7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개발팀 온보딩  ·  처음 쓰는 분도 그대로 따라 하면 완료됩니다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>
            <a:extLst>
              <a:ext uri="{FF2B5EF4-FFF2-40B4-BE49-F238E27FC236}">
                <a16:creationId xmlns:a16="http://schemas.microsoft.com/office/drawing/2014/main" id="{C7F9F7D8-6F94-35E6-608A-3ACB655AA8C2}"/>
              </a:ext>
            </a:extLst>
          </p:cNvPr>
          <p:cNvSpPr/>
          <p:nvPr/>
        </p:nvSpPr>
        <p:spPr>
          <a:xfrm>
            <a:off x="841248" y="402336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A8378"/>
              </a:buClr>
              <a:buSzPts val="1300"/>
              <a:buFont typeface="Malgun Gothic"/>
              <a:buNone/>
            </a:pPr>
            <a:r>
              <a:rPr lang="en-US" sz="1300" b="0" i="0" u="none" strike="noStrike" cap="none">
                <a:solidFill>
                  <a:srgbClr val="8A8378"/>
                </a:solidFill>
                <a:latin typeface="Malgun Gothic"/>
                <a:ea typeface="Malgun Gothic"/>
                <a:cs typeface="Malgun Gothic"/>
                <a:sym typeface="Malgun Gothic"/>
              </a:rPr>
              <a:t>소요 시간 약 20~30분  ·  명령어는 모두 복사해서 붙여넣으면 됩니다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3">
            <a:extLst>
              <a:ext uri="{FF2B5EF4-FFF2-40B4-BE49-F238E27FC236}">
                <a16:creationId xmlns:a16="http://schemas.microsoft.com/office/drawing/2014/main" id="{583956C6-B4B6-580B-E408-B447094D7E91}"/>
              </a:ext>
            </a:extLst>
          </p:cNvPr>
          <p:cNvSpPr/>
          <p:nvPr/>
        </p:nvSpPr>
        <p:spPr>
          <a:xfrm>
            <a:off x="8229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5;p3">
            <a:extLst>
              <a:ext uri="{FF2B5EF4-FFF2-40B4-BE49-F238E27FC236}">
                <a16:creationId xmlns:a16="http://schemas.microsoft.com/office/drawing/2014/main" id="{0DC68737-C09F-2EFA-F5A2-998203FEC8DD}"/>
              </a:ext>
            </a:extLst>
          </p:cNvPr>
          <p:cNvSpPr/>
          <p:nvPr/>
        </p:nvSpPr>
        <p:spPr>
          <a:xfrm>
            <a:off x="9692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01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설치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3">
            <a:extLst>
              <a:ext uri="{FF2B5EF4-FFF2-40B4-BE49-F238E27FC236}">
                <a16:creationId xmlns:a16="http://schemas.microsoft.com/office/drawing/2014/main" id="{8D3F9B0C-5F96-34DB-21EF-DF68D0FFC1F5}"/>
              </a:ext>
            </a:extLst>
          </p:cNvPr>
          <p:cNvSpPr/>
          <p:nvPr/>
        </p:nvSpPr>
        <p:spPr>
          <a:xfrm>
            <a:off x="26517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3">
            <a:extLst>
              <a:ext uri="{FF2B5EF4-FFF2-40B4-BE49-F238E27FC236}">
                <a16:creationId xmlns:a16="http://schemas.microsoft.com/office/drawing/2014/main" id="{2D336683-8823-A93E-BB00-C34CC06D2E2C}"/>
              </a:ext>
            </a:extLst>
          </p:cNvPr>
          <p:cNvSpPr/>
          <p:nvPr/>
        </p:nvSpPr>
        <p:spPr>
          <a:xfrm>
            <a:off x="27980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02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실행·로그인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3">
            <a:extLst>
              <a:ext uri="{FF2B5EF4-FFF2-40B4-BE49-F238E27FC236}">
                <a16:creationId xmlns:a16="http://schemas.microsoft.com/office/drawing/2014/main" id="{882C8236-A7EE-AA31-BAD0-D30885B54132}"/>
              </a:ext>
            </a:extLst>
          </p:cNvPr>
          <p:cNvSpPr/>
          <p:nvPr/>
        </p:nvSpPr>
        <p:spPr>
          <a:xfrm>
            <a:off x="44805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3">
            <a:extLst>
              <a:ext uri="{FF2B5EF4-FFF2-40B4-BE49-F238E27FC236}">
                <a16:creationId xmlns:a16="http://schemas.microsoft.com/office/drawing/2014/main" id="{6C3ABA9E-EFF0-E3EF-9365-A6B90E52CBE1}"/>
              </a:ext>
            </a:extLst>
          </p:cNvPr>
          <p:cNvSpPr/>
          <p:nvPr/>
        </p:nvSpPr>
        <p:spPr>
          <a:xfrm>
            <a:off x="46268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03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IntelliJ 연동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3">
            <a:extLst>
              <a:ext uri="{FF2B5EF4-FFF2-40B4-BE49-F238E27FC236}">
                <a16:creationId xmlns:a16="http://schemas.microsoft.com/office/drawing/2014/main" id="{A14DF091-313F-9A23-5A89-D87C1418343D}"/>
              </a:ext>
            </a:extLst>
          </p:cNvPr>
          <p:cNvSpPr/>
          <p:nvPr/>
        </p:nvSpPr>
        <p:spPr>
          <a:xfrm>
            <a:off x="63093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3">
            <a:extLst>
              <a:ext uri="{FF2B5EF4-FFF2-40B4-BE49-F238E27FC236}">
                <a16:creationId xmlns:a16="http://schemas.microsoft.com/office/drawing/2014/main" id="{81DD48E1-49D7-639A-6550-6D275E795168}"/>
              </a:ext>
            </a:extLst>
          </p:cNvPr>
          <p:cNvSpPr/>
          <p:nvPr/>
        </p:nvSpPr>
        <p:spPr>
          <a:xfrm>
            <a:off x="64556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04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환경설정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3">
            <a:extLst>
              <a:ext uri="{FF2B5EF4-FFF2-40B4-BE49-F238E27FC236}">
                <a16:creationId xmlns:a16="http://schemas.microsoft.com/office/drawing/2014/main" id="{86165FB5-C935-6854-FB0F-AB03D61FE9ED}"/>
              </a:ext>
            </a:extLst>
          </p:cNvPr>
          <p:cNvSpPr/>
          <p:nvPr/>
        </p:nvSpPr>
        <p:spPr>
          <a:xfrm>
            <a:off x="81381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3">
            <a:extLst>
              <a:ext uri="{FF2B5EF4-FFF2-40B4-BE49-F238E27FC236}">
                <a16:creationId xmlns:a16="http://schemas.microsoft.com/office/drawing/2014/main" id="{EC37A6B2-5E7C-EEEC-34BA-869E807A4332}"/>
              </a:ext>
            </a:extLst>
          </p:cNvPr>
          <p:cNvSpPr/>
          <p:nvPr/>
        </p:nvSpPr>
        <p:spPr>
          <a:xfrm>
            <a:off x="82844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05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설정 확인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3">
            <a:extLst>
              <a:ext uri="{FF2B5EF4-FFF2-40B4-BE49-F238E27FC236}">
                <a16:creationId xmlns:a16="http://schemas.microsoft.com/office/drawing/2014/main" id="{FCF5AF26-E715-5A61-F8F6-4B2E922E90D5}"/>
              </a:ext>
            </a:extLst>
          </p:cNvPr>
          <p:cNvSpPr/>
          <p:nvPr/>
        </p:nvSpPr>
        <p:spPr>
          <a:xfrm>
            <a:off x="99669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3">
            <a:extLst>
              <a:ext uri="{FF2B5EF4-FFF2-40B4-BE49-F238E27FC236}">
                <a16:creationId xmlns:a16="http://schemas.microsoft.com/office/drawing/2014/main" id="{9CC60AA6-6241-BAD4-F2F6-9348AE7EB1F5}"/>
              </a:ext>
            </a:extLst>
          </p:cNvPr>
          <p:cNvSpPr/>
          <p:nvPr/>
        </p:nvSpPr>
        <p:spPr>
          <a:xfrm>
            <a:off x="101132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06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테스트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1967394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MAT(</a:t>
            </a:r>
            <a:r>
              <a:rPr lang="ko-KR" altLang="en-US" dirty="0"/>
              <a:t>모니터링</a:t>
            </a:r>
            <a:r>
              <a:rPr lang="en-US" altLang="ko-KR" dirty="0"/>
              <a:t>) </a:t>
            </a:r>
            <a:r>
              <a:rPr lang="ko-KR" altLang="en-US" dirty="0"/>
              <a:t>설치</a:t>
            </a:r>
            <a:r>
              <a:rPr lang="en-US" altLang="ko-KR" dirty="0"/>
              <a:t> </a:t>
            </a:r>
            <a:r>
              <a:rPr lang="en-US" altLang="ko-KR" sz="2000" dirty="0"/>
              <a:t>(MAC)</a:t>
            </a:r>
            <a:r>
              <a:rPr lang="ko-KR" altLang="en-US" sz="2000" dirty="0"/>
              <a:t> </a:t>
            </a:r>
            <a:r>
              <a:rPr lang="ko-KR" altLang="en-US" dirty="0"/>
              <a:t>①</a:t>
            </a:r>
            <a:endParaRPr lang="en-US" altLang="ko-KR" dirty="0"/>
          </a:p>
        </p:txBody>
      </p:sp>
      <p:sp>
        <p:nvSpPr>
          <p:cNvPr id="35" name="Shape 6">
            <a:extLst>
              <a:ext uri="{FF2B5EF4-FFF2-40B4-BE49-F238E27FC236}">
                <a16:creationId xmlns:a16="http://schemas.microsoft.com/office/drawing/2014/main" id="{C0596C7C-7ABE-4399-AEB6-6602BB68A4A7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 명령어 실행</a:t>
            </a:r>
            <a:b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</a:b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brew install </a:t>
            </a:r>
            <a:r>
              <a:rPr lang="en-US" altLang="ko-KR" sz="120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netwaif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/tab/mat</a:t>
            </a: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→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모니터링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및 실행 ⑤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     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모니터링 할 디렉토리 설정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</a:t>
            </a: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→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모니터링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및 실행 ⑥ 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     (mat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시작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ko-KR" altLang="en-US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D5881D1C-2D5F-4723-A8BF-DE003C3AF499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EBE377A-8B74-BE06-02DE-66FFAC22438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76909" y="1417482"/>
            <a:ext cx="7391400" cy="4399116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276D8283-90CF-4DBA-B3FD-BF600B82B445}"/>
              </a:ext>
            </a:extLst>
          </p:cNvPr>
          <p:cNvSpPr/>
          <p:nvPr/>
        </p:nvSpPr>
        <p:spPr>
          <a:xfrm>
            <a:off x="1141340" y="1932033"/>
            <a:ext cx="4249810" cy="17059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1006115" y="1775019"/>
            <a:ext cx="374784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1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222743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24912-9452-E591-4BFB-A1120DFE2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>
            <a:extLst>
              <a:ext uri="{FF2B5EF4-FFF2-40B4-BE49-F238E27FC236}">
                <a16:creationId xmlns:a16="http://schemas.microsoft.com/office/drawing/2014/main" id="{DDC58EA2-7DA6-D222-4DDA-1918F7DAF643}"/>
              </a:ext>
            </a:extLst>
          </p:cNvPr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6A52A466-0828-4F9B-275E-2C32E868CDBC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MAT(</a:t>
            </a:r>
            <a:r>
              <a:rPr lang="ko-KR" altLang="en-US" dirty="0"/>
              <a:t>모니터링</a:t>
            </a:r>
            <a:r>
              <a:rPr lang="en-US" altLang="ko-KR" dirty="0"/>
              <a:t>) </a:t>
            </a:r>
            <a:r>
              <a:rPr lang="ko-KR" altLang="en-US" dirty="0"/>
              <a:t>설치</a:t>
            </a:r>
            <a:r>
              <a:rPr lang="en-US" altLang="ko-KR" dirty="0"/>
              <a:t> </a:t>
            </a:r>
            <a:r>
              <a:rPr lang="ko-KR" altLang="en-US" dirty="0"/>
              <a:t>및 실행 </a:t>
            </a:r>
            <a:r>
              <a:rPr lang="en-US" altLang="ko-KR" sz="2000" dirty="0"/>
              <a:t>(Windows) </a:t>
            </a:r>
            <a:r>
              <a:rPr lang="ko-KR" altLang="en-US" dirty="0"/>
              <a:t>①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373D92C6-005D-D625-C00D-19692DFC37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3" y="1323436"/>
            <a:ext cx="8155850" cy="4587207"/>
          </a:xfrm>
          <a:prstGeom prst="rect">
            <a:avLst/>
          </a:prstGeom>
        </p:spPr>
      </p:pic>
      <p:sp>
        <p:nvSpPr>
          <p:cNvPr id="35" name="Shape 6">
            <a:extLst>
              <a:ext uri="{FF2B5EF4-FFF2-40B4-BE49-F238E27FC236}">
                <a16:creationId xmlns:a16="http://schemas.microsoft.com/office/drawing/2014/main" id="{EA5DB426-305D-1B32-46BA-7E27312C2F95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pPr marL="228600" indent="-228600">
              <a:buAutoNum type="circleNumDbPlain"/>
            </a:pP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GoLang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설치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(winget install GoLang.Go)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repository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이동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작업 폴더로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git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클론</a:t>
            </a:r>
            <a:b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</a:b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 git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clone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https://github.com/netwaif/mat.git)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빌드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 go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build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–o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mat.exe)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mat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실행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– env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설정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실행 화면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(task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0)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06AD8F58-F7BB-5F2E-04CD-74E6F382DE70}"/>
              </a:ext>
            </a:extLst>
          </p:cNvPr>
          <p:cNvSpPr/>
          <p:nvPr/>
        </p:nvSpPr>
        <p:spPr>
          <a:xfrm>
            <a:off x="1866901" y="3876675"/>
            <a:ext cx="2914650" cy="116204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6F630A74-80F3-5837-CADE-398534FEE6E8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E43F1C6-29D9-C00B-28DD-7A138C5F4782}"/>
              </a:ext>
            </a:extLst>
          </p:cNvPr>
          <p:cNvSpPr/>
          <p:nvPr/>
        </p:nvSpPr>
        <p:spPr>
          <a:xfrm>
            <a:off x="724219" y="2376533"/>
            <a:ext cx="3066732" cy="17059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384EBEC8-6CEB-CB5E-4FE7-6212A20DB61D}"/>
              </a:ext>
            </a:extLst>
          </p:cNvPr>
          <p:cNvSpPr/>
          <p:nvPr/>
        </p:nvSpPr>
        <p:spPr>
          <a:xfrm>
            <a:off x="588994" y="2219519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1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7978591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MAT(</a:t>
            </a:r>
            <a:r>
              <a:rPr lang="ko-KR" altLang="en-US" dirty="0"/>
              <a:t>모니터링</a:t>
            </a:r>
            <a:r>
              <a:rPr lang="en-US" altLang="ko-KR" dirty="0"/>
              <a:t>) </a:t>
            </a:r>
            <a:r>
              <a:rPr lang="ko-KR" altLang="en-US" dirty="0"/>
              <a:t>설치</a:t>
            </a:r>
            <a:r>
              <a:rPr lang="en-US" altLang="ko-KR" dirty="0"/>
              <a:t> </a:t>
            </a:r>
            <a:r>
              <a:rPr lang="ko-KR" altLang="en-US" dirty="0"/>
              <a:t>및 실행 </a:t>
            </a:r>
            <a:r>
              <a:rPr lang="en-US" altLang="ko-KR" sz="2000" dirty="0"/>
              <a:t>(Windows) </a:t>
            </a:r>
            <a:r>
              <a:rPr lang="ko-KR" altLang="en-US" dirty="0"/>
              <a:t>②③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6" y="1323436"/>
            <a:ext cx="8155843" cy="4587204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24218" y="1628775"/>
            <a:ext cx="8057473" cy="248602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588993" y="1493775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2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D5881D1C-2D5F-4723-A8BF-DE003C3AF499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AF54D258-C716-4834-98D3-E8955A32C8D4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pPr marL="228600" indent="-228600">
              <a:buAutoNum type="circleNumDbPlain"/>
            </a:pP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GoLang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설치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(winget install GoLang.Go)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repository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이동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작업 폴더로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git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클론</a:t>
            </a:r>
            <a:b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</a:b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 git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clone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https://github.com/netwaif/mat.git)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빌드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 go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build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–o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</a:t>
            </a:r>
            <a:r>
              <a:rPr lang="en-US" altLang="ko-KR" sz="120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.exe . )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mat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실행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– env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설정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실행 화면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(task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0)</a:t>
            </a: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1E8B8F52-026F-46B8-AB60-00086A9EF2B2}"/>
              </a:ext>
            </a:extLst>
          </p:cNvPr>
          <p:cNvSpPr/>
          <p:nvPr/>
        </p:nvSpPr>
        <p:spPr>
          <a:xfrm>
            <a:off x="588993" y="1759555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3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707671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MAT(</a:t>
            </a:r>
            <a:r>
              <a:rPr lang="ko-KR" altLang="en-US" dirty="0"/>
              <a:t>모니터링</a:t>
            </a:r>
            <a:r>
              <a:rPr lang="en-US" altLang="ko-KR" dirty="0"/>
              <a:t>) </a:t>
            </a:r>
            <a:r>
              <a:rPr lang="ko-KR" altLang="en-US" dirty="0"/>
              <a:t>설치</a:t>
            </a:r>
            <a:r>
              <a:rPr lang="en-US" altLang="ko-KR" dirty="0"/>
              <a:t> </a:t>
            </a:r>
            <a:r>
              <a:rPr lang="ko-KR" altLang="en-US" dirty="0"/>
              <a:t>및 실행 </a:t>
            </a:r>
            <a:r>
              <a:rPr lang="en-US" altLang="ko-KR" sz="2000" dirty="0"/>
              <a:t>(Windows) </a:t>
            </a:r>
            <a:r>
              <a:rPr lang="ko-KR" altLang="en-US" dirty="0"/>
              <a:t>④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6" y="1323436"/>
            <a:ext cx="8155843" cy="4587203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24218" y="3200400"/>
            <a:ext cx="8057473" cy="251460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588993" y="3065400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4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D5881D1C-2D5F-4723-A8BF-DE003C3AF499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AF54D258-C716-4834-98D3-E8955A32C8D4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pPr marL="228600" indent="-228600">
              <a:buAutoNum type="circleNumDbPlain"/>
            </a:pP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GoLang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설치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(winget install GoLang.Go)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repository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이동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작업 폴더로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git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클론</a:t>
            </a:r>
            <a:b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</a:b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 git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clone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https://github.com/netwaif/mat.git)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빌드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 go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build</a:t>
            </a:r>
            <a:r>
              <a:rPr lang="ko-KR" altLang="en-US" sz="120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-</a:t>
            </a:r>
            <a:r>
              <a:rPr lang="en-US" altLang="ko-KR" sz="120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o</a:t>
            </a:r>
            <a:r>
              <a:rPr lang="ko-KR" altLang="en-US" sz="120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mat.</a:t>
            </a:r>
            <a:r>
              <a:rPr lang="en-US" altLang="ko-KR" sz="120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exe</a:t>
            </a:r>
            <a:r>
              <a:rPr lang="ko-KR" altLang="en-US" sz="120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　． </a:t>
            </a:r>
            <a:r>
              <a:rPr lang="en-US" altLang="ko-KR" sz="120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윈도우에서 오류시 </a:t>
            </a:r>
            <a:endParaRPr lang="en-US" altLang="ko-KR" sz="120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20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$env:Path += ";C:\Program Files\Go\bin;$env:USERPROFILE\go\bin“ </a:t>
            </a:r>
            <a:r>
              <a:rPr lang="ko-KR" altLang="en-US" sz="120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실행</a:t>
            </a:r>
            <a:endParaRPr lang="en-US" altLang="ko-KR" sz="120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mat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실행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– env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설정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실행 화면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(task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0)</a:t>
            </a:r>
          </a:p>
        </p:txBody>
      </p:sp>
    </p:spTree>
    <p:extLst>
      <p:ext uri="{BB962C8B-B14F-4D97-AF65-F5344CB8AC3E}">
        <p14:creationId xmlns:p14="http://schemas.microsoft.com/office/powerpoint/2010/main" val="386114358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906162-9444-F117-A44A-EAF9C6BAF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>
            <a:extLst>
              <a:ext uri="{FF2B5EF4-FFF2-40B4-BE49-F238E27FC236}">
                <a16:creationId xmlns:a16="http://schemas.microsoft.com/office/drawing/2014/main" id="{907C0E31-AD18-C975-A19F-E24C4A8CD4BE}"/>
              </a:ext>
            </a:extLst>
          </p:cNvPr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09FB3C09-086A-215B-60EE-CCDB68D350D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MAT(</a:t>
            </a:r>
            <a:r>
              <a:rPr lang="ko-KR" altLang="en-US" dirty="0"/>
              <a:t>모니터링</a:t>
            </a:r>
            <a:r>
              <a:rPr lang="en-US" altLang="ko-KR" dirty="0"/>
              <a:t>) </a:t>
            </a:r>
            <a:r>
              <a:rPr lang="ko-KR" altLang="en-US" dirty="0"/>
              <a:t>설치</a:t>
            </a:r>
            <a:r>
              <a:rPr lang="en-US" altLang="ko-KR" dirty="0"/>
              <a:t> </a:t>
            </a:r>
            <a:r>
              <a:rPr lang="ko-KR" altLang="en-US" dirty="0"/>
              <a:t>및 실행 ⑤⑥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370CD82A-EDB5-12FA-424D-81B0714CEA4F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94687" y="1323436"/>
            <a:ext cx="8155842" cy="801583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5DB331B2-6FAE-3485-E4E0-3762BE522FA3}"/>
              </a:ext>
            </a:extLst>
          </p:cNvPr>
          <p:cNvSpPr/>
          <p:nvPr/>
        </p:nvSpPr>
        <p:spPr>
          <a:xfrm>
            <a:off x="724218" y="1628777"/>
            <a:ext cx="8057473" cy="30533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A2D5D406-00C0-2DA9-26AA-3851BC921CA0}"/>
              </a:ext>
            </a:extLst>
          </p:cNvPr>
          <p:cNvSpPr/>
          <p:nvPr/>
        </p:nvSpPr>
        <p:spPr>
          <a:xfrm>
            <a:off x="588993" y="1493775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5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CCE460F5-6055-61DF-C5A0-5AEC032BA555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5A842F97-31A7-34A1-3A13-7B9C679994E3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pPr marL="228600" indent="-228600">
              <a:buAutoNum type="circleNumDbPlain"/>
            </a:pP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GoLang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설치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(winget install GoLang.Go)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repository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이동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작업 폴더로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git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클론</a:t>
            </a:r>
            <a:b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</a:b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 git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clone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https://github.com/netwaif/mat.git)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빌드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 go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build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–o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</a:t>
            </a:r>
            <a:r>
              <a:rPr lang="en-US" altLang="ko-KR" sz="120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.exe . )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mat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실행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– env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설정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실행 화면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(task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0)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FD50B77D-0CA0-3F27-17EF-72E31A18350A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94687" y="2214120"/>
            <a:ext cx="8155842" cy="801582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AD4DE1A3-AA59-9144-1506-67F489D32D09}"/>
              </a:ext>
            </a:extLst>
          </p:cNvPr>
          <p:cNvSpPr/>
          <p:nvPr/>
        </p:nvSpPr>
        <p:spPr>
          <a:xfrm>
            <a:off x="724218" y="2710363"/>
            <a:ext cx="8057473" cy="30533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4C50066C-BF70-FECD-0F05-A73E4EEC6EEC}"/>
              </a:ext>
            </a:extLst>
          </p:cNvPr>
          <p:cNvSpPr/>
          <p:nvPr/>
        </p:nvSpPr>
        <p:spPr>
          <a:xfrm>
            <a:off x="571546" y="2584541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6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CA9B1D59-B72E-9245-84BE-C71F090A3CB1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94687" y="3104803"/>
            <a:ext cx="8155842" cy="2888186"/>
          </a:xfrm>
          <a:prstGeom prst="rect">
            <a:avLst/>
          </a:prstGeom>
        </p:spPr>
      </p:pic>
      <p:sp>
        <p:nvSpPr>
          <p:cNvPr id="25" name="직사각형 24">
            <a:extLst>
              <a:ext uri="{FF2B5EF4-FFF2-40B4-BE49-F238E27FC236}">
                <a16:creationId xmlns:a16="http://schemas.microsoft.com/office/drawing/2014/main" id="{401AF637-8B61-4BC0-5730-226D51FCE4E9}"/>
              </a:ext>
            </a:extLst>
          </p:cNvPr>
          <p:cNvSpPr/>
          <p:nvPr/>
        </p:nvSpPr>
        <p:spPr>
          <a:xfrm>
            <a:off x="724218" y="3475223"/>
            <a:ext cx="8057473" cy="251776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20EEDC69-4EA9-C3CE-2367-683C2DE8C58E}"/>
              </a:ext>
            </a:extLst>
          </p:cNvPr>
          <p:cNvSpPr/>
          <p:nvPr/>
        </p:nvSpPr>
        <p:spPr>
          <a:xfrm>
            <a:off x="571546" y="3349402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6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991602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153C66-1EBA-4BE4-43CC-C54D526D4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내용 개체 틀 31">
            <a:extLst>
              <a:ext uri="{FF2B5EF4-FFF2-40B4-BE49-F238E27FC236}">
                <a16:creationId xmlns:a16="http://schemas.microsoft.com/office/drawing/2014/main" id="{6CF62894-C25B-A8DB-4D5F-9C92063775E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09360" y="193231"/>
            <a:ext cx="10944225" cy="458787"/>
          </a:xfrm>
        </p:spPr>
        <p:txBody>
          <a:bodyPr/>
          <a:lstStyle/>
          <a:p>
            <a:r>
              <a:rPr lang="ko-KR" altLang="en-US"/>
              <a:t>모니터링</a:t>
            </a:r>
            <a:r>
              <a:rPr lang="en-US" altLang="ko-KR"/>
              <a:t> </a:t>
            </a:r>
            <a:r>
              <a:rPr lang="ko-KR" altLang="en-US"/>
              <a:t>설치</a:t>
            </a:r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E6922FF-8796-796F-F1B9-65B5E6F5D6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6532" y="714819"/>
            <a:ext cx="8304764" cy="59499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E1B0811-4601-3E3E-7994-33BA0EA2494B}"/>
              </a:ext>
            </a:extLst>
          </p:cNvPr>
          <p:cNvSpPr txBox="1"/>
          <p:nvPr/>
        </p:nvSpPr>
        <p:spPr>
          <a:xfrm>
            <a:off x="209360" y="714819"/>
            <a:ext cx="2765488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/>
              <a:t>36</a:t>
            </a:r>
            <a:r>
              <a:rPr lang="ko-KR" altLang="en-US"/>
              <a:t>페이지</a:t>
            </a:r>
            <a:r>
              <a:rPr lang="en-US" altLang="ko-KR"/>
              <a:t>~40</a:t>
            </a:r>
            <a:r>
              <a:rPr lang="ko-KR" altLang="en-US"/>
              <a:t>페이지를 건너뛰고</a:t>
            </a:r>
            <a:endParaRPr lang="en-US" altLang="ko-KR"/>
          </a:p>
          <a:p>
            <a:endParaRPr lang="en-US" altLang="ko-KR"/>
          </a:p>
          <a:p>
            <a:r>
              <a:rPr lang="ko-KR" altLang="en-US">
                <a:hlinkClick r:id="rId4"/>
              </a:rPr>
              <a:t>https://github.com/313DEVGRP/Java-Service-Tree-Framework</a:t>
            </a:r>
            <a:endParaRPr lang="en-US" altLang="ko-KR"/>
          </a:p>
          <a:p>
            <a:endParaRPr lang="en-US" altLang="ko-KR"/>
          </a:p>
          <a:p>
            <a:r>
              <a:rPr lang="ko-KR" altLang="en-US"/>
              <a:t>이 프로젝트를 로드했다면</a:t>
            </a:r>
            <a:br>
              <a:rPr lang="en-US" altLang="ko-KR"/>
            </a:br>
            <a:br>
              <a:rPr lang="en-US" altLang="ko-KR"/>
            </a:br>
            <a:r>
              <a:rPr lang="ko-KR" altLang="en-US"/>
              <a:t>터미널을 열어서</a:t>
            </a:r>
            <a:endParaRPr lang="en-US" altLang="ko-KR"/>
          </a:p>
          <a:p>
            <a:r>
              <a:rPr lang="en-US" altLang="ko-KR"/>
              <a:t>/monitoring </a:t>
            </a:r>
            <a:r>
              <a:rPr lang="ko-KR" altLang="en-US"/>
              <a:t>으로 이동</a:t>
            </a:r>
            <a:endParaRPr lang="en-US" altLang="ko-KR"/>
          </a:p>
          <a:p>
            <a:endParaRPr lang="en-US" altLang="ko-KR"/>
          </a:p>
          <a:p>
            <a:r>
              <a:rPr lang="en-US" altLang="ko-KR"/>
              <a:t>④ mat </a:t>
            </a:r>
            <a:r>
              <a:rPr lang="ko-KR" altLang="en-US"/>
              <a:t>빌드</a:t>
            </a:r>
          </a:p>
          <a:p>
            <a:r>
              <a:rPr lang="en-US" altLang="ko-KR"/>
              <a:t>( go build –o mat.exe . )</a:t>
            </a:r>
          </a:p>
          <a:p>
            <a:endParaRPr lang="en-US" altLang="ko-KR"/>
          </a:p>
          <a:p>
            <a:r>
              <a:rPr lang="en-US" altLang="ko-KR"/>
              <a:t>⑤ mat </a:t>
            </a:r>
            <a:r>
              <a:rPr lang="ko-KR" altLang="en-US"/>
              <a:t>실행 </a:t>
            </a:r>
            <a:r>
              <a:rPr lang="en-US" altLang="ko-KR"/>
              <a:t>– env </a:t>
            </a:r>
            <a:r>
              <a:rPr lang="ko-KR" altLang="en-US"/>
              <a:t>설정</a:t>
            </a:r>
          </a:p>
          <a:p>
            <a:endParaRPr lang="ko-KR" altLang="en-US"/>
          </a:p>
          <a:p>
            <a:r>
              <a:rPr lang="ko-KR" altLang="en-US"/>
              <a:t>⑥ </a:t>
            </a:r>
            <a:r>
              <a:rPr lang="en-US" altLang="ko-KR"/>
              <a:t>mat </a:t>
            </a:r>
            <a:r>
              <a:rPr lang="ko-KR" altLang="en-US"/>
              <a:t>실행 화면 </a:t>
            </a:r>
            <a:r>
              <a:rPr lang="en-US" altLang="ko-KR"/>
              <a:t>(.\mat.exe)</a:t>
            </a:r>
          </a:p>
          <a:p>
            <a:br>
              <a:rPr lang="en-US" altLang="ko-KR"/>
            </a:br>
            <a:r>
              <a:rPr lang="ko-KR" altLang="en-US"/>
              <a:t>실행</a:t>
            </a: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92083608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624780-6739-689A-3709-23A7ECFA8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내용 개체 틀 31">
            <a:extLst>
              <a:ext uri="{FF2B5EF4-FFF2-40B4-BE49-F238E27FC236}">
                <a16:creationId xmlns:a16="http://schemas.microsoft.com/office/drawing/2014/main" id="{2D6BC927-8303-8838-6D40-2ADF2B2881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09360" y="193231"/>
            <a:ext cx="10944225" cy="458787"/>
          </a:xfrm>
        </p:spPr>
        <p:txBody>
          <a:bodyPr/>
          <a:lstStyle/>
          <a:p>
            <a:r>
              <a:rPr lang="ko-KR" altLang="en-US"/>
              <a:t>클로드</a:t>
            </a:r>
            <a:r>
              <a:rPr lang="en-US" altLang="ko-KR"/>
              <a:t> </a:t>
            </a:r>
            <a:r>
              <a:rPr lang="ko-KR" altLang="en-US"/>
              <a:t>실행</a:t>
            </a:r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FE57525-B086-A65F-80D8-C5056F3C982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796532" y="714819"/>
            <a:ext cx="8304764" cy="5949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311285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7B1C5-8DB2-FFE1-8F8E-A418C915A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내용 개체 틀 31">
            <a:extLst>
              <a:ext uri="{FF2B5EF4-FFF2-40B4-BE49-F238E27FC236}">
                <a16:creationId xmlns:a16="http://schemas.microsoft.com/office/drawing/2014/main" id="{72914F43-0961-10F0-A97B-3E8C5E854CA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09360" y="193231"/>
            <a:ext cx="10944225" cy="458787"/>
          </a:xfrm>
        </p:spPr>
        <p:txBody>
          <a:bodyPr/>
          <a:lstStyle/>
          <a:p>
            <a:r>
              <a:rPr lang="ko-KR" altLang="en-US"/>
              <a:t>멀티에이전트와 서브에이전트의 설정 확인</a:t>
            </a:r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97BB690-9F97-E620-8E52-7CC4D372C7F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796533" y="714819"/>
            <a:ext cx="8304762" cy="5949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65781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0660CE-E740-749E-C469-CB9F8D145A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내용 개체 틀 31">
            <a:extLst>
              <a:ext uri="{FF2B5EF4-FFF2-40B4-BE49-F238E27FC236}">
                <a16:creationId xmlns:a16="http://schemas.microsoft.com/office/drawing/2014/main" id="{31FB1D91-29B9-0FC6-AC88-04B88E52575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09360" y="193231"/>
            <a:ext cx="10944225" cy="458787"/>
          </a:xfrm>
        </p:spPr>
        <p:txBody>
          <a:bodyPr/>
          <a:lstStyle/>
          <a:p>
            <a:r>
              <a:rPr lang="ko-KR" altLang="en-US"/>
              <a:t>오케스트레이션에서 </a:t>
            </a:r>
            <a:r>
              <a:rPr lang="en-US" altLang="ko-KR"/>
              <a:t>MSA </a:t>
            </a:r>
            <a:r>
              <a:rPr lang="ko-KR" altLang="en-US"/>
              <a:t>프로젝트를 로드</a:t>
            </a:r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2FD9457-C679-03F3-29E0-0A6FA3A6468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796533" y="714819"/>
            <a:ext cx="8304762" cy="5949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504575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C8908-6112-CC29-BF42-7ABAC1FBF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내용 개체 틀 31">
            <a:extLst>
              <a:ext uri="{FF2B5EF4-FFF2-40B4-BE49-F238E27FC236}">
                <a16:creationId xmlns:a16="http://schemas.microsoft.com/office/drawing/2014/main" id="{4EA1AC91-AE51-E1E3-5ECB-E883E6E9E90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09360" y="193231"/>
            <a:ext cx="10944225" cy="458787"/>
          </a:xfrm>
        </p:spPr>
        <p:txBody>
          <a:bodyPr/>
          <a:lstStyle/>
          <a:p>
            <a:r>
              <a:rPr lang="en-US" altLang="ko-KR"/>
              <a:t>MSA</a:t>
            </a:r>
            <a:r>
              <a:rPr lang="ko-KR" altLang="en-US"/>
              <a:t> 구조에서 인공지능을 활용한 개발 방식</a:t>
            </a:r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189F858-471A-AE7E-B246-0BE4630A965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796533" y="714819"/>
            <a:ext cx="8304761" cy="5949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87542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109F9-D498-4EAD-17A5-2F9F34802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내용 개체 틀 31">
            <a:extLst>
              <a:ext uri="{FF2B5EF4-FFF2-40B4-BE49-F238E27FC236}">
                <a16:creationId xmlns:a16="http://schemas.microsoft.com/office/drawing/2014/main" id="{69FAFBDA-DBDE-C8FD-06CD-E43EC6BB3F5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09360" y="193231"/>
            <a:ext cx="10944225" cy="458787"/>
          </a:xfrm>
        </p:spPr>
        <p:txBody>
          <a:bodyPr/>
          <a:lstStyle/>
          <a:p>
            <a:r>
              <a:rPr lang="ko-KR" altLang="en-US"/>
              <a:t>모니터링 할 테스크 선택</a:t>
            </a:r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EA03644-F837-B0AC-C66F-8C4670F384A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796533" y="714819"/>
            <a:ext cx="8304761" cy="59499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465567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6D3634-D7A8-7D67-E9A9-97D0B208A1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내용 개체 틀 31">
            <a:extLst>
              <a:ext uri="{FF2B5EF4-FFF2-40B4-BE49-F238E27FC236}">
                <a16:creationId xmlns:a16="http://schemas.microsoft.com/office/drawing/2014/main" id="{12C20B68-4FA7-E462-9620-D2D6F5DC2BC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09360" y="193231"/>
            <a:ext cx="10944225" cy="458787"/>
          </a:xfrm>
        </p:spPr>
        <p:txBody>
          <a:bodyPr/>
          <a:lstStyle/>
          <a:p>
            <a:r>
              <a:rPr lang="ko-KR" altLang="en-US"/>
              <a:t>에이전트 모니터링</a:t>
            </a:r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C4BE3E1-39B0-0F53-F5FD-E1A25D88F2C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796534" y="714819"/>
            <a:ext cx="8304759" cy="59499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61398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66</TotalTime>
  <Words>3873</Words>
  <Application>Microsoft Office PowerPoint</Application>
  <PresentationFormat>와이드스크린</PresentationFormat>
  <Paragraphs>793</Paragraphs>
  <Slides>47</Slides>
  <Notes>47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47</vt:i4>
      </vt:variant>
    </vt:vector>
  </HeadingPairs>
  <TitlesOfParts>
    <vt:vector size="54" baseType="lpstr">
      <vt:lpstr>Malgun Gothic</vt:lpstr>
      <vt:lpstr>프리젠테이션 5 Medium</vt:lpstr>
      <vt:lpstr>프리젠테이션 6 SemiBold</vt:lpstr>
      <vt:lpstr>Arial</vt:lpstr>
      <vt:lpstr>Calibri</vt:lpstr>
      <vt:lpstr>Courier New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이동민</dc:creator>
  <cp:lastModifiedBy>동민 이</cp:lastModifiedBy>
  <cp:revision>14</cp:revision>
  <dcterms:modified xsi:type="dcterms:W3CDTF">2026-07-28T08:18:23Z</dcterms:modified>
</cp:coreProperties>
</file>