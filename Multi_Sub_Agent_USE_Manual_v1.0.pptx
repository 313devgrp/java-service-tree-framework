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5" r:id="rId58"/>
    <p:sldId id="316" r:id="rId59"/>
    <p:sldId id="317" r:id="rId60"/>
  </p:sldIdLst>
  <p:sldSz cx="12192000" cy="6858000"/>
  <p:notesSz cx="6858000" cy="12192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BB7000-7E5D-4861-8A70-453C088CC5EF}" v="1" dt="2026-08-10T14:32:23.695"/>
    <p1510:client id="{7E379016-7FEC-4BAC-A0F2-78C98E6A6E9F}" v="1" dt="2026-08-10T14:36:10.938"/>
    <p1510:client id="{F5F6A846-5839-4731-AEF0-4DA2719BD039}" v="5" dt="2026-08-10T14:30:31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seok Lee" userId="48b51895e27a09ef" providerId="Windows Live" clId="Web-{F5F6A846-5839-4731-AEF0-4DA2719BD039}"/>
    <pc:docChg chg="addSld delSld">
      <pc:chgData name="Boseok Lee" userId="48b51895e27a09ef" providerId="Windows Live" clId="Web-{F5F6A846-5839-4731-AEF0-4DA2719BD039}" dt="2026-08-10T14:30:31.432" v="4"/>
      <pc:docMkLst>
        <pc:docMk/>
      </pc:docMkLst>
      <pc:sldChg chg="del">
        <pc:chgData name="Boseok Lee" userId="48b51895e27a09ef" providerId="Windows Live" clId="Web-{F5F6A846-5839-4731-AEF0-4DA2719BD039}" dt="2026-08-10T14:30:31.432" v="4"/>
        <pc:sldMkLst>
          <pc:docMk/>
          <pc:sldMk cId="1960102021" sldId="310"/>
        </pc:sldMkLst>
      </pc:sldChg>
      <pc:sldChg chg="add">
        <pc:chgData name="Boseok Lee" userId="48b51895e27a09ef" providerId="Windows Live" clId="Web-{F5F6A846-5839-4731-AEF0-4DA2719BD039}" dt="2026-08-10T14:30:27.729" v="0"/>
        <pc:sldMkLst>
          <pc:docMk/>
          <pc:sldMk cId="650951930" sldId="311"/>
        </pc:sldMkLst>
      </pc:sldChg>
      <pc:sldChg chg="add">
        <pc:chgData name="Boseok Lee" userId="48b51895e27a09ef" providerId="Windows Live" clId="Web-{F5F6A846-5839-4731-AEF0-4DA2719BD039}" dt="2026-08-10T14:30:27.823" v="1"/>
        <pc:sldMkLst>
          <pc:docMk/>
          <pc:sldMk cId="982058428" sldId="315"/>
        </pc:sldMkLst>
      </pc:sldChg>
      <pc:sldChg chg="add">
        <pc:chgData name="Boseok Lee" userId="48b51895e27a09ef" providerId="Windows Live" clId="Web-{F5F6A846-5839-4731-AEF0-4DA2719BD039}" dt="2026-08-10T14:30:28.026" v="2"/>
        <pc:sldMkLst>
          <pc:docMk/>
          <pc:sldMk cId="2188749268" sldId="316"/>
        </pc:sldMkLst>
      </pc:sldChg>
      <pc:sldChg chg="add">
        <pc:chgData name="Boseok Lee" userId="48b51895e27a09ef" providerId="Windows Live" clId="Web-{F5F6A846-5839-4731-AEF0-4DA2719BD039}" dt="2026-08-10T14:30:28.119" v="3"/>
        <pc:sldMkLst>
          <pc:docMk/>
          <pc:sldMk cId="3321578288" sldId="317"/>
        </pc:sldMkLst>
      </pc:sldChg>
    </pc:docChg>
  </pc:docChgLst>
  <pc:docChgLst>
    <pc:chgData name="Boseok Lee" userId="48b51895e27a09ef" providerId="Windows Live" clId="Web-{7E379016-7FEC-4BAC-A0F2-78C98E6A6E9F}"/>
    <pc:docChg chg="addSld">
      <pc:chgData name="Boseok Lee" userId="48b51895e27a09ef" providerId="Windows Live" clId="Web-{7E379016-7FEC-4BAC-A0F2-78C98E6A6E9F}" dt="2026-08-10T14:36:10.938" v="0"/>
      <pc:docMkLst>
        <pc:docMk/>
      </pc:docMkLst>
      <pc:sldChg chg="add">
        <pc:chgData name="Boseok Lee" userId="48b51895e27a09ef" providerId="Windows Live" clId="Web-{7E379016-7FEC-4BAC-A0F2-78C98E6A6E9F}" dt="2026-08-10T14:36:10.938" v="0"/>
        <pc:sldMkLst>
          <pc:docMk/>
          <pc:sldMk cId="1960102021" sldId="310"/>
        </pc:sldMkLst>
      </pc:sldChg>
    </pc:docChg>
  </pc:docChgLst>
  <pc:docChgLst>
    <pc:chgData name="Boseok Lee" userId="48b51895e27a09ef" providerId="Windows Live" clId="Web-{53BB7000-7E5D-4861-8A70-453C088CC5EF}"/>
    <pc:docChg chg="modSld">
      <pc:chgData name="Boseok Lee" userId="48b51895e27a09ef" providerId="Windows Live" clId="Web-{53BB7000-7E5D-4861-8A70-453C088CC5EF}" dt="2026-08-10T14:32:23.695" v="0"/>
      <pc:docMkLst>
        <pc:docMk/>
      </pc:docMkLst>
      <pc:sldChg chg="delSp">
        <pc:chgData name="Boseok Lee" userId="48b51895e27a09ef" providerId="Windows Live" clId="Web-{53BB7000-7E5D-4861-8A70-453C088CC5EF}" dt="2026-08-10T14:32:23.695" v="0"/>
        <pc:sldMkLst>
          <pc:docMk/>
          <pc:sldMk cId="2188749268" sldId="316"/>
        </pc:sldMkLst>
        <pc:spChg chg="del">
          <ac:chgData name="Boseok Lee" userId="48b51895e27a09ef" providerId="Windows Live" clId="Web-{53BB7000-7E5D-4861-8A70-453C088CC5EF}" dt="2026-08-10T14:32:23.695" v="0"/>
          <ac:spMkLst>
            <pc:docMk/>
            <pc:sldMk cId="2188749268" sldId="316"/>
            <ac:spMk id="18" creationId="{6E76D0C8-72FE-CC0A-5E0B-7BC8A46EEDF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슬라이드를 이동하려면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&lt;머리글&gt;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&lt;바닥글&gt;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D892C8FA-FF6A-48C1-B79B-FCAC3203751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7B42805-6AA4-408F-AB76-C33EACFD51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0762552-12AA-49E9-A5B6-05184434CEB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shell 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에 복붙 할 것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. Win, mac</a:t>
            </a:r>
            <a:r>
              <a:rPr lang="ko-KR" sz="1200" b="0" u="none" strike="noStrike">
                <a:solidFill>
                  <a:schemeClr val="dk1"/>
                </a:solidFill>
                <a:effectLst/>
                <a:uFillTx/>
                <a:latin typeface="프리젠테이션 5 Medium"/>
                <a:ea typeface="프리젠테이션 5 Medium"/>
              </a:rPr>
              <a:t>도 모를 수 있으니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57200" indent="-22860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346E839-D998-443A-9F06-47267800912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5CEDD4-268D-4FB9-88BB-B8C59C2EFD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D2DA98-257C-4296-838F-186ADDBE64E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75C1EB-BC2E-4CE0-8864-CA1702D5908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CB1BE4-C3F5-460E-B4C5-8593949549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504E8B-AC93-48A0-B5DE-6A957AAB09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F974D2A-6687-423C-9253-86F01E93F2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C1BE2E-E5D3-448F-AACF-8037D5A766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F36FD44-698C-4D5E-88DE-5B7A3B18B8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77E304-59D9-48DF-B60A-BEDE47D3D9A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2271B8A-CC0A-498A-956A-9E90EE2B9F1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9056734-831C-4835-9A26-C23F118F753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FF864A9-7303-4087-A162-797F8497F50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6BE2D3C-A136-4572-A45F-51004091D24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2E50179-F6D8-4AB9-987E-599AAF7345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F7D2944A-418E-4D64-A3D2-CF499567EF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26E4D4-CF36-47D7-9603-3DF1C5FAA1A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6B74DDC-6411-44EE-8036-3FC6E0E65C2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F833AF-219C-4E70-B08E-32E72E22A4D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6B062-A52E-4E21-9F4F-3E1EC7582E4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F87DB06-4B17-4089-88B5-A628A81DB4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B18A441-86F6-4837-84F1-540BB7E9F0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65659A3-87D0-47C4-95C3-765A87CEB1B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96AF725-CD05-4E25-B405-5C95AB034B6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FC77752-CE44-4815-919D-02BBDB88D51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6171A627-2528-43AF-96CA-895486FE08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D0E21B6-BBB8-4174-BF7C-BB314CA2676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D6B61A5-040A-4BB6-9744-5FE88A22F1E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5D728DA-27F5-4D6B-A429-96D2CD460F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1F36FE0-A731-4986-8534-7EBBCF4219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F7F6BEA-A69F-49F7-8BD1-5C288D9109C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70FF320F-2CD5-4C05-A2CA-6E3CBADC109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CF7A32-18AF-434D-AF1D-131FC9EB0EE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8FE84469-46A4-4C3A-B8ED-ED35D32C37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0C2B9E70-9CF8-4801-B29B-3F4DFFE27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47198993-9AE3-4953-BB72-E1FE37FEBC5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B93B4FB3-DAE6-4B18-B80C-32D8C4287E8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5928245-73F9-40DA-9E49-1B101D80F8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A27EB035-1D8F-4FDB-8631-265F9076727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576C0-420C-43FB-88B3-C305834E95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253D222-4A74-4F85-9DC7-E08EAE4D48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29941F4A-69BA-404E-9072-6EFDA87929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C724958A-45DA-4CB8-9566-057F9BBC6B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90C95D6F-5270-4237-9E33-8204CB5A04E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32BE81B6-D4F0-45B7-8AF4-473E2A47F11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6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1527EF5F-F4C3-495F-B8F8-E15C23C793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9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E8BE7482-5373-475B-B2B0-C02855A8A2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DD40F90B-B3DB-4108-902B-7FA932A49F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5BF594FD-8F21-427F-86D5-FAE5D39006A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1AB1-8AE3-4A8E-6FC6-70DE1CFB8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>
            <a:extLst>
              <a:ext uri="{FF2B5EF4-FFF2-40B4-BE49-F238E27FC236}">
                <a16:creationId xmlns:a16="http://schemas.microsoft.com/office/drawing/2014/main" id="{BAA03C04-BF8D-9E49-46F2-1ABAABFA6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>
            <a:extLst>
              <a:ext uri="{FF2B5EF4-FFF2-40B4-BE49-F238E27FC236}">
                <a16:creationId xmlns:a16="http://schemas.microsoft.com/office/drawing/2014/main" id="{8E6C9BE5-1601-AE5D-4900-D7993EEAE8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0" name="PlaceHolder 3">
            <a:extLst>
              <a:ext uri="{FF2B5EF4-FFF2-40B4-BE49-F238E27FC236}">
                <a16:creationId xmlns:a16="http://schemas.microsoft.com/office/drawing/2014/main" id="{65D373A6-1B81-CAD8-8664-5B943B9162EE}"/>
              </a:ext>
            </a:extLst>
          </p:cNvPr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F53B6D-3ACC-4F5E-9738-AD293024E2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902925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13C-242C-63C2-E49D-4B8EC039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FD4BC86B-1160-6620-74C3-9F85CD633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A8C146DC-3172-DA28-AD9E-54639354F30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948960F3-B3CE-1FAF-0084-AEE359264CF1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4561038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77F5-FBCA-1F93-569A-750A829CF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4C6D0DEF-A049-79A7-FB5F-245E5948DC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456A6E24-5581-BB46-C145-2B9F073DE3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B65DD084-8DD6-64F3-EE47-EB6D43C23C56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564402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20E9A-600C-60C0-9B0B-70EA13F1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>
            <a:extLst>
              <a:ext uri="{FF2B5EF4-FFF2-40B4-BE49-F238E27FC236}">
                <a16:creationId xmlns:a16="http://schemas.microsoft.com/office/drawing/2014/main" id="{C3542395-8D0E-89AA-63AC-F8535679AC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>
            <a:extLst>
              <a:ext uri="{FF2B5EF4-FFF2-40B4-BE49-F238E27FC236}">
                <a16:creationId xmlns:a16="http://schemas.microsoft.com/office/drawing/2014/main" id="{10A53530-588A-72A0-C33D-E6745E1F4B3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0" name="PlaceHolder 3">
            <a:extLst>
              <a:ext uri="{FF2B5EF4-FFF2-40B4-BE49-F238E27FC236}">
                <a16:creationId xmlns:a16="http://schemas.microsoft.com/office/drawing/2014/main" id="{D30BCDA7-FE80-B047-7E72-34C40DAF083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721E52E-287B-4278-ADEF-79F82D3DED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3979932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7AA12-5DF5-3BD5-579F-922BDCCB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>
            <a:extLst>
              <a:ext uri="{FF2B5EF4-FFF2-40B4-BE49-F238E27FC236}">
                <a16:creationId xmlns:a16="http://schemas.microsoft.com/office/drawing/2014/main" id="{0E723D3C-EE08-6CA2-E7EB-4ECB15F93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>
            <a:extLst>
              <a:ext uri="{FF2B5EF4-FFF2-40B4-BE49-F238E27FC236}">
                <a16:creationId xmlns:a16="http://schemas.microsoft.com/office/drawing/2014/main" id="{1DD58B63-4B60-73BC-134C-6CCE70029D2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8" name="PlaceHolder 3">
            <a:extLst>
              <a:ext uri="{FF2B5EF4-FFF2-40B4-BE49-F238E27FC236}">
                <a16:creationId xmlns:a16="http://schemas.microsoft.com/office/drawing/2014/main" id="{024EA6B0-2566-D234-ED3F-9D726DB9250C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0EBC5A-4D6B-486D-9C6A-718AEC9E42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62697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with_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 hasCustomPrompt="1"/>
          </p:nvPr>
        </p:nvSpPr>
        <p:spPr>
          <a:xfrm>
            <a:off x="623880" y="90792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1pPr>
            <a:lvl2pPr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defRPr>
            </a:lvl2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body"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마스터 텍스트 스타일 편집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Multi Agent + Sub Agent </a:t>
            </a:r>
            <a:br>
              <a:rPr sz="4700"/>
            </a:b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465444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4"/>
          <p:cNvSpPr/>
          <p:nvPr/>
        </p:nvSpPr>
        <p:spPr>
          <a:xfrm>
            <a:off x="8111520" y="1557360"/>
            <a:ext cx="3455640" cy="456480"/>
          </a:xfrm>
          <a:prstGeom prst="rect">
            <a:avLst/>
          </a:prstGeom>
          <a:solidFill>
            <a:srgbClr val="1B314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23880" y="1557360"/>
            <a:ext cx="182952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도구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 6"/>
          <p:cNvSpPr/>
          <p:nvPr/>
        </p:nvSpPr>
        <p:spPr>
          <a:xfrm>
            <a:off x="4211640" y="1557360"/>
            <a:ext cx="378936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Windows (PowerShell)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Text 7"/>
          <p:cNvSpPr/>
          <p:nvPr/>
        </p:nvSpPr>
        <p:spPr>
          <a:xfrm>
            <a:off x="8002080" y="1557360"/>
            <a:ext cx="35654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macOS (zsh)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623160" y="2590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465372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8111160" y="2590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760320" y="2590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Node.js 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762800" y="2590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OpenJS.NodeJS.LTS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8216280" y="2590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node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623160" y="3157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465372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8111160" y="3157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760320" y="3157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4762800" y="3157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Git.Git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8216280" y="3157200"/>
            <a:ext cx="33505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623160" y="3724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465372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2"/>
          <p:cNvSpPr/>
          <p:nvPr/>
        </p:nvSpPr>
        <p:spPr>
          <a:xfrm>
            <a:off x="8111160" y="3724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760320" y="3724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Python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4762800" y="3724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Python.Python.3.12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 25"/>
          <p:cNvSpPr/>
          <p:nvPr/>
        </p:nvSpPr>
        <p:spPr>
          <a:xfrm>
            <a:off x="8216280" y="3724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python@3.12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Shape 26"/>
          <p:cNvSpPr/>
          <p:nvPr/>
        </p:nvSpPr>
        <p:spPr>
          <a:xfrm>
            <a:off x="623160" y="429120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7"/>
          <p:cNvSpPr/>
          <p:nvPr/>
        </p:nvSpPr>
        <p:spPr>
          <a:xfrm>
            <a:off x="465372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8"/>
          <p:cNvSpPr/>
          <p:nvPr/>
        </p:nvSpPr>
        <p:spPr>
          <a:xfrm>
            <a:off x="8111160" y="429120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760320" y="4291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jq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4762800" y="4291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jqlang.jq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31"/>
          <p:cNvSpPr/>
          <p:nvPr/>
        </p:nvSpPr>
        <p:spPr>
          <a:xfrm>
            <a:off x="8216280" y="4291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jq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Shape 32"/>
          <p:cNvSpPr/>
          <p:nvPr/>
        </p:nvSpPr>
        <p:spPr>
          <a:xfrm>
            <a:off x="623160" y="4858200"/>
            <a:ext cx="182952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3"/>
          <p:cNvSpPr/>
          <p:nvPr/>
        </p:nvSpPr>
        <p:spPr>
          <a:xfrm>
            <a:off x="465372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34"/>
          <p:cNvSpPr/>
          <p:nvPr/>
        </p:nvSpPr>
        <p:spPr>
          <a:xfrm>
            <a:off x="8111160" y="4858200"/>
            <a:ext cx="345564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5"/>
          <p:cNvSpPr/>
          <p:nvPr/>
        </p:nvSpPr>
        <p:spPr>
          <a:xfrm>
            <a:off x="760320" y="485820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Go 1.22+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9" name="Text 36"/>
          <p:cNvSpPr/>
          <p:nvPr/>
        </p:nvSpPr>
        <p:spPr>
          <a:xfrm>
            <a:off x="4762800" y="485820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winget install GoLang.Go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Text 37"/>
          <p:cNvSpPr/>
          <p:nvPr/>
        </p:nvSpPr>
        <p:spPr>
          <a:xfrm>
            <a:off x="8216280" y="485820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brew install go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38"/>
          <p:cNvSpPr/>
          <p:nvPr/>
        </p:nvSpPr>
        <p:spPr>
          <a:xfrm>
            <a:off x="623880" y="5762160"/>
            <a:ext cx="10943640" cy="77652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0" descr="preencoded.png"/>
          <p:cNvPicPr/>
          <p:nvPr/>
        </p:nvPicPr>
        <p:blipFill>
          <a:blip r:embed="rId3"/>
          <a:stretch/>
        </p:blipFill>
        <p:spPr>
          <a:xfrm>
            <a:off x="852480" y="596340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39"/>
          <p:cNvSpPr/>
          <p:nvPr/>
        </p:nvSpPr>
        <p:spPr>
          <a:xfrm>
            <a:off x="1355400" y="5762160"/>
            <a:ext cx="96004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설치 후 실행 하기 위해서는 열려있는 모든 터미널을 반드시 닫았다 열어야 합니다</a:t>
            </a:r>
            <a:r>
              <a:rPr lang="en-US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. ※</a:t>
            </a:r>
            <a:r>
              <a:rPr lang="ko-KR" sz="1400" b="1" u="none" strike="noStrike">
                <a:solidFill>
                  <a:srgbClr val="E8A13A"/>
                </a:solidFill>
                <a:effectLst/>
                <a:uFillTx/>
                <a:latin typeface="프리젠테이션 6 SemiBold"/>
                <a:ea typeface="프리젠테이션 6 SemiBold"/>
              </a:rPr>
              <a:t>환경변수 적용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사전 준비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– 공통 도구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hasCustomPrompt="1"/>
          </p:nvPr>
        </p:nvSpPr>
        <p:spPr>
          <a:xfrm>
            <a:off x="623880" y="907200"/>
            <a:ext cx="10943640" cy="54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이미 설치가 되었다면,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따로 설치할 필요 없다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아래 도구가 없으면 대부분 명확한 에러와 함께 멈춘다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2454120" y="1557360"/>
            <a:ext cx="2199960" cy="456480"/>
          </a:xfrm>
          <a:prstGeom prst="rect">
            <a:avLst/>
          </a:prstGeom>
          <a:solidFill>
            <a:srgbClr val="1623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2454120" y="1557360"/>
            <a:ext cx="219924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ko-KR" sz="1200" b="0" u="none" strike="noStrike">
                <a:solidFill>
                  <a:srgbClr val="FFFFFF"/>
                </a:solidFill>
                <a:effectLst/>
                <a:uFillTx/>
                <a:latin typeface="프리젠테이션 6 SemiBold"/>
                <a:ea typeface="프리젠테이션 6 SemiBold"/>
              </a:rPr>
              <a:t>용도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2453400" y="259488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Claude Code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실행 하기 위해서는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NodeJS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가 필수 입니다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" name="Shape 8"/>
          <p:cNvSpPr/>
          <p:nvPr/>
        </p:nvSpPr>
        <p:spPr>
          <a:xfrm>
            <a:off x="2453400" y="3724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워커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/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도구  실행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스크립트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Shape 8"/>
          <p:cNvSpPr/>
          <p:nvPr/>
        </p:nvSpPr>
        <p:spPr>
          <a:xfrm>
            <a:off x="2453400" y="4858200"/>
            <a:ext cx="2199960" cy="566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MAT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빌드 및 실행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(mac) MAT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를 직접 설치시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, go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설치 불필요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2452680" y="4291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gemini (agy)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의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json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응답 파싱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(gemini(agy)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사용 안하는 경우 설치 불필요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" name="Shape 26"/>
          <p:cNvSpPr/>
          <p:nvPr/>
        </p:nvSpPr>
        <p:spPr>
          <a:xfrm>
            <a:off x="2453400" y="315720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대상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repo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작업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+ </a:t>
            </a:r>
            <a:r>
              <a:rPr lang="ko-KR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산출물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" name="Shape 14"/>
          <p:cNvSpPr/>
          <p:nvPr/>
        </p:nvSpPr>
        <p:spPr>
          <a:xfrm>
            <a:off x="623160" y="2018880"/>
            <a:ext cx="182952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465372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8111160" y="2018880"/>
            <a:ext cx="345564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760320" y="2018880"/>
            <a:ext cx="16923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6232F"/>
                </a:solidFill>
                <a:effectLst/>
                <a:uFillTx/>
                <a:latin typeface="프리젠테이션 6 SemiBold"/>
                <a:ea typeface="프리젠테이션 6 SemiBold"/>
              </a:rPr>
              <a:t>winget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4762800" y="2018880"/>
            <a:ext cx="334656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Install-Module -Name Microsoft.WinGet.Client -Force -Repository PSGalleryRepair-WinGetPackageManager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8216280" y="2018880"/>
            <a:ext cx="327744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89" name="Shape 26"/>
          <p:cNvSpPr/>
          <p:nvPr/>
        </p:nvSpPr>
        <p:spPr>
          <a:xfrm>
            <a:off x="2453400" y="2018880"/>
            <a:ext cx="2199960" cy="56628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Windows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용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CLI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기반 패키지 관리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Winget </a:t>
            </a:r>
            <a:r>
              <a:rPr lang="ko-KR" sz="1000" b="1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이 실행이 안되는경우에만 설치 진행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Text 19"/>
          <p:cNvSpPr/>
          <p:nvPr/>
        </p:nvSpPr>
        <p:spPr>
          <a:xfrm>
            <a:off x="8214840" y="2021040"/>
            <a:ext cx="335340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000" b="0" u="none" strike="noStrike">
                <a:solidFill>
                  <a:srgbClr val="1B3149"/>
                </a:solidFill>
                <a:effectLst/>
                <a:uFillTx/>
                <a:latin typeface="프리젠테이션 5 Medium"/>
                <a:ea typeface="프리젠테이션 5 Medium"/>
              </a:rPr>
              <a:t>해당 사항 없음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그룹 90"/>
          <p:cNvGrpSpPr/>
          <p:nvPr/>
        </p:nvGrpSpPr>
        <p:grpSpPr>
          <a:xfrm>
            <a:off x="623880" y="4867560"/>
            <a:ext cx="10943640" cy="1177200"/>
            <a:chOff x="623880" y="4867560"/>
            <a:chExt cx="10943640" cy="1177200"/>
          </a:xfrm>
        </p:grpSpPr>
        <p:sp>
          <p:nvSpPr>
            <p:cNvPr id="92" name="Shape 10"/>
            <p:cNvSpPr/>
            <p:nvPr/>
          </p:nvSpPr>
          <p:spPr>
            <a:xfrm>
              <a:off x="623880" y="486756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 12"/>
            <p:cNvSpPr/>
            <p:nvPr/>
          </p:nvSpPr>
          <p:spPr>
            <a:xfrm>
              <a:off x="1446840" y="505044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Cursor CLI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4" name="Text 13"/>
            <p:cNvSpPr/>
            <p:nvPr/>
          </p:nvSpPr>
          <p:spPr>
            <a:xfrm>
              <a:off x="1446840" y="5395680"/>
              <a:ext cx="3021480" cy="60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가장 큰 특징은 모델을 골라서 실행할 수 있다는 점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gemini", "cursor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gpt-5.5"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처럼 원하는 모델을 지정해 기획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분석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리뷰를 시킬 수 있어 유연함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5" name="Shape 6"/>
            <p:cNvSpPr/>
            <p:nvPr/>
          </p:nvSpPr>
          <p:spPr>
            <a:xfrm>
              <a:off x="4555800" y="4969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6" name="Text 15"/>
            <p:cNvSpPr/>
            <p:nvPr/>
          </p:nvSpPr>
          <p:spPr>
            <a:xfrm>
              <a:off x="5940000" y="49716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'https://cursor.com/install?win32=true'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7" name="Shape 8"/>
            <p:cNvSpPr/>
            <p:nvPr/>
          </p:nvSpPr>
          <p:spPr>
            <a:xfrm>
              <a:off x="4555800" y="550008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8" name="Text 17"/>
            <p:cNvSpPr/>
            <p:nvPr/>
          </p:nvSpPr>
          <p:spPr>
            <a:xfrm>
              <a:off x="5940000" y="54982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https://cursor.com/install -fsS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99" name="Shape 19"/>
            <p:cNvSpPr/>
            <p:nvPr/>
          </p:nvSpPr>
          <p:spPr>
            <a:xfrm>
              <a:off x="847440" y="5095800"/>
              <a:ext cx="456480" cy="45648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00" name="그림 65"/>
            <p:cNvPicPr/>
            <p:nvPr/>
          </p:nvPicPr>
          <p:blipFill>
            <a:blip r:embed="rId3"/>
            <a:stretch/>
          </p:blipFill>
          <p:spPr>
            <a:xfrm>
              <a:off x="969480" y="521460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1" name="PlaceHolder 1"/>
          <p:cNvSpPr>
            <a:spLocks noGrp="1"/>
          </p:cNvSpPr>
          <p:nvPr>
            <p:ph hasCustomPrompt="1"/>
          </p:nvPr>
        </p:nvSpPr>
        <p:spPr>
          <a:xfrm>
            <a:off x="623880" y="34128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AI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워커 –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CLI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hasCustomPrompt="1"/>
          </p:nvPr>
        </p:nvSpPr>
        <p:spPr>
          <a:xfrm>
            <a:off x="623880" y="907920"/>
            <a:ext cx="10943640" cy="474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Antigraviy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 입니다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-3240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 Codex 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와 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Cursor</a:t>
            </a:r>
            <a:r>
              <a:rPr lang="ko-KR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는 필수 사항이 아닙니다</a:t>
            </a: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프리젠테이션 5 Medium"/>
            </a:endParaRPr>
          </a:p>
        </p:txBody>
      </p:sp>
      <p:grpSp>
        <p:nvGrpSpPr>
          <p:cNvPr id="103" name="그룹 102"/>
          <p:cNvGrpSpPr/>
          <p:nvPr/>
        </p:nvGrpSpPr>
        <p:grpSpPr>
          <a:xfrm>
            <a:off x="623880" y="1603080"/>
            <a:ext cx="10943640" cy="1177200"/>
            <a:chOff x="623880" y="1603080"/>
            <a:chExt cx="10943640" cy="1177200"/>
          </a:xfrm>
        </p:grpSpPr>
        <p:sp>
          <p:nvSpPr>
            <p:cNvPr id="104" name="Shape 10"/>
            <p:cNvSpPr/>
            <p:nvPr/>
          </p:nvSpPr>
          <p:spPr>
            <a:xfrm>
              <a:off x="623880" y="1603080"/>
              <a:ext cx="10943640" cy="117720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Shape 11"/>
            <p:cNvSpPr/>
            <p:nvPr/>
          </p:nvSpPr>
          <p:spPr>
            <a:xfrm>
              <a:off x="852480" y="1831680"/>
              <a:ext cx="456480" cy="456480"/>
            </a:xfrm>
            <a:prstGeom prst="ellipse">
              <a:avLst/>
            </a:prstGeom>
            <a:solidFill>
              <a:schemeClr val="bg1"/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ext 12"/>
            <p:cNvSpPr/>
            <p:nvPr/>
          </p:nvSpPr>
          <p:spPr>
            <a:xfrm>
              <a:off x="1446840" y="17859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Antigravity (agy)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7" name="Text 13"/>
            <p:cNvSpPr/>
            <p:nvPr/>
          </p:nvSpPr>
          <p:spPr>
            <a:xfrm>
              <a:off x="1446840" y="2151720"/>
              <a:ext cx="3021480" cy="54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Gemini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백엔드를 쓰는 워커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br>
                <a:rPr sz="1000"/>
              </a:b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강점은 대용량 문서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멀티모달 처리 및 넓은 컨텍스트에 유리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agy → OAuth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로그인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무료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=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주간쿼터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8" name="Shape 6"/>
            <p:cNvSpPr/>
            <p:nvPr/>
          </p:nvSpPr>
          <p:spPr>
            <a:xfrm>
              <a:off x="4555800" y="17053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09" name="Text 15"/>
            <p:cNvSpPr/>
            <p:nvPr/>
          </p:nvSpPr>
          <p:spPr>
            <a:xfrm>
              <a:off x="5940000" y="17074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irm https://antigravity.google/cli/install.ps1 | iex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0" name="Shape 8"/>
            <p:cNvSpPr/>
            <p:nvPr/>
          </p:nvSpPr>
          <p:spPr>
            <a:xfrm>
              <a:off x="4555800" y="223596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1" name="Text 17"/>
            <p:cNvSpPr/>
            <p:nvPr/>
          </p:nvSpPr>
          <p:spPr>
            <a:xfrm>
              <a:off x="5940000" y="22338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https://antigravity.google/cli/install.sh | bash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12" name="그래픽 64"/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966240" y="1950480"/>
              <a:ext cx="218880" cy="2188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" name="그룹 112"/>
          <p:cNvGrpSpPr/>
          <p:nvPr/>
        </p:nvGrpSpPr>
        <p:grpSpPr>
          <a:xfrm>
            <a:off x="623880" y="2956680"/>
            <a:ext cx="10943640" cy="1736640"/>
            <a:chOff x="623880" y="2956680"/>
            <a:chExt cx="10943640" cy="1736640"/>
          </a:xfrm>
        </p:grpSpPr>
        <p:sp>
          <p:nvSpPr>
            <p:cNvPr id="114" name="Shape 10"/>
            <p:cNvSpPr/>
            <p:nvPr/>
          </p:nvSpPr>
          <p:spPr>
            <a:xfrm>
              <a:off x="623880" y="2956680"/>
              <a:ext cx="10943640" cy="172728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round/>
            </a:ln>
            <a:effectLst>
              <a:outerShdw blurRad="88920" dist="38160" dir="5400000" algn="bl" rotWithShape="0">
                <a:srgbClr val="000000">
                  <a:alpha val="16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 12"/>
            <p:cNvSpPr/>
            <p:nvPr/>
          </p:nvSpPr>
          <p:spPr>
            <a:xfrm>
              <a:off x="1446840" y="3139560"/>
              <a:ext cx="2742480" cy="36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6232F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Codex CLI 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6" name="Text 13"/>
            <p:cNvSpPr/>
            <p:nvPr/>
          </p:nvSpPr>
          <p:spPr>
            <a:xfrm>
              <a:off x="1446840" y="3505320"/>
              <a:ext cx="3021480" cy="58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5000"/>
                </a:lnSpc>
              </a:pP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GPT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계열 코딩 워커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보조 구현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테스트 작성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·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이미지 생성 등에 활용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.</a:t>
              </a:r>
              <a:br>
                <a:rPr sz="1000"/>
              </a:b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정상 경로는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MCP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를 통해 붙고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, ChatGPT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유료 구독 또는 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OPENAI_API_KEY(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종량과금</a:t>
              </a:r>
              <a:r>
                <a:rPr lang="en-US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) </a:t>
              </a:r>
              <a:r>
                <a:rPr lang="ko-KR" sz="1000" b="0" u="none" strike="noStrike">
                  <a:solidFill>
                    <a:srgbClr val="64748B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중 하나로 인증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7" name="Shape 6"/>
            <p:cNvSpPr/>
            <p:nvPr/>
          </p:nvSpPr>
          <p:spPr>
            <a:xfrm>
              <a:off x="4555800" y="305892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E8A13A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PowerShell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8" name="Text 15"/>
            <p:cNvSpPr/>
            <p:nvPr/>
          </p:nvSpPr>
          <p:spPr>
            <a:xfrm>
              <a:off x="5940000" y="306108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powershell -ExecutionPolicy ByPass -c "irm https://chatgpt.com/codex/install.ps1 | iex"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9" name="Shape 8"/>
            <p:cNvSpPr/>
            <p:nvPr/>
          </p:nvSpPr>
          <p:spPr>
            <a:xfrm>
              <a:off x="4555800" y="360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4285F4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Linux / WSL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0" name="Text 17"/>
            <p:cNvSpPr/>
            <p:nvPr/>
          </p:nvSpPr>
          <p:spPr>
            <a:xfrm>
              <a:off x="5940000" y="3600000"/>
              <a:ext cx="554076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curl -fsSL https://chatgpt.com/codex/install.sh | sh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121" name="그림 67"/>
            <p:cNvPicPr/>
            <p:nvPr/>
          </p:nvPicPr>
          <p:blipFill>
            <a:blip r:embed="rId5"/>
            <a:stretch/>
          </p:blipFill>
          <p:spPr>
            <a:xfrm>
              <a:off x="847440" y="3210480"/>
              <a:ext cx="456480" cy="456480"/>
            </a:xfrm>
            <a:prstGeom prst="rect">
              <a:avLst/>
            </a:prstGeom>
            <a:noFill/>
            <a:ln w="0"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22" name="내용 개체 틀 75"/>
            <p:cNvSpPr/>
            <p:nvPr/>
          </p:nvSpPr>
          <p:spPr>
            <a:xfrm>
              <a:off x="623880" y="4235040"/>
              <a:ext cx="10943640" cy="45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300" b="0" u="none" strike="noStrike">
                <a:solidFill>
                  <a:srgbClr val="000000"/>
                </a:solidFill>
                <a:effectLst/>
                <a:uFillTx/>
                <a:latin typeface="프리젠테이션 5 Medium"/>
              </a:endParaRPr>
            </a:p>
          </p:txBody>
        </p:sp>
        <p:sp>
          <p:nvSpPr>
            <p:cNvPr id="123" name="Shape 8"/>
            <p:cNvSpPr/>
            <p:nvPr/>
          </p:nvSpPr>
          <p:spPr>
            <a:xfrm>
              <a:off x="4556160" y="4141800"/>
              <a:ext cx="6924960" cy="45648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Helper </a:t>
              </a:r>
              <a:r>
                <a:rPr lang="ko-KR" sz="1000" b="0" u="none" strike="noStrike">
                  <a:solidFill>
                    <a:srgbClr val="FF0000"/>
                  </a:solidFill>
                  <a:effectLst/>
                  <a:uFillTx/>
                  <a:latin typeface="프리젠테이션 6 SemiBold"/>
                  <a:ea typeface="프리젠테이션 6 SemiBold"/>
                </a:rPr>
                <a:t>오류 시</a:t>
              </a:r>
              <a:endParaRPr lang="en-US" sz="10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4" name="Text 17"/>
            <p:cNvSpPr/>
            <p:nvPr/>
          </p:nvSpPr>
          <p:spPr>
            <a:xfrm>
              <a:off x="5940000" y="4140000"/>
              <a:ext cx="5541120" cy="45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tabLst>
                  <a:tab pos="0" algn="l"/>
                </a:tabLst>
              </a:pPr>
              <a:r>
                <a:rPr lang="en-US" sz="700" b="0" u="none" strike="noStrike">
                  <a:solidFill>
                    <a:schemeClr val="lt1"/>
                  </a:solidFill>
                  <a:effectLst/>
                  <a:uFillTx/>
                  <a:latin typeface="프리젠테이션 5 Medium"/>
                  <a:ea typeface="프리젠테이션 5 Medium"/>
                </a:rPr>
                <a:t>&amp; (Join-Path (Get-ChildItem "$env:USERPROFILE\.codex\packages\standalone\releases" -Directory | Sort-Object Name -Descending | Select-Object -First 1).FullName "bin\codex.exe")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6;p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7;p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8;p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9;p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0;p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Google Shape;21;p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47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클로드 설치 및 세팅 가이드</a:t>
            </a:r>
            <a:endParaRPr lang="en-US" sz="4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Google Shape;22;p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2" name="Google Shape;23;p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Google Shape;24;p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5;p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5" name="Google Shape;26;p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7;p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7" name="Google Shape;28;p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9;p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Google Shape;30;p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31;p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Google Shape;32;p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33;p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Google Shape;34;p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35;p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시작하기 전에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여는 방법부터 확인하세요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6" name="Google Shape;42;p4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 가이드의 모든 명령어는 “터미널”이라는 검은 입력 창에 입력합니다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방법으로 터미널을 열어 두세요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Google Shape;43;p4"/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/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/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/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Google Shape;47;p4"/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시작 메뉴에서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PowerShell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검색해 실행합니다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또는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윈도우 키 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 R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→ “powershell”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2" name="Google Shape;48;p4"/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/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/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/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Google Shape;52;p4"/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⌘ + Space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Spotlight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열고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검색해 실행합니다.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Google Shape;53;p4"/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/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/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/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안에서 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Google Shape;57;p4"/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하단의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을 클릭합니다.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단축키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: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Alt + F12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 (macOS: ⌥ + F12)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프로젝트 폴더에서 바로 열려 편리합니다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2" name="Google Shape;58;p4"/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/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복사 </a:t>
            </a:r>
            <a:r>
              <a:rPr lang="en-US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3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붙여넣기만 하면 됩니다  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가이드의 명령어를 드래그해 복사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(Ctrl+C)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뒤 터미널에 붙여넣고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붙여넣기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Windows PowerShell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은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마우스 우클릭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또는 Ctrl+V,  macOS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는 ⌘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+V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65;p5"/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전체 흐름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여섯 단계만 따라 하면 끝납니다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Google Shape;66;p5"/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각 단계마다 “어떻게 하는지”와 “어떤 화면이 나오면 성공인지”를 함께 안내합니다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Google Shape;67;p5"/>
          <p:cNvSpPr/>
          <p:nvPr/>
        </p:nvSpPr>
        <p:spPr>
          <a:xfrm>
            <a:off x="50292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68;p5"/>
          <p:cNvSpPr/>
          <p:nvPr/>
        </p:nvSpPr>
        <p:spPr>
          <a:xfrm>
            <a:off x="77724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Google Shape;69;p5" descr="preencoded.png"/>
          <p:cNvPicPr/>
          <p:nvPr/>
        </p:nvPicPr>
        <p:blipFill>
          <a:blip r:embed="rId3"/>
          <a:stretch/>
        </p:blipFill>
        <p:spPr>
          <a:xfrm>
            <a:off x="90540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Google Shape;70;p5"/>
          <p:cNvSpPr/>
          <p:nvPr/>
        </p:nvSpPr>
        <p:spPr>
          <a:xfrm>
            <a:off x="333756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0" name="Google Shape;71;p5"/>
          <p:cNvSpPr/>
          <p:nvPr/>
        </p:nvSpPr>
        <p:spPr>
          <a:xfrm>
            <a:off x="77724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Google Shape;72;p5"/>
          <p:cNvSpPr/>
          <p:nvPr/>
        </p:nvSpPr>
        <p:spPr>
          <a:xfrm>
            <a:off x="77724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설치 명령어를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붙여넣고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Google Shape;73;p5"/>
          <p:cNvSpPr/>
          <p:nvPr/>
        </p:nvSpPr>
        <p:spPr>
          <a:xfrm>
            <a:off x="431604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4;p5"/>
          <p:cNvSpPr/>
          <p:nvPr/>
        </p:nvSpPr>
        <p:spPr>
          <a:xfrm>
            <a:off x="459036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Google Shape;75;p5" descr="preencoded.png"/>
          <p:cNvPicPr/>
          <p:nvPr/>
        </p:nvPicPr>
        <p:blipFill>
          <a:blip r:embed="rId4"/>
          <a:stretch/>
        </p:blipFill>
        <p:spPr>
          <a:xfrm>
            <a:off x="471816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Google Shape;76;p5"/>
          <p:cNvSpPr/>
          <p:nvPr/>
        </p:nvSpPr>
        <p:spPr>
          <a:xfrm>
            <a:off x="715068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6" name="Google Shape;77;p5"/>
          <p:cNvSpPr/>
          <p:nvPr/>
        </p:nvSpPr>
        <p:spPr>
          <a:xfrm>
            <a:off x="459036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 </a:t>
            </a: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7" name="Google Shape;78;p5"/>
          <p:cNvSpPr/>
          <p:nvPr/>
        </p:nvSpPr>
        <p:spPr>
          <a:xfrm>
            <a:off x="459036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 → 화면에서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선택 → 브라우저에서 로그인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Google Shape;79;p5"/>
          <p:cNvSpPr/>
          <p:nvPr/>
        </p:nvSpPr>
        <p:spPr>
          <a:xfrm>
            <a:off x="8129160" y="178308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80;p5"/>
          <p:cNvSpPr/>
          <p:nvPr/>
        </p:nvSpPr>
        <p:spPr>
          <a:xfrm>
            <a:off x="8403480" y="205740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Google Shape;81;p5" descr="preencoded.png"/>
          <p:cNvPicPr/>
          <p:nvPr/>
        </p:nvPicPr>
        <p:blipFill>
          <a:blip r:embed="rId5"/>
          <a:stretch/>
        </p:blipFill>
        <p:spPr>
          <a:xfrm>
            <a:off x="8531280" y="21855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Google Shape;82;p5"/>
          <p:cNvSpPr/>
          <p:nvPr/>
        </p:nvSpPr>
        <p:spPr>
          <a:xfrm>
            <a:off x="10963800" y="202068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Google Shape;83;p5"/>
          <p:cNvSpPr/>
          <p:nvPr/>
        </p:nvSpPr>
        <p:spPr>
          <a:xfrm>
            <a:off x="8403480" y="274320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3" name="Google Shape;84;p5"/>
          <p:cNvSpPr/>
          <p:nvPr/>
        </p:nvSpPr>
        <p:spPr>
          <a:xfrm>
            <a:off x="8403480" y="313632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플러그인 설치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아이콘으로 실행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Google Shape;85;p5"/>
          <p:cNvSpPr/>
          <p:nvPr/>
        </p:nvSpPr>
        <p:spPr>
          <a:xfrm>
            <a:off x="50292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86;p5"/>
          <p:cNvSpPr/>
          <p:nvPr/>
        </p:nvSpPr>
        <p:spPr>
          <a:xfrm>
            <a:off x="77724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Google Shape;87;p5" descr="preencoded.png"/>
          <p:cNvPicPr/>
          <p:nvPr/>
        </p:nvPicPr>
        <p:blipFill>
          <a:blip r:embed="rId6"/>
          <a:stretch/>
        </p:blipFill>
        <p:spPr>
          <a:xfrm>
            <a:off x="90540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Google Shape;88;p5"/>
          <p:cNvSpPr/>
          <p:nvPr/>
        </p:nvSpPr>
        <p:spPr>
          <a:xfrm>
            <a:off x="333756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Google Shape;89;p5"/>
          <p:cNvSpPr/>
          <p:nvPr/>
        </p:nvSpPr>
        <p:spPr>
          <a:xfrm>
            <a:off x="77724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Google Shape;90;p5"/>
          <p:cNvSpPr/>
          <p:nvPr/>
        </p:nvSpPr>
        <p:spPr>
          <a:xfrm>
            <a:off x="77724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세팅 파일 압축 해제 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프롬프트 한 줄 입력하면 자동 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Google Shape;91;p5"/>
          <p:cNvSpPr/>
          <p:nvPr/>
        </p:nvSpPr>
        <p:spPr>
          <a:xfrm>
            <a:off x="431604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92;p5"/>
          <p:cNvSpPr/>
          <p:nvPr/>
        </p:nvSpPr>
        <p:spPr>
          <a:xfrm>
            <a:off x="459036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Google Shape;93;p5" descr="preencoded.png"/>
          <p:cNvPicPr/>
          <p:nvPr/>
        </p:nvPicPr>
        <p:blipFill>
          <a:blip r:embed="rId7"/>
          <a:stretch/>
        </p:blipFill>
        <p:spPr>
          <a:xfrm>
            <a:off x="471816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Google Shape;94;p5"/>
          <p:cNvSpPr/>
          <p:nvPr/>
        </p:nvSpPr>
        <p:spPr>
          <a:xfrm>
            <a:off x="715068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4" name="Google Shape;95;p5"/>
          <p:cNvSpPr/>
          <p:nvPr/>
        </p:nvSpPr>
        <p:spPr>
          <a:xfrm>
            <a:off x="459036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Google Shape;96;p5"/>
          <p:cNvSpPr/>
          <p:nvPr/>
        </p:nvSpPr>
        <p:spPr>
          <a:xfrm>
            <a:off x="459036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에이전트 목록이 표로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출력되는지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6" name="Google Shape;97;p5"/>
          <p:cNvSpPr/>
          <p:nvPr/>
        </p:nvSpPr>
        <p:spPr>
          <a:xfrm>
            <a:off x="8129160" y="4114800"/>
            <a:ext cx="3611160" cy="205668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98;p5"/>
          <p:cNvSpPr/>
          <p:nvPr/>
        </p:nvSpPr>
        <p:spPr>
          <a:xfrm>
            <a:off x="8403480" y="4389120"/>
            <a:ext cx="529560" cy="529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Google Shape;99;p5" descr="preencoded.png"/>
          <p:cNvPicPr/>
          <p:nvPr/>
        </p:nvPicPr>
        <p:blipFill>
          <a:blip r:embed="rId8"/>
          <a:stretch/>
        </p:blipFill>
        <p:spPr>
          <a:xfrm>
            <a:off x="8531280" y="451728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Google Shape;100;p5"/>
          <p:cNvSpPr/>
          <p:nvPr/>
        </p:nvSpPr>
        <p:spPr>
          <a:xfrm>
            <a:off x="10963800" y="4352400"/>
            <a:ext cx="5479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8D2C9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Google Shape;101;p5"/>
          <p:cNvSpPr/>
          <p:nvPr/>
        </p:nvSpPr>
        <p:spPr>
          <a:xfrm>
            <a:off x="8403480" y="5074920"/>
            <a:ext cx="30625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Google Shape;102;p5"/>
          <p:cNvSpPr/>
          <p:nvPr/>
        </p:nvSpPr>
        <p:spPr>
          <a:xfrm>
            <a:off x="8403480" y="5468040"/>
            <a:ext cx="306252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분석 프롬프트를 입력해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동작을 최종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108;p6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109;p6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4" name="Google Shape;110;p6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Google Shape;111;p6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내 환경에 맞는 카드 하나를 골라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Google Shape;112;p6"/>
          <p:cNvSpPr/>
          <p:nvPr/>
        </p:nvSpPr>
        <p:spPr>
          <a:xfrm>
            <a:off x="50292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113;p6"/>
          <p:cNvSpPr/>
          <p:nvPr/>
        </p:nvSpPr>
        <p:spPr>
          <a:xfrm>
            <a:off x="77724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macOS · Linux · WSL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8" name="Google Shape;114;p6"/>
          <p:cNvSpPr/>
          <p:nvPr/>
        </p:nvSpPr>
        <p:spPr>
          <a:xfrm>
            <a:off x="77724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Mac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이나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Linux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쓴다면 이 명령어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Google Shape;115;p6"/>
          <p:cNvSpPr/>
          <p:nvPr/>
        </p:nvSpPr>
        <p:spPr>
          <a:xfrm>
            <a:off x="77724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116;p6"/>
          <p:cNvSpPr/>
          <p:nvPr/>
        </p:nvSpPr>
        <p:spPr>
          <a:xfrm>
            <a:off x="9784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117;p6"/>
          <p:cNvSpPr/>
          <p:nvPr/>
        </p:nvSpPr>
        <p:spPr>
          <a:xfrm>
            <a:off x="11797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Google Shape;118;p6"/>
          <p:cNvSpPr/>
          <p:nvPr/>
        </p:nvSpPr>
        <p:spPr>
          <a:xfrm>
            <a:off x="138060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19;p6"/>
          <p:cNvSpPr/>
          <p:nvPr/>
        </p:nvSpPr>
        <p:spPr>
          <a:xfrm>
            <a:off x="103320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https://claude.ai/install.sh | bash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Google Shape;120;p6"/>
          <p:cNvSpPr/>
          <p:nvPr/>
        </p:nvSpPr>
        <p:spPr>
          <a:xfrm>
            <a:off x="42886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121;p6"/>
          <p:cNvSpPr/>
          <p:nvPr/>
        </p:nvSpPr>
        <p:spPr>
          <a:xfrm>
            <a:off x="45630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PowerShell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Google Shape;122;p6"/>
          <p:cNvSpPr/>
          <p:nvPr/>
        </p:nvSpPr>
        <p:spPr>
          <a:xfrm>
            <a:off x="45630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Windows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라면 이 명령어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권장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Google Shape;123;p6"/>
          <p:cNvSpPr/>
          <p:nvPr/>
        </p:nvSpPr>
        <p:spPr>
          <a:xfrm>
            <a:off x="45630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124;p6"/>
          <p:cNvSpPr/>
          <p:nvPr/>
        </p:nvSpPr>
        <p:spPr>
          <a:xfrm>
            <a:off x="476388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125;p6"/>
          <p:cNvSpPr/>
          <p:nvPr/>
        </p:nvSpPr>
        <p:spPr>
          <a:xfrm>
            <a:off x="496512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126;p6"/>
          <p:cNvSpPr/>
          <p:nvPr/>
        </p:nvSpPr>
        <p:spPr>
          <a:xfrm>
            <a:off x="516636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127;p6"/>
          <p:cNvSpPr/>
          <p:nvPr/>
        </p:nvSpPr>
        <p:spPr>
          <a:xfrm>
            <a:off x="48189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irm https://claude.ai/install.ps1 | iex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Google Shape;128;p6"/>
          <p:cNvSpPr/>
          <p:nvPr/>
        </p:nvSpPr>
        <p:spPr>
          <a:xfrm>
            <a:off x="8074080" y="1874520"/>
            <a:ext cx="3638520" cy="361116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129;p6"/>
          <p:cNvSpPr/>
          <p:nvPr/>
        </p:nvSpPr>
        <p:spPr>
          <a:xfrm>
            <a:off x="8348400" y="213048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Windows CMD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Google Shape;130;p6"/>
          <p:cNvSpPr/>
          <p:nvPr/>
        </p:nvSpPr>
        <p:spPr>
          <a:xfrm>
            <a:off x="8348400" y="2532960"/>
            <a:ext cx="3089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명령 프롬프트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(cmd)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쓸 때만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Google Shape;131;p6"/>
          <p:cNvSpPr/>
          <p:nvPr/>
        </p:nvSpPr>
        <p:spPr>
          <a:xfrm>
            <a:off x="8348400" y="3246120"/>
            <a:ext cx="3089880" cy="191952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 w="0">
            <a:noFill/>
          </a:ln>
          <a:effectLst>
            <a:outerShdw blurRad="127080" dist="25560" dir="5400000" algn="bl" rotWithShape="0">
              <a:srgbClr val="000000">
                <a:alpha val="2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132;p6"/>
          <p:cNvSpPr/>
          <p:nvPr/>
        </p:nvSpPr>
        <p:spPr>
          <a:xfrm>
            <a:off x="8549640" y="342900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133;p6"/>
          <p:cNvSpPr/>
          <p:nvPr/>
        </p:nvSpPr>
        <p:spPr>
          <a:xfrm>
            <a:off x="8750880" y="342900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134;p6"/>
          <p:cNvSpPr/>
          <p:nvPr/>
        </p:nvSpPr>
        <p:spPr>
          <a:xfrm>
            <a:off x="8952120" y="342900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135;p6"/>
          <p:cNvSpPr/>
          <p:nvPr/>
        </p:nvSpPr>
        <p:spPr>
          <a:xfrm>
            <a:off x="8604360" y="3630240"/>
            <a:ext cx="2577960" cy="137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lang="en-US" sz="115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curl -fsSL https://claude.ai/install.cmd -o install.cmd &amp;&amp; install.cmd &amp;&amp; del install.cmd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Google Shape;136;p6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Google Shape;137;p6" descr="preencoded.png"/>
          <p:cNvPicPr/>
          <p:nvPr/>
        </p:nvPicPr>
        <p:blipFill>
          <a:blip r:embed="rId3"/>
          <a:stretch/>
        </p:blipFill>
        <p:spPr>
          <a:xfrm>
            <a:off x="704160" y="59756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Google Shape;138;p6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설치가 끝나면 터미널을 완전히 닫았다가 새로 연 뒤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claude --version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을 입력해 보세요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버전 번호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예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: 2.1.207)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가 나오면 성공입니다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“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명령을 찾을 수 없음”이 나오면 터미널을 다시 열어 재시도하세요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108;p 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109;p 2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Google Shape;110;p 2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Path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등록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6" name="Google Shape;111;p 2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 후 아래와 같은 문구가 나타났을 시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명령어를 통째로 복사해 터미널에 붙여넣고 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Google Shape;136;p 2"/>
          <p:cNvSpPr/>
          <p:nvPr/>
        </p:nvSpPr>
        <p:spPr>
          <a:xfrm>
            <a:off x="502920" y="5715000"/>
            <a:ext cx="11182320" cy="77652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138;p 2"/>
          <p:cNvSpPr/>
          <p:nvPr/>
        </p:nvSpPr>
        <p:spPr>
          <a:xfrm>
            <a:off x="1069920" y="5715000"/>
            <a:ext cx="1043244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$p = [Environment]::GetEnvironmentVariable("Path", "User")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[Environment]::SetEnvironmentVariable("Path", ($p.TrimEnd(';') + ";$env:USERPROFILE\.local\bin"), "User")</a:t>
            </a:r>
          </a:p>
        </p:txBody>
      </p:sp>
      <p:sp>
        <p:nvSpPr>
          <p:cNvPr id="239" name="Google Shape;180;p 1"/>
          <p:cNvSpPr/>
          <p:nvPr/>
        </p:nvSpPr>
        <p:spPr>
          <a:xfrm>
            <a:off x="745560" y="1965960"/>
            <a:ext cx="10697760" cy="325368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그림 239"/>
          <p:cNvPicPr/>
          <p:nvPr/>
        </p:nvPicPr>
        <p:blipFill>
          <a:blip r:embed="rId3"/>
          <a:srcRect r="1926" b="9677"/>
          <a:stretch/>
        </p:blipFill>
        <p:spPr>
          <a:xfrm>
            <a:off x="900000" y="2061360"/>
            <a:ext cx="1043928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Google Shape;127;p 1"/>
          <p:cNvSpPr/>
          <p:nvPr/>
        </p:nvSpPr>
        <p:spPr>
          <a:xfrm>
            <a:off x="658440" y="5964480"/>
            <a:ext cx="349560" cy="35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PS&gt;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168;p7"/>
          <p:cNvSpPr/>
          <p:nvPr/>
        </p:nvSpPr>
        <p:spPr>
          <a:xfrm>
            <a:off x="6089760" y="4605480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144;p7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145;p7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Google Shape;146;p7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Google Shape;147;p7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설치가 끝났다면 이제 실행해 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딱 한 단어만 입력하면 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7" name="Google Shape;148;p7"/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/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/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프로젝트 폴더로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Google Shape;151;p7"/>
          <p:cNvSpPr/>
          <p:nvPr/>
        </p:nvSpPr>
        <p:spPr>
          <a:xfrm>
            <a:off x="978480" y="2157840"/>
            <a:ext cx="4735800" cy="9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 터미널을 쓰면 이미 프로젝트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폴더라서 이 단계는 건너뛰어도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일반 터미널이라면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cd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폴더경로 로 이동하세요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1" name="Google Shape;152;p7"/>
          <p:cNvSpPr/>
          <p:nvPr/>
        </p:nvSpPr>
        <p:spPr>
          <a:xfrm>
            <a:off x="502920" y="2971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/>
          <p:cNvSpPr/>
          <p:nvPr/>
        </p:nvSpPr>
        <p:spPr>
          <a:xfrm>
            <a:off x="502920" y="2971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/>
          <p:cNvSpPr/>
          <p:nvPr/>
        </p:nvSpPr>
        <p:spPr>
          <a:xfrm>
            <a:off x="978480" y="2980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입력 후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Google Shape;155;p7"/>
          <p:cNvSpPr/>
          <p:nvPr/>
        </p:nvSpPr>
        <p:spPr>
          <a:xfrm>
            <a:off x="978480" y="3300840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소문자로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라고만 입력하면 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5" name="Google Shape;156;p7"/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/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/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잠시 기다리기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8" name="Google Shape;159;p7"/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몇 초 뒤 오른쪽과 같은 환영 화면이 나타나고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실행이라면 로그인 화면으로 이어집니다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9" name="Google Shape;160;p7"/>
          <p:cNvSpPr/>
          <p:nvPr/>
        </p:nvSpPr>
        <p:spPr>
          <a:xfrm>
            <a:off x="427320" y="5549400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/>
          <p:cNvPicPr/>
          <p:nvPr/>
        </p:nvPicPr>
        <p:blipFill>
          <a:blip r:embed="rId3"/>
          <a:stretch/>
        </p:blipFill>
        <p:spPr>
          <a:xfrm>
            <a:off x="624960" y="58478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/>
          <p:cNvSpPr/>
          <p:nvPr/>
        </p:nvSpPr>
        <p:spPr>
          <a:xfrm>
            <a:off x="994320" y="5549400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로고 배너와 버전 정보가 보이면 정상 실행된 것입니다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종료하고 싶을 땐 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/exit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입력하거나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Ctrl+C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를 두 번 누르면 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Google Shape;163;p7"/>
          <p:cNvSpPr/>
          <p:nvPr/>
        </p:nvSpPr>
        <p:spPr>
          <a:xfrm>
            <a:off x="612648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4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실행하면 이런 화면이 나옵니다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3" name="Google Shape;164;p7"/>
          <p:cNvSpPr/>
          <p:nvPr/>
        </p:nvSpPr>
        <p:spPr>
          <a:xfrm>
            <a:off x="6126480" y="221292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터미널에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입력한 모습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Google Shape;165;p7"/>
          <p:cNvSpPr/>
          <p:nvPr/>
        </p:nvSpPr>
        <p:spPr>
          <a:xfrm>
            <a:off x="6080760" y="2496240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Google Shape;166;p7" descr="shots/run_prompt.png"/>
          <p:cNvPicPr/>
          <p:nvPr/>
        </p:nvPicPr>
        <p:blipFill>
          <a:blip r:embed="rId4"/>
          <a:stretch/>
        </p:blipFill>
        <p:spPr>
          <a:xfrm>
            <a:off x="6126480" y="2541960"/>
            <a:ext cx="5558760" cy="31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Google Shape;167;p7"/>
          <p:cNvSpPr/>
          <p:nvPr/>
        </p:nvSpPr>
        <p:spPr>
          <a:xfrm>
            <a:off x="6089760" y="3092760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누르면 잠시 후 환영 화면이 표시됩니다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7" name="Google Shape;168;p7"/>
          <p:cNvSpPr/>
          <p:nvPr/>
        </p:nvSpPr>
        <p:spPr>
          <a:xfrm>
            <a:off x="6080760" y="3434760"/>
            <a:ext cx="5650200" cy="1157040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8" name="Google Shape;169;p7" descr="shots/run_banner.png"/>
          <p:cNvPicPr/>
          <p:nvPr/>
        </p:nvPicPr>
        <p:blipFill>
          <a:blip r:embed="rId5"/>
          <a:stretch/>
        </p:blipFill>
        <p:spPr>
          <a:xfrm>
            <a:off x="6126480" y="3480480"/>
            <a:ext cx="5558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170;p7"/>
          <p:cNvSpPr/>
          <p:nvPr/>
        </p:nvSpPr>
        <p:spPr>
          <a:xfrm>
            <a:off x="6080760" y="5914440"/>
            <a:ext cx="5558760" cy="61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화면의 버전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모델 표기는 시점에 따라 다를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처음 실행이라면 곧바로 로그인 선택 화면이 이어집니다 → 다음 페이지에서 계속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270" name="그림 2"/>
          <p:cNvPicPr/>
          <p:nvPr/>
        </p:nvPicPr>
        <p:blipFill>
          <a:blip r:embed="rId6"/>
          <a:stretch/>
        </p:blipFill>
        <p:spPr>
          <a:xfrm>
            <a:off x="6135480" y="4684680"/>
            <a:ext cx="5558760" cy="102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Google Shape;156;p7"/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/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프롬프트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3" name="Google Shape;159;p7"/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해당 가이드에서는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Codex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사용하지 않기때문에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번을 선택 하시면됩니다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76;p8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177;p8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6" name="Google Shape;178;p8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로그인 화면 — </a:t>
            </a: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번을 선택하세요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7" name="Google Shape;179;p8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처음 실행하면 자동으로 나타나는 화면입니다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마우스는 쓰지 않고 키보드로만 조작합니다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8" name="Google Shape;180;p8"/>
          <p:cNvSpPr/>
          <p:nvPr/>
        </p:nvSpPr>
        <p:spPr>
          <a:xfrm>
            <a:off x="745200" y="1965960"/>
            <a:ext cx="10697760" cy="2396520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Google Shape;181;p8" descr="shots/login1.png"/>
          <p:cNvPicPr/>
          <p:nvPr/>
        </p:nvPicPr>
        <p:blipFill>
          <a:blip r:embed="rId3"/>
          <a:stretch/>
        </p:blipFill>
        <p:spPr>
          <a:xfrm>
            <a:off x="790920" y="2011680"/>
            <a:ext cx="1060632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Google Shape;182;p8"/>
          <p:cNvSpPr/>
          <p:nvPr/>
        </p:nvSpPr>
        <p:spPr>
          <a:xfrm>
            <a:off x="50292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183;p8"/>
          <p:cNvSpPr/>
          <p:nvPr/>
        </p:nvSpPr>
        <p:spPr>
          <a:xfrm>
            <a:off x="73152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184;p8"/>
          <p:cNvSpPr/>
          <p:nvPr/>
        </p:nvSpPr>
        <p:spPr>
          <a:xfrm>
            <a:off x="73152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3" name="Google Shape;185;p8"/>
          <p:cNvSpPr/>
          <p:nvPr/>
        </p:nvSpPr>
        <p:spPr>
          <a:xfrm>
            <a:off x="121608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화면 확인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4" name="Google Shape;186;p8"/>
          <p:cNvSpPr/>
          <p:nvPr/>
        </p:nvSpPr>
        <p:spPr>
          <a:xfrm>
            <a:off x="73152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“Select login method”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라는 선택 화면이 보입니다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세 가지 로그인 방법 중 하나를 고르는 단계입니다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5" name="Google Shape;187;p8"/>
          <p:cNvSpPr/>
          <p:nvPr/>
        </p:nvSpPr>
        <p:spPr>
          <a:xfrm>
            <a:off x="42886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Google Shape;188;p8"/>
          <p:cNvSpPr/>
          <p:nvPr/>
        </p:nvSpPr>
        <p:spPr>
          <a:xfrm>
            <a:off x="45172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189;p8"/>
          <p:cNvSpPr/>
          <p:nvPr/>
        </p:nvSpPr>
        <p:spPr>
          <a:xfrm>
            <a:off x="45172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8" name="Google Shape;190;p8"/>
          <p:cNvSpPr/>
          <p:nvPr/>
        </p:nvSpPr>
        <p:spPr>
          <a:xfrm>
            <a:off x="50018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키보드 ↑ ↓ 로 이동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9" name="Google Shape;191;p8"/>
          <p:cNvSpPr/>
          <p:nvPr/>
        </p:nvSpPr>
        <p:spPr>
          <a:xfrm>
            <a:off x="45172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방향키로 항목을 이동할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❯ 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표시가 </a:t>
            </a:r>
            <a:r>
              <a:rPr lang="en-US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번에 있는지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확인하세요. (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기본으로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번에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0" name="Google Shape;192;p8"/>
          <p:cNvSpPr/>
          <p:nvPr/>
        </p:nvSpPr>
        <p:spPr>
          <a:xfrm>
            <a:off x="8074080" y="4709160"/>
            <a:ext cx="3611160" cy="159948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193;p8"/>
          <p:cNvSpPr/>
          <p:nvPr/>
        </p:nvSpPr>
        <p:spPr>
          <a:xfrm>
            <a:off x="8302680" y="4937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194;p8"/>
          <p:cNvSpPr/>
          <p:nvPr/>
        </p:nvSpPr>
        <p:spPr>
          <a:xfrm>
            <a:off x="8302680" y="4937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3" name="Google Shape;195;p8"/>
          <p:cNvSpPr/>
          <p:nvPr/>
        </p:nvSpPr>
        <p:spPr>
          <a:xfrm>
            <a:off x="8787240" y="4946760"/>
            <a:ext cx="269676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로 선택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4" name="Google Shape;196;p8"/>
          <p:cNvSpPr/>
          <p:nvPr/>
        </p:nvSpPr>
        <p:spPr>
          <a:xfrm>
            <a:off x="8302680" y="5394960"/>
            <a:ext cx="3153960" cy="82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1. Claude account with subscription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우리 팀은 항상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번만 사용합니다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02;p9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203;p9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7" name="Google Shape;204;p9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로그인 완료하기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8" name="Google Shape;205;p9"/>
          <p:cNvSpPr/>
          <p:nvPr/>
        </p:nvSpPr>
        <p:spPr>
          <a:xfrm>
            <a:off x="1298520" y="1115640"/>
            <a:ext cx="103320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번을 선택하면 브라우저가 자동으로 열립니다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실제 화면과 함께 순서대로 진행해 보세요</a:t>
            </a:r>
            <a:r>
              <a:rPr lang="en-US" sz="13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9" name="Google Shape;206;p9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207;p9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1" name="Google Shape;208;p9"/>
          <p:cNvSpPr/>
          <p:nvPr/>
        </p:nvSpPr>
        <p:spPr>
          <a:xfrm>
            <a:off x="97848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브라우저에서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[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승인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]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2" name="Google Shape;209;p9"/>
          <p:cNvSpPr/>
          <p:nvPr/>
        </p:nvSpPr>
        <p:spPr>
          <a:xfrm>
            <a:off x="97848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연결 요청 화면이 뜨면 팀 계정으로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로그인한 뒤 승인 버튼을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3" name="Google Shape;210;p9"/>
          <p:cNvSpPr/>
          <p:nvPr/>
        </p:nvSpPr>
        <p:spPr>
          <a:xfrm>
            <a:off x="1120320" y="2834640"/>
            <a:ext cx="2376720" cy="283608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Google Shape;211;p9" descr="shots/login3.png"/>
          <p:cNvPicPr/>
          <p:nvPr/>
        </p:nvPicPr>
        <p:blipFill>
          <a:blip r:embed="rId3"/>
          <a:stretch/>
        </p:blipFill>
        <p:spPr>
          <a:xfrm>
            <a:off x="1166040" y="2880360"/>
            <a:ext cx="2285280" cy="274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Google Shape;212;p9"/>
          <p:cNvSpPr/>
          <p:nvPr/>
        </p:nvSpPr>
        <p:spPr>
          <a:xfrm>
            <a:off x="429768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13;p9"/>
          <p:cNvSpPr/>
          <p:nvPr/>
        </p:nvSpPr>
        <p:spPr>
          <a:xfrm>
            <a:off x="429768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7" name="Google Shape;214;p9"/>
          <p:cNvSpPr/>
          <p:nvPr/>
        </p:nvSpPr>
        <p:spPr>
          <a:xfrm>
            <a:off x="4773240" y="1792080"/>
            <a:ext cx="31356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완료 화면이 뜨면 창 닫기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8" name="Google Shape;215;p9"/>
          <p:cNvSpPr/>
          <p:nvPr/>
        </p:nvSpPr>
        <p:spPr>
          <a:xfrm>
            <a:off x="4773240" y="2121480"/>
            <a:ext cx="313560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“Claude Code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설정이 완료되었습니다”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보이면 브라우저는 닫아도 됩니다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9" name="Google Shape;216;p9"/>
          <p:cNvSpPr/>
          <p:nvPr/>
        </p:nvSpPr>
        <p:spPr>
          <a:xfrm>
            <a:off x="4572000" y="2834640"/>
            <a:ext cx="3062520" cy="2373840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Google Shape;217;p9" descr="shots/login4.png"/>
          <p:cNvPicPr/>
          <p:nvPr/>
        </p:nvPicPr>
        <p:blipFill>
          <a:blip r:embed="rId4"/>
          <a:stretch/>
        </p:blipFill>
        <p:spPr>
          <a:xfrm>
            <a:off x="4617720" y="2880360"/>
            <a:ext cx="2971080" cy="228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Google Shape;218;p9"/>
          <p:cNvSpPr/>
          <p:nvPr/>
        </p:nvSpPr>
        <p:spPr>
          <a:xfrm>
            <a:off x="809244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219;p9"/>
          <p:cNvSpPr/>
          <p:nvPr/>
        </p:nvSpPr>
        <p:spPr>
          <a:xfrm>
            <a:off x="809244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3" name="Google Shape;220;p9"/>
          <p:cNvSpPr/>
          <p:nvPr/>
        </p:nvSpPr>
        <p:spPr>
          <a:xfrm>
            <a:off x="8568000" y="1792080"/>
            <a:ext cx="311724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터미널로 돌아와 </a:t>
            </a: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4" name="Google Shape;221;p9"/>
          <p:cNvSpPr/>
          <p:nvPr/>
        </p:nvSpPr>
        <p:spPr>
          <a:xfrm>
            <a:off x="8568000" y="21214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Logged in as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회사계정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· Login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successful 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확인 후 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Enter</a:t>
            </a:r>
            <a:r>
              <a:rPr lang="ko-KR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누릅니다</a:t>
            </a:r>
            <a:r>
              <a:rPr lang="en-US" sz="10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5" name="Google Shape;222;p9"/>
          <p:cNvSpPr/>
          <p:nvPr/>
        </p:nvSpPr>
        <p:spPr>
          <a:xfrm>
            <a:off x="8083440" y="2834640"/>
            <a:ext cx="3611160" cy="869040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Google Shape;223;p9" descr="shots/login5.png"/>
          <p:cNvPicPr/>
          <p:nvPr/>
        </p:nvPicPr>
        <p:blipFill>
          <a:blip r:embed="rId5"/>
          <a:stretch/>
        </p:blipFill>
        <p:spPr>
          <a:xfrm>
            <a:off x="8129160" y="2880360"/>
            <a:ext cx="3519720" cy="77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Google Shape;224;p9"/>
          <p:cNvSpPr/>
          <p:nvPr/>
        </p:nvSpPr>
        <p:spPr>
          <a:xfrm>
            <a:off x="502920" y="5897880"/>
            <a:ext cx="11182320" cy="54792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Google Shape;225;p9" descr="preencoded.png"/>
          <p:cNvPicPr/>
          <p:nvPr/>
        </p:nvPicPr>
        <p:blipFill>
          <a:blip r:embed="rId6"/>
          <a:stretch/>
        </p:blipFill>
        <p:spPr>
          <a:xfrm>
            <a:off x="704160" y="60440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Google Shape;226;p9"/>
          <p:cNvSpPr/>
          <p:nvPr/>
        </p:nvSpPr>
        <p:spPr>
          <a:xfrm>
            <a:off x="1069920" y="5897880"/>
            <a:ext cx="1043244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한 번 로그인하면 자격 증명이 저장되어 </a:t>
            </a:r>
            <a:r>
              <a:rPr lang="ko-KR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다시 로그인할 필요가 없습니다</a:t>
            </a:r>
            <a:r>
              <a:rPr lang="en-US" sz="11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다음부터는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만 입력하면 바로 시작됩니다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0" name="Google Shape;227;p9"/>
          <p:cNvSpPr/>
          <p:nvPr/>
        </p:nvSpPr>
        <p:spPr>
          <a:xfrm>
            <a:off x="502920" y="6510600"/>
            <a:ext cx="1115496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막히면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? 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브라우저가 안 열리면 터미널에 표시된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URL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을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(c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키로 복사해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주소창에 붙여넣으세요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잘못 선택했다면 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Esc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누른 뒤 </a:t>
            </a: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/login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으로 언제든 다시 시작할 수 있습니다</a:t>
            </a:r>
            <a:r>
              <a:rPr lang="en-US" sz="110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33;p10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34;p10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3" name="Google Shape;235;p10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플러그인 설치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4" name="Google Shape;236;p10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237;p10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6" name="Google Shape;238;p10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설정 창 열기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7" name="Google Shape;239;p10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메뉴에서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File → Settings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(macOS: IntelliJ IDEA → Settings)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8" name="Google Shape;240;p10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241;p10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0" name="Google Shape;242;p10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Plugins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에서 검색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1" name="Google Shape;243;p10"/>
          <p:cNvSpPr/>
          <p:nvPr/>
        </p:nvSpPr>
        <p:spPr>
          <a:xfrm>
            <a:off x="978480" y="298080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왼쪽 목록에서 “플러그인”을 누르고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검색창에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2" name="Google Shape;244;p10"/>
          <p:cNvSpPr/>
          <p:nvPr/>
        </p:nvSpPr>
        <p:spPr>
          <a:xfrm>
            <a:off x="502920" y="352044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245;p10"/>
          <p:cNvSpPr/>
          <p:nvPr/>
        </p:nvSpPr>
        <p:spPr>
          <a:xfrm>
            <a:off x="502920" y="35204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4" name="Google Shape;246;p10"/>
          <p:cNvSpPr/>
          <p:nvPr/>
        </p:nvSpPr>
        <p:spPr>
          <a:xfrm>
            <a:off x="978480" y="352944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설치 후 재시작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5" name="Google Shape;247;p10"/>
          <p:cNvSpPr/>
          <p:nvPr/>
        </p:nvSpPr>
        <p:spPr>
          <a:xfrm>
            <a:off x="978480" y="384948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가 만든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[Beta]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의 “설치”를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누르고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를 재시작합니다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6" name="Google Shape;248;p10"/>
          <p:cNvSpPr/>
          <p:nvPr/>
        </p:nvSpPr>
        <p:spPr>
          <a:xfrm>
            <a:off x="502920" y="4709160"/>
            <a:ext cx="3565440" cy="118800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oogle Shape;249;p10" descr="preencoded.png"/>
          <p:cNvPicPr/>
          <p:nvPr/>
        </p:nvPicPr>
        <p:blipFill>
          <a:blip r:embed="rId3"/>
          <a:stretch/>
        </p:blipFill>
        <p:spPr>
          <a:xfrm>
            <a:off x="704160" y="517536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Google Shape;250;p10"/>
          <p:cNvSpPr/>
          <p:nvPr/>
        </p:nvSpPr>
        <p:spPr>
          <a:xfrm>
            <a:off x="1069920" y="4709160"/>
            <a:ext cx="2815560" cy="118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비슷한 이름의 플러그인이 많습니다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제작사가 </a:t>
            </a:r>
            <a:r>
              <a:rPr lang="en-US" sz="115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Anthropic PBC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인 것을 설치하세요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9" name="Google Shape;251;p10"/>
          <p:cNvSpPr/>
          <p:nvPr/>
        </p:nvSpPr>
        <p:spPr>
          <a:xfrm>
            <a:off x="4434840" y="1554480"/>
            <a:ext cx="676512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0" name="Google Shape;252;p10" descr="shots/intellij1.png"/>
          <p:cNvPicPr/>
          <p:nvPr/>
        </p:nvPicPr>
        <p:blipFill>
          <a:blip r:embed="rId4"/>
          <a:stretch/>
        </p:blipFill>
        <p:spPr>
          <a:xfrm>
            <a:off x="4480560" y="1600200"/>
            <a:ext cx="667368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8;p11"/>
          <p:cNvSpPr/>
          <p:nvPr/>
        </p:nvSpPr>
        <p:spPr>
          <a:xfrm>
            <a:off x="502920" y="457200"/>
            <a:ext cx="566280" cy="5662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59;p11"/>
          <p:cNvSpPr/>
          <p:nvPr/>
        </p:nvSpPr>
        <p:spPr>
          <a:xfrm>
            <a:off x="502920" y="45720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3" name="Google Shape;260;p11"/>
          <p:cNvSpPr/>
          <p:nvPr/>
        </p:nvSpPr>
        <p:spPr>
          <a:xfrm>
            <a:off x="1280160" y="384120"/>
            <a:ext cx="969192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STEP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300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연동 — 실행 확인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4" name="Google Shape;261;p11"/>
          <p:cNvSpPr/>
          <p:nvPr/>
        </p:nvSpPr>
        <p:spPr>
          <a:xfrm>
            <a:off x="502920" y="178308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262;p11"/>
          <p:cNvSpPr/>
          <p:nvPr/>
        </p:nvSpPr>
        <p:spPr>
          <a:xfrm>
            <a:off x="502920" y="178308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Google Shape;263;p11"/>
          <p:cNvSpPr/>
          <p:nvPr/>
        </p:nvSpPr>
        <p:spPr>
          <a:xfrm>
            <a:off x="978480" y="179208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아이콘 클릭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7" name="Google Shape;264;p11"/>
          <p:cNvSpPr/>
          <p:nvPr/>
        </p:nvSpPr>
        <p:spPr>
          <a:xfrm>
            <a:off x="978480" y="2112120"/>
            <a:ext cx="3089880" cy="59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재시작 후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IDE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화면 상단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(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우측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)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생긴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아이콘을 누릅니다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8" name="Google Shape;265;p11"/>
          <p:cNvSpPr/>
          <p:nvPr/>
        </p:nvSpPr>
        <p:spPr>
          <a:xfrm>
            <a:off x="502920" y="2651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266;p11"/>
          <p:cNvSpPr/>
          <p:nvPr/>
        </p:nvSpPr>
        <p:spPr>
          <a:xfrm>
            <a:off x="502920" y="265176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Google Shape;267;p11"/>
          <p:cNvSpPr/>
          <p:nvPr/>
        </p:nvSpPr>
        <p:spPr>
          <a:xfrm>
            <a:off x="978480" y="2660760"/>
            <a:ext cx="30898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터미널 탭 자동 실행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1" name="Google Shape;268;p11"/>
          <p:cNvSpPr/>
          <p:nvPr/>
        </p:nvSpPr>
        <p:spPr>
          <a:xfrm>
            <a:off x="978480" y="2980800"/>
            <a:ext cx="3089880" cy="867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하단에 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탭이 열리고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자동으로 실행됩니다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앞에서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로그인했다면 바로 사용 가능합니다</a:t>
            </a:r>
            <a:r>
              <a:rPr lang="en-US" sz="1150" b="0" u="none" strike="noStrike">
                <a:solidFill>
                  <a:srgbClr val="7A746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2" name="Google Shape;269;p11"/>
          <p:cNvSpPr/>
          <p:nvPr/>
        </p:nvSpPr>
        <p:spPr>
          <a:xfrm>
            <a:off x="502920" y="3840480"/>
            <a:ext cx="3565440" cy="114228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Google Shape;270;p11" descr="preencoded.png"/>
          <p:cNvPicPr/>
          <p:nvPr/>
        </p:nvPicPr>
        <p:blipFill>
          <a:blip r:embed="rId3"/>
          <a:stretch/>
        </p:blipFill>
        <p:spPr>
          <a:xfrm>
            <a:off x="704160" y="428400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Google Shape;271;p11"/>
          <p:cNvSpPr/>
          <p:nvPr/>
        </p:nvSpPr>
        <p:spPr>
          <a:xfrm>
            <a:off x="1069920" y="3840480"/>
            <a:ext cx="281556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오른쪽처럼 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Claude Code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배너와 입력창이 보이면 연동 완료입니다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 </a:t>
            </a:r>
            <a:r>
              <a:rPr lang="ko-KR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이후 작업은 모두 이 창에서 진행합니다</a:t>
            </a:r>
            <a:r>
              <a:rPr lang="en-US" sz="1150" b="0" u="none" strike="noStrike">
                <a:solidFill>
                  <a:srgbClr val="33302B"/>
                </a:solidFill>
                <a:effectLst/>
                <a:uFillTx/>
                <a:latin typeface="Malgun Gothic"/>
                <a:ea typeface="Malgun Gothic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5" name="Google Shape;272;p11"/>
          <p:cNvSpPr/>
          <p:nvPr/>
        </p:nvSpPr>
        <p:spPr>
          <a:xfrm>
            <a:off x="4160520" y="1554480"/>
            <a:ext cx="7553160" cy="493704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Google Shape;273;p11" descr="shots/intellij2.png"/>
          <p:cNvPicPr/>
          <p:nvPr/>
        </p:nvPicPr>
        <p:blipFill>
          <a:blip r:embed="rId4"/>
          <a:stretch/>
        </p:blipFill>
        <p:spPr>
          <a:xfrm>
            <a:off x="4206240" y="1600200"/>
            <a:ext cx="7461720" cy="4845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6;p 1"/>
          <p:cNvSpPr/>
          <p:nvPr/>
        </p:nvSpPr>
        <p:spPr>
          <a:xfrm>
            <a:off x="822960" y="822960"/>
            <a:ext cx="2284560" cy="56556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17;p 2"/>
          <p:cNvSpPr/>
          <p:nvPr/>
        </p:nvSpPr>
        <p:spPr>
          <a:xfrm>
            <a:off x="987480" y="1060560"/>
            <a:ext cx="99000" cy="9900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18;p 2"/>
          <p:cNvSpPr/>
          <p:nvPr/>
        </p:nvSpPr>
        <p:spPr>
          <a:xfrm>
            <a:off x="1188720" y="1060560"/>
            <a:ext cx="99000" cy="9900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19;p 2"/>
          <p:cNvSpPr/>
          <p:nvPr/>
        </p:nvSpPr>
        <p:spPr>
          <a:xfrm>
            <a:off x="1389960" y="1060560"/>
            <a:ext cx="99000" cy="9900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9680" tIns="34920" rIns="49680" bIns="3492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20;p 2"/>
          <p:cNvSpPr/>
          <p:nvPr/>
        </p:nvSpPr>
        <p:spPr>
          <a:xfrm>
            <a:off x="1600200" y="822960"/>
            <a:ext cx="1461600" cy="56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2" name="Google Shape;21;p 2"/>
          <p:cNvSpPr/>
          <p:nvPr/>
        </p:nvSpPr>
        <p:spPr>
          <a:xfrm>
            <a:off x="822960" y="2011680"/>
            <a:ext cx="10514160" cy="146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Multi-agent-starter (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 System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3" name="Google Shape;22;p 2"/>
          <p:cNvSpPr/>
          <p:nvPr/>
        </p:nvSpPr>
        <p:spPr>
          <a:xfrm>
            <a:off x="841320" y="352044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4" name="Google Shape;23;p 2"/>
          <p:cNvSpPr/>
          <p:nvPr/>
        </p:nvSpPr>
        <p:spPr>
          <a:xfrm>
            <a:off x="841320" y="402336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5" name="Google Shape;24;p 2"/>
          <p:cNvSpPr/>
          <p:nvPr/>
        </p:nvSpPr>
        <p:spPr>
          <a:xfrm>
            <a:off x="822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25;p 2"/>
          <p:cNvSpPr/>
          <p:nvPr/>
        </p:nvSpPr>
        <p:spPr>
          <a:xfrm>
            <a:off x="969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7" name="Google Shape;26;p 2"/>
          <p:cNvSpPr/>
          <p:nvPr/>
        </p:nvSpPr>
        <p:spPr>
          <a:xfrm>
            <a:off x="26517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27;p 2"/>
          <p:cNvSpPr/>
          <p:nvPr/>
        </p:nvSpPr>
        <p:spPr>
          <a:xfrm>
            <a:off x="27979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9" name="Google Shape;28;p 2"/>
          <p:cNvSpPr/>
          <p:nvPr/>
        </p:nvSpPr>
        <p:spPr>
          <a:xfrm>
            <a:off x="44805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29;p 2"/>
          <p:cNvSpPr/>
          <p:nvPr/>
        </p:nvSpPr>
        <p:spPr>
          <a:xfrm>
            <a:off x="46267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1" name="Google Shape;30;p 2"/>
          <p:cNvSpPr/>
          <p:nvPr/>
        </p:nvSpPr>
        <p:spPr>
          <a:xfrm>
            <a:off x="63093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31;p 2"/>
          <p:cNvSpPr/>
          <p:nvPr/>
        </p:nvSpPr>
        <p:spPr>
          <a:xfrm>
            <a:off x="64555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3" name="Google Shape;32;p 2"/>
          <p:cNvSpPr/>
          <p:nvPr/>
        </p:nvSpPr>
        <p:spPr>
          <a:xfrm>
            <a:off x="81381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33;p 2"/>
          <p:cNvSpPr/>
          <p:nvPr/>
        </p:nvSpPr>
        <p:spPr>
          <a:xfrm>
            <a:off x="82843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5" name="Google Shape;34;p 2"/>
          <p:cNvSpPr/>
          <p:nvPr/>
        </p:nvSpPr>
        <p:spPr>
          <a:xfrm>
            <a:off x="9966960" y="5349240"/>
            <a:ext cx="1699200" cy="73008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35;p 2"/>
          <p:cNvSpPr/>
          <p:nvPr/>
        </p:nvSpPr>
        <p:spPr>
          <a:xfrm>
            <a:off x="10113120" y="5349240"/>
            <a:ext cx="1424880" cy="73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5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7"/>
          <p:cNvSpPr/>
          <p:nvPr/>
        </p:nvSpPr>
        <p:spPr>
          <a:xfrm>
            <a:off x="899208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/>
          </p:nvPr>
        </p:nvSpPr>
        <p:spPr>
          <a:xfrm>
            <a:off x="623880" y="44928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①②③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80" name="그림 379"/>
          <p:cNvPicPr/>
          <p:nvPr/>
        </p:nvPicPr>
        <p:blipFill>
          <a:blip r:embed="rId3"/>
          <a:stretch/>
        </p:blipFill>
        <p:spPr>
          <a:xfrm>
            <a:off x="716040" y="1323360"/>
            <a:ext cx="8133120" cy="454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직사각형 1"/>
          <p:cNvSpPr/>
          <p:nvPr/>
        </p:nvSpPr>
        <p:spPr>
          <a:xfrm>
            <a:off x="2839680" y="1869120"/>
            <a:ext cx="129924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직사각형 3"/>
          <p:cNvSpPr/>
          <p:nvPr/>
        </p:nvSpPr>
        <p:spPr>
          <a:xfrm>
            <a:off x="3600000" y="3420000"/>
            <a:ext cx="67572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3" name="타원 1"/>
          <p:cNvSpPr/>
          <p:nvPr/>
        </p:nvSpPr>
        <p:spPr>
          <a:xfrm>
            <a:off x="2610000" y="171036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4" name="타원 4"/>
          <p:cNvSpPr/>
          <p:nvPr/>
        </p:nvSpPr>
        <p:spPr>
          <a:xfrm>
            <a:off x="4230360" y="324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5" name="직사각형 4"/>
          <p:cNvSpPr/>
          <p:nvPr/>
        </p:nvSpPr>
        <p:spPr>
          <a:xfrm>
            <a:off x="2839680" y="3240000"/>
            <a:ext cx="1299240" cy="178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6" name="타원 6"/>
          <p:cNvSpPr/>
          <p:nvPr/>
        </p:nvSpPr>
        <p:spPr>
          <a:xfrm>
            <a:off x="2610360" y="30600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7" name="직사각형 7"/>
          <p:cNvSpPr/>
          <p:nvPr/>
        </p:nvSpPr>
        <p:spPr>
          <a:xfrm>
            <a:off x="796320" y="1404720"/>
            <a:ext cx="11826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④⑤⑥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390" name="그림 3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직사각형 2"/>
          <p:cNvSpPr/>
          <p:nvPr/>
        </p:nvSpPr>
        <p:spPr>
          <a:xfrm>
            <a:off x="724320" y="35492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2" name="직사각형 5"/>
          <p:cNvSpPr/>
          <p:nvPr/>
        </p:nvSpPr>
        <p:spPr>
          <a:xfrm>
            <a:off x="2926080" y="4007880"/>
            <a:ext cx="95436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타원 2"/>
          <p:cNvSpPr/>
          <p:nvPr/>
        </p:nvSpPr>
        <p:spPr>
          <a:xfrm>
            <a:off x="623880" y="33786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4" name="타원 3"/>
          <p:cNvSpPr/>
          <p:nvPr/>
        </p:nvSpPr>
        <p:spPr>
          <a:xfrm>
            <a:off x="2791080" y="381780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5" name="직사각형 6"/>
          <p:cNvSpPr/>
          <p:nvPr/>
        </p:nvSpPr>
        <p:spPr>
          <a:xfrm>
            <a:off x="741600" y="4564080"/>
            <a:ext cx="1508400" cy="214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6" name="타원 5"/>
          <p:cNvSpPr/>
          <p:nvPr/>
        </p:nvSpPr>
        <p:spPr>
          <a:xfrm>
            <a:off x="624240" y="4430520"/>
            <a:ext cx="26856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97" name="Shape 12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0" name="그림 1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직사각형 8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2" name="타원 7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3" name="Shape 1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18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06" name="그림 4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직사각형 9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8" name="타원 8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9" name="직사각형 12"/>
          <p:cNvSpPr/>
          <p:nvPr/>
        </p:nvSpPr>
        <p:spPr>
          <a:xfrm>
            <a:off x="1895040" y="5490000"/>
            <a:ext cx="116460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3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24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⑨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3" name="그림 5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직사각형 10"/>
          <p:cNvSpPr/>
          <p:nvPr/>
        </p:nvSpPr>
        <p:spPr>
          <a:xfrm>
            <a:off x="724320" y="509364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5" name="타원 9"/>
          <p:cNvSpPr/>
          <p:nvPr/>
        </p:nvSpPr>
        <p:spPr>
          <a:xfrm>
            <a:off x="623880" y="4923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2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예제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플러그인 설치 ⑩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19" name="그림 6"/>
          <p:cNvPicPr/>
          <p:nvPr/>
        </p:nvPicPr>
        <p:blipFill>
          <a:blip r:embed="rId3"/>
          <a:stretch/>
        </p:blipFill>
        <p:spPr>
          <a:xfrm>
            <a:off x="694800" y="1323360"/>
            <a:ext cx="8154360" cy="458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직사각형 11"/>
          <p:cNvSpPr/>
          <p:nvPr/>
        </p:nvSpPr>
        <p:spPr>
          <a:xfrm>
            <a:off x="724320" y="3281760"/>
            <a:ext cx="7986960" cy="268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1" name="타원 10"/>
          <p:cNvSpPr/>
          <p:nvPr/>
        </p:nvSpPr>
        <p:spPr>
          <a:xfrm>
            <a:off x="623880" y="3111480"/>
            <a:ext cx="251280" cy="251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22" name="Shape 3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설치할 디렉토리 생성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스크린샷 –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orchestrator)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해당 디렉토리로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claude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/plugins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Marketplaces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+Add Marketplace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netwaif/multi-agent-starter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multi-agent-starter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⑨ Install for you, in this repo only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⑩ /reload-plugins 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Shape 31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①②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25" name="Shape 35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26" name="그림 425"/>
          <p:cNvPicPr/>
          <p:nvPr/>
        </p:nvPicPr>
        <p:blipFill>
          <a:blip r:embed="rId3"/>
          <a:srcRect b="31196"/>
          <a:stretch/>
        </p:blipFill>
        <p:spPr>
          <a:xfrm>
            <a:off x="695160" y="1323360"/>
            <a:ext cx="8148600" cy="458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직사각형 13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8" name="타원 11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36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③④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31" name="Shape 37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터미널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‘Move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2" name="직사각형 15"/>
          <p:cNvSpPr/>
          <p:nvPr/>
        </p:nvSpPr>
        <p:spPr>
          <a:xfrm>
            <a:off x="7347960" y="1917720"/>
            <a:ext cx="129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3" name="타원 15"/>
          <p:cNvSpPr/>
          <p:nvPr/>
        </p:nvSpPr>
        <p:spPr>
          <a:xfrm>
            <a:off x="7200000" y="180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434" name="그림 433"/>
          <p:cNvPicPr/>
          <p:nvPr/>
        </p:nvPicPr>
        <p:blipFill>
          <a:blip r:embed="rId3"/>
          <a:srcRect t="78185" b="-41"/>
          <a:stretch/>
        </p:blipFill>
        <p:spPr>
          <a:xfrm>
            <a:off x="695520" y="4500000"/>
            <a:ext cx="8124120" cy="14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그림 434"/>
          <p:cNvPicPr/>
          <p:nvPr/>
        </p:nvPicPr>
        <p:blipFill>
          <a:blip r:embed="rId3"/>
          <a:srcRect b="50665"/>
          <a:stretch/>
        </p:blipFill>
        <p:spPr>
          <a:xfrm>
            <a:off x="695160" y="1323360"/>
            <a:ext cx="8124120" cy="32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직사각형 18"/>
          <p:cNvSpPr/>
          <p:nvPr/>
        </p:nvSpPr>
        <p:spPr>
          <a:xfrm>
            <a:off x="3381120" y="2340000"/>
            <a:ext cx="363816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7" name="타원 16"/>
          <p:cNvSpPr/>
          <p:nvPr/>
        </p:nvSpPr>
        <p:spPr>
          <a:xfrm>
            <a:off x="3240000" y="216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38" name="직사각형 19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39" name="타원 17"/>
          <p:cNvSpPr/>
          <p:nvPr/>
        </p:nvSpPr>
        <p:spPr>
          <a:xfrm>
            <a:off x="6804720" y="52902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39"/>
          <p:cNvSpPr/>
          <p:nvPr/>
        </p:nvSpPr>
        <p:spPr>
          <a:xfrm>
            <a:off x="623880" y="1062000"/>
            <a:ext cx="8295840" cy="510876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29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실무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–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포터블형 ⑤⑥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442" name="Shape 40"/>
          <p:cNvSpPr/>
          <p:nvPr/>
        </p:nvSpPr>
        <p:spPr>
          <a:xfrm>
            <a:off x="8992440" y="1062000"/>
            <a:ext cx="2574720" cy="510876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Clone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URL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입력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https://github.com/313DEVGRP/Java-Service-Tree-Framework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Clone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Claude Code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아이콘 선택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명령 실행 터미널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-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에디터 화면으로 이동은 우클릭 ‘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Move to Editor’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이후에는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Intellij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안에서만 개발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443" name="직사각형 14"/>
          <p:cNvSpPr/>
          <p:nvPr/>
        </p:nvSpPr>
        <p:spPr>
          <a:xfrm>
            <a:off x="6980400" y="5463360"/>
            <a:ext cx="890640" cy="407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44" name="그림 443"/>
          <p:cNvPicPr/>
          <p:nvPr/>
        </p:nvPicPr>
        <p:blipFill>
          <a:blip r:embed="rId3"/>
          <a:stretch/>
        </p:blipFill>
        <p:spPr>
          <a:xfrm>
            <a:off x="694800" y="1323360"/>
            <a:ext cx="8124480" cy="461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직사각형 16"/>
          <p:cNvSpPr/>
          <p:nvPr/>
        </p:nvSpPr>
        <p:spPr>
          <a:xfrm>
            <a:off x="7920000" y="1260000"/>
            <a:ext cx="236520" cy="236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6" name="타원 12"/>
          <p:cNvSpPr/>
          <p:nvPr/>
        </p:nvSpPr>
        <p:spPr>
          <a:xfrm>
            <a:off x="7740000" y="108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7" name="직사각형 17"/>
          <p:cNvSpPr/>
          <p:nvPr/>
        </p:nvSpPr>
        <p:spPr>
          <a:xfrm>
            <a:off x="1022760" y="4320000"/>
            <a:ext cx="416520" cy="17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8" name="타원 13"/>
          <p:cNvSpPr/>
          <p:nvPr/>
        </p:nvSpPr>
        <p:spPr>
          <a:xfrm>
            <a:off x="810360" y="4140000"/>
            <a:ext cx="268920" cy="2685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16;p 2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Google Shape;17;p 3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18;p 3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19;p 3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20;p 3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4" name="Google Shape;21;p 3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Multi-agent-starter (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스타터</a:t>
            </a:r>
            <a:r>
              <a:rPr lang="en-US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4800" b="0" u="none" strike="noStrike">
                <a:solidFill>
                  <a:schemeClr val="accent3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Multi-agent System </a:t>
            </a:r>
            <a:r>
              <a:rPr lang="ko-KR" sz="4800" b="0" u="none" strike="noStrike">
                <a:solidFill>
                  <a:schemeClr val="lt1"/>
                </a:solidFill>
                <a:effectLst/>
                <a:uFillTx/>
                <a:latin typeface="프리젠테이션 6 SemiBold"/>
                <a:ea typeface="프리젠테이션 6 SemiBold"/>
              </a:rPr>
              <a:t>구성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5" name="Google Shape;22;p 3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6" name="Google Shape;23;p 3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7" name="Google Shape;24;p 3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25;p 3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9" name="Google Shape;26;p 3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27;p 3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1" name="Google Shape;28;p 3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29;p 3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3" name="Google Shape;30;p 3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Google Shape;31;p 3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5" name="Google Shape;32;p 3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Google Shape;33;p 3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7" name="Google Shape;34;p 3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Google Shape;35;p 3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1" name="그림 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직사각형 20"/>
          <p:cNvSpPr/>
          <p:nvPr/>
        </p:nvSpPr>
        <p:spPr>
          <a:xfrm>
            <a:off x="724320" y="4386240"/>
            <a:ext cx="798768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3" name="타원 14"/>
          <p:cNvSpPr/>
          <p:nvPr/>
        </p:nvSpPr>
        <p:spPr>
          <a:xfrm>
            <a:off x="623880" y="42156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4" name="Text 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5" name="Shape 4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78" name="그림 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직사각형 21"/>
          <p:cNvSpPr/>
          <p:nvPr/>
        </p:nvSpPr>
        <p:spPr>
          <a:xfrm>
            <a:off x="724320" y="3963240"/>
            <a:ext cx="8056800" cy="530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타원 18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1" name="Text 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2" name="Shape 4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4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③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85" name="그림 9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직사각형 22"/>
          <p:cNvSpPr/>
          <p:nvPr/>
        </p:nvSpPr>
        <p:spPr>
          <a:xfrm>
            <a:off x="724320" y="3963240"/>
            <a:ext cx="8056800" cy="446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7" name="타원 19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8" name="Text 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9" name="Shape 4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4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2" name="그림 1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직사각형 23"/>
          <p:cNvSpPr/>
          <p:nvPr/>
        </p:nvSpPr>
        <p:spPr>
          <a:xfrm>
            <a:off x="724320" y="3963240"/>
            <a:ext cx="8056800" cy="1503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4" name="타원 20"/>
          <p:cNvSpPr/>
          <p:nvPr/>
        </p:nvSpPr>
        <p:spPr>
          <a:xfrm>
            <a:off x="623880" y="379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95" name="Text 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6" name="Shape 4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499" name="그림 1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직사각형 24"/>
          <p:cNvSpPr/>
          <p:nvPr/>
        </p:nvSpPr>
        <p:spPr>
          <a:xfrm>
            <a:off x="724320" y="3562200"/>
            <a:ext cx="8056800" cy="12279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1" name="타원 21"/>
          <p:cNvSpPr/>
          <p:nvPr/>
        </p:nvSpPr>
        <p:spPr>
          <a:xfrm>
            <a:off x="623880" y="33451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2" name="Text 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3" name="Shape 5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5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06" name="그림 12"/>
          <p:cNvPicPr/>
          <p:nvPr/>
        </p:nvPicPr>
        <p:blipFill>
          <a:blip r:embed="rId3"/>
          <a:stretch/>
        </p:blipFill>
        <p:spPr>
          <a:xfrm>
            <a:off x="694800" y="1327680"/>
            <a:ext cx="8155080" cy="457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직사각형 25"/>
          <p:cNvSpPr/>
          <p:nvPr/>
        </p:nvSpPr>
        <p:spPr>
          <a:xfrm>
            <a:off x="3533760" y="2552760"/>
            <a:ext cx="4895280" cy="30758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8" name="타원 22"/>
          <p:cNvSpPr/>
          <p:nvPr/>
        </p:nvSpPr>
        <p:spPr>
          <a:xfrm>
            <a:off x="3398400" y="2417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9" name="Text 9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0" name="Shape 5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5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13" name="그림 1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직사각형 26"/>
          <p:cNvSpPr/>
          <p:nvPr/>
        </p:nvSpPr>
        <p:spPr>
          <a:xfrm>
            <a:off x="724320" y="2581200"/>
            <a:ext cx="8056800" cy="2761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5" name="타원 23"/>
          <p:cNvSpPr/>
          <p:nvPr/>
        </p:nvSpPr>
        <p:spPr>
          <a:xfrm>
            <a:off x="604800" y="2444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6" name="Text 1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17" name="직선 연결선 2"/>
          <p:cNvCxnSpPr/>
          <p:nvPr/>
        </p:nvCxnSpPr>
        <p:spPr>
          <a:xfrm>
            <a:off x="5419440" y="2809800"/>
            <a:ext cx="154404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18" name="Shape 5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1" name="그림 1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직사각형 27"/>
          <p:cNvSpPr/>
          <p:nvPr/>
        </p:nvSpPr>
        <p:spPr>
          <a:xfrm>
            <a:off x="724320" y="2976480"/>
            <a:ext cx="8056800" cy="1275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타원 24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24" name="Text 1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cxnSp>
        <p:nvCxnSpPr>
          <p:cNvPr id="525" name="직선 연결선 1"/>
          <p:cNvCxnSpPr/>
          <p:nvPr/>
        </p:nvCxnSpPr>
        <p:spPr>
          <a:xfrm>
            <a:off x="4009680" y="4181400"/>
            <a:ext cx="2353680" cy="720"/>
          </a:xfrm>
          <a:prstGeom prst="straightConnector1">
            <a:avLst/>
          </a:prstGeom>
          <a:ln w="12700">
            <a:solidFill>
              <a:srgbClr val="FF0000"/>
            </a:solidFill>
            <a:round/>
          </a:ln>
        </p:spPr>
      </p:cxnSp>
      <p:sp>
        <p:nvSpPr>
          <p:cNvPr id="526" name="Shape 5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Shape 5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29" name="그림 15"/>
          <p:cNvPicPr/>
          <p:nvPr/>
        </p:nvPicPr>
        <p:blipFill>
          <a:blip r:embed="rId3"/>
          <a:stretch/>
        </p:blipFill>
        <p:spPr>
          <a:xfrm>
            <a:off x="694800" y="1342080"/>
            <a:ext cx="8155080" cy="45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직사각형 28"/>
          <p:cNvSpPr/>
          <p:nvPr/>
        </p:nvSpPr>
        <p:spPr>
          <a:xfrm>
            <a:off x="2590920" y="1657440"/>
            <a:ext cx="6190200" cy="31903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타원 25"/>
          <p:cNvSpPr/>
          <p:nvPr/>
        </p:nvSpPr>
        <p:spPr>
          <a:xfrm>
            <a:off x="2455560" y="15210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3" name="Shape 5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4" name="직사각형 29"/>
          <p:cNvSpPr/>
          <p:nvPr/>
        </p:nvSpPr>
        <p:spPr>
          <a:xfrm>
            <a:off x="3467160" y="177300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5" name="직사각형 30"/>
          <p:cNvSpPr/>
          <p:nvPr/>
        </p:nvSpPr>
        <p:spPr>
          <a:xfrm>
            <a:off x="1019160" y="3944520"/>
            <a:ext cx="269640" cy="94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5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38" name="그림 16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직사각형 31"/>
          <p:cNvSpPr/>
          <p:nvPr/>
        </p:nvSpPr>
        <p:spPr>
          <a:xfrm>
            <a:off x="724320" y="2976480"/>
            <a:ext cx="8056800" cy="19105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0" name="타원 26"/>
          <p:cNvSpPr/>
          <p:nvPr/>
        </p:nvSpPr>
        <p:spPr>
          <a:xfrm>
            <a:off x="588960" y="2839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1" name="Text 2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2" name="Shape 6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3" name="직사각형 32"/>
          <p:cNvSpPr/>
          <p:nvPr/>
        </p:nvSpPr>
        <p:spPr>
          <a:xfrm>
            <a:off x="724320" y="1613880"/>
            <a:ext cx="8056800" cy="2692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46" name="그림 17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직사각형 33"/>
          <p:cNvSpPr/>
          <p:nvPr/>
        </p:nvSpPr>
        <p:spPr>
          <a:xfrm>
            <a:off x="724320" y="1647720"/>
            <a:ext cx="8056800" cy="30186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8" name="타원 27"/>
          <p:cNvSpPr/>
          <p:nvPr/>
        </p:nvSpPr>
        <p:spPr>
          <a:xfrm>
            <a:off x="588960" y="151272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49" name="Text 2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0" name="Shape 6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6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스타터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 설치 – 멀티 에이전트 시스템 구성 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53" name="그림 18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직사각형 34"/>
          <p:cNvSpPr/>
          <p:nvPr/>
        </p:nvSpPr>
        <p:spPr>
          <a:xfrm>
            <a:off x="724320" y="2219400"/>
            <a:ext cx="8056800" cy="25614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타원 28"/>
          <p:cNvSpPr/>
          <p:nvPr/>
        </p:nvSpPr>
        <p:spPr>
          <a:xfrm>
            <a:off x="588960" y="20829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56" name="Text 2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7" name="Shape 6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“멀티 에이전트 시스템 구성해줘” 입력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Flavor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 – 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claude”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설치 경로 선택 – “현재 작업 폴더”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Flavor ,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설치경로 제출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(submit)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(Python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없는 경우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진행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생성기 실행 및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디렉토리에 스타터 설치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⑧ 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선택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사용법 확인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(1, 2, 3)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16;p 3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17;p 4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18;p 4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Google Shape;19;p 4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20;p 4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3" name="Google Shape;21;p 4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설치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4" name="Google Shape;22;p 4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5" name="Google Shape;23;p 4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6" name="Google Shape;24;p 4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25;p 4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68" name="Google Shape;26;p 4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27;p 4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0" name="Google Shape;28;p 4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Google Shape;29;p 4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2" name="Google Shape;30;p 4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31;p 4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4" name="Google Shape;32;p 4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33;p 4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76" name="Google Shape;34;p 4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35;p 4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6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(MAC)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580" name="Shape 6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명령어</a:t>
            </a: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en-US" sz="14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br>
              <a:rPr sz="1400" dirty="0"/>
            </a:b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brew install </a:t>
            </a:r>
            <a:r>
              <a:rPr lang="en-US" sz="1200" b="0" u="none" strike="noStrike" dirty="0" err="1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netwaif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/tap/mat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 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할 디렉토리 설정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MAT(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모니터링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 및 실행 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  (mat </a:t>
            </a:r>
            <a:r>
              <a:rPr lang="ko-KR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시작</a:t>
            </a:r>
            <a:r>
              <a:rPr lang="en-US" sz="12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1" name="Text 2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582" name="그림 19"/>
          <p:cNvPicPr/>
          <p:nvPr/>
        </p:nvPicPr>
        <p:blipFill>
          <a:blip r:embed="rId3"/>
          <a:stretch/>
        </p:blipFill>
        <p:spPr>
          <a:xfrm>
            <a:off x="1076760" y="1417320"/>
            <a:ext cx="7390800" cy="439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직사각형 35"/>
          <p:cNvSpPr/>
          <p:nvPr/>
        </p:nvSpPr>
        <p:spPr>
          <a:xfrm>
            <a:off x="1141200" y="1932120"/>
            <a:ext cx="424908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84" name="타원 29"/>
          <p:cNvSpPr/>
          <p:nvPr/>
        </p:nvSpPr>
        <p:spPr>
          <a:xfrm>
            <a:off x="970560" y="179568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6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87" name="그림 20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Shape 6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89" name="직사각형 36"/>
          <p:cNvSpPr/>
          <p:nvPr/>
        </p:nvSpPr>
        <p:spPr>
          <a:xfrm>
            <a:off x="1866960" y="3876840"/>
            <a:ext cx="2913840" cy="1161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1" name="직사각형 37"/>
          <p:cNvSpPr/>
          <p:nvPr/>
        </p:nvSpPr>
        <p:spPr>
          <a:xfrm>
            <a:off x="724320" y="2376360"/>
            <a:ext cx="3066120" cy="169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2" name="타원 30"/>
          <p:cNvSpPr/>
          <p:nvPr/>
        </p:nvSpPr>
        <p:spPr>
          <a:xfrm>
            <a:off x="588960" y="2219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6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②③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595" name="그림 21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직사각형 38"/>
          <p:cNvSpPr/>
          <p:nvPr/>
        </p:nvSpPr>
        <p:spPr>
          <a:xfrm>
            <a:off x="724320" y="1628640"/>
            <a:ext cx="8056800" cy="24854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2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9" name="Shape 7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0" name="타원 32"/>
          <p:cNvSpPr/>
          <p:nvPr/>
        </p:nvSpPr>
        <p:spPr>
          <a:xfrm>
            <a:off x="6802947" y="1578891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직사각형 38">
            <a:extLst>
              <a:ext uri="{FF2B5EF4-FFF2-40B4-BE49-F238E27FC236}">
                <a16:creationId xmlns:a16="http://schemas.microsoft.com/office/drawing/2014/main" id="{752BD2F0-05FC-D16D-F6BE-97531E457724}"/>
              </a:ext>
            </a:extLst>
          </p:cNvPr>
          <p:cNvSpPr/>
          <p:nvPr/>
        </p:nvSpPr>
        <p:spPr>
          <a:xfrm>
            <a:off x="694800" y="1628280"/>
            <a:ext cx="3100452" cy="219891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7" name="타원 31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Shape 7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④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03" name="그림 22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직사각형 39"/>
          <p:cNvSpPr/>
          <p:nvPr/>
        </p:nvSpPr>
        <p:spPr>
          <a:xfrm>
            <a:off x="724320" y="2300760"/>
            <a:ext cx="8056800" cy="9136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5" name="타원 33"/>
          <p:cNvSpPr/>
          <p:nvPr/>
        </p:nvSpPr>
        <p:spPr>
          <a:xfrm>
            <a:off x="588960" y="216576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06" name="Text 3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7" name="Shape 7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프리젠테이션 5 Medium"/>
              </a:rPr>
              <a:t> 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7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(Windows)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0" name="그림 23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458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" name="직사각형 40"/>
          <p:cNvSpPr/>
          <p:nvPr/>
        </p:nvSpPr>
        <p:spPr>
          <a:xfrm>
            <a:off x="724320" y="3200400"/>
            <a:ext cx="8056800" cy="25138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2" name="타원 34"/>
          <p:cNvSpPr/>
          <p:nvPr/>
        </p:nvSpPr>
        <p:spPr>
          <a:xfrm>
            <a:off x="588960" y="306540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13" name="Text 3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4" name="Shape 7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윈도우에서 오류시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$env:Path += ";C:\Program Files\Go\bin;$env:USERPROFILE\go\bin“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7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설치 및 실행 ⑥⑦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pic>
        <p:nvPicPr>
          <p:cNvPr id="617" name="그림 24"/>
          <p:cNvPicPr/>
          <p:nvPr/>
        </p:nvPicPr>
        <p:blipFill>
          <a:blip r:embed="rId3"/>
          <a:stretch/>
        </p:blipFill>
        <p:spPr>
          <a:xfrm>
            <a:off x="694800" y="132336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직사각형 41"/>
          <p:cNvSpPr/>
          <p:nvPr/>
        </p:nvSpPr>
        <p:spPr>
          <a:xfrm>
            <a:off x="724320" y="16286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9" name="타원 35"/>
          <p:cNvSpPr/>
          <p:nvPr/>
        </p:nvSpPr>
        <p:spPr>
          <a:xfrm>
            <a:off x="588960" y="14936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20" name="Text 3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6232F"/>
                </a:solidFill>
                <a:effectLst/>
                <a:uFillTx/>
                <a:latin typeface="프리젠테이션 5 Medium"/>
                <a:ea typeface="프리젠테이션 5 Medium"/>
              </a:rPr>
              <a:t>flavor: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claude (claude-main·codex-main·codex-critic·gemini) / codex / antigravity  · 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생성 직후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validate.py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가 불변식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PASS/FAIL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검증 →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PASS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확인 후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21" name="Shape 7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 GoLang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설치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(winget install GoLang.Go)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repository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이동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폴더로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작업 폴더 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git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클론</a:t>
            </a:r>
            <a:br>
              <a:rPr sz="1200"/>
            </a:b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git clone https://github.com/netwaif/mat.git)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폴더로 이동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cd mat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빌드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go build -o mat.exe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　．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mat – env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→ 오케스트레이터의 디렉토리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$env:MAT_ROOT = “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경로”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mat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 화면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(task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( .\mat.exe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2" name="그림 25"/>
          <p:cNvPicPr/>
          <p:nvPr/>
        </p:nvPicPr>
        <p:blipFill>
          <a:blip r:embed="rId3"/>
          <a:stretch/>
        </p:blipFill>
        <p:spPr>
          <a:xfrm>
            <a:off x="694800" y="2214000"/>
            <a:ext cx="8155080" cy="80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직사각형 42"/>
          <p:cNvSpPr/>
          <p:nvPr/>
        </p:nvSpPr>
        <p:spPr>
          <a:xfrm>
            <a:off x="724320" y="2710440"/>
            <a:ext cx="8056800" cy="3045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4" name="타원 36"/>
          <p:cNvSpPr/>
          <p:nvPr/>
        </p:nvSpPr>
        <p:spPr>
          <a:xfrm>
            <a:off x="571680" y="2584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25" name="그림 26"/>
          <p:cNvPicPr/>
          <p:nvPr/>
        </p:nvPicPr>
        <p:blipFill>
          <a:blip r:embed="rId4"/>
          <a:stretch/>
        </p:blipFill>
        <p:spPr>
          <a:xfrm>
            <a:off x="694800" y="3104640"/>
            <a:ext cx="8155080" cy="28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직사각형 43"/>
          <p:cNvSpPr/>
          <p:nvPr/>
        </p:nvSpPr>
        <p:spPr>
          <a:xfrm>
            <a:off x="724320" y="3475080"/>
            <a:ext cx="8056800" cy="25171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7" name="타원 37"/>
          <p:cNvSpPr/>
          <p:nvPr/>
        </p:nvSpPr>
        <p:spPr>
          <a:xfrm>
            <a:off x="571680" y="3349440"/>
            <a:ext cx="2696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16;p 4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17;p 5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18;p 5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Google Shape;19;p 5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Google Shape;20;p 5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3" name="Google Shape;21;p 5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구조에서 인공지능을 활용한 개발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4" name="Google Shape;22;p 5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5" name="Google Shape;23;p 5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6" name="Google Shape;24;p 5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Google Shape;25;p 5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38" name="Google Shape;26;p 5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Google Shape;27;p 5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0" name="Google Shape;28;p 5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29;p 5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2" name="Google Shape;30;p 5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31;p 5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4" name="Google Shape;32;p 5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33;p 5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46" name="Google Shape;34;p 5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35;p 5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7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50" name="Shape 7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1" name="Text 38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먼저 가벼운 프롬프트로 가용 가능한 에이전트 들을 물어보자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 Prompt :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멀티에이전트와 서브에이전트 목록 알려줘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2" name="직사각형 44"/>
          <p:cNvSpPr/>
          <p:nvPr/>
        </p:nvSpPr>
        <p:spPr>
          <a:xfrm>
            <a:off x="1649520" y="385668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3" name="타원 38"/>
          <p:cNvSpPr/>
          <p:nvPr/>
        </p:nvSpPr>
        <p:spPr>
          <a:xfrm>
            <a:off x="1729080" y="34848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654" name="Picture 2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742320" y="1216800"/>
            <a:ext cx="8078400" cy="48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5" name="직사각형 45"/>
          <p:cNvSpPr/>
          <p:nvPr/>
        </p:nvSpPr>
        <p:spPr>
          <a:xfrm>
            <a:off x="760320" y="143388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6" name="타원 39"/>
          <p:cNvSpPr/>
          <p:nvPr/>
        </p:nvSpPr>
        <p:spPr>
          <a:xfrm>
            <a:off x="263520" y="1403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57" name="직사각형 46"/>
          <p:cNvSpPr/>
          <p:nvPr/>
        </p:nvSpPr>
        <p:spPr>
          <a:xfrm>
            <a:off x="1072800" y="1218960"/>
            <a:ext cx="917640" cy="1893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7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0" name="Shape 8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1" name="Text 40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모듈들을 오케스트레이터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( Java-Service-Tree-Framework )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폴더 하위에 로드 시킨다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2" name="Picture 1"/>
          <p:cNvPicPr/>
          <p:nvPr/>
        </p:nvPicPr>
        <p:blipFill>
          <a:blip r:embed="rId3"/>
          <a:stretch/>
        </p:blipFill>
        <p:spPr>
          <a:xfrm>
            <a:off x="732600" y="1259280"/>
            <a:ext cx="8186040" cy="47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직사각형 47"/>
          <p:cNvSpPr/>
          <p:nvPr/>
        </p:nvSpPr>
        <p:spPr>
          <a:xfrm>
            <a:off x="3046320" y="2029680"/>
            <a:ext cx="3575160" cy="32569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4" name="타원 40"/>
          <p:cNvSpPr/>
          <p:nvPr/>
        </p:nvSpPr>
        <p:spPr>
          <a:xfrm>
            <a:off x="2862360" y="15796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65" name="직사각형 48"/>
          <p:cNvSpPr/>
          <p:nvPr/>
        </p:nvSpPr>
        <p:spPr>
          <a:xfrm>
            <a:off x="2382120" y="1179720"/>
            <a:ext cx="361080" cy="306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Box 2"/>
          <p:cNvSpPr/>
          <p:nvPr/>
        </p:nvSpPr>
        <p:spPr>
          <a:xfrm>
            <a:off x="2739600" y="1019160"/>
            <a:ext cx="16178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git &gt; clone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Shape 8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69" name="Shape 8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70" name="Text 41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각각의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 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모듈마다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docs/ai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아래 하네스 문서가 정의되어 있어햐한다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1" name="Picture 4"/>
          <p:cNvPicPr/>
          <p:nvPr/>
        </p:nvPicPr>
        <p:blipFill>
          <a:blip r:embed="rId3"/>
          <a:stretch/>
        </p:blipFill>
        <p:spPr>
          <a:xfrm>
            <a:off x="762120" y="1208880"/>
            <a:ext cx="8019720" cy="482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직사각형 49"/>
          <p:cNvSpPr/>
          <p:nvPr/>
        </p:nvSpPr>
        <p:spPr>
          <a:xfrm>
            <a:off x="946080" y="2606040"/>
            <a:ext cx="1826280" cy="20552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73" name="타원 41"/>
          <p:cNvSpPr/>
          <p:nvPr/>
        </p:nvSpPr>
        <p:spPr>
          <a:xfrm>
            <a:off x="576360" y="2478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8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MSA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구조에서 인공지능을 활용한 개발 방식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676" name="Shape 8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멀티에이전트와 서브에이전트 확인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프로젝트에 하네스 문서 로드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인공지능 활용 </a:t>
            </a:r>
            <a:r>
              <a:rPr lang="en-US" sz="1200" b="1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MSA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프로젝트 개발 준비 완료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77" name="Text 42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</a:pP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오케스트레이터 아래 인공지능을 활용하여 개발 할 </a:t>
            </a:r>
            <a:r>
              <a:rPr lang="en-US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MSA </a:t>
            </a:r>
            <a:r>
              <a:rPr lang="ko-KR" sz="1150" b="0" u="none" strike="noStrike">
                <a:solidFill>
                  <a:srgbClr val="64748B"/>
                </a:solidFill>
                <a:effectLst/>
                <a:uFillTx/>
                <a:latin typeface="프리젠테이션 5 Medium"/>
                <a:ea typeface="프리젠테이션 5 Medium"/>
              </a:rPr>
              <a:t>모듈들이 로드되어 있는 모습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78" name="Picture 3"/>
          <p:cNvPicPr/>
          <p:nvPr/>
        </p:nvPicPr>
        <p:blipFill>
          <a:blip r:embed="rId3"/>
          <a:stretch/>
        </p:blipFill>
        <p:spPr>
          <a:xfrm>
            <a:off x="762120" y="1248840"/>
            <a:ext cx="8068680" cy="474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9" name="직사각형 50"/>
          <p:cNvSpPr/>
          <p:nvPr/>
        </p:nvSpPr>
        <p:spPr>
          <a:xfrm>
            <a:off x="1082880" y="2430360"/>
            <a:ext cx="1787400" cy="101016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80" name="타원 42"/>
          <p:cNvSpPr/>
          <p:nvPr/>
        </p:nvSpPr>
        <p:spPr>
          <a:xfrm>
            <a:off x="624960" y="24296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/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/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/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/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/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/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TUI  </a:t>
            </a:r>
            <a:r>
              <a:rPr lang="ko-KR" sz="4800" b="0" u="none" strike="noStrike">
                <a:solidFill>
                  <a:srgbClr val="FFFFFF"/>
                </a:solidFill>
                <a:effectLst/>
                <a:uFillTx/>
                <a:latin typeface="프리젠테이션 5 Medium"/>
                <a:ea typeface="프리젠테이션 5 Medium"/>
              </a:rPr>
              <a:t>모니터링 툴 사용하기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7" name="Google Shape;22;p 1"/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/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/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/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/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/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/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/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/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/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/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/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/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/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85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 ①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03" name="Shape 86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내부 Claude Code Plugin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모니터링용 새로운 Terminal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모니터링 폴더 오케스트레이션 환경 변수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.\mat.exe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모니터링 할 테스크 선택 (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에이전트 모니터링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705" name="타원 43"/>
          <p:cNvSpPr/>
          <p:nvPr/>
        </p:nvSpPr>
        <p:spPr>
          <a:xfrm>
            <a:off x="7571160" y="79812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706" name="Grafik 1"/>
          <p:cNvPicPr/>
          <p:nvPr/>
        </p:nvPicPr>
        <p:blipFill>
          <a:blip r:embed="rId3"/>
          <a:stretch/>
        </p:blipFill>
        <p:spPr>
          <a:xfrm>
            <a:off x="771840" y="1117080"/>
            <a:ext cx="7990560" cy="499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7" name="직사각형 51"/>
          <p:cNvSpPr/>
          <p:nvPr/>
        </p:nvSpPr>
        <p:spPr>
          <a:xfrm>
            <a:off x="7491240" y="1121040"/>
            <a:ext cx="536760" cy="1796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1"/>
          <p:cNvSpPr/>
          <p:nvPr/>
        </p:nvSpPr>
        <p:spPr>
          <a:xfrm>
            <a:off x="202680" y="6311880"/>
            <a:ext cx="117842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TUI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 툴 설치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 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 응용이다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 페이지에서 설치한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가 이미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monitoring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 내장되어 있다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( mat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== monitoring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87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②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11" name="Shape 88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내부 Claude Code Plugin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모니터링용 새로운 Terminal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모니터링 폴더 오케스트레이션 환경 변수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.\mat.exe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모니터링 할 테스크 선택 (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에이전트 모니터링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12" name="Text 44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13" name="Picture 6"/>
          <p:cNvPicPr/>
          <p:nvPr/>
        </p:nvPicPr>
        <p:blipFill>
          <a:blip r:embed="rId3"/>
          <a:stretch/>
        </p:blipFill>
        <p:spPr>
          <a:xfrm>
            <a:off x="742320" y="1150920"/>
            <a:ext cx="8078400" cy="491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4" name="직사각형 52"/>
          <p:cNvSpPr/>
          <p:nvPr/>
        </p:nvSpPr>
        <p:spPr>
          <a:xfrm>
            <a:off x="740880" y="4550040"/>
            <a:ext cx="3477240" cy="1602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5" name="타원 44"/>
          <p:cNvSpPr/>
          <p:nvPr/>
        </p:nvSpPr>
        <p:spPr>
          <a:xfrm>
            <a:off x="1650960" y="17164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16" name="직사각형 53"/>
          <p:cNvSpPr/>
          <p:nvPr/>
        </p:nvSpPr>
        <p:spPr>
          <a:xfrm>
            <a:off x="1561320" y="2107800"/>
            <a:ext cx="556200" cy="24804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3"/>
          <p:cNvSpPr/>
          <p:nvPr/>
        </p:nvSpPr>
        <p:spPr>
          <a:xfrm>
            <a:off x="202680" y="6311880"/>
            <a:ext cx="117842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35-40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페이지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 TUI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 툴 설치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 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내용 응용이다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앞선 페이지에서 설치한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가 이미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monitoring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으로 내장되어 있다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( mat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== monitoring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폴더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89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③④⑤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20" name="Shape 90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내부 Claude Code Plugin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모니터링용 새로운 Terminal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모니터링 폴더 오케스트레이션 환경 변수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.\mat.exe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모니터링 할 테스크 선택 (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에이전트 모니터링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721" name="Picture 5"/>
          <p:cNvPicPr/>
          <p:nvPr/>
        </p:nvPicPr>
        <p:blipFill>
          <a:blip r:embed="rId3"/>
          <a:stretch/>
        </p:blipFill>
        <p:spPr>
          <a:xfrm>
            <a:off x="762120" y="1219680"/>
            <a:ext cx="8019720" cy="474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Picture 9"/>
          <p:cNvPicPr/>
          <p:nvPr/>
        </p:nvPicPr>
        <p:blipFill>
          <a:blip r:embed="rId4"/>
          <a:stretch/>
        </p:blipFill>
        <p:spPr>
          <a:xfrm>
            <a:off x="762120" y="2007720"/>
            <a:ext cx="8019720" cy="39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3" name="타원 45"/>
          <p:cNvSpPr/>
          <p:nvPr/>
        </p:nvSpPr>
        <p:spPr>
          <a:xfrm>
            <a:off x="3194280" y="212688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4" name="직사각형 54"/>
          <p:cNvSpPr/>
          <p:nvPr/>
        </p:nvSpPr>
        <p:spPr>
          <a:xfrm>
            <a:off x="760320" y="1717200"/>
            <a:ext cx="3262320" cy="20880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5" name="타원 46"/>
          <p:cNvSpPr/>
          <p:nvPr/>
        </p:nvSpPr>
        <p:spPr>
          <a:xfrm>
            <a:off x="3194280" y="14526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6" name="직사각형 55"/>
          <p:cNvSpPr/>
          <p:nvPr/>
        </p:nvSpPr>
        <p:spPr>
          <a:xfrm>
            <a:off x="760320" y="247896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727" name="Picture 10"/>
          <p:cNvPicPr/>
          <p:nvPr/>
        </p:nvPicPr>
        <p:blipFill>
          <a:blip r:embed="rId5"/>
          <a:stretch/>
        </p:blipFill>
        <p:spPr>
          <a:xfrm>
            <a:off x="763200" y="3013920"/>
            <a:ext cx="8017200" cy="80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8" name="타원 47"/>
          <p:cNvSpPr/>
          <p:nvPr/>
        </p:nvSpPr>
        <p:spPr>
          <a:xfrm>
            <a:off x="4865040" y="316224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9" name="직사각형 56"/>
          <p:cNvSpPr/>
          <p:nvPr/>
        </p:nvSpPr>
        <p:spPr>
          <a:xfrm>
            <a:off x="760320" y="3495240"/>
            <a:ext cx="5128200" cy="19908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5"/>
          <p:cNvSpPr/>
          <p:nvPr/>
        </p:nvSpPr>
        <p:spPr>
          <a:xfrm>
            <a:off x="636480" y="6244200"/>
            <a:ext cx="10508400" cy="73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0000" tIns="45000" rIns="90000" bIns="4500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모니터링할 오케스트레이션 환경 변수 설정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오케스트레이션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(Java-ServiceTree-Framework) </a:t>
            </a: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경로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ko-K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예시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$env:MAT_ROOT = "C:\Users\boseok\IdeaProjects\Java-Service-Tree-Framework"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hape 91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⑥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33" name="Shape 92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내부 Claude Code Plugin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모니터링용 새로운 Terminal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모니터링 폴더 오케스트레이션 환경 변수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.\mat.exe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모니터링 할 테스크 선택 (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에이전트 모니터링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34" name="Text 45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35" name="Picture 7" descr="A screenshot of a computer program&#10;&#10;AI-generated content may be incorrect."/>
          <p:cNvPicPr/>
          <p:nvPr/>
        </p:nvPicPr>
        <p:blipFill>
          <a:blip r:embed="rId3"/>
          <a:stretch/>
        </p:blipFill>
        <p:spPr>
          <a:xfrm>
            <a:off x="693720" y="1249200"/>
            <a:ext cx="8156520" cy="473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6" name="직사각형 57"/>
          <p:cNvSpPr/>
          <p:nvPr/>
        </p:nvSpPr>
        <p:spPr>
          <a:xfrm>
            <a:off x="3857040" y="3084840"/>
            <a:ext cx="1884960" cy="1107720"/>
          </a:xfrm>
          <a:prstGeom prst="rect">
            <a:avLst/>
          </a:prstGeom>
          <a:noFill/>
          <a:ln w="19050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7" name="타원 48"/>
          <p:cNvSpPr/>
          <p:nvPr/>
        </p:nvSpPr>
        <p:spPr>
          <a:xfrm>
            <a:off x="3673080" y="2732400"/>
            <a:ext cx="374040" cy="26928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93"/>
          <p:cNvSpPr/>
          <p:nvPr/>
        </p:nvSpPr>
        <p:spPr>
          <a:xfrm>
            <a:off x="623880" y="1062000"/>
            <a:ext cx="8296560" cy="510948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round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PlaceHolder 1"/>
          <p:cNvSpPr>
            <a:spLocks noGrp="1"/>
          </p:cNvSpPr>
          <p:nvPr>
            <p:ph/>
          </p:nvPr>
        </p:nvSpPr>
        <p:spPr>
          <a:xfrm>
            <a:off x="623880" y="448560"/>
            <a:ext cx="1094364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MAT(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모니터링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) 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프리젠테이션 6 SemiBold"/>
                <a:ea typeface="프리젠테이션 6 SemiBold"/>
              </a:rPr>
              <a:t>실습 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프리젠테이션 6 SemiBold"/>
            </a:endParaRPr>
          </a:p>
        </p:txBody>
      </p:sp>
      <p:sp>
        <p:nvSpPr>
          <p:cNvPr id="740" name="Shape 94"/>
          <p:cNvSpPr/>
          <p:nvPr/>
        </p:nvSpPr>
        <p:spPr>
          <a:xfrm>
            <a:off x="8992080" y="1062000"/>
            <a:ext cx="2575440" cy="510948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 w="0">
            <a:noFill/>
          </a:ln>
          <a:effectLst>
            <a:outerShdw blurRad="88920" dist="38160" dir="5400000" algn="bl" rotWithShape="0">
              <a:srgbClr val="000000">
                <a:alpha val="16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① 인텔리제이 내부 Claude Code Plugin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② 모니터링용 새로운 Terminal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추가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③ cd .\monitoring\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④ 모니터링 폴더 오케스트레이션 환경 변수 설정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⑤ .\mat.exe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실행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⑥ 모니터링 할 테스크 선택 ( </a:t>
            </a:r>
            <a:r>
              <a:rPr lang="ko-KR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단축키 </a:t>
            </a: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t 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프리젠테이션 5 Medium"/>
                <a:ea typeface="프리젠테이션 5 Medium"/>
              </a:rPr>
              <a:t>⑦ 에이전트 모니터링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41" name="Text 46"/>
          <p:cNvSpPr/>
          <p:nvPr/>
        </p:nvSpPr>
        <p:spPr>
          <a:xfrm>
            <a:off x="633240" y="6308640"/>
            <a:ext cx="10514880" cy="54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150" b="0" u="none" strike="noStrike">
              <a:solidFill>
                <a:srgbClr val="64748B"/>
              </a:solidFill>
              <a:effectLst/>
              <a:uFillTx/>
              <a:latin typeface="프리젠테이션 5 Medium"/>
            </a:endParaRPr>
          </a:p>
        </p:txBody>
      </p:sp>
      <p:pic>
        <p:nvPicPr>
          <p:cNvPr id="742" name="Picture 8"/>
          <p:cNvPicPr/>
          <p:nvPr/>
        </p:nvPicPr>
        <p:blipFill>
          <a:blip r:embed="rId3"/>
          <a:stretch/>
        </p:blipFill>
        <p:spPr>
          <a:xfrm>
            <a:off x="742320" y="1171440"/>
            <a:ext cx="8097840" cy="490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EFFCB-E79B-AA5A-21A6-0815049B5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16;p 5">
            <a:extLst>
              <a:ext uri="{FF2B5EF4-FFF2-40B4-BE49-F238E27FC236}">
                <a16:creationId xmlns:a16="http://schemas.microsoft.com/office/drawing/2014/main" id="{63048B83-D055-0567-0723-2D3FD626E705}"/>
              </a:ext>
            </a:extLst>
          </p:cNvPr>
          <p:cNvSpPr/>
          <p:nvPr/>
        </p:nvSpPr>
        <p:spPr>
          <a:xfrm>
            <a:off x="822960" y="822960"/>
            <a:ext cx="2285280" cy="566280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Google Shape;17;p 1">
            <a:extLst>
              <a:ext uri="{FF2B5EF4-FFF2-40B4-BE49-F238E27FC236}">
                <a16:creationId xmlns:a16="http://schemas.microsoft.com/office/drawing/2014/main" id="{6EEE3260-9E7E-0440-A035-F7411ABC759F}"/>
              </a:ext>
            </a:extLst>
          </p:cNvPr>
          <p:cNvSpPr/>
          <p:nvPr/>
        </p:nvSpPr>
        <p:spPr>
          <a:xfrm>
            <a:off x="987480" y="1060560"/>
            <a:ext cx="99720" cy="99720"/>
          </a:xfrm>
          <a:prstGeom prst="ellipse">
            <a:avLst/>
          </a:prstGeom>
          <a:solidFill>
            <a:srgbClr val="E86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Google Shape;18;p 1">
            <a:extLst>
              <a:ext uri="{FF2B5EF4-FFF2-40B4-BE49-F238E27FC236}">
                <a16:creationId xmlns:a16="http://schemas.microsoft.com/office/drawing/2014/main" id="{145FD0CB-9B59-B1FB-FFE3-8AC81C5457E6}"/>
              </a:ext>
            </a:extLst>
          </p:cNvPr>
          <p:cNvSpPr/>
          <p:nvPr/>
        </p:nvSpPr>
        <p:spPr>
          <a:xfrm>
            <a:off x="1188720" y="1060560"/>
            <a:ext cx="99720" cy="99720"/>
          </a:xfrm>
          <a:prstGeom prst="ellipse">
            <a:avLst/>
          </a:prstGeom>
          <a:solidFill>
            <a:srgbClr val="F0B95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Google Shape;19;p 1">
            <a:extLst>
              <a:ext uri="{FF2B5EF4-FFF2-40B4-BE49-F238E27FC236}">
                <a16:creationId xmlns:a16="http://schemas.microsoft.com/office/drawing/2014/main" id="{D8B9EDBE-4F55-B794-6BC0-C3A7221AB57A}"/>
              </a:ext>
            </a:extLst>
          </p:cNvPr>
          <p:cNvSpPr/>
          <p:nvPr/>
        </p:nvSpPr>
        <p:spPr>
          <a:xfrm>
            <a:off x="1389960" y="1060560"/>
            <a:ext cx="99720" cy="99720"/>
          </a:xfrm>
          <a:prstGeom prst="ellipse">
            <a:avLst/>
          </a:prstGeom>
          <a:solidFill>
            <a:srgbClr val="8FBF6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040" tIns="35280" rIns="50040" bIns="3528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Google Shape;20;p 1">
            <a:extLst>
              <a:ext uri="{FF2B5EF4-FFF2-40B4-BE49-F238E27FC236}">
                <a16:creationId xmlns:a16="http://schemas.microsoft.com/office/drawing/2014/main" id="{C88092A4-1A91-B19F-7144-B76139B3CEDE}"/>
              </a:ext>
            </a:extLst>
          </p:cNvPr>
          <p:cNvSpPr/>
          <p:nvPr/>
        </p:nvSpPr>
        <p:spPr>
          <a:xfrm>
            <a:off x="1600200" y="822960"/>
            <a:ext cx="1462320" cy="56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7757"/>
                </a:solidFill>
                <a:effectLst/>
                <a:uFillTx/>
                <a:latin typeface="Courier New"/>
                <a:ea typeface="Courier New"/>
              </a:rPr>
              <a:t>$ </a:t>
            </a:r>
            <a:r>
              <a:rPr lang="en-US" sz="1400" b="0" u="none" strike="noStrike">
                <a:solidFill>
                  <a:srgbClr val="E8E3DB"/>
                </a:solidFill>
                <a:effectLst/>
                <a:uFillTx/>
                <a:latin typeface="Courier New"/>
                <a:ea typeface="Courier New"/>
              </a:rPr>
              <a:t>claude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6" name="Google Shape;21;p 1">
            <a:extLst>
              <a:ext uri="{FF2B5EF4-FFF2-40B4-BE49-F238E27FC236}">
                <a16:creationId xmlns:a16="http://schemas.microsoft.com/office/drawing/2014/main" id="{7CDDC035-FC8D-5FB7-563B-3AAE5AFE0BAF}"/>
              </a:ext>
            </a:extLst>
          </p:cNvPr>
          <p:cNvSpPr/>
          <p:nvPr/>
        </p:nvSpPr>
        <p:spPr>
          <a:xfrm>
            <a:off x="822960" y="201168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r>
              <a:rPr lang="ko-KR" altLang="en-US" sz="4800">
                <a:solidFill>
                  <a:srgbClr val="FFFFFF"/>
                </a:solidFill>
                <a:latin typeface="프리젠테이션 5 Medium"/>
              </a:rPr>
              <a:t>Knot 플러그인</a:t>
            </a:r>
            <a:endParaRPr lang="ko-KR" altLang="en-US" sz="4800" b="0" u="none" strike="noStrike" dirty="0">
              <a:solidFill>
                <a:srgbClr val="FFFFFF"/>
              </a:solidFill>
              <a:effectLst/>
              <a:uFillTx/>
              <a:latin typeface="프리젠테이션 5 Medium"/>
            </a:endParaRPr>
          </a:p>
        </p:txBody>
      </p:sp>
      <p:sp>
        <p:nvSpPr>
          <p:cNvPr id="687" name="Google Shape;22;p 1">
            <a:extLst>
              <a:ext uri="{FF2B5EF4-FFF2-40B4-BE49-F238E27FC236}">
                <a16:creationId xmlns:a16="http://schemas.microsoft.com/office/drawing/2014/main" id="{D7058B0F-D229-7F6D-DACA-C994D13D9A85}"/>
              </a:ext>
            </a:extLst>
          </p:cNvPr>
          <p:cNvSpPr/>
          <p:nvPr/>
        </p:nvSpPr>
        <p:spPr>
          <a:xfrm>
            <a:off x="841320" y="3520440"/>
            <a:ext cx="10057680" cy="45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개발팀 온보딩  </a:t>
            </a:r>
            <a:r>
              <a:rPr lang="en-US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700" b="0" u="none" strike="noStrike">
                <a:solidFill>
                  <a:srgbClr val="B9B2A7"/>
                </a:solidFill>
                <a:effectLst/>
                <a:uFillTx/>
                <a:latin typeface="Malgun Gothic"/>
                <a:ea typeface="Malgun Gothic"/>
              </a:rPr>
              <a:t>처음 쓰는 분도 그대로 따라 하면 완료됩니다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8" name="Google Shape;23;p 1">
            <a:extLst>
              <a:ext uri="{FF2B5EF4-FFF2-40B4-BE49-F238E27FC236}">
                <a16:creationId xmlns:a16="http://schemas.microsoft.com/office/drawing/2014/main" id="{01E3301D-4C5C-E8D3-0E5E-939B371BCF89}"/>
              </a:ext>
            </a:extLst>
          </p:cNvPr>
          <p:cNvSpPr/>
          <p:nvPr/>
        </p:nvSpPr>
        <p:spPr>
          <a:xfrm>
            <a:off x="841320" y="402336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소요 시간 약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20~30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분  </a:t>
            </a:r>
            <a:r>
              <a:rPr lang="en-US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·  </a:t>
            </a:r>
            <a:r>
              <a:rPr lang="ko-KR" sz="1300" b="0" u="none" strike="noStrike">
                <a:solidFill>
                  <a:srgbClr val="8A8378"/>
                </a:solidFill>
                <a:effectLst/>
                <a:uFillTx/>
                <a:latin typeface="Malgun Gothic"/>
                <a:ea typeface="Malgun Gothic"/>
              </a:rPr>
              <a:t>명령어는 모두 복사해서 붙여넣으면 됩니다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89" name="Google Shape;24;p 1">
            <a:extLst>
              <a:ext uri="{FF2B5EF4-FFF2-40B4-BE49-F238E27FC236}">
                <a16:creationId xmlns:a16="http://schemas.microsoft.com/office/drawing/2014/main" id="{33090268-0D2B-F0FD-9F2B-87105BCD4DD0}"/>
              </a:ext>
            </a:extLst>
          </p:cNvPr>
          <p:cNvSpPr/>
          <p:nvPr/>
        </p:nvSpPr>
        <p:spPr>
          <a:xfrm>
            <a:off x="822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25;p 1">
            <a:extLst>
              <a:ext uri="{FF2B5EF4-FFF2-40B4-BE49-F238E27FC236}">
                <a16:creationId xmlns:a16="http://schemas.microsoft.com/office/drawing/2014/main" id="{1D04123A-3742-04F2-4D5A-94D8A677B17B}"/>
              </a:ext>
            </a:extLst>
          </p:cNvPr>
          <p:cNvSpPr/>
          <p:nvPr/>
        </p:nvSpPr>
        <p:spPr>
          <a:xfrm>
            <a:off x="969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설치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1" name="Google Shape;26;p 1">
            <a:extLst>
              <a:ext uri="{FF2B5EF4-FFF2-40B4-BE49-F238E27FC236}">
                <a16:creationId xmlns:a16="http://schemas.microsoft.com/office/drawing/2014/main" id="{DA3D6B2F-81A2-4450-F9FF-18937312FB27}"/>
              </a:ext>
            </a:extLst>
          </p:cNvPr>
          <p:cNvSpPr/>
          <p:nvPr/>
        </p:nvSpPr>
        <p:spPr>
          <a:xfrm>
            <a:off x="26517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27;p 1">
            <a:extLst>
              <a:ext uri="{FF2B5EF4-FFF2-40B4-BE49-F238E27FC236}">
                <a16:creationId xmlns:a16="http://schemas.microsoft.com/office/drawing/2014/main" id="{B70FF7E2-2690-B0F3-608D-2635120AF790}"/>
              </a:ext>
            </a:extLst>
          </p:cNvPr>
          <p:cNvSpPr/>
          <p:nvPr/>
        </p:nvSpPr>
        <p:spPr>
          <a:xfrm>
            <a:off x="27979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실행</a:t>
            </a: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·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로그인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3" name="Google Shape;28;p 1">
            <a:extLst>
              <a:ext uri="{FF2B5EF4-FFF2-40B4-BE49-F238E27FC236}">
                <a16:creationId xmlns:a16="http://schemas.microsoft.com/office/drawing/2014/main" id="{7F1AD5F9-D1D7-1AED-102E-4DF800AF0034}"/>
              </a:ext>
            </a:extLst>
          </p:cNvPr>
          <p:cNvSpPr/>
          <p:nvPr/>
        </p:nvSpPr>
        <p:spPr>
          <a:xfrm>
            <a:off x="44805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29;p 1">
            <a:extLst>
              <a:ext uri="{FF2B5EF4-FFF2-40B4-BE49-F238E27FC236}">
                <a16:creationId xmlns:a16="http://schemas.microsoft.com/office/drawing/2014/main" id="{6F43AC36-AF06-5B51-0DAF-D1FDE1218B62}"/>
              </a:ext>
            </a:extLst>
          </p:cNvPr>
          <p:cNvSpPr/>
          <p:nvPr/>
        </p:nvSpPr>
        <p:spPr>
          <a:xfrm>
            <a:off x="46267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IntelliJ </a:t>
            </a: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연동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5" name="Google Shape;30;p 1">
            <a:extLst>
              <a:ext uri="{FF2B5EF4-FFF2-40B4-BE49-F238E27FC236}">
                <a16:creationId xmlns:a16="http://schemas.microsoft.com/office/drawing/2014/main" id="{7B724419-B1EC-6219-97DF-7CE2107B820A}"/>
              </a:ext>
            </a:extLst>
          </p:cNvPr>
          <p:cNvSpPr/>
          <p:nvPr/>
        </p:nvSpPr>
        <p:spPr>
          <a:xfrm>
            <a:off x="63093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31;p 1">
            <a:extLst>
              <a:ext uri="{FF2B5EF4-FFF2-40B4-BE49-F238E27FC236}">
                <a16:creationId xmlns:a16="http://schemas.microsoft.com/office/drawing/2014/main" id="{FD9E431B-DB7C-465A-6D8B-D76971EB352C}"/>
              </a:ext>
            </a:extLst>
          </p:cNvPr>
          <p:cNvSpPr/>
          <p:nvPr/>
        </p:nvSpPr>
        <p:spPr>
          <a:xfrm>
            <a:off x="64555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환경설정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7" name="Google Shape;32;p 1">
            <a:extLst>
              <a:ext uri="{FF2B5EF4-FFF2-40B4-BE49-F238E27FC236}">
                <a16:creationId xmlns:a16="http://schemas.microsoft.com/office/drawing/2014/main" id="{294C97BE-B486-2A6E-B288-6C4C6D7E2A95}"/>
              </a:ext>
            </a:extLst>
          </p:cNvPr>
          <p:cNvSpPr/>
          <p:nvPr/>
        </p:nvSpPr>
        <p:spPr>
          <a:xfrm>
            <a:off x="81381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33;p 1">
            <a:extLst>
              <a:ext uri="{FF2B5EF4-FFF2-40B4-BE49-F238E27FC236}">
                <a16:creationId xmlns:a16="http://schemas.microsoft.com/office/drawing/2014/main" id="{EF08FFF7-5BBB-5E15-AA33-89DA90871BE7}"/>
              </a:ext>
            </a:extLst>
          </p:cNvPr>
          <p:cNvSpPr/>
          <p:nvPr/>
        </p:nvSpPr>
        <p:spPr>
          <a:xfrm>
            <a:off x="82843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설정 확인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699" name="Google Shape;34;p 1">
            <a:extLst>
              <a:ext uri="{FF2B5EF4-FFF2-40B4-BE49-F238E27FC236}">
                <a16:creationId xmlns:a16="http://schemas.microsoft.com/office/drawing/2014/main" id="{0EBCDA06-9AA6-DBC9-98DC-8A44BB4F6A08}"/>
              </a:ext>
            </a:extLst>
          </p:cNvPr>
          <p:cNvSpPr/>
          <p:nvPr/>
        </p:nvSpPr>
        <p:spPr>
          <a:xfrm>
            <a:off x="9966960" y="5349240"/>
            <a:ext cx="1699920" cy="73080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>
            <a:solidFill>
              <a:srgbClr val="3A36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Google Shape;35;p 1">
            <a:extLst>
              <a:ext uri="{FF2B5EF4-FFF2-40B4-BE49-F238E27FC236}">
                <a16:creationId xmlns:a16="http://schemas.microsoft.com/office/drawing/2014/main" id="{FC275542-F7B8-4158-4773-FB1BEB34EEE7}"/>
              </a:ext>
            </a:extLst>
          </p:cNvPr>
          <p:cNvSpPr/>
          <p:nvPr/>
        </p:nvSpPr>
        <p:spPr>
          <a:xfrm>
            <a:off x="10113120" y="5349240"/>
            <a:ext cx="142560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06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>
              <a:lnSpc>
                <a:spcPct val="105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E8E3DB"/>
                </a:solidFill>
                <a:effectLst/>
                <a:uFillTx/>
                <a:latin typeface="Malgun Gothic"/>
                <a:ea typeface="Malgun Gothic"/>
              </a:rPr>
              <a:t>테스트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601020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7C37F-3DD9-DBE6-D311-01A2A168F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530C7A77-DB4E-5CF5-CB83-940FB9ECE5D3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플러그인 개요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E14F5FE6-A250-AE35-3DC1-415AB5F71A6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지식을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vault에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필요할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때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기반으로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다시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꺼내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쓰기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위한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/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EFC6157B-2105-D968-60A0-A815B820227E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5E5F31CF-BE7F-0D29-B70C-8D93C4A72527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1F2496A7-4DC2-F387-18FB-67CD8B96AE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E58F589D-C036-3741-4A7D-49E4F6CC5FD5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핵심 개념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BF9DF1F6-21A0-1842-43FB-AA8FE5F52F3F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$KNOT_VAULT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vault를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다루는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4개의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동작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(verb)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스킬입니다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로직은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vault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안의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prompts/scripts/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에만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두고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플러그인은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이를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호출하는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얇은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shim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역할만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200" dirty="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2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C7C49C37-98A5-03F8-F129-F523DA398AFC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E8F84BBB-41A8-B176-8DB0-4E63CBE34AE3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BE02A5E9-6960-E400-5827-4E616F11D36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15470C95-A8F0-36D9-99E4-6F1B1DB0D762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정본 단일화</a:t>
            </a:r>
            <a:endParaRPr lang="en-US" altLang="ko-KR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128131CD-553A-251B-8B15-16BDDF8E796D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절차를 수정할 때는 vault 한 곳만 고치면 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Claude, Code-Codex, agy 어디에서 호출해도 같은 vault prompts를 타기 때문에 결과 흐름이 일관됩니다.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29FE640B-B015-1C76-D81D-AB53DB7AE49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F6F0EF3D-A10F-27F0-D726-A2459F1D4FD6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8068C346-324C-E7BE-CEF5-255B7041674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78076511-E78F-33F2-502C-97E7B677C48C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 dirty="0" err="1">
                <a:solidFill>
                  <a:srgbClr val="33302B"/>
                </a:solidFill>
                <a:latin typeface="Malgun Gothic"/>
                <a:ea typeface="Malgun Gothic"/>
              </a:rPr>
              <a:t>관리</a:t>
            </a:r>
            <a:r>
              <a:rPr lang="en-US" altLang="ko-KR" sz="165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블록</a:t>
            </a:r>
            <a:endParaRPr 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56C7E492-F801-DAC3-2D69-DD71AB2A8249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컨텍스트 파일에 knot 자동층(관리 블록)을 추가해 둡니다.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b="0" u="none" strike="noStrike" dirty="0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200">
                <a:solidFill>
                  <a:srgbClr val="7A746B"/>
                </a:solidFill>
                <a:latin typeface="Malgun Gothic"/>
                <a:ea typeface="Malgun Gothic"/>
              </a:rPr>
              <a:t>이후 사용자는 "knot에 저장해줘", "knot에 물어봐"처럼 자연어로 호출합니다.</a:t>
            </a: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3842435D-362E-CA7E-ED1E-08C26D89A4D8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7FBDDEB0-2F48-A87B-F50B-C5F508F9CBCC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sz="1350" u="none" strike="noStrike" dirty="0">
                <a:solidFill>
                  <a:srgbClr val="D97757"/>
                </a:solidFill>
                <a:effectLst/>
                <a:uFillTx/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Knot은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"팀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지식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저장소"를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만들고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저장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· </a:t>
            </a:r>
            <a:r>
              <a:rPr lang="en-US" altLang="ko-KR" sz="1150" dirty="0" err="1">
                <a:solidFill>
                  <a:srgbClr val="33302B"/>
                </a:solidFill>
                <a:latin typeface="Malgun Gothic"/>
                <a:ea typeface="Malgun Gothic"/>
              </a:rPr>
              <a:t>컴파일</a:t>
            </a:r>
            <a:r>
              <a:rPr lang="en-US" altLang="ko-KR" sz="115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질의 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·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점검을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같은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규칙으로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반복하게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해주는</a:t>
            </a:r>
            <a:r>
              <a:rPr 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ko-KR" altLang="en-US" sz="1200" dirty="0">
                <a:solidFill>
                  <a:srgbClr val="33302B"/>
                </a:solidFill>
                <a:latin typeface="Malgun Gothic"/>
                <a:ea typeface="Malgun Gothic"/>
              </a:rPr>
              <a:t>장치입니다</a:t>
            </a:r>
            <a:r>
              <a:rPr lang="en-US" altLang="ko-KR" sz="1200" dirty="0">
                <a:solidFill>
                  <a:srgbClr val="33302B"/>
                </a:solidFill>
                <a:latin typeface="Malgun Gothic"/>
                <a:ea typeface="Malgun Gothic"/>
              </a:rPr>
              <a:t>.</a:t>
            </a:r>
            <a:endParaRPr lang="en-US" sz="120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</a:t>
            </a:r>
          </a:p>
          <a:p>
            <a:pPr>
              <a:tabLst>
                <a:tab pos="0" algn="l"/>
              </a:tabLst>
            </a:pPr>
            <a:r>
              <a:rPr lang="en-US" sz="1200" dirty="0">
                <a:latin typeface="Malgun Gothic"/>
                <a:ea typeface="Malgun Gothic"/>
              </a:rPr>
              <a:t> PowerShell : $</a:t>
            </a:r>
            <a:r>
              <a:rPr lang="en-US" sz="1200" dirty="0" err="1">
                <a:latin typeface="Malgun Gothic"/>
                <a:ea typeface="Malgun Gothic"/>
              </a:rPr>
              <a:t>env:KNOT_VAULT</a:t>
            </a:r>
            <a:r>
              <a:rPr lang="en-US" sz="1200" dirty="0">
                <a:latin typeface="Malgun Gothic"/>
                <a:ea typeface="Malgun Gothic"/>
              </a:rPr>
              <a:t> = "C:\DEV\</a:t>
            </a:r>
            <a:r>
              <a:rPr lang="en-US" sz="1200" dirty="0" err="1">
                <a:latin typeface="Malgun Gothic"/>
                <a:ea typeface="Malgun Gothic"/>
              </a:rPr>
              <a:t>sourcecode</a:t>
            </a:r>
            <a:r>
              <a:rPr lang="en-US" sz="1200" dirty="0">
                <a:latin typeface="Malgun Gothic"/>
                <a:ea typeface="Malgun Gothic"/>
              </a:rPr>
              <a:t>\Java-Service-Tree-Framework\knot-vault"</a:t>
            </a:r>
            <a:endParaRPr lang="en-US"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509519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DD3C8-64F4-C3E8-B044-508C561AA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C29BED9F-B7EE-9776-4B23-E1806628036D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save 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→ ingest )</a:t>
            </a: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B876CC1F-8A12-10B2-E746-D1B43D0FEDF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핵심은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저장"과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컴파일"을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분리하는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먼저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inbox에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넣고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,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이후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정리합니다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0499B3A6-6F4E-811A-4930-9511E2EC95D5}"/>
              </a:ext>
            </a:extLst>
          </p:cNvPr>
          <p:cNvSpPr/>
          <p:nvPr/>
        </p:nvSpPr>
        <p:spPr>
          <a:xfrm>
            <a:off x="6213218" y="1789723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395B1B90-8F1B-EF73-1B0A-330AD8F89A89}"/>
              </a:ext>
            </a:extLst>
          </p:cNvPr>
          <p:cNvSpPr/>
          <p:nvPr/>
        </p:nvSpPr>
        <p:spPr>
          <a:xfrm>
            <a:off x="6487538" y="2064043"/>
            <a:ext cx="491661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DC093C9D-35A0-0696-064E-9908C39F756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CB73D3C-AD06-1CB3-D072-F1E195E31493}"/>
              </a:ext>
            </a:extLst>
          </p:cNvPr>
          <p:cNvSpPr/>
          <p:nvPr/>
        </p:nvSpPr>
        <p:spPr>
          <a:xfrm>
            <a:off x="6487538" y="2749843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Ingest - inbox를 wiki로 컴파일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4494C456-AA4E-9E2F-4719-0893930C736B}"/>
              </a:ext>
            </a:extLst>
          </p:cNvPr>
          <p:cNvSpPr/>
          <p:nvPr/>
        </p:nvSpPr>
        <p:spPr>
          <a:xfrm>
            <a:off x="6487538" y="3161323"/>
            <a:ext cx="4604110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"knot ingest", "지식그물 컴파일해줘"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prompts/ingest.md 규약대로 source/entity/concept 페이지를 만들고 [[교차링크]], index.md, log.md를 갱신합니다.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BFE31A48-F17C-45C4-9020-D67CAF1190F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25B62FA2-1283-3E5F-02B4-F6DE8A1B34F1}"/>
              </a:ext>
            </a:extLst>
          </p:cNvPr>
          <p:cNvSpPr/>
          <p:nvPr/>
        </p:nvSpPr>
        <p:spPr>
          <a:xfrm>
            <a:off x="502920" y="5166360"/>
            <a:ext cx="11182320" cy="109656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08E48639-9965-9A80-5282-60CCBDEF37B3}"/>
              </a:ext>
            </a:extLst>
          </p:cNvPr>
          <p:cNvSpPr/>
          <p:nvPr/>
        </p:nvSpPr>
        <p:spPr>
          <a:xfrm>
            <a:off x="777240" y="5166360"/>
            <a:ext cx="10606320" cy="109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D97757"/>
                </a:solidFill>
                <a:latin typeface="Malgun Gothic"/>
                <a:ea typeface="Malgun Gothic"/>
              </a:rPr>
              <a:t>왜 나누나?</a:t>
            </a:r>
            <a:r>
              <a:rPr lang="ko-KR" altLang="en-US" sz="1350" b="1" dirty="0">
                <a:solidFill>
                  <a:srgbClr val="D97757"/>
                </a:solidFill>
                <a:latin typeface="Malgun Gothic"/>
                <a:ea typeface="Malgun Gothic"/>
              </a:rPr>
              <a:t> </a:t>
            </a:r>
            <a:r>
              <a:rPr lang="ko-KR" sz="1350" b="1" dirty="0">
                <a:solidFill>
                  <a:srgbClr val="D97757"/>
                </a:solidFill>
                <a:latin typeface="Malgun Gothic"/>
                <a:ea typeface="Malgun Gothic"/>
              </a:rPr>
              <a:t>  </a:t>
            </a:r>
            <a:endParaRPr lang="ko-KR" sz="1350" dirty="0">
              <a:solidFill>
                <a:srgbClr val="D97757"/>
              </a:solidFill>
              <a:latin typeface="Malgun Gothic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1150">
                <a:solidFill>
                  <a:srgbClr val="33302B"/>
                </a:solidFill>
                <a:latin typeface="Malgun Gothic"/>
                <a:ea typeface="Malgun Gothic"/>
              </a:rPr>
              <a:t>Ingest 1 </a:t>
            </a:r>
            <a:r>
              <a:rPr lang="ko-KR" altLang="en-US" sz="1150">
                <a:solidFill>
                  <a:srgbClr val="33302B"/>
                </a:solidFill>
                <a:latin typeface="Malgun Gothic"/>
                <a:ea typeface="Malgun Gothic"/>
              </a:rPr>
              <a:t>단계에는 클린트리 가드가 있어 작업트리가 더러우면 중단됩니다. 그래서 save 단계에서 먼저 커밋해 둡니다.</a:t>
            </a:r>
          </a:p>
        </p:txBody>
      </p:sp>
      <p:sp>
        <p:nvSpPr>
          <p:cNvPr id="2" name="Google Shape;48;p4">
            <a:extLst>
              <a:ext uri="{FF2B5EF4-FFF2-40B4-BE49-F238E27FC236}">
                <a16:creationId xmlns:a16="http://schemas.microsoft.com/office/drawing/2014/main" id="{48D0E4B5-E849-E221-A782-5058DA21DB39}"/>
              </a:ext>
            </a:extLst>
          </p:cNvPr>
          <p:cNvSpPr/>
          <p:nvPr/>
        </p:nvSpPr>
        <p:spPr>
          <a:xfrm>
            <a:off x="498217" y="1809261"/>
            <a:ext cx="5416520" cy="313403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49;p4">
            <a:extLst>
              <a:ext uri="{FF2B5EF4-FFF2-40B4-BE49-F238E27FC236}">
                <a16:creationId xmlns:a16="http://schemas.microsoft.com/office/drawing/2014/main" id="{400E10AC-B3F3-6E4B-492A-FF26E2AAF302}"/>
              </a:ext>
            </a:extLst>
          </p:cNvPr>
          <p:cNvSpPr/>
          <p:nvPr/>
        </p:nvSpPr>
        <p:spPr>
          <a:xfrm>
            <a:off x="772537" y="2064043"/>
            <a:ext cx="501430" cy="442815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ptos"/>
              </a:rPr>
              <a:t>1</a:t>
            </a:r>
            <a:endParaRPr lang="en-US" sz="1600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Google Shape;51;p4">
            <a:extLst>
              <a:ext uri="{FF2B5EF4-FFF2-40B4-BE49-F238E27FC236}">
                <a16:creationId xmlns:a16="http://schemas.microsoft.com/office/drawing/2014/main" id="{60CD56F5-DF75-3B0C-4768-0E62AC17FC6C}"/>
              </a:ext>
            </a:extLst>
          </p:cNvPr>
          <p:cNvSpPr/>
          <p:nvPr/>
        </p:nvSpPr>
        <p:spPr>
          <a:xfrm>
            <a:off x="772537" y="2769381"/>
            <a:ext cx="4604110" cy="3748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Save - </a:t>
            </a:r>
            <a:r>
              <a:rPr lang="ko-KR" altLang="en-US" sz="1650" b="1" err="1">
                <a:solidFill>
                  <a:srgbClr val="33302B"/>
                </a:solidFill>
                <a:latin typeface="Malgun Gothic"/>
                <a:ea typeface="Malgun Gothic"/>
              </a:rPr>
              <a:t>원자료를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 inbox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에</a:t>
            </a:r>
            <a:r>
              <a:rPr lang="en-US" sz="1650" b="1">
                <a:solidFill>
                  <a:srgbClr val="33302B"/>
                </a:solidFill>
                <a:latin typeface="Malgun Gothic"/>
                <a:ea typeface="Malgun Gothic"/>
              </a:rPr>
              <a:t> </a:t>
            </a: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넣기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5" name="Google Shape;52;p4">
            <a:extLst>
              <a:ext uri="{FF2B5EF4-FFF2-40B4-BE49-F238E27FC236}">
                <a16:creationId xmlns:a16="http://schemas.microsoft.com/office/drawing/2014/main" id="{03B399CD-78F8-8341-27E7-1763AD64D70A}"/>
              </a:ext>
            </a:extLst>
          </p:cNvPr>
          <p:cNvSpPr/>
          <p:nvPr/>
        </p:nvSpPr>
        <p:spPr>
          <a:xfrm>
            <a:off x="772537" y="3161323"/>
            <a:ext cx="4897186" cy="15209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사용 예시</a:t>
            </a:r>
            <a:endParaRPr lang="en-US" altLang="ko-KR" sz="115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"이거 knot에 저장해줘" , "vault"에 넣어줘"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동작 : 자료를 inbox/에 슬러그 파일로 저장하고, 해당 파일만 커밋합니다.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이 단계에서는 아직 wiki에 반영되지 않습니다.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pic>
        <p:nvPicPr>
          <p:cNvPr id="6" name="Google Shape;55;p4" descr="preencoded.png">
            <a:extLst>
              <a:ext uri="{FF2B5EF4-FFF2-40B4-BE49-F238E27FC236}">
                <a16:creationId xmlns:a16="http://schemas.microsoft.com/office/drawing/2014/main" id="{DD7F2733-D7F3-8606-E784-9AC1041783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761559" y="2250818"/>
            <a:ext cx="255240" cy="2552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820584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DD9868-6C97-4C55-FF81-7EAAE516C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148;p7">
            <a:extLst>
              <a:ext uri="{FF2B5EF4-FFF2-40B4-BE49-F238E27FC236}">
                <a16:creationId xmlns:a16="http://schemas.microsoft.com/office/drawing/2014/main" id="{9AFC8E82-F486-008A-F008-87DCABF5D75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149;p7">
            <a:extLst>
              <a:ext uri="{FF2B5EF4-FFF2-40B4-BE49-F238E27FC236}">
                <a16:creationId xmlns:a16="http://schemas.microsoft.com/office/drawing/2014/main" id="{9E83BEEE-6614-10B0-034B-0979A2D238C9}"/>
              </a:ext>
            </a:extLst>
          </p:cNvPr>
          <p:cNvSpPr/>
          <p:nvPr/>
        </p:nvSpPr>
        <p:spPr>
          <a:xfrm>
            <a:off x="502920" y="18288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Google Shape;150;p7">
            <a:extLst>
              <a:ext uri="{FF2B5EF4-FFF2-40B4-BE49-F238E27FC236}">
                <a16:creationId xmlns:a16="http://schemas.microsoft.com/office/drawing/2014/main" id="{558C7427-0D6D-B751-CA29-501C3104E175}"/>
              </a:ext>
            </a:extLst>
          </p:cNvPr>
          <p:cNvSpPr/>
          <p:nvPr/>
        </p:nvSpPr>
        <p:spPr>
          <a:xfrm>
            <a:off x="978480" y="18378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0" name="Google Shape;151;p7">
            <a:extLst>
              <a:ext uri="{FF2B5EF4-FFF2-40B4-BE49-F238E27FC236}">
                <a16:creationId xmlns:a16="http://schemas.microsoft.com/office/drawing/2014/main" id="{5E2B4FCD-66E3-D298-E321-495D94BB2F99}"/>
              </a:ext>
            </a:extLst>
          </p:cNvPr>
          <p:cNvSpPr/>
          <p:nvPr/>
        </p:nvSpPr>
        <p:spPr>
          <a:xfrm>
            <a:off x="988249" y="2148071"/>
            <a:ext cx="4726031" cy="5522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inbox/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에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저장합니다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아직 wiki 반영 전 단계입니다.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251" name="Google Shape;152;p7">
            <a:extLst>
              <a:ext uri="{FF2B5EF4-FFF2-40B4-BE49-F238E27FC236}">
                <a16:creationId xmlns:a16="http://schemas.microsoft.com/office/drawing/2014/main" id="{3791CB8B-1C9D-E996-E8E9-11794C191CAA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153;p7">
            <a:extLst>
              <a:ext uri="{FF2B5EF4-FFF2-40B4-BE49-F238E27FC236}">
                <a16:creationId xmlns:a16="http://schemas.microsoft.com/office/drawing/2014/main" id="{7C7706EF-EE81-3D1F-9163-BC97048EB663}"/>
              </a:ext>
            </a:extLst>
          </p:cNvPr>
          <p:cNvSpPr/>
          <p:nvPr/>
        </p:nvSpPr>
        <p:spPr>
          <a:xfrm>
            <a:off x="483382" y="2737338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Google Shape;154;p7">
            <a:extLst>
              <a:ext uri="{FF2B5EF4-FFF2-40B4-BE49-F238E27FC236}">
                <a16:creationId xmlns:a16="http://schemas.microsoft.com/office/drawing/2014/main" id="{92BECECD-254E-C90F-F273-13CA5D57EF0F}"/>
              </a:ext>
            </a:extLst>
          </p:cNvPr>
          <p:cNvSpPr/>
          <p:nvPr/>
        </p:nvSpPr>
        <p:spPr>
          <a:xfrm>
            <a:off x="958942" y="2746338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4" name="Google Shape;155;p7">
            <a:extLst>
              <a:ext uri="{FF2B5EF4-FFF2-40B4-BE49-F238E27FC236}">
                <a16:creationId xmlns:a16="http://schemas.microsoft.com/office/drawing/2014/main" id="{2D82E274-5AA0-F4CE-3689-9DFE921E3C3A}"/>
              </a:ext>
            </a:extLst>
          </p:cNvPr>
          <p:cNvSpPr/>
          <p:nvPr/>
        </p:nvSpPr>
        <p:spPr>
          <a:xfrm>
            <a:off x="958942" y="3066378"/>
            <a:ext cx="473580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Inbox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자료를</a:t>
            </a:r>
            <a:r>
              <a:rPr lang="en-US" sz="1150">
                <a:solidFill>
                  <a:srgbClr val="7A746B"/>
                </a:solidFill>
                <a:latin typeface="Malgun Gothic"/>
                <a:ea typeface="Malgun Gothic"/>
              </a:rPr>
              <a:t> wiki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구조로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컴파일</a:t>
            </a:r>
            <a:r>
              <a:rPr lang="en-US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50" err="1">
                <a:solidFill>
                  <a:srgbClr val="7A746B"/>
                </a:solidFill>
                <a:latin typeface="Malgun Gothic"/>
                <a:ea typeface="Malgun Gothic"/>
              </a:rPr>
              <a:t>합니다</a:t>
            </a:r>
            <a:r>
              <a:rPr lang="en-US" altLang="ko-KR" sz="115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Source/entity/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concept와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교차링크를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갱신합니다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5" name="Google Shape;156;p7">
            <a:extLst>
              <a:ext uri="{FF2B5EF4-FFF2-40B4-BE49-F238E27FC236}">
                <a16:creationId xmlns:a16="http://schemas.microsoft.com/office/drawing/2014/main" id="{12FD2944-EF11-6E48-2DDB-AB653E00E380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157;p7">
            <a:extLst>
              <a:ext uri="{FF2B5EF4-FFF2-40B4-BE49-F238E27FC236}">
                <a16:creationId xmlns:a16="http://schemas.microsoft.com/office/drawing/2014/main" id="{0638534B-16D1-1D3E-E4BA-92D80C3510BF}"/>
              </a:ext>
            </a:extLst>
          </p:cNvPr>
          <p:cNvSpPr/>
          <p:nvPr/>
        </p:nvSpPr>
        <p:spPr>
          <a:xfrm>
            <a:off x="502920" y="365760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Google Shape;158;p7">
            <a:extLst>
              <a:ext uri="{FF2B5EF4-FFF2-40B4-BE49-F238E27FC236}">
                <a16:creationId xmlns:a16="http://schemas.microsoft.com/office/drawing/2014/main" id="{F2D440C6-3B37-EAAF-5347-D391B555AE7C}"/>
              </a:ext>
            </a:extLst>
          </p:cNvPr>
          <p:cNvSpPr/>
          <p:nvPr/>
        </p:nvSpPr>
        <p:spPr>
          <a:xfrm>
            <a:off x="978480" y="366660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58" name="Google Shape;159;p7">
            <a:extLst>
              <a:ext uri="{FF2B5EF4-FFF2-40B4-BE49-F238E27FC236}">
                <a16:creationId xmlns:a16="http://schemas.microsoft.com/office/drawing/2014/main" id="{065AF6EB-17BB-E24A-5DF8-3E35549E87C6}"/>
              </a:ext>
            </a:extLst>
          </p:cNvPr>
          <p:cNvSpPr/>
          <p:nvPr/>
        </p:nvSpPr>
        <p:spPr>
          <a:xfrm>
            <a:off x="978480" y="3986640"/>
            <a:ext cx="47358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knot에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물어봐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"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형태로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질의합니다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  <a:endParaRPr lang="ko-KR" altLang="en-US">
              <a:solidFill>
                <a:srgbClr val="000000"/>
              </a:solidFill>
              <a:latin typeface="Arial"/>
              <a:ea typeface="Malgun Gothic"/>
              <a:cs typeface="Arial"/>
            </a:endParaRP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없으면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지어내지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않고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"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없음"으로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50" dirty="0" err="1">
                <a:solidFill>
                  <a:srgbClr val="7A746B"/>
                </a:solidFill>
                <a:latin typeface="Malgun Gothic"/>
                <a:ea typeface="Malgun Gothic"/>
              </a:rPr>
              <a:t>답합니다</a:t>
            </a:r>
            <a:r>
              <a:rPr lang="en-US" altLang="ko-KR" sz="115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259" name="Google Shape;160;p7">
            <a:extLst>
              <a:ext uri="{FF2B5EF4-FFF2-40B4-BE49-F238E27FC236}">
                <a16:creationId xmlns:a16="http://schemas.microsoft.com/office/drawing/2014/main" id="{0223AEA9-AD30-E5E6-2ED6-2847475699EA}"/>
              </a:ext>
            </a:extLst>
          </p:cNvPr>
          <p:cNvSpPr/>
          <p:nvPr/>
        </p:nvSpPr>
        <p:spPr>
          <a:xfrm>
            <a:off x="427320" y="5549400"/>
            <a:ext cx="5211360" cy="95544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oogle Shape;161;p7" descr="preencoded.png">
            <a:extLst>
              <a:ext uri="{FF2B5EF4-FFF2-40B4-BE49-F238E27FC236}">
                <a16:creationId xmlns:a16="http://schemas.microsoft.com/office/drawing/2014/main" id="{991BE3DD-B6BC-4E94-6420-E2B1EAE842A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24960" y="584784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Google Shape;162;p7">
            <a:extLst>
              <a:ext uri="{FF2B5EF4-FFF2-40B4-BE49-F238E27FC236}">
                <a16:creationId xmlns:a16="http://schemas.microsoft.com/office/drawing/2014/main" id="{72073C8E-4BDB-5CEA-A809-E3977B9CD4BF}"/>
              </a:ext>
            </a:extLst>
          </p:cNvPr>
          <p:cNvSpPr/>
          <p:nvPr/>
        </p:nvSpPr>
        <p:spPr>
          <a:xfrm>
            <a:off x="994320" y="5549400"/>
            <a:ext cx="446148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300">
                <a:latin typeface="Consolas"/>
                <a:ea typeface="Malgun Gothic"/>
              </a:rPr>
              <a:t>save</a:t>
            </a:r>
            <a:r>
              <a:rPr lang="en-US" altLang="ko-KR" sz="1300">
                <a:latin typeface="Consolas"/>
                <a:ea typeface="Malgun Gothic"/>
              </a:rPr>
              <a:t> → </a:t>
            </a:r>
            <a:r>
              <a:rPr lang="en-US" sz="1300">
                <a:latin typeface="Consolas"/>
                <a:ea typeface="Malgun Gothic"/>
              </a:rPr>
              <a:t>ingest → </a:t>
            </a:r>
            <a:r>
              <a:rPr lang="en-US" altLang="ko-KR" sz="1300">
                <a:latin typeface="Consolas"/>
                <a:ea typeface="Malgun Gothic"/>
              </a:rPr>
              <a:t>query</a:t>
            </a:r>
            <a:br>
              <a:rPr lang="en-US" altLang="ko-KR" sz="1300" dirty="0">
                <a:latin typeface="Consolas"/>
                <a:ea typeface="Malgun Gothic"/>
              </a:rPr>
            </a:br>
            <a:r>
              <a:rPr lang="en-US" altLang="ko-KR" sz="1300">
                <a:latin typeface="Consolas"/>
                <a:ea typeface="Malgun Gothic"/>
              </a:rPr>
              <a:t>         ↘</a:t>
            </a:r>
            <a:r>
              <a:rPr lang="en-US" sz="1300">
                <a:latin typeface="Consolas"/>
                <a:ea typeface="Malgun Gothic"/>
              </a:rPr>
              <a:t> lint</a:t>
            </a:r>
            <a:r>
              <a:rPr lang="en-US" altLang="ko-KR" sz="130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로</a:t>
            </a:r>
            <a:r>
              <a:rPr lang="en-US" altLang="ko-KR" sz="1300">
                <a:latin typeface="Consolas"/>
                <a:ea typeface="Malgun Gothic"/>
              </a:rPr>
              <a:t> vault </a:t>
            </a:r>
            <a:r>
              <a:rPr lang="ko-KR" altLang="en-US" sz="1300" dirty="0">
                <a:latin typeface="Consolas"/>
                <a:ea typeface="Malgun Gothic"/>
              </a:rPr>
              <a:t>상태</a:t>
            </a:r>
            <a:r>
              <a:rPr lang="en-US" altLang="ko-KR" sz="1300" dirty="0">
                <a:latin typeface="Consolas"/>
                <a:ea typeface="Malgun Gothic"/>
              </a:rPr>
              <a:t> </a:t>
            </a:r>
            <a:r>
              <a:rPr lang="ko-KR" altLang="en-US" sz="1300" dirty="0">
                <a:latin typeface="Consolas"/>
                <a:ea typeface="Malgun Gothic"/>
              </a:rPr>
              <a:t>점검</a:t>
            </a:r>
            <a:endParaRPr lang="en-US" sz="1300" dirty="0">
              <a:latin typeface="Consolas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sz="1150" b="0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2" name="Google Shape;163;p7">
            <a:extLst>
              <a:ext uri="{FF2B5EF4-FFF2-40B4-BE49-F238E27FC236}">
                <a16:creationId xmlns:a16="http://schemas.microsoft.com/office/drawing/2014/main" id="{14CB74AC-A9BD-6F08-C412-B15266A38E26}"/>
              </a:ext>
            </a:extLst>
          </p:cNvPr>
          <p:cNvSpPr/>
          <p:nvPr/>
        </p:nvSpPr>
        <p:spPr>
          <a:xfrm>
            <a:off x="6126480" y="178308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400" b="1">
                <a:solidFill>
                  <a:srgbClr val="33302B"/>
                </a:solidFill>
                <a:latin typeface="Malgun Gothic"/>
                <a:ea typeface="Malgun Gothic"/>
              </a:rPr>
              <a:t>이렇게 실행합니다.</a:t>
            </a:r>
            <a:endParaRPr lang="ko-KR" altLang="en-US" sz="14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3" name="Google Shape;164;p7">
            <a:extLst>
              <a:ext uri="{FF2B5EF4-FFF2-40B4-BE49-F238E27FC236}">
                <a16:creationId xmlns:a16="http://schemas.microsoft.com/office/drawing/2014/main" id="{FD0CE8B5-034F-5FF2-6861-681D68B60ADD}"/>
              </a:ext>
            </a:extLst>
          </p:cNvPr>
          <p:cNvSpPr/>
          <p:nvPr/>
        </p:nvSpPr>
        <p:spPr>
          <a:xfrm>
            <a:off x="6136249" y="2066382"/>
            <a:ext cx="54856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100">
                <a:solidFill>
                  <a:srgbClr val="7A746B"/>
                </a:solidFill>
                <a:latin typeface="Malgun Gothic"/>
                <a:ea typeface="Malgun Gothic"/>
              </a:rPr>
              <a:t>프롬프트 입력 내용</a:t>
            </a:r>
            <a:endParaRPr lang="ko-KR" altLang="en-US" sz="1100" b="0" u="none" strike="noStrike">
              <a:solidFill>
                <a:srgbClr val="7A746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64" name="Google Shape;165;p7">
            <a:extLst>
              <a:ext uri="{FF2B5EF4-FFF2-40B4-BE49-F238E27FC236}">
                <a16:creationId xmlns:a16="http://schemas.microsoft.com/office/drawing/2014/main" id="{AA5977E5-641A-5E68-437C-BE9D2CBF8C84}"/>
              </a:ext>
            </a:extLst>
          </p:cNvPr>
          <p:cNvSpPr/>
          <p:nvPr/>
        </p:nvSpPr>
        <p:spPr>
          <a:xfrm>
            <a:off x="6090529" y="2437625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sz="1400" dirty="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,</a:t>
            </a:r>
            <a:r>
              <a:rPr lang="ko-KR" alt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&lt;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파일경로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 inbox/에 넣어라</a:t>
            </a:r>
            <a:endParaRPr lang="en-US" altLang="ko-KR" sz="1400" dirty="0">
              <a:cs typeface="Arial"/>
            </a:endParaRPr>
          </a:p>
        </p:txBody>
      </p:sp>
      <p:sp>
        <p:nvSpPr>
          <p:cNvPr id="269" name="Google Shape;170;p7">
            <a:extLst>
              <a:ext uri="{FF2B5EF4-FFF2-40B4-BE49-F238E27FC236}">
                <a16:creationId xmlns:a16="http://schemas.microsoft.com/office/drawing/2014/main" id="{DCD8073C-527D-EA39-20B5-C2A92819EF96}"/>
              </a:ext>
            </a:extLst>
          </p:cNvPr>
          <p:cNvSpPr/>
          <p:nvPr/>
        </p:nvSpPr>
        <p:spPr>
          <a:xfrm>
            <a:off x="6101926" y="5438190"/>
            <a:ext cx="5791593" cy="5375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기계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검사만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빠르게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돌릴</a:t>
            </a:r>
            <a:r>
              <a:rPr 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 땐 </a:t>
            </a:r>
            <a:r>
              <a:rPr lang="ko-KR" altLang="en-US" sz="1100" dirty="0">
                <a:solidFill>
                  <a:srgbClr val="7A746B"/>
                </a:solidFill>
                <a:latin typeface="Malgun Gothic"/>
                <a:ea typeface="Malgun Gothic"/>
              </a:rPr>
              <a:t>프롬프트에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! 를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붙여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셀을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바로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실행할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 수 </a:t>
            </a:r>
            <a:r>
              <a:rPr lang="en-US" altLang="ko-KR" sz="1100" dirty="0" err="1">
                <a:solidFill>
                  <a:srgbClr val="7A746B"/>
                </a:solidFill>
                <a:latin typeface="Malgun Gothic"/>
                <a:ea typeface="Malgun Gothic"/>
              </a:rPr>
              <a:t>있습니다</a:t>
            </a:r>
            <a:r>
              <a:rPr lang="en-US" altLang="ko-KR" sz="1100" dirty="0">
                <a:solidFill>
                  <a:srgbClr val="7A746B"/>
                </a:solidFill>
                <a:latin typeface="Malgun Gothic"/>
                <a:ea typeface="Malgun Gothic"/>
              </a:rPr>
              <a:t>. </a:t>
            </a:r>
            <a:endParaRPr lang="ko-KR" altLang="en-US" sz="1100" b="1" dirty="0">
              <a:solidFill>
                <a:srgbClr val="33302B"/>
              </a:solidFill>
              <a:latin typeface="Malgun Gothic"/>
              <a:ea typeface="Malgun Gothic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altLang="ko-KR" sz="1100" b="1">
                <a:solidFill>
                  <a:srgbClr val="33302B"/>
                </a:solidFill>
                <a:latin typeface="Malgun Gothic"/>
                <a:ea typeface="Malgun Gothic"/>
              </a:rPr>
              <a:t>!python </a:t>
            </a:r>
            <a:r>
              <a:rPr lang="en-US" altLang="ko-KR" sz="1100" b="1" dirty="0">
                <a:solidFill>
                  <a:srgbClr val="33302B"/>
                </a:solidFill>
                <a:latin typeface="Malgun Gothic"/>
                <a:ea typeface="Malgun Gothic"/>
              </a:rPr>
              <a:t>knot-vault/scripts/lint.py</a:t>
            </a:r>
            <a:endParaRPr lang="ko-KR" altLang="en-US" sz="110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1" name="Google Shape;156;p7">
            <a:extLst>
              <a:ext uri="{FF2B5EF4-FFF2-40B4-BE49-F238E27FC236}">
                <a16:creationId xmlns:a16="http://schemas.microsoft.com/office/drawing/2014/main" id="{59BE03EF-F6AC-D088-7580-11ADC708DD90}"/>
              </a:ext>
            </a:extLst>
          </p:cNvPr>
          <p:cNvSpPr/>
          <p:nvPr/>
        </p:nvSpPr>
        <p:spPr>
          <a:xfrm>
            <a:off x="502920" y="4613760"/>
            <a:ext cx="346680" cy="3466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Malgun Gothic"/>
                <a:ea typeface="Malgun Gothic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Google Shape;158;p7">
            <a:extLst>
              <a:ext uri="{FF2B5EF4-FFF2-40B4-BE49-F238E27FC236}">
                <a16:creationId xmlns:a16="http://schemas.microsoft.com/office/drawing/2014/main" id="{F26BAF33-5E6E-033B-ADBE-8DAF90CB2F88}"/>
              </a:ext>
            </a:extLst>
          </p:cNvPr>
          <p:cNvSpPr/>
          <p:nvPr/>
        </p:nvSpPr>
        <p:spPr>
          <a:xfrm>
            <a:off x="978480" y="4622760"/>
            <a:ext cx="473580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73" name="Google Shape;159;p7">
            <a:extLst>
              <a:ext uri="{FF2B5EF4-FFF2-40B4-BE49-F238E27FC236}">
                <a16:creationId xmlns:a16="http://schemas.microsoft.com/office/drawing/2014/main" id="{4533003D-F310-46C2-906D-6E4FBC50D36E}"/>
              </a:ext>
            </a:extLst>
          </p:cNvPr>
          <p:cNvSpPr/>
          <p:nvPr/>
        </p:nvSpPr>
        <p:spPr>
          <a:xfrm>
            <a:off x="978480" y="4942800"/>
            <a:ext cx="4735800" cy="46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Vault 건강검진입니다.</a:t>
            </a:r>
          </a:p>
          <a:p>
            <a:pPr>
              <a:lnSpc>
                <a:spcPct val="120000"/>
              </a:lnSpc>
              <a:tabLst>
                <a:tab pos="0" algn="l"/>
              </a:tabLst>
            </a:pPr>
            <a:r>
              <a:rPr lang="ko-KR" altLang="en-US" sz="1150">
                <a:solidFill>
                  <a:srgbClr val="7A746B"/>
                </a:solidFill>
                <a:latin typeface="Malgun Gothic"/>
                <a:ea typeface="Malgun Gothic"/>
              </a:rPr>
              <a:t>Scripts/lint/py는 기계 점검, prompts/lint.md는 의미 점검을 담당합니다.</a:t>
            </a:r>
            <a:endParaRPr lang="ko-KR" altLang="en-US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3" name="Google Shape;41;p4">
            <a:extLst>
              <a:ext uri="{FF2B5EF4-FFF2-40B4-BE49-F238E27FC236}">
                <a16:creationId xmlns:a16="http://schemas.microsoft.com/office/drawing/2014/main" id="{2CB84233-5649-4912-AA96-2B5D59B3B2FA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Knot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사용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</a:t>
            </a:r>
            <a:r>
              <a:rPr lang="en-US" altLang="ko-KR" sz="3000" b="1" dirty="0" err="1">
                <a:solidFill>
                  <a:srgbClr val="33302B"/>
                </a:solidFill>
                <a:latin typeface="Malgun Gothic"/>
                <a:ea typeface="Malgun Gothic"/>
              </a:rPr>
              <a:t>흐름</a:t>
            </a:r>
            <a:r>
              <a:rPr lang="en-US" altLang="ko-KR" sz="3000" b="1" dirty="0">
                <a:solidFill>
                  <a:srgbClr val="33302B"/>
                </a:solidFill>
                <a:latin typeface="Malgun Gothic"/>
                <a:ea typeface="Malgun Gothic"/>
              </a:rPr>
              <a:t> ( verb 기준</a:t>
            </a:r>
            <a:r>
              <a:rPr lang="en-US" sz="3000" b="1" dirty="0">
                <a:solidFill>
                  <a:srgbClr val="2D2D2D"/>
                </a:solidFill>
                <a:latin typeface="Aptos"/>
                <a:ea typeface="Malgun Gothic"/>
              </a:rPr>
              <a:t> )</a:t>
            </a:r>
          </a:p>
        </p:txBody>
      </p:sp>
      <p:sp>
        <p:nvSpPr>
          <p:cNvPr id="5" name="Google Shape;42;p4">
            <a:extLst>
              <a:ext uri="{FF2B5EF4-FFF2-40B4-BE49-F238E27FC236}">
                <a16:creationId xmlns:a16="http://schemas.microsoft.com/office/drawing/2014/main" id="{A5A99C5F-731F-0D9E-9657-B0621184211D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Knot은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복잡한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메뉴가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아니라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 </a:t>
            </a:r>
            <a:r>
              <a:rPr lang="en-US" sz="1400" dirty="0" err="1">
                <a:solidFill>
                  <a:srgbClr val="6E6E6E"/>
                </a:solidFill>
                <a:latin typeface="Aptos"/>
                <a:ea typeface="Malgun Gothic"/>
              </a:rPr>
              <a:t>save·ingest·query·lint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 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네</a:t>
            </a:r>
            <a:r>
              <a:rPr lang="en-US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ko-KR" altLang="en-US" sz="1400" dirty="0">
                <a:solidFill>
                  <a:srgbClr val="6E6E6E"/>
                </a:solidFill>
                <a:latin typeface="Aptos"/>
                <a:ea typeface="Malgun Gothic"/>
              </a:rPr>
              <a:t>가지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동작으로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 </a:t>
            </a:r>
            <a:r>
              <a:rPr lang="en-US" altLang="ko-KR" sz="1400" dirty="0" err="1">
                <a:solidFill>
                  <a:srgbClr val="6E6E6E"/>
                </a:solidFill>
                <a:latin typeface="Aptos"/>
                <a:ea typeface="Malgun Gothic"/>
              </a:rPr>
              <a:t>사용합니다</a:t>
            </a:r>
            <a:r>
              <a:rPr lang="en-US" altLang="ko-KR" sz="1400" dirty="0">
                <a:solidFill>
                  <a:srgbClr val="6E6E6E"/>
                </a:solidFill>
                <a:latin typeface="Aptos"/>
                <a:ea typeface="Malgun Gothic"/>
              </a:rPr>
              <a:t>.</a:t>
            </a:r>
          </a:p>
        </p:txBody>
      </p:sp>
      <p:sp>
        <p:nvSpPr>
          <p:cNvPr id="7" name="Google Shape;165;p7">
            <a:extLst>
              <a:ext uri="{FF2B5EF4-FFF2-40B4-BE49-F238E27FC236}">
                <a16:creationId xmlns:a16="http://schemas.microsoft.com/office/drawing/2014/main" id="{31D0EFCF-4B93-8201-BA12-E8BA725CF462}"/>
              </a:ext>
            </a:extLst>
          </p:cNvPr>
          <p:cNvSpPr/>
          <p:nvPr/>
        </p:nvSpPr>
        <p:spPr>
          <a:xfrm>
            <a:off x="6090529" y="3079138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knot-vault/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schema.md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knot-vault/prompts/</a:t>
            </a:r>
            <a:r>
              <a:rPr lang="en-US" sz="1400" err="1">
                <a:solidFill>
                  <a:srgbClr val="000000"/>
                </a:solidFill>
                <a:ea typeface="+mn-lt"/>
                <a:cs typeface="+mn-lt"/>
              </a:rPr>
              <a:t>ingest.md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 dirty="0" err="1"/>
          </a:p>
        </p:txBody>
      </p:sp>
      <p:sp>
        <p:nvSpPr>
          <p:cNvPr id="9" name="Google Shape;165;p7">
            <a:extLst>
              <a:ext uri="{FF2B5EF4-FFF2-40B4-BE49-F238E27FC236}">
                <a16:creationId xmlns:a16="http://schemas.microsoft.com/office/drawing/2014/main" id="{3C233604-3071-E27F-05E1-EEFDA6594C7F}"/>
              </a:ext>
            </a:extLst>
          </p:cNvPr>
          <p:cNvSpPr/>
          <p:nvPr/>
        </p:nvSpPr>
        <p:spPr>
          <a:xfrm>
            <a:off x="6101926" y="3784149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knot-vault/prompts/query.md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</a:t>
            </a:r>
            <a:r>
              <a:rPr lang="en-US" altLang="ko-KR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실행하라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. 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: &lt;</a:t>
            </a:r>
            <a:r>
              <a:rPr lang="ko-KR" altLang="en-US" sz="1400" err="1">
                <a:solidFill>
                  <a:srgbClr val="000000"/>
                </a:solidFill>
                <a:ea typeface="+mn-lt"/>
                <a:cs typeface="+mn-lt"/>
              </a:rPr>
              <a:t>질문내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용</a:t>
            </a:r>
            <a:r>
              <a:rPr lang="en-US" altLang="ko-KR" sz="1400">
                <a:solidFill>
                  <a:srgbClr val="000000"/>
                </a:solidFill>
                <a:ea typeface="+mn-lt"/>
                <a:cs typeface="+mn-lt"/>
              </a:rPr>
              <a:t>&gt;</a:t>
            </a:r>
            <a:endParaRPr lang="ko-KR" altLang="en-US" sz="1400">
              <a:cs typeface="Arial"/>
            </a:endParaRPr>
          </a:p>
        </p:txBody>
      </p:sp>
      <p:sp>
        <p:nvSpPr>
          <p:cNvPr id="11" name="Google Shape;165;p7">
            <a:extLst>
              <a:ext uri="{FF2B5EF4-FFF2-40B4-BE49-F238E27FC236}">
                <a16:creationId xmlns:a16="http://schemas.microsoft.com/office/drawing/2014/main" id="{1AAC4A37-8335-AB5F-A043-5E855FD2632A}"/>
              </a:ext>
            </a:extLst>
          </p:cNvPr>
          <p:cNvSpPr/>
          <p:nvPr/>
        </p:nvSpPr>
        <p:spPr>
          <a:xfrm>
            <a:off x="6090528" y="4419964"/>
            <a:ext cx="5650200" cy="402120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>
            <a:solidFill>
              <a:srgbClr val="E4E0DA"/>
            </a:solidFill>
            <a:round/>
          </a:ln>
          <a:effectLst>
            <a:outerShdw blurRad="152280" dist="38160" dir="5400000" algn="bl" rotWithShape="0">
              <a:srgbClr val="000000">
                <a:alpha val="2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knot-vault/schema.md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와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knot-vault/prompts/lint.md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를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정독하고</a:t>
            </a:r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ko-KR" altLang="en-US" sz="1400">
                <a:solidFill>
                  <a:srgbClr val="000000"/>
                </a:solidFill>
                <a:ea typeface="+mn-lt"/>
                <a:cs typeface="+mn-lt"/>
              </a:rPr>
              <a:t>그대로 실행하라.</a:t>
            </a:r>
            <a:endParaRPr lang="en-US">
              <a:ea typeface="+mn-lt"/>
              <a:cs typeface="+mn-lt"/>
            </a:endParaRPr>
          </a:p>
        </p:txBody>
      </p:sp>
      <p:sp>
        <p:nvSpPr>
          <p:cNvPr id="17" name="Google Shape;150;p7">
            <a:extLst>
              <a:ext uri="{FF2B5EF4-FFF2-40B4-BE49-F238E27FC236}">
                <a16:creationId xmlns:a16="http://schemas.microsoft.com/office/drawing/2014/main" id="{72D1F74E-54A5-91EA-D890-C4078FDBF07D}"/>
              </a:ext>
            </a:extLst>
          </p:cNvPr>
          <p:cNvSpPr/>
          <p:nvPr/>
        </p:nvSpPr>
        <p:spPr>
          <a:xfrm>
            <a:off x="5529313" y="2546883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Save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01C34DC1-4847-7368-7901-CCDE3570F281}"/>
              </a:ext>
            </a:extLst>
          </p:cNvPr>
          <p:cNvSpPr/>
          <p:nvPr/>
        </p:nvSpPr>
        <p:spPr>
          <a:xfrm>
            <a:off x="5529312" y="3181882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ingest</a:t>
            </a:r>
            <a:endParaRPr lang="ko-KR" altLang="en-US" sz="13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20" name="Google Shape;150;p7">
            <a:extLst>
              <a:ext uri="{FF2B5EF4-FFF2-40B4-BE49-F238E27FC236}">
                <a16:creationId xmlns:a16="http://schemas.microsoft.com/office/drawing/2014/main" id="{03B84980-A984-1C51-D445-B15BABE094E2}"/>
              </a:ext>
            </a:extLst>
          </p:cNvPr>
          <p:cNvSpPr/>
          <p:nvPr/>
        </p:nvSpPr>
        <p:spPr>
          <a:xfrm>
            <a:off x="5529311" y="3880381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query</a:t>
            </a:r>
            <a:endParaRPr lang="en-US" altLang="ko-KR"/>
          </a:p>
        </p:txBody>
      </p:sp>
      <p:sp>
        <p:nvSpPr>
          <p:cNvPr id="21" name="Google Shape;150;p7">
            <a:extLst>
              <a:ext uri="{FF2B5EF4-FFF2-40B4-BE49-F238E27FC236}">
                <a16:creationId xmlns:a16="http://schemas.microsoft.com/office/drawing/2014/main" id="{76565365-2CD4-4167-FCA6-42555A6EC13C}"/>
              </a:ext>
            </a:extLst>
          </p:cNvPr>
          <p:cNvSpPr/>
          <p:nvPr/>
        </p:nvSpPr>
        <p:spPr>
          <a:xfrm>
            <a:off x="5529310" y="4525964"/>
            <a:ext cx="629467" cy="204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350" b="1">
                <a:solidFill>
                  <a:srgbClr val="33302B"/>
                </a:solidFill>
                <a:latin typeface="Malgun Gothic"/>
                <a:ea typeface="Malgun Gothic"/>
              </a:rPr>
              <a:t>lint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887492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95276-45BE-92A7-BD70-A9D330A44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41;p4">
            <a:extLst>
              <a:ext uri="{FF2B5EF4-FFF2-40B4-BE49-F238E27FC236}">
                <a16:creationId xmlns:a16="http://schemas.microsoft.com/office/drawing/2014/main" id="{27E98A92-863A-7B67-C992-3E3BE4CFCF1E}"/>
              </a:ext>
            </a:extLst>
          </p:cNvPr>
          <p:cNvSpPr/>
          <p:nvPr/>
        </p:nvSpPr>
        <p:spPr>
          <a:xfrm>
            <a:off x="502920" y="384120"/>
            <a:ext cx="10057680" cy="77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ko-KR" altLang="en-US" sz="1100" b="1" u="none" strike="noStrike" dirty="0">
              <a:solidFill>
                <a:srgbClr val="D97757"/>
              </a:solidFill>
              <a:effectLst/>
              <a:uFillTx/>
              <a:latin typeface="Malgun Gothic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3000" b="1">
                <a:solidFill>
                  <a:srgbClr val="33302B"/>
                </a:solidFill>
                <a:latin typeface="Malgun Gothic"/>
                <a:ea typeface="Malgun Gothic"/>
              </a:rPr>
              <a:t>Knot 운영 기준 ( 기본은 수동 )</a:t>
            </a:r>
            <a:endParaRPr lang="ko-KR" altLang="en-US" sz="300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46" name="Google Shape;42;p4">
            <a:extLst>
              <a:ext uri="{FF2B5EF4-FFF2-40B4-BE49-F238E27FC236}">
                <a16:creationId xmlns:a16="http://schemas.microsoft.com/office/drawing/2014/main" id="{AD3E836D-33E3-8F80-4A1F-7A18F99B7A7A}"/>
              </a:ext>
            </a:extLst>
          </p:cNvPr>
          <p:cNvSpPr/>
          <p:nvPr/>
        </p:nvSpPr>
        <p:spPr>
          <a:xfrm>
            <a:off x="521280" y="1143000"/>
            <a:ext cx="1115496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자동화보다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중요한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것은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정본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관리와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근거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기반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응답입니다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기본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운용은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사람이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확인하고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실행하는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 </a:t>
            </a:r>
            <a:r>
              <a:rPr lang="en-US" altLang="ko-KR" sz="1300" dirty="0" err="1">
                <a:solidFill>
                  <a:srgbClr val="7A746B"/>
                </a:solidFill>
                <a:latin typeface="Malgun Gothic"/>
                <a:ea typeface="Malgun Gothic"/>
              </a:rPr>
              <a:t>방식입니다</a:t>
            </a:r>
            <a:r>
              <a:rPr lang="en-US" altLang="ko-KR" sz="1300" dirty="0">
                <a:solidFill>
                  <a:srgbClr val="7A746B"/>
                </a:solidFill>
                <a:latin typeface="Malgun Gothic"/>
                <a:ea typeface="Malgun Gothic"/>
              </a:rPr>
              <a:t>.</a:t>
            </a:r>
          </a:p>
        </p:txBody>
      </p:sp>
      <p:sp>
        <p:nvSpPr>
          <p:cNvPr id="147" name="Google Shape;43;p4">
            <a:extLst>
              <a:ext uri="{FF2B5EF4-FFF2-40B4-BE49-F238E27FC236}">
                <a16:creationId xmlns:a16="http://schemas.microsoft.com/office/drawing/2014/main" id="{67A16318-295F-AB08-9056-8DC11EB77029}"/>
              </a:ext>
            </a:extLst>
          </p:cNvPr>
          <p:cNvSpPr/>
          <p:nvPr/>
        </p:nvSpPr>
        <p:spPr>
          <a:xfrm>
            <a:off x="50292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44;p4">
            <a:extLst>
              <a:ext uri="{FF2B5EF4-FFF2-40B4-BE49-F238E27FC236}">
                <a16:creationId xmlns:a16="http://schemas.microsoft.com/office/drawing/2014/main" id="{F8168764-BD3A-F5F0-7C1B-77CF2B9FA806}"/>
              </a:ext>
            </a:extLst>
          </p:cNvPr>
          <p:cNvSpPr/>
          <p:nvPr/>
        </p:nvSpPr>
        <p:spPr>
          <a:xfrm>
            <a:off x="77724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Google Shape;45;p4" descr="preencoded.png">
            <a:extLst>
              <a:ext uri="{FF2B5EF4-FFF2-40B4-BE49-F238E27FC236}">
                <a16:creationId xmlns:a16="http://schemas.microsoft.com/office/drawing/2014/main" id="{4E47B1AE-6C14-A951-CAF5-E8D9D104D3E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54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Google Shape;46;p4">
            <a:extLst>
              <a:ext uri="{FF2B5EF4-FFF2-40B4-BE49-F238E27FC236}">
                <a16:creationId xmlns:a16="http://schemas.microsoft.com/office/drawing/2014/main" id="{79C98591-71DF-0D4D-B7B0-7AC928CBA1BE}"/>
              </a:ext>
            </a:extLst>
          </p:cNvPr>
          <p:cNvSpPr/>
          <p:nvPr/>
        </p:nvSpPr>
        <p:spPr>
          <a:xfrm>
            <a:off x="77724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근거 기반 응답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1" name="Google Shape;47;p4">
            <a:extLst>
              <a:ext uri="{FF2B5EF4-FFF2-40B4-BE49-F238E27FC236}">
                <a16:creationId xmlns:a16="http://schemas.microsoft.com/office/drawing/2014/main" id="{1D130467-91E0-335A-C78E-E7933AEE5227}"/>
              </a:ext>
            </a:extLst>
          </p:cNvPr>
          <p:cNvSpPr/>
          <p:nvPr/>
        </p:nvSpPr>
        <p:spPr>
          <a:xfrm>
            <a:off x="77724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query는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vault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안의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근거를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기준으로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없으면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답을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만들어내지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않고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“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근거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없음”으로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en-US" sz="1200" dirty="0" err="1">
                <a:solidFill>
                  <a:srgbClr val="5F5F5F"/>
                </a:solidFill>
                <a:latin typeface="Aptos"/>
                <a:ea typeface="Malgun Gothic"/>
              </a:rPr>
              <a:t>처리합니다</a:t>
            </a:r>
            <a:r>
              <a:rPr lang="en-US" sz="1200" dirty="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200" dirty="0">
              <a:solidFill>
                <a:srgbClr val="7A746B"/>
              </a:solidFill>
              <a:latin typeface="Malgun Gothic"/>
              <a:ea typeface="Malgun Gothi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en-US" altLang="ko-KR" sz="115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2" name="Google Shape;48;p4">
            <a:extLst>
              <a:ext uri="{FF2B5EF4-FFF2-40B4-BE49-F238E27FC236}">
                <a16:creationId xmlns:a16="http://schemas.microsoft.com/office/drawing/2014/main" id="{978865A9-67B8-7175-96FE-6D0751A4C98E}"/>
              </a:ext>
            </a:extLst>
          </p:cNvPr>
          <p:cNvSpPr/>
          <p:nvPr/>
        </p:nvSpPr>
        <p:spPr>
          <a:xfrm>
            <a:off x="42886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49;p4">
            <a:extLst>
              <a:ext uri="{FF2B5EF4-FFF2-40B4-BE49-F238E27FC236}">
                <a16:creationId xmlns:a16="http://schemas.microsoft.com/office/drawing/2014/main" id="{CDDC9F83-718F-843B-C216-136CDA4D41AE}"/>
              </a:ext>
            </a:extLst>
          </p:cNvPr>
          <p:cNvSpPr/>
          <p:nvPr/>
        </p:nvSpPr>
        <p:spPr>
          <a:xfrm>
            <a:off x="45630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oogle Shape;50;p4" descr="preencoded.png">
            <a:extLst>
              <a:ext uri="{FF2B5EF4-FFF2-40B4-BE49-F238E27FC236}">
                <a16:creationId xmlns:a16="http://schemas.microsoft.com/office/drawing/2014/main" id="{93CF5167-A115-6859-5DED-1ED49C2D1DD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69080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51;p4">
            <a:extLst>
              <a:ext uri="{FF2B5EF4-FFF2-40B4-BE49-F238E27FC236}">
                <a16:creationId xmlns:a16="http://schemas.microsoft.com/office/drawing/2014/main" id="{9B26A459-0403-871A-9C7B-AF39261FADF7}"/>
              </a:ext>
            </a:extLst>
          </p:cNvPr>
          <p:cNvSpPr/>
          <p:nvPr/>
        </p:nvSpPr>
        <p:spPr>
          <a:xfrm>
            <a:off x="45630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건강 검진</a:t>
            </a:r>
            <a:endParaRPr lang="ko-KR" altLang="en-US" sz="1650" b="1" u="none" strike="noStrike" dirty="0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56" name="Google Shape;52;p4">
            <a:extLst>
              <a:ext uri="{FF2B5EF4-FFF2-40B4-BE49-F238E27FC236}">
                <a16:creationId xmlns:a16="http://schemas.microsoft.com/office/drawing/2014/main" id="{620A7B24-DFFE-F036-A271-A6AFAA9C12A7}"/>
              </a:ext>
            </a:extLst>
          </p:cNvPr>
          <p:cNvSpPr/>
          <p:nvPr/>
        </p:nvSpPr>
        <p:spPr>
          <a:xfrm>
            <a:off x="45630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lint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는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구조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오류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모순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stale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고아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문서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의미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점검을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함께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수행합니다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57" name="Google Shape;53;p4">
            <a:extLst>
              <a:ext uri="{FF2B5EF4-FFF2-40B4-BE49-F238E27FC236}">
                <a16:creationId xmlns:a16="http://schemas.microsoft.com/office/drawing/2014/main" id="{73EDC895-D587-1BFD-CB52-45C742CAB7BB}"/>
              </a:ext>
            </a:extLst>
          </p:cNvPr>
          <p:cNvSpPr/>
          <p:nvPr/>
        </p:nvSpPr>
        <p:spPr>
          <a:xfrm>
            <a:off x="8074080" y="1828800"/>
            <a:ext cx="3638520" cy="301680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54;p4">
            <a:extLst>
              <a:ext uri="{FF2B5EF4-FFF2-40B4-BE49-F238E27FC236}">
                <a16:creationId xmlns:a16="http://schemas.microsoft.com/office/drawing/2014/main" id="{CDF0F4A5-30A9-7AD2-F607-ECEDB5593E59}"/>
              </a:ext>
            </a:extLst>
          </p:cNvPr>
          <p:cNvSpPr/>
          <p:nvPr/>
        </p:nvSpPr>
        <p:spPr>
          <a:xfrm>
            <a:off x="8348400" y="2103120"/>
            <a:ext cx="511200" cy="51120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Google Shape;55;p4" descr="preencoded.png">
            <a:extLst>
              <a:ext uri="{FF2B5EF4-FFF2-40B4-BE49-F238E27FC236}">
                <a16:creationId xmlns:a16="http://schemas.microsoft.com/office/drawing/2014/main" id="{C50167C8-2E80-6C98-A9D2-EA6A3C3749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76560" y="2231280"/>
            <a:ext cx="255240" cy="255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Google Shape;56;p4">
            <a:extLst>
              <a:ext uri="{FF2B5EF4-FFF2-40B4-BE49-F238E27FC236}">
                <a16:creationId xmlns:a16="http://schemas.microsoft.com/office/drawing/2014/main" id="{4087EAAB-209E-3DBF-BA61-EAEC9E342C56}"/>
              </a:ext>
            </a:extLst>
          </p:cNvPr>
          <p:cNvSpPr/>
          <p:nvPr/>
        </p:nvSpPr>
        <p:spPr>
          <a:xfrm>
            <a:off x="8348400" y="2788920"/>
            <a:ext cx="308988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ko-KR" altLang="en-US" sz="1650" b="1">
                <a:solidFill>
                  <a:srgbClr val="33302B"/>
                </a:solidFill>
                <a:latin typeface="Malgun Gothic"/>
                <a:ea typeface="Malgun Gothic"/>
              </a:rPr>
              <a:t>무인 운용</a:t>
            </a:r>
            <a:endParaRPr lang="ko-KR" altLang="en-US" sz="1650" b="1" u="none" strike="noStrike">
              <a:solidFill>
                <a:srgbClr val="33302B"/>
              </a:solidFill>
              <a:effectLst/>
              <a:uFillTx/>
              <a:latin typeface="Malgun Gothic"/>
              <a:ea typeface="Malgun Gothic"/>
            </a:endParaRPr>
          </a:p>
        </p:txBody>
      </p:sp>
      <p:sp>
        <p:nvSpPr>
          <p:cNvPr id="161" name="Google Shape;57;p4">
            <a:extLst>
              <a:ext uri="{FF2B5EF4-FFF2-40B4-BE49-F238E27FC236}">
                <a16:creationId xmlns:a16="http://schemas.microsoft.com/office/drawing/2014/main" id="{B15008C3-3565-91A1-8385-B972FAB77671}"/>
              </a:ext>
            </a:extLst>
          </p:cNvPr>
          <p:cNvSpPr/>
          <p:nvPr/>
        </p:nvSpPr>
        <p:spPr>
          <a:xfrm>
            <a:off x="8348400" y="3200400"/>
            <a:ext cx="3089880" cy="146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scripts/drain.sh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를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스케줄러에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등록할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수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있습니다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br>
              <a:rPr lang="en-US" altLang="ko-KR" sz="1200" dirty="0">
                <a:solidFill>
                  <a:srgbClr val="5F5F5F"/>
                </a:solidFill>
                <a:latin typeface="Aptos"/>
                <a:ea typeface="Malgun Gothic"/>
              </a:rPr>
            </a:b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다만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기본값은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OFF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이며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,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사용자에게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물어본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뒤에만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 </a:t>
            </a:r>
            <a:r>
              <a:rPr lang="ko-KR" altLang="en-US" sz="1200">
                <a:solidFill>
                  <a:srgbClr val="5F5F5F"/>
                </a:solidFill>
                <a:latin typeface="Aptos"/>
                <a:ea typeface="Malgun Gothic"/>
              </a:rPr>
              <a:t>등록합니다</a:t>
            </a:r>
            <a:r>
              <a:rPr lang="en-US" altLang="ko-KR" sz="1200">
                <a:solidFill>
                  <a:srgbClr val="5F5F5F"/>
                </a:solidFill>
                <a:latin typeface="Aptos"/>
                <a:ea typeface="Malgun Gothic"/>
              </a:rPr>
              <a:t>.</a:t>
            </a: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ko-KR" altLang="en-US" sz="1200" dirty="0">
              <a:solidFill>
                <a:srgbClr val="7A746B"/>
              </a:solidFill>
              <a:latin typeface="Malgun Gothic"/>
              <a:ea typeface="Malgun Gothic"/>
            </a:endParaRPr>
          </a:p>
        </p:txBody>
      </p:sp>
      <p:sp>
        <p:nvSpPr>
          <p:cNvPr id="162" name="Google Shape;58;p4">
            <a:extLst>
              <a:ext uri="{FF2B5EF4-FFF2-40B4-BE49-F238E27FC236}">
                <a16:creationId xmlns:a16="http://schemas.microsoft.com/office/drawing/2014/main" id="{A98F8BD3-AAB6-028D-BABE-7C2E98F2339A}"/>
              </a:ext>
            </a:extLst>
          </p:cNvPr>
          <p:cNvSpPr/>
          <p:nvPr/>
        </p:nvSpPr>
        <p:spPr>
          <a:xfrm>
            <a:off x="522458" y="5537590"/>
            <a:ext cx="11153013" cy="676484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59;p4">
            <a:extLst>
              <a:ext uri="{FF2B5EF4-FFF2-40B4-BE49-F238E27FC236}">
                <a16:creationId xmlns:a16="http://schemas.microsoft.com/office/drawing/2014/main" id="{E7D9BB64-A0AB-1A54-3592-6C5A594B8F19}"/>
              </a:ext>
            </a:extLst>
          </p:cNvPr>
          <p:cNvSpPr/>
          <p:nvPr/>
        </p:nvSpPr>
        <p:spPr>
          <a:xfrm>
            <a:off x="767471" y="5625514"/>
            <a:ext cx="10664935" cy="490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endParaRPr lang="ko-KR" altLang="en-US" sz="1200" dirty="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tabLst>
                <a:tab pos="0" algn="l"/>
              </a:tabLst>
            </a:pP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권장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사용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: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자료가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생기면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save,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정리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시간이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ingest,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답변이</a:t>
            </a:r>
            <a:r>
              <a:rPr lang="en-US" altLang="ko-KR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필요하면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query,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정기적으로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 lint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를</a:t>
            </a:r>
            <a:r>
              <a:rPr lang="en-US" sz="1200" dirty="0">
                <a:solidFill>
                  <a:srgbClr val="554B46"/>
                </a:solidFill>
                <a:latin typeface="Aptos"/>
                <a:ea typeface="Malgun Gothic"/>
              </a:rPr>
              <a:t> </a:t>
            </a:r>
            <a:r>
              <a:rPr lang="ko-KR" altLang="en-US" sz="1200">
                <a:solidFill>
                  <a:srgbClr val="554B46"/>
                </a:solidFill>
                <a:latin typeface="Aptos"/>
                <a:ea typeface="Malgun Gothic"/>
              </a:rPr>
              <a:t>실행합니다</a:t>
            </a:r>
            <a:r>
              <a:rPr lang="en-US" sz="1200">
                <a:solidFill>
                  <a:srgbClr val="554B46"/>
                </a:solidFill>
                <a:latin typeface="Aptos"/>
                <a:ea typeface="Malgun Gothic"/>
              </a:rPr>
              <a:t>.</a:t>
            </a:r>
            <a:endParaRPr lang="ko-KR" sz="1200">
              <a:solidFill>
                <a:srgbClr val="554B46"/>
              </a:solidFill>
              <a:latin typeface="Aptos"/>
              <a:ea typeface="Malgun Gothic"/>
            </a:endParaRPr>
          </a:p>
          <a:p>
            <a:pPr>
              <a:lnSpc>
                <a:spcPct val="135000"/>
              </a:lnSpc>
              <a:tabLst>
                <a:tab pos="0" algn="l"/>
              </a:tabLst>
            </a:pPr>
            <a:endParaRPr lang="ko-KR" altLang="en-US" sz="1350" b="1" dirty="0">
              <a:solidFill>
                <a:srgbClr val="D97757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1578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Words>5246</Words>
  <Application>Microsoft Office PowerPoint</Application>
  <PresentationFormat>Widescreen</PresentationFormat>
  <Paragraphs>1057</Paragraphs>
  <Slides>59</Slides>
  <Notes>59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이동민</dc:creator>
  <dc:description/>
  <cp:lastModifiedBy>parkjuncheol77@gmail.com</cp:lastModifiedBy>
  <cp:revision>36</cp:revision>
  <dcterms:modified xsi:type="dcterms:W3CDTF">2026-08-10T14:36:11Z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와이드스크린</vt:lpwstr>
  </property>
  <property fmtid="{D5CDD505-2E9C-101B-9397-08002B2CF9AE}" pid="4" name="Slides">
    <vt:i4>48</vt:i4>
  </property>
</Properties>
</file>