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31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23" r:id="rId15"/>
    <p:sldId id="320" r:id="rId16"/>
    <p:sldId id="321" r:id="rId17"/>
    <p:sldId id="322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18" r:id="rId57"/>
    <p:sldId id="307" r:id="rId58"/>
    <p:sldId id="308" r:id="rId59"/>
    <p:sldId id="309" r:id="rId60"/>
    <p:sldId id="310" r:id="rId61"/>
    <p:sldId id="311" r:id="rId62"/>
    <p:sldId id="315" r:id="rId63"/>
    <p:sldId id="316" r:id="rId64"/>
    <p:sldId id="317" r:id="rId65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089FC-89D5-42CF-A3F7-FBB03CED3DA6}" v="122" dt="2026-08-25T06:03:58.849"/>
    <p1510:client id="{F4484A48-FAD5-49C8-9588-5A0334EBA82D}" v="680" dt="2026-08-25T08:05:02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슬라이드를 이동하려면 클릭하십시오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&lt;머리글&gt;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&lt;날짜/시간&gt;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D892C8FA-FF6A-48C1-B79B-FCAC3203751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B42805-6AA4-408F-AB76-C33EACFD51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10762552-12AA-49E9-A5B6-05184434CEB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331A-3681-7F64-B71C-4427495EF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>
            <a:extLst>
              <a:ext uri="{FF2B5EF4-FFF2-40B4-BE49-F238E27FC236}">
                <a16:creationId xmlns:a16="http://schemas.microsoft.com/office/drawing/2014/main" id="{4B698405-6234-51A3-4DA0-C174137A0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>
            <a:extLst>
              <a:ext uri="{FF2B5EF4-FFF2-40B4-BE49-F238E27FC236}">
                <a16:creationId xmlns:a16="http://schemas.microsoft.com/office/drawing/2014/main" id="{7BEF7E60-FDAB-604C-2659-35DA684DC67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프리젠테이션 5 Medium"/>
                <a:ea typeface="프리젠테이션 5 Medium"/>
              </a:rPr>
              <a:t>shell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프리젠테이션 5 Medium"/>
                <a:ea typeface="프리젠테이션 5 Medium"/>
              </a:rPr>
              <a:t>에 복붙 할 것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프리젠테이션 5 Medium"/>
                <a:ea typeface="프리젠테이션 5 Medium"/>
              </a:rPr>
              <a:t>. Win, mac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프리젠테이션 5 Medium"/>
                <a:ea typeface="프리젠테이션 5 Medium"/>
              </a:rPr>
              <a:t>도 모를 수 있으니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457200" indent="-22860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2" name="PlaceHolder 3">
            <a:extLst>
              <a:ext uri="{FF2B5EF4-FFF2-40B4-BE49-F238E27FC236}">
                <a16:creationId xmlns:a16="http://schemas.microsoft.com/office/drawing/2014/main" id="{D09A3884-73E2-8015-9BAB-960C5F0CB98B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346E839-D998-443A-9F06-47267800912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95038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B5CEDD4-268D-4FB9-88BB-B8C59C2EFD4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0EBC5A-4D6B-486D-9C6A-718AEC9E42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D2DA98-257C-4296-838F-186ADDBE64E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75C1EB-BC2E-4CE0-8864-CA1702D590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CB1BE4-C3F5-460E-B4C5-85939495490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21E52E-287B-4278-ADEF-79F82D3DED3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504E8B-AC93-48A0-B5DE-6A957AAB09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F974D2A-6687-423C-9253-86F01E93F25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C1BE2E-E5D3-448F-AACF-8037D5A766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36FD44-698C-4D5E-88DE-5B7A3B18B8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9EFC-501B-9748-9A23-6D088A1F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>
            <a:extLst>
              <a:ext uri="{FF2B5EF4-FFF2-40B4-BE49-F238E27FC236}">
                <a16:creationId xmlns:a16="http://schemas.microsoft.com/office/drawing/2014/main" id="{0E953928-11E5-D693-C1FD-E8F5BD986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>
            <a:extLst>
              <a:ext uri="{FF2B5EF4-FFF2-40B4-BE49-F238E27FC236}">
                <a16:creationId xmlns:a16="http://schemas.microsoft.com/office/drawing/2014/main" id="{A13EB90C-3EAE-EE4C-AB21-DF3E2DADC72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4" name="PlaceHolder 3">
            <a:extLst>
              <a:ext uri="{FF2B5EF4-FFF2-40B4-BE49-F238E27FC236}">
                <a16:creationId xmlns:a16="http://schemas.microsoft.com/office/drawing/2014/main" id="{8DAFE0DE-53D7-D85D-7CC9-49331D4B78E3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75C1EB-BC2E-4CE0-8864-CA1702D590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97881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0EA3-81DB-BF16-FD54-08DC391D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>
            <a:extLst>
              <a:ext uri="{FF2B5EF4-FFF2-40B4-BE49-F238E27FC236}">
                <a16:creationId xmlns:a16="http://schemas.microsoft.com/office/drawing/2014/main" id="{4C86A212-9019-A20E-D006-4BBA93669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>
            <a:extLst>
              <a:ext uri="{FF2B5EF4-FFF2-40B4-BE49-F238E27FC236}">
                <a16:creationId xmlns:a16="http://schemas.microsoft.com/office/drawing/2014/main" id="{F33EF00D-61F3-A491-10FF-231ABD7C022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2" name="PlaceHolder 3">
            <a:extLst>
              <a:ext uri="{FF2B5EF4-FFF2-40B4-BE49-F238E27FC236}">
                <a16:creationId xmlns:a16="http://schemas.microsoft.com/office/drawing/2014/main" id="{6613FD6C-5BB4-8417-B2D0-29251D0B68E3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36FD44-698C-4D5E-88DE-5B7A3B18B8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22930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129C-CF05-9BA3-50C5-5056E741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>
            <a:extLst>
              <a:ext uri="{FF2B5EF4-FFF2-40B4-BE49-F238E27FC236}">
                <a16:creationId xmlns:a16="http://schemas.microsoft.com/office/drawing/2014/main" id="{5C37AB1B-0CAF-41D8-BFC0-DD793AB75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>
            <a:extLst>
              <a:ext uri="{FF2B5EF4-FFF2-40B4-BE49-F238E27FC236}">
                <a16:creationId xmlns:a16="http://schemas.microsoft.com/office/drawing/2014/main" id="{9E39AE41-B6D4-181B-C026-CFCDE93680B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2" name="PlaceHolder 3">
            <a:extLst>
              <a:ext uri="{FF2B5EF4-FFF2-40B4-BE49-F238E27FC236}">
                <a16:creationId xmlns:a16="http://schemas.microsoft.com/office/drawing/2014/main" id="{FE55D01C-DF81-E225-A65C-822FDB3D6674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36FD44-698C-4D5E-88DE-5B7A3B18B8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7836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E1B7-7788-2D95-CC55-EB1E0285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>
            <a:extLst>
              <a:ext uri="{FF2B5EF4-FFF2-40B4-BE49-F238E27FC236}">
                <a16:creationId xmlns:a16="http://schemas.microsoft.com/office/drawing/2014/main" id="{E9A39B34-69A5-8DE1-62AA-5D845C0C4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>
            <a:extLst>
              <a:ext uri="{FF2B5EF4-FFF2-40B4-BE49-F238E27FC236}">
                <a16:creationId xmlns:a16="http://schemas.microsoft.com/office/drawing/2014/main" id="{D5EF8410-A20D-6268-0F5F-3B6BBE201B2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2" name="PlaceHolder 3">
            <a:extLst>
              <a:ext uri="{FF2B5EF4-FFF2-40B4-BE49-F238E27FC236}">
                <a16:creationId xmlns:a16="http://schemas.microsoft.com/office/drawing/2014/main" id="{24274E92-FA52-EEAA-93EB-EC9236A0FFE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36FD44-698C-4D5E-88DE-5B7A3B18B8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2713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77E304-59D9-48DF-B60A-BEDE47D3D9A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2271B8A-CC0A-498A-956A-9E90EE2B9F1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9056734-831C-4835-9A26-C23F118F753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FF864A9-7303-4087-A162-797F8497F50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6BE2D3C-A136-4572-A45F-51004091D24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2E50179-F6D8-4AB9-987E-599AAF7345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F7D2944A-418E-4D64-A3D2-CF499567EFA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726E4D4-CF36-47D7-9603-3DF1C5FAA1A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6B74DDC-6411-44EE-8036-3FC6E0E65C2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5F833AF-219C-4E70-B08E-32E72E22A4D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36B062-A52E-4E21-9F4F-3E1EC7582E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28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F87DB06-4B17-4089-88B5-A628A81DB4E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B18A441-86F6-4837-84F1-540BB7E9F0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65659A3-87D0-47C4-95C3-765A87CEB1B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96AF725-CD05-4E25-B405-5C95AB034B6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AFC77752-CE44-4815-919D-02BBDB88D51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6171A627-2528-43AF-96CA-895486FE08D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D0E21B6-BBB8-4174-BF7C-BB314CA267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D6B61A5-040A-4BB6-9744-5FE88A22F1E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5D728DA-27F5-4D6B-A429-96D2CD460F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1F36FE0-A731-4986-8534-7EBBCF4219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F7F6BEA-A69F-49F7-8BD1-5C288D9109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0FF320F-2CD5-4C05-A2CA-6E3CBADC109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CF7A32-18AF-434D-AF1D-131FC9EB0EE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41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FE84469-46A4-4C3A-B8ED-ED35D32C37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0C2B9E70-9CF8-4801-B29B-3F4DFFE27E6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7198993-9AE3-4953-BB72-E1FE37FEBC5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93B4FB3-DAE6-4B18-B80C-32D8C4287E8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55928245-73F9-40DA-9E49-1B101D80F8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A27EB035-1D8F-4FDB-8631-265F907672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C576C0-420C-43FB-88B3-C305834E95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48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1253D222-4A74-4F85-9DC7-E08EAE4D48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29941F4A-69BA-404E-9072-6EFDA879299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724958A-45DA-4CB8-9566-057F9BBC6B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0C95D6F-5270-4237-9E33-8204CB5A04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F53B6D-3ACC-4F5E-9738-AD293024E20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53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2BE81B6-D4F0-45B7-8AF4-473E2A47F11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1527EF5F-F4C3-495F-B8F8-E15C23C793C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E8BE7482-5373-475B-B2B0-C02855A8A2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DD40F90B-B3DB-4108-902B-7FA932A49F0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5BF594FD-8F21-427F-86D5-FAE5D39006A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1AB1-8AE3-4A8E-6FC6-70DE1CFB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>
            <a:extLst>
              <a:ext uri="{FF2B5EF4-FFF2-40B4-BE49-F238E27FC236}">
                <a16:creationId xmlns:a16="http://schemas.microsoft.com/office/drawing/2014/main" id="{BAA03C04-BF8D-9E49-46F2-1ABAABFA6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>
            <a:extLst>
              <a:ext uri="{FF2B5EF4-FFF2-40B4-BE49-F238E27FC236}">
                <a16:creationId xmlns:a16="http://schemas.microsoft.com/office/drawing/2014/main" id="{8E6C9BE5-1601-AE5D-4900-D7993EEAE87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0" name="PlaceHolder 3">
            <a:extLst>
              <a:ext uri="{FF2B5EF4-FFF2-40B4-BE49-F238E27FC236}">
                <a16:creationId xmlns:a16="http://schemas.microsoft.com/office/drawing/2014/main" id="{65D373A6-1B81-CAD8-8664-5B943B9162EE}"/>
              </a:ext>
            </a:extLst>
          </p:cNvPr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F53B6D-3ACC-4F5E-9738-AD293024E20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90292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513C-242C-63C2-E49D-4B8EC039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>
            <a:extLst>
              <a:ext uri="{FF2B5EF4-FFF2-40B4-BE49-F238E27FC236}">
                <a16:creationId xmlns:a16="http://schemas.microsoft.com/office/drawing/2014/main" id="{FD4BC86B-1160-6620-74C3-9F85CD633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>
            <a:extLst>
              <a:ext uri="{FF2B5EF4-FFF2-40B4-BE49-F238E27FC236}">
                <a16:creationId xmlns:a16="http://schemas.microsoft.com/office/drawing/2014/main" id="{A8C146DC-3172-DA28-AD9E-54639354F30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8" name="PlaceHolder 3">
            <a:extLst>
              <a:ext uri="{FF2B5EF4-FFF2-40B4-BE49-F238E27FC236}">
                <a16:creationId xmlns:a16="http://schemas.microsoft.com/office/drawing/2014/main" id="{948960F3-B3CE-1FAF-0084-AEE359264CF1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0EBC5A-4D6B-486D-9C6A-718AEC9E42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4561038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77F5-FBCA-1F93-569A-750A829C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>
            <a:extLst>
              <a:ext uri="{FF2B5EF4-FFF2-40B4-BE49-F238E27FC236}">
                <a16:creationId xmlns:a16="http://schemas.microsoft.com/office/drawing/2014/main" id="{4C6D0DEF-A049-79A7-FB5F-245E5948D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>
            <a:extLst>
              <a:ext uri="{FF2B5EF4-FFF2-40B4-BE49-F238E27FC236}">
                <a16:creationId xmlns:a16="http://schemas.microsoft.com/office/drawing/2014/main" id="{456A6E24-5581-BB46-C145-2B9F073DE37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8" name="PlaceHolder 3">
            <a:extLst>
              <a:ext uri="{FF2B5EF4-FFF2-40B4-BE49-F238E27FC236}">
                <a16:creationId xmlns:a16="http://schemas.microsoft.com/office/drawing/2014/main" id="{B65DD084-8DD6-64F3-EE47-EB6D43C23C56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0EBC5A-4D6B-486D-9C6A-718AEC9E42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564402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20E9A-600C-60C0-9B0B-70EA13F1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>
            <a:extLst>
              <a:ext uri="{FF2B5EF4-FFF2-40B4-BE49-F238E27FC236}">
                <a16:creationId xmlns:a16="http://schemas.microsoft.com/office/drawing/2014/main" id="{C3542395-8D0E-89AA-63AC-F8535679A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>
            <a:extLst>
              <a:ext uri="{FF2B5EF4-FFF2-40B4-BE49-F238E27FC236}">
                <a16:creationId xmlns:a16="http://schemas.microsoft.com/office/drawing/2014/main" id="{10A53530-588A-72A0-C33D-E6745E1F4B3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0" name="PlaceHolder 3">
            <a:extLst>
              <a:ext uri="{FF2B5EF4-FFF2-40B4-BE49-F238E27FC236}">
                <a16:creationId xmlns:a16="http://schemas.microsoft.com/office/drawing/2014/main" id="{D30BCDA7-FE80-B047-7E72-34C40DAF08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21E52E-287B-4278-ADEF-79F82D3DED3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97993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AA12-5DF5-3BD5-579F-922BDCCB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>
            <a:extLst>
              <a:ext uri="{FF2B5EF4-FFF2-40B4-BE49-F238E27FC236}">
                <a16:creationId xmlns:a16="http://schemas.microsoft.com/office/drawing/2014/main" id="{0E723D3C-EE08-6CA2-E7EB-4ECB15F93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>
            <a:extLst>
              <a:ext uri="{FF2B5EF4-FFF2-40B4-BE49-F238E27FC236}">
                <a16:creationId xmlns:a16="http://schemas.microsoft.com/office/drawing/2014/main" id="{1DD58B63-4B60-73BC-134C-6CCE70029D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8" name="PlaceHolder 3">
            <a:extLst>
              <a:ext uri="{FF2B5EF4-FFF2-40B4-BE49-F238E27FC236}">
                <a16:creationId xmlns:a16="http://schemas.microsoft.com/office/drawing/2014/main" id="{024EA6B0-2566-D234-ED3F-9D726DB9250C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0EBC5A-4D6B-486D-9C6A-718AEC9E42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64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6269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with_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623880" y="34128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마스터 텍스트 스타일 편집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 hasCustomPrompt="1"/>
          </p:nvPr>
        </p:nvSpPr>
        <p:spPr>
          <a:xfrm>
            <a:off x="623880" y="907920"/>
            <a:ext cx="1094364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defRPr>
            </a:lvl1pPr>
            <a:lvl2pPr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defRPr>
            </a:lvl2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요약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  <a:p>
            <a:pPr indent="-3240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 요약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마스터 텍스트 스타일 편집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6;p3"/>
          <p:cNvSpPr/>
          <p:nvPr/>
        </p:nvSpPr>
        <p:spPr>
          <a:xfrm>
            <a:off x="822960" y="822960"/>
            <a:ext cx="2285280" cy="56628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7;p3"/>
          <p:cNvSpPr/>
          <p:nvPr/>
        </p:nvSpPr>
        <p:spPr>
          <a:xfrm>
            <a:off x="987480" y="106056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8;p3"/>
          <p:cNvSpPr/>
          <p:nvPr/>
        </p:nvSpPr>
        <p:spPr>
          <a:xfrm>
            <a:off x="1188720" y="106056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19;p3"/>
          <p:cNvSpPr/>
          <p:nvPr/>
        </p:nvSpPr>
        <p:spPr>
          <a:xfrm>
            <a:off x="1389960" y="106056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0;p3"/>
          <p:cNvSpPr/>
          <p:nvPr/>
        </p:nvSpPr>
        <p:spPr>
          <a:xfrm>
            <a:off x="1600200" y="8229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Google Shape;21;p3"/>
          <p:cNvSpPr/>
          <p:nvPr/>
        </p:nvSpPr>
        <p:spPr>
          <a:xfrm>
            <a:off x="822960" y="20116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7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Multi Agent + Sub Agent </a:t>
            </a:r>
            <a:br>
              <a:rPr sz="4700"/>
            </a:br>
            <a:r>
              <a:rPr lang="ko-KR" sz="47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설치 및 세팅 가이드</a:t>
            </a:r>
            <a:endParaRPr lang="en-US" sz="4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Google Shape;22;p3"/>
          <p:cNvSpPr/>
          <p:nvPr/>
        </p:nvSpPr>
        <p:spPr>
          <a:xfrm>
            <a:off x="841320" y="35204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Google Shape;23;p3"/>
          <p:cNvSpPr/>
          <p:nvPr/>
        </p:nvSpPr>
        <p:spPr>
          <a:xfrm>
            <a:off x="841320" y="4023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Google Shape;24;p3"/>
          <p:cNvSpPr/>
          <p:nvPr/>
        </p:nvSpPr>
        <p:spPr>
          <a:xfrm>
            <a:off x="822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25;p3"/>
          <p:cNvSpPr/>
          <p:nvPr/>
        </p:nvSpPr>
        <p:spPr>
          <a:xfrm>
            <a:off x="969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Google Shape;26;p3"/>
          <p:cNvSpPr/>
          <p:nvPr/>
        </p:nvSpPr>
        <p:spPr>
          <a:xfrm>
            <a:off x="26517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27;p3"/>
          <p:cNvSpPr/>
          <p:nvPr/>
        </p:nvSpPr>
        <p:spPr>
          <a:xfrm>
            <a:off x="27979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Google Shape;28;p3"/>
          <p:cNvSpPr/>
          <p:nvPr/>
        </p:nvSpPr>
        <p:spPr>
          <a:xfrm>
            <a:off x="44805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29;p3"/>
          <p:cNvSpPr/>
          <p:nvPr/>
        </p:nvSpPr>
        <p:spPr>
          <a:xfrm>
            <a:off x="46267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Google Shape;30;p3"/>
          <p:cNvSpPr/>
          <p:nvPr/>
        </p:nvSpPr>
        <p:spPr>
          <a:xfrm>
            <a:off x="63093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31;p3"/>
          <p:cNvSpPr/>
          <p:nvPr/>
        </p:nvSpPr>
        <p:spPr>
          <a:xfrm>
            <a:off x="64555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" name="Google Shape;32;p3"/>
          <p:cNvSpPr/>
          <p:nvPr/>
        </p:nvSpPr>
        <p:spPr>
          <a:xfrm>
            <a:off x="81381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33;p3"/>
          <p:cNvSpPr/>
          <p:nvPr/>
        </p:nvSpPr>
        <p:spPr>
          <a:xfrm>
            <a:off x="82843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Google Shape;34;p3"/>
          <p:cNvSpPr/>
          <p:nvPr/>
        </p:nvSpPr>
        <p:spPr>
          <a:xfrm>
            <a:off x="9966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35;p3"/>
          <p:cNvSpPr/>
          <p:nvPr/>
        </p:nvSpPr>
        <p:spPr>
          <a:xfrm>
            <a:off x="10113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/>
          <p:cNvSpPr/>
          <p:nvPr/>
        </p:nvSpPr>
        <p:spPr>
          <a:xfrm>
            <a:off x="623880" y="1557360"/>
            <a:ext cx="1829520" cy="456480"/>
          </a:xfrm>
          <a:prstGeom prst="rect">
            <a:avLst/>
          </a:prstGeom>
          <a:solidFill>
            <a:srgbClr val="16232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4654440" y="1557360"/>
            <a:ext cx="3455640" cy="456480"/>
          </a:xfrm>
          <a:prstGeom prst="rect">
            <a:avLst/>
          </a:prstGeom>
          <a:solidFill>
            <a:srgbClr val="1B31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8111520" y="1557360"/>
            <a:ext cx="3455640" cy="456480"/>
          </a:xfrm>
          <a:prstGeom prst="rect">
            <a:avLst/>
          </a:prstGeom>
          <a:solidFill>
            <a:srgbClr val="1B31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623880" y="1557360"/>
            <a:ext cx="18295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프리젠테이션 6 SemiBold"/>
                <a:ea typeface="프리젠테이션 6 SemiBold"/>
              </a:rPr>
              <a:t>도구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211640" y="1557360"/>
            <a:ext cx="37893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프리젠테이션 6 SemiBold"/>
                <a:ea typeface="프리젠테이션 6 SemiBold"/>
              </a:rPr>
              <a:t>Windows (PowerShell)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Text 7"/>
          <p:cNvSpPr/>
          <p:nvPr/>
        </p:nvSpPr>
        <p:spPr>
          <a:xfrm>
            <a:off x="8002080" y="155736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프리젠테이션 6 SemiBold"/>
                <a:ea typeface="프리젠테이션 6 SemiBold"/>
              </a:rPr>
              <a:t>macOS (zsh)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623160" y="2590200"/>
            <a:ext cx="182952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4653720" y="2590200"/>
            <a:ext cx="345564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8111160" y="2590200"/>
            <a:ext cx="345564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760320" y="2590200"/>
            <a:ext cx="1692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6232F"/>
                </a:solidFill>
                <a:effectLst/>
                <a:uFillTx/>
                <a:latin typeface="프리젠테이션 6 SemiBold"/>
                <a:ea typeface="프리젠테이션 6 SemiBold"/>
              </a:rPr>
              <a:t>Node.js 22+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762800" y="2590200"/>
            <a:ext cx="334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winget install OpenJS.NodeJS.LTS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8216280" y="2590200"/>
            <a:ext cx="32774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brew install node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623160" y="3157200"/>
            <a:ext cx="182952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4653720" y="3157200"/>
            <a:ext cx="345564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8111160" y="3157200"/>
            <a:ext cx="345564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760320" y="3157200"/>
            <a:ext cx="1692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6232F"/>
                </a:solidFill>
                <a:effectLst/>
                <a:uFillTx/>
                <a:latin typeface="프리젠테이션 6 SemiBold"/>
                <a:ea typeface="프리젠테이션 6 SemiBold"/>
              </a:rPr>
              <a:t>git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4762800" y="3157200"/>
            <a:ext cx="334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winget install Git.Git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8216280" y="3157200"/>
            <a:ext cx="33505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brew install git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Shape 20"/>
          <p:cNvSpPr/>
          <p:nvPr/>
        </p:nvSpPr>
        <p:spPr>
          <a:xfrm>
            <a:off x="623160" y="3724200"/>
            <a:ext cx="182952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1"/>
          <p:cNvSpPr/>
          <p:nvPr/>
        </p:nvSpPr>
        <p:spPr>
          <a:xfrm>
            <a:off x="4653720" y="3724200"/>
            <a:ext cx="345564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2"/>
          <p:cNvSpPr/>
          <p:nvPr/>
        </p:nvSpPr>
        <p:spPr>
          <a:xfrm>
            <a:off x="8111160" y="3724200"/>
            <a:ext cx="345564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760320" y="3724200"/>
            <a:ext cx="1692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6232F"/>
                </a:solidFill>
                <a:effectLst/>
                <a:uFillTx/>
                <a:latin typeface="프리젠테이션 6 SemiBold"/>
                <a:ea typeface="프리젠테이션 6 SemiBold"/>
              </a:rPr>
              <a:t>Python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4762800" y="3724200"/>
            <a:ext cx="334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winget install Python.Python.3.12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8216280" y="3724200"/>
            <a:ext cx="32774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brew install python@3.12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Shape 26"/>
          <p:cNvSpPr/>
          <p:nvPr/>
        </p:nvSpPr>
        <p:spPr>
          <a:xfrm>
            <a:off x="623160" y="4291200"/>
            <a:ext cx="182952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7"/>
          <p:cNvSpPr/>
          <p:nvPr/>
        </p:nvSpPr>
        <p:spPr>
          <a:xfrm>
            <a:off x="4653720" y="4291200"/>
            <a:ext cx="345564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8"/>
          <p:cNvSpPr/>
          <p:nvPr/>
        </p:nvSpPr>
        <p:spPr>
          <a:xfrm>
            <a:off x="8111160" y="4291200"/>
            <a:ext cx="345564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9"/>
          <p:cNvSpPr/>
          <p:nvPr/>
        </p:nvSpPr>
        <p:spPr>
          <a:xfrm>
            <a:off x="760320" y="4291200"/>
            <a:ext cx="1692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6232F"/>
                </a:solidFill>
                <a:effectLst/>
                <a:uFillTx/>
                <a:latin typeface="프리젠테이션 6 SemiBold"/>
                <a:ea typeface="프리젠테이션 6 SemiBold"/>
              </a:rPr>
              <a:t>jq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Text 30"/>
          <p:cNvSpPr/>
          <p:nvPr/>
        </p:nvSpPr>
        <p:spPr>
          <a:xfrm>
            <a:off x="4762800" y="4291200"/>
            <a:ext cx="334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winget install jqlang.jq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Text 31"/>
          <p:cNvSpPr/>
          <p:nvPr/>
        </p:nvSpPr>
        <p:spPr>
          <a:xfrm>
            <a:off x="8216280" y="4291200"/>
            <a:ext cx="32774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brew install jq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Shape 32"/>
          <p:cNvSpPr/>
          <p:nvPr/>
        </p:nvSpPr>
        <p:spPr>
          <a:xfrm>
            <a:off x="623160" y="4858200"/>
            <a:ext cx="182952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3"/>
          <p:cNvSpPr/>
          <p:nvPr/>
        </p:nvSpPr>
        <p:spPr>
          <a:xfrm>
            <a:off x="4653720" y="4858200"/>
            <a:ext cx="345564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4"/>
          <p:cNvSpPr/>
          <p:nvPr/>
        </p:nvSpPr>
        <p:spPr>
          <a:xfrm>
            <a:off x="8111160" y="4858200"/>
            <a:ext cx="345564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5"/>
          <p:cNvSpPr/>
          <p:nvPr/>
        </p:nvSpPr>
        <p:spPr>
          <a:xfrm>
            <a:off x="760320" y="4858200"/>
            <a:ext cx="1692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6232F"/>
                </a:solidFill>
                <a:effectLst/>
                <a:uFillTx/>
                <a:latin typeface="프리젠테이션 6 SemiBold"/>
                <a:ea typeface="프리젠테이션 6 SemiBold"/>
              </a:rPr>
              <a:t>Go 1.22+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Text 36"/>
          <p:cNvSpPr/>
          <p:nvPr/>
        </p:nvSpPr>
        <p:spPr>
          <a:xfrm>
            <a:off x="4762800" y="4858200"/>
            <a:ext cx="334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winget install GoLang.Go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Text 37"/>
          <p:cNvSpPr/>
          <p:nvPr/>
        </p:nvSpPr>
        <p:spPr>
          <a:xfrm>
            <a:off x="8216280" y="4858200"/>
            <a:ext cx="32774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brew install go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Shape 38"/>
          <p:cNvSpPr/>
          <p:nvPr/>
        </p:nvSpPr>
        <p:spPr>
          <a:xfrm>
            <a:off x="623880" y="5762160"/>
            <a:ext cx="10943640" cy="776520"/>
          </a:xfrm>
          <a:prstGeom prst="roundRect">
            <a:avLst>
              <a:gd name="adj" fmla="val 9412"/>
            </a:avLst>
          </a:prstGeom>
          <a:solidFill>
            <a:srgbClr val="16232F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0" descr="preencoded.png"/>
          <p:cNvPicPr/>
          <p:nvPr/>
        </p:nvPicPr>
        <p:blipFill>
          <a:blip r:embed="rId3"/>
          <a:stretch/>
        </p:blipFill>
        <p:spPr>
          <a:xfrm>
            <a:off x="852480" y="596340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39"/>
          <p:cNvSpPr/>
          <p:nvPr/>
        </p:nvSpPr>
        <p:spPr>
          <a:xfrm>
            <a:off x="1355400" y="5762160"/>
            <a:ext cx="96004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E8A13A"/>
                </a:solidFill>
                <a:effectLst/>
                <a:uFillTx/>
                <a:latin typeface="프리젠테이션 6 SemiBold"/>
                <a:ea typeface="프리젠테이션 6 SemiBold"/>
              </a:rPr>
              <a:t>설치 후 실행 하기 위해서는 열려있는 모든 터미널을 반드시 닫았다 열어야 합니다</a:t>
            </a:r>
            <a:r>
              <a:rPr lang="en-US" sz="1400" b="1" u="none" strike="noStrike">
                <a:solidFill>
                  <a:srgbClr val="E8A13A"/>
                </a:solidFill>
                <a:effectLst/>
                <a:uFillTx/>
                <a:latin typeface="프리젠테이션 6 SemiBold"/>
                <a:ea typeface="프리젠테이션 6 SemiBold"/>
              </a:rPr>
              <a:t>. ※</a:t>
            </a:r>
            <a:r>
              <a:rPr lang="ko-KR" sz="1400" b="1" u="none" strike="noStrike">
                <a:solidFill>
                  <a:srgbClr val="E8A13A"/>
                </a:solidFill>
                <a:effectLst/>
                <a:uFillTx/>
                <a:latin typeface="프리젠테이션 6 SemiBold"/>
                <a:ea typeface="프리젠테이션 6 SemiBold"/>
              </a:rPr>
              <a:t>환경변수 적용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hasCustomPrompt="1"/>
          </p:nvPr>
        </p:nvSpPr>
        <p:spPr>
          <a:xfrm>
            <a:off x="623880" y="34128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사전 준비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– 공통 도구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hasCustomPrompt="1"/>
          </p:nvPr>
        </p:nvSpPr>
        <p:spPr>
          <a:xfrm>
            <a:off x="623880" y="907200"/>
            <a:ext cx="1094364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-3240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 이미 설치가 되었다면, </a:t>
            </a:r>
            <a:r>
              <a:rPr lang="ko-KR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따로 설치할 필요 없다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.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  <a:p>
            <a:pPr indent="-3240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 아래 도구가 없으면 대부분 명확한 에러와 함께 멈춘다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2454120" y="1557360"/>
            <a:ext cx="2199960" cy="456480"/>
          </a:xfrm>
          <a:prstGeom prst="rect">
            <a:avLst/>
          </a:prstGeom>
          <a:solidFill>
            <a:srgbClr val="16232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2454120" y="1557360"/>
            <a:ext cx="2199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FFFFFF"/>
                </a:solidFill>
                <a:effectLst/>
                <a:uFillTx/>
                <a:latin typeface="프리젠테이션 6 SemiBold"/>
                <a:ea typeface="프리젠테이션 6 SemiBold"/>
              </a:rPr>
              <a:t>용도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2453400" y="2594880"/>
            <a:ext cx="219996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Claude Code</a:t>
            </a:r>
            <a:r>
              <a:rPr lang="ko-KR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의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CLI </a:t>
            </a:r>
            <a:r>
              <a:rPr lang="ko-KR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를 실행 하기 위해서는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NodeJS </a:t>
            </a:r>
            <a:r>
              <a:rPr lang="ko-KR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가 필수 입니다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2453400" y="3724200"/>
            <a:ext cx="219996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워커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/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도구  실행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+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스크립트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2453400" y="4858200"/>
            <a:ext cx="2199960" cy="56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MAT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빌드 및 실행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(mac) MAT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를 직접 설치시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, go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설치 불필요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Shape 26"/>
          <p:cNvSpPr/>
          <p:nvPr/>
        </p:nvSpPr>
        <p:spPr>
          <a:xfrm>
            <a:off x="2452680" y="4291200"/>
            <a:ext cx="219996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gemini (agy)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의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json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응답 파싱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(gemini(agy)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사용 안하는 경우 설치 불필요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2453400" y="3157200"/>
            <a:ext cx="219996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대상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repo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작업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+ </a:t>
            </a:r>
            <a:r>
              <a:rPr lang="ko-KR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산출물 관리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623160" y="2018880"/>
            <a:ext cx="182952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4653720" y="2018880"/>
            <a:ext cx="345564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8111160" y="2018880"/>
            <a:ext cx="345564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760320" y="2018880"/>
            <a:ext cx="1692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6232F"/>
                </a:solidFill>
                <a:effectLst/>
                <a:uFillTx/>
                <a:latin typeface="프리젠테이션 6 SemiBold"/>
                <a:ea typeface="프리젠테이션 6 SemiBold"/>
              </a:rPr>
              <a:t>winget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4762800" y="2018880"/>
            <a:ext cx="334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Install-Module -Name Microsoft.WinGet.Client -Force -Repository PSGalleryRepair-WinGetPackageManager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8216280" y="2018880"/>
            <a:ext cx="32774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89" name="Shape 26"/>
          <p:cNvSpPr/>
          <p:nvPr/>
        </p:nvSpPr>
        <p:spPr>
          <a:xfrm>
            <a:off x="2453400" y="2018880"/>
            <a:ext cx="2199960" cy="56628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Windows </a:t>
            </a:r>
            <a:r>
              <a:rPr lang="ko-KR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용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CLI </a:t>
            </a:r>
            <a:r>
              <a:rPr lang="ko-KR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기반 패키지 관리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Winget </a:t>
            </a:r>
            <a:r>
              <a:rPr lang="ko-KR" sz="1000" b="1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이 실행이 안되는경우에만 설치 진행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8214840" y="2021040"/>
            <a:ext cx="33534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B3149"/>
                </a:solidFill>
                <a:effectLst/>
                <a:uFillTx/>
                <a:latin typeface="프리젠테이션 5 Medium"/>
                <a:ea typeface="프리젠테이션 5 Medium"/>
              </a:rPr>
              <a:t>해당 사항 없음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D1C6-6A1D-781F-CE6F-327559EB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그룹 90">
            <a:extLst>
              <a:ext uri="{FF2B5EF4-FFF2-40B4-BE49-F238E27FC236}">
                <a16:creationId xmlns:a16="http://schemas.microsoft.com/office/drawing/2014/main" id="{8EF84386-325F-5E0A-0AD5-6ADE810F65DB}"/>
              </a:ext>
            </a:extLst>
          </p:cNvPr>
          <p:cNvGrpSpPr/>
          <p:nvPr/>
        </p:nvGrpSpPr>
        <p:grpSpPr>
          <a:xfrm>
            <a:off x="623880" y="4867560"/>
            <a:ext cx="10943640" cy="1177200"/>
            <a:chOff x="623880" y="4867560"/>
            <a:chExt cx="10943640" cy="1177200"/>
          </a:xfrm>
        </p:grpSpPr>
        <p:sp>
          <p:nvSpPr>
            <p:cNvPr id="92" name="Shape 10">
              <a:extLst>
                <a:ext uri="{FF2B5EF4-FFF2-40B4-BE49-F238E27FC236}">
                  <a16:creationId xmlns:a16="http://schemas.microsoft.com/office/drawing/2014/main" id="{6EE1C21B-8DDE-73D7-5C90-1E0F6DDBE9E4}"/>
                </a:ext>
              </a:extLst>
            </p:cNvPr>
            <p:cNvSpPr/>
            <p:nvPr/>
          </p:nvSpPr>
          <p:spPr>
            <a:xfrm>
              <a:off x="623880" y="4867560"/>
              <a:ext cx="10943640" cy="11772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round/>
            </a:ln>
            <a:effectLst>
              <a:outerShdw blurRad="88920" dist="38160" dir="5400000" algn="bl" rotWithShape="0">
                <a:srgbClr val="000000">
                  <a:alpha val="1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 12">
              <a:extLst>
                <a:ext uri="{FF2B5EF4-FFF2-40B4-BE49-F238E27FC236}">
                  <a16:creationId xmlns:a16="http://schemas.microsoft.com/office/drawing/2014/main" id="{C873D74C-B319-D070-2927-DAAD2DB10167}"/>
                </a:ext>
              </a:extLst>
            </p:cNvPr>
            <p:cNvSpPr/>
            <p:nvPr/>
          </p:nvSpPr>
          <p:spPr>
            <a:xfrm>
              <a:off x="1446840" y="5050440"/>
              <a:ext cx="274248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6232F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Cursor CLI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94" name="Text 13">
              <a:extLst>
                <a:ext uri="{FF2B5EF4-FFF2-40B4-BE49-F238E27FC236}">
                  <a16:creationId xmlns:a16="http://schemas.microsoft.com/office/drawing/2014/main" id="{7FDD6C8B-BAB6-2CCA-8719-9870EAC6E573}"/>
                </a:ext>
              </a:extLst>
            </p:cNvPr>
            <p:cNvSpPr/>
            <p:nvPr/>
          </p:nvSpPr>
          <p:spPr>
            <a:xfrm>
              <a:off x="1446840" y="5395680"/>
              <a:ext cx="3021480" cy="60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가장 큰 특징은 모델을 골라서 실행할 수 있다는 점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. "cursor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로 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gemini", "cursor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로 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gpt-5.5"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처럼 원하는 모델을 지정해 기획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·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분석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·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리뷰를 시킬 수 있어 유연함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95" name="Shape 6">
              <a:extLst>
                <a:ext uri="{FF2B5EF4-FFF2-40B4-BE49-F238E27FC236}">
                  <a16:creationId xmlns:a16="http://schemas.microsoft.com/office/drawing/2014/main" id="{B6CBD17C-7E5D-C1EC-B448-46CDB5806A58}"/>
                </a:ext>
              </a:extLst>
            </p:cNvPr>
            <p:cNvSpPr/>
            <p:nvPr/>
          </p:nvSpPr>
          <p:spPr>
            <a:xfrm>
              <a:off x="4555800" y="4969800"/>
              <a:ext cx="6924960" cy="45648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E8A13A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PowerShell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96" name="Text 15">
              <a:extLst>
                <a:ext uri="{FF2B5EF4-FFF2-40B4-BE49-F238E27FC236}">
                  <a16:creationId xmlns:a16="http://schemas.microsoft.com/office/drawing/2014/main" id="{198EB74B-0B07-C517-3386-B5C009427233}"/>
                </a:ext>
              </a:extLst>
            </p:cNvPr>
            <p:cNvSpPr/>
            <p:nvPr/>
          </p:nvSpPr>
          <p:spPr>
            <a:xfrm>
              <a:off x="5940000" y="4971600"/>
              <a:ext cx="554076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>
                  <a:solidFill>
                    <a:schemeClr val="lt1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irm 'https://cursor.com/install?win32=true' | iex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97" name="Shape 8">
              <a:extLst>
                <a:ext uri="{FF2B5EF4-FFF2-40B4-BE49-F238E27FC236}">
                  <a16:creationId xmlns:a16="http://schemas.microsoft.com/office/drawing/2014/main" id="{CB9D1833-835B-6FAD-10B0-7260F532A62D}"/>
                </a:ext>
              </a:extLst>
            </p:cNvPr>
            <p:cNvSpPr/>
            <p:nvPr/>
          </p:nvSpPr>
          <p:spPr>
            <a:xfrm>
              <a:off x="4555800" y="5500080"/>
              <a:ext cx="6924960" cy="45648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4285F4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Linux / WSL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98" name="Text 17">
              <a:extLst>
                <a:ext uri="{FF2B5EF4-FFF2-40B4-BE49-F238E27FC236}">
                  <a16:creationId xmlns:a16="http://schemas.microsoft.com/office/drawing/2014/main" id="{C8EEAC13-8752-96D5-42FF-4654B380BCB5}"/>
                </a:ext>
              </a:extLst>
            </p:cNvPr>
            <p:cNvSpPr/>
            <p:nvPr/>
          </p:nvSpPr>
          <p:spPr>
            <a:xfrm>
              <a:off x="5940000" y="5498280"/>
              <a:ext cx="554076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>
                  <a:solidFill>
                    <a:schemeClr val="lt1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curl https://cursor.com/install -fsS | bash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99" name="Shape 19">
              <a:extLst>
                <a:ext uri="{FF2B5EF4-FFF2-40B4-BE49-F238E27FC236}">
                  <a16:creationId xmlns:a16="http://schemas.microsoft.com/office/drawing/2014/main" id="{3EC4CB07-7781-F408-8314-3C31216A06FD}"/>
                </a:ext>
              </a:extLst>
            </p:cNvPr>
            <p:cNvSpPr/>
            <p:nvPr/>
          </p:nvSpPr>
          <p:spPr>
            <a:xfrm>
              <a:off x="847440" y="5095800"/>
              <a:ext cx="456480" cy="45648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0" name="그림 65">
              <a:extLst>
                <a:ext uri="{FF2B5EF4-FFF2-40B4-BE49-F238E27FC236}">
                  <a16:creationId xmlns:a16="http://schemas.microsoft.com/office/drawing/2014/main" id="{817EB8BD-7820-177D-2D56-407748543BB0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969480" y="5214600"/>
              <a:ext cx="218880" cy="218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1" name="PlaceHolder 1">
            <a:extLst>
              <a:ext uri="{FF2B5EF4-FFF2-40B4-BE49-F238E27FC236}">
                <a16:creationId xmlns:a16="http://schemas.microsoft.com/office/drawing/2014/main" id="{46EE86D8-016F-E135-5BF9-2E0CF36411A1}"/>
              </a:ext>
            </a:extLst>
          </p:cNvPr>
          <p:cNvSpPr>
            <a:spLocks noGrp="1"/>
          </p:cNvSpPr>
          <p:nvPr>
            <p:ph hasCustomPrompt="1"/>
          </p:nvPr>
        </p:nvSpPr>
        <p:spPr>
          <a:xfrm>
            <a:off x="623880" y="34128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AI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워커 –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CLI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설치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102" name="PlaceHolder 2">
            <a:extLst>
              <a:ext uri="{FF2B5EF4-FFF2-40B4-BE49-F238E27FC236}">
                <a16:creationId xmlns:a16="http://schemas.microsoft.com/office/drawing/2014/main" id="{AB23AF27-B87C-4588-6FDF-4CAA7A97291E}"/>
              </a:ext>
            </a:extLst>
          </p:cNvPr>
          <p:cNvSpPr>
            <a:spLocks noGrp="1"/>
          </p:cNvSpPr>
          <p:nvPr>
            <p:ph hasCustomPrompt="1"/>
          </p:nvPr>
        </p:nvSpPr>
        <p:spPr>
          <a:xfrm>
            <a:off x="623880" y="907920"/>
            <a:ext cx="1094364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-323850">
              <a:buClr>
                <a:srgbClr val="000000"/>
              </a:buClr>
              <a:buFont typeface="Arial"/>
              <a:buChar char="•"/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300" dirty="0">
                <a:latin typeface="프리젠테이션 5 Medium"/>
                <a:ea typeface="프리젠테이션 5 Medium"/>
              </a:rPr>
              <a:t>Codex </a:t>
            </a:r>
            <a:r>
              <a:rPr lang="ko-KR" altLang="en-US" sz="1300" dirty="0">
                <a:latin typeface="프리젠테이션 5 Medium"/>
                <a:ea typeface="프리젠테이션 5 Medium"/>
              </a:rPr>
              <a:t>와</a:t>
            </a:r>
            <a:r>
              <a:rPr lang="en-US" sz="1300" dirty="0">
                <a:latin typeface="프리젠테이션 5 Medium"/>
                <a:ea typeface="프리젠테이션 5 Medium"/>
              </a:rPr>
              <a:t> </a:t>
            </a:r>
            <a:r>
              <a:rPr lang="en-US" sz="1300">
                <a:latin typeface="프리젠테이션 5 Medium"/>
                <a:ea typeface="프리젠테이션 5 Medium"/>
              </a:rPr>
              <a:t>Antigravity</a:t>
            </a: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300" b="0" u="none" strike="noStrike" dirty="0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는 필수 사항 입니다</a:t>
            </a: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프리젠테이션 5 Medium"/>
            </a:endParaRPr>
          </a:p>
          <a:p>
            <a:pPr indent="-32385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Cursor</a:t>
            </a:r>
            <a:r>
              <a:rPr lang="ko-KR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는 필수 사항이 아닙니다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  <a:ea typeface="프리젠테이션 5 Medium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프리젠테이션 5 Medium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7976157-3DDA-8757-64E6-0B6B87EE2967}"/>
              </a:ext>
            </a:extLst>
          </p:cNvPr>
          <p:cNvGrpSpPr/>
          <p:nvPr/>
        </p:nvGrpSpPr>
        <p:grpSpPr>
          <a:xfrm>
            <a:off x="623880" y="1603080"/>
            <a:ext cx="10943640" cy="1177200"/>
            <a:chOff x="623880" y="1603080"/>
            <a:chExt cx="10943640" cy="1177200"/>
          </a:xfrm>
        </p:grpSpPr>
        <p:sp>
          <p:nvSpPr>
            <p:cNvPr id="104" name="Shape 10">
              <a:extLst>
                <a:ext uri="{FF2B5EF4-FFF2-40B4-BE49-F238E27FC236}">
                  <a16:creationId xmlns:a16="http://schemas.microsoft.com/office/drawing/2014/main" id="{AD263274-7819-50C5-F9B3-0C2371D5E425}"/>
                </a:ext>
              </a:extLst>
            </p:cNvPr>
            <p:cNvSpPr/>
            <p:nvPr/>
          </p:nvSpPr>
          <p:spPr>
            <a:xfrm>
              <a:off x="623880" y="1603080"/>
              <a:ext cx="10943640" cy="11772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round/>
            </a:ln>
            <a:effectLst>
              <a:outerShdw blurRad="88920" dist="38160" dir="5400000" algn="bl" rotWithShape="0">
                <a:srgbClr val="000000">
                  <a:alpha val="1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Shape 11">
              <a:extLst>
                <a:ext uri="{FF2B5EF4-FFF2-40B4-BE49-F238E27FC236}">
                  <a16:creationId xmlns:a16="http://schemas.microsoft.com/office/drawing/2014/main" id="{C26F1274-9D2A-043E-A2B7-AA83897CE25C}"/>
                </a:ext>
              </a:extLst>
            </p:cNvPr>
            <p:cNvSpPr/>
            <p:nvPr/>
          </p:nvSpPr>
          <p:spPr>
            <a:xfrm>
              <a:off x="852480" y="1831680"/>
              <a:ext cx="456480" cy="456480"/>
            </a:xfrm>
            <a:prstGeom prst="ellipse">
              <a:avLst/>
            </a:prstGeom>
            <a:solidFill>
              <a:schemeClr val="bg1"/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Text 12">
              <a:extLst>
                <a:ext uri="{FF2B5EF4-FFF2-40B4-BE49-F238E27FC236}">
                  <a16:creationId xmlns:a16="http://schemas.microsoft.com/office/drawing/2014/main" id="{3EC744F4-6643-D184-4288-98AC36A6FF34}"/>
                </a:ext>
              </a:extLst>
            </p:cNvPr>
            <p:cNvSpPr/>
            <p:nvPr/>
          </p:nvSpPr>
          <p:spPr>
            <a:xfrm>
              <a:off x="1446840" y="1785960"/>
              <a:ext cx="274248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6232F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Antigravity (agy)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07" name="Text 13">
              <a:extLst>
                <a:ext uri="{FF2B5EF4-FFF2-40B4-BE49-F238E27FC236}">
                  <a16:creationId xmlns:a16="http://schemas.microsoft.com/office/drawing/2014/main" id="{A5DC8DF1-A628-B344-A54F-1CC0AAD62B86}"/>
                </a:ext>
              </a:extLst>
            </p:cNvPr>
            <p:cNvSpPr/>
            <p:nvPr/>
          </p:nvSpPr>
          <p:spPr>
            <a:xfrm>
              <a:off x="1446840" y="2151720"/>
              <a:ext cx="3021480" cy="54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Gemini 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백엔드를 쓰는 워커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. </a:t>
              </a:r>
              <a:br>
                <a:rPr sz="1000"/>
              </a:b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강점은 대용량 문서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·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이미지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·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멀티모달 처리 및 넓은 컨텍스트에 유리 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  <a:p>
              <a:pPr>
                <a:lnSpc>
                  <a:spcPct val="105000"/>
                </a:lnSpc>
              </a:pP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agy → OAuth 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로그인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. 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무료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=</a:t>
              </a:r>
              <a:r>
                <a:rPr lang="ko-KR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주간쿼터</a:t>
              </a:r>
              <a:r>
                <a:rPr lang="en-US" sz="1000" b="0" u="none" strike="noStrike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08" name="Shape 6">
              <a:extLst>
                <a:ext uri="{FF2B5EF4-FFF2-40B4-BE49-F238E27FC236}">
                  <a16:creationId xmlns:a16="http://schemas.microsoft.com/office/drawing/2014/main" id="{2BEE3387-3EEA-6AFF-4314-271057731230}"/>
                </a:ext>
              </a:extLst>
            </p:cNvPr>
            <p:cNvSpPr/>
            <p:nvPr/>
          </p:nvSpPr>
          <p:spPr>
            <a:xfrm>
              <a:off x="4555800" y="1705320"/>
              <a:ext cx="6924960" cy="45648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E8A13A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PowerShell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09" name="Text 15">
              <a:extLst>
                <a:ext uri="{FF2B5EF4-FFF2-40B4-BE49-F238E27FC236}">
                  <a16:creationId xmlns:a16="http://schemas.microsoft.com/office/drawing/2014/main" id="{64EB51CB-6D66-A486-8D28-5705C0DB6728}"/>
                </a:ext>
              </a:extLst>
            </p:cNvPr>
            <p:cNvSpPr/>
            <p:nvPr/>
          </p:nvSpPr>
          <p:spPr>
            <a:xfrm>
              <a:off x="5940000" y="1707480"/>
              <a:ext cx="554076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>
                  <a:solidFill>
                    <a:schemeClr val="lt1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irm https://antigravity.google/cli/install.ps1 | iex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0" name="Shape 8">
              <a:extLst>
                <a:ext uri="{FF2B5EF4-FFF2-40B4-BE49-F238E27FC236}">
                  <a16:creationId xmlns:a16="http://schemas.microsoft.com/office/drawing/2014/main" id="{D9427F3E-2A0D-C376-F694-1A65E2AA2B90}"/>
                </a:ext>
              </a:extLst>
            </p:cNvPr>
            <p:cNvSpPr/>
            <p:nvPr/>
          </p:nvSpPr>
          <p:spPr>
            <a:xfrm>
              <a:off x="4555800" y="2235960"/>
              <a:ext cx="6924960" cy="45648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4285F4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Linux / WSL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1" name="Text 17">
              <a:extLst>
                <a:ext uri="{FF2B5EF4-FFF2-40B4-BE49-F238E27FC236}">
                  <a16:creationId xmlns:a16="http://schemas.microsoft.com/office/drawing/2014/main" id="{06E09D85-0F0F-8E86-6D84-951265798B6A}"/>
                </a:ext>
              </a:extLst>
            </p:cNvPr>
            <p:cNvSpPr/>
            <p:nvPr/>
          </p:nvSpPr>
          <p:spPr>
            <a:xfrm>
              <a:off x="5940000" y="2233800"/>
              <a:ext cx="554076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>
                  <a:solidFill>
                    <a:schemeClr val="lt1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curl -fsSL https://antigravity.google/cli/install.sh | bash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112" name="그래픽 64">
              <a:extLst>
                <a:ext uri="{FF2B5EF4-FFF2-40B4-BE49-F238E27FC236}">
                  <a16:creationId xmlns:a16="http://schemas.microsoft.com/office/drawing/2014/main" id="{2E1E35A4-3BA0-28EF-EF64-05A3749E5DB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966240" y="1950480"/>
              <a:ext cx="218880" cy="2188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B8582341-8C7C-FEEA-F032-8601B61DC843}"/>
              </a:ext>
            </a:extLst>
          </p:cNvPr>
          <p:cNvGrpSpPr/>
          <p:nvPr/>
        </p:nvGrpSpPr>
        <p:grpSpPr>
          <a:xfrm>
            <a:off x="623880" y="2956680"/>
            <a:ext cx="10943640" cy="1736640"/>
            <a:chOff x="623880" y="2956680"/>
            <a:chExt cx="10943640" cy="1736640"/>
          </a:xfrm>
        </p:grpSpPr>
        <p:sp>
          <p:nvSpPr>
            <p:cNvPr id="114" name="Shape 10">
              <a:extLst>
                <a:ext uri="{FF2B5EF4-FFF2-40B4-BE49-F238E27FC236}">
                  <a16:creationId xmlns:a16="http://schemas.microsoft.com/office/drawing/2014/main" id="{76D980B2-5C89-CDB2-E648-527D923E3599}"/>
                </a:ext>
              </a:extLst>
            </p:cNvPr>
            <p:cNvSpPr/>
            <p:nvPr/>
          </p:nvSpPr>
          <p:spPr>
            <a:xfrm>
              <a:off x="623880" y="2956680"/>
              <a:ext cx="10943640" cy="172728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round/>
            </a:ln>
            <a:effectLst>
              <a:outerShdw blurRad="88920" dist="38160" dir="5400000" algn="bl" rotWithShape="0">
                <a:srgbClr val="000000">
                  <a:alpha val="1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 12">
              <a:extLst>
                <a:ext uri="{FF2B5EF4-FFF2-40B4-BE49-F238E27FC236}">
                  <a16:creationId xmlns:a16="http://schemas.microsoft.com/office/drawing/2014/main" id="{85E0616C-8D3F-33DA-9378-61418C7D76A5}"/>
                </a:ext>
              </a:extLst>
            </p:cNvPr>
            <p:cNvSpPr/>
            <p:nvPr/>
          </p:nvSpPr>
          <p:spPr>
            <a:xfrm>
              <a:off x="1446840" y="3139560"/>
              <a:ext cx="274248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6232F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Codex CLI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6" name="Text 13">
              <a:extLst>
                <a:ext uri="{FF2B5EF4-FFF2-40B4-BE49-F238E27FC236}">
                  <a16:creationId xmlns:a16="http://schemas.microsoft.com/office/drawing/2014/main" id="{EFD43E22-FB6E-CF14-A086-3723CD88437E}"/>
                </a:ext>
              </a:extLst>
            </p:cNvPr>
            <p:cNvSpPr/>
            <p:nvPr/>
          </p:nvSpPr>
          <p:spPr>
            <a:xfrm>
              <a:off x="1446840" y="3505320"/>
              <a:ext cx="3021480" cy="58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lang="en-US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GPT </a:t>
              </a:r>
              <a:r>
                <a:rPr lang="ko-KR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계열 코딩 워커</a:t>
              </a:r>
              <a:r>
                <a:rPr lang="en-US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. </a:t>
              </a:r>
              <a:r>
                <a:rPr lang="ko-KR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보조 구현</a:t>
              </a:r>
              <a:r>
                <a:rPr lang="en-US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·</a:t>
              </a:r>
              <a:r>
                <a:rPr lang="ko-KR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테스트 작성</a:t>
              </a:r>
              <a:r>
                <a:rPr lang="en-US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·</a:t>
              </a:r>
              <a:r>
                <a:rPr lang="ko-KR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이미지 생성 등에 활용</a:t>
              </a:r>
              <a:r>
                <a:rPr lang="en-US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.</a:t>
              </a:r>
              <a:br>
                <a:rPr sz="1000" dirty="0"/>
              </a:br>
              <a:r>
                <a:rPr lang="ko-KR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정상 경로는 </a:t>
              </a:r>
              <a:r>
                <a:rPr lang="en-US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MCP</a:t>
              </a:r>
              <a:r>
                <a:rPr lang="ko-KR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를 통해 붙고</a:t>
              </a:r>
              <a:r>
                <a:rPr lang="en-US" sz="1000" b="0" u="none" strike="noStrike" dirty="0">
                  <a:solidFill>
                    <a:srgbClr val="64748B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, </a:t>
              </a:r>
              <a:r>
                <a:rPr lang="en-US" sz="1000" dirty="0">
                  <a:solidFill>
                    <a:srgbClr val="64748B"/>
                  </a:solidFill>
                  <a:latin typeface="프리젠테이션 5 Medium"/>
                  <a:ea typeface="프리젠테이션 5 Medium"/>
                </a:rPr>
                <a:t>ChatGPT </a:t>
              </a:r>
              <a:r>
                <a:rPr lang="ko-KR" sz="1000" dirty="0">
                  <a:solidFill>
                    <a:srgbClr val="64748B"/>
                  </a:solidFill>
                  <a:latin typeface="프리젠테이션 5 Medium"/>
                  <a:ea typeface="프리젠테이션 5 Medium"/>
                </a:rPr>
                <a:t>유료 구독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/>
                  <a:ea typeface="프리젠테이션 5 Medium"/>
                </a:rPr>
                <a:t> 또는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/>
                  <a:ea typeface="프리젠테이션 5 Medium"/>
                </a:rPr>
                <a:t>OPENAI_API_KEY(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/>
                  <a:ea typeface="프리젠테이션 5 Medium"/>
                </a:rPr>
                <a:t>종량과금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/>
                  <a:ea typeface="프리젠테이션 5 Medium"/>
                </a:rPr>
                <a:t>)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/>
                  <a:ea typeface="프리젠테이션 5 Medium"/>
                </a:rPr>
                <a:t>중 하나로 인증</a:t>
              </a:r>
              <a:endParaRPr lang="en-US" altLang="ko-KR" sz="1000" dirty="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>
                <a:lnSpc>
                  <a:spcPct val="105000"/>
                </a:lnSpc>
              </a:pPr>
              <a:r>
                <a:rPr lang="ko-KR" altLang="en-US" sz="1000" dirty="0">
                  <a:solidFill>
                    <a:srgbClr val="64748B"/>
                  </a:solidFill>
                  <a:latin typeface="프리젠테이션 5 Medium"/>
                  <a:ea typeface="맑은 고딕"/>
                </a:rPr>
                <a:t>( 무료도 가능하지만 유료 구독 추천 )</a:t>
              </a:r>
            </a:p>
          </p:txBody>
        </p:sp>
        <p:sp>
          <p:nvSpPr>
            <p:cNvPr id="117" name="Shape 6">
              <a:extLst>
                <a:ext uri="{FF2B5EF4-FFF2-40B4-BE49-F238E27FC236}">
                  <a16:creationId xmlns:a16="http://schemas.microsoft.com/office/drawing/2014/main" id="{A1405D7C-3F4A-1592-E721-F4999C40D801}"/>
                </a:ext>
              </a:extLst>
            </p:cNvPr>
            <p:cNvSpPr/>
            <p:nvPr/>
          </p:nvSpPr>
          <p:spPr>
            <a:xfrm>
              <a:off x="4555800" y="3058920"/>
              <a:ext cx="6924960" cy="45648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E8A13A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PowerShell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8" name="Text 15">
              <a:extLst>
                <a:ext uri="{FF2B5EF4-FFF2-40B4-BE49-F238E27FC236}">
                  <a16:creationId xmlns:a16="http://schemas.microsoft.com/office/drawing/2014/main" id="{84D5EEA1-1654-67F9-5C69-8D3AC80F309A}"/>
                </a:ext>
              </a:extLst>
            </p:cNvPr>
            <p:cNvSpPr/>
            <p:nvPr/>
          </p:nvSpPr>
          <p:spPr>
            <a:xfrm>
              <a:off x="5940000" y="3061080"/>
              <a:ext cx="554076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>
                  <a:solidFill>
                    <a:schemeClr val="lt1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powershell -ExecutionPolicy ByPass -c "irm https://chatgpt.com/codex/install.ps1 | iex"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19" name="Shape 8">
              <a:extLst>
                <a:ext uri="{FF2B5EF4-FFF2-40B4-BE49-F238E27FC236}">
                  <a16:creationId xmlns:a16="http://schemas.microsoft.com/office/drawing/2014/main" id="{7B0C9933-4273-F5B3-800E-935B51DDBD5D}"/>
                </a:ext>
              </a:extLst>
            </p:cNvPr>
            <p:cNvSpPr/>
            <p:nvPr/>
          </p:nvSpPr>
          <p:spPr>
            <a:xfrm>
              <a:off x="4555800" y="3601800"/>
              <a:ext cx="6924960" cy="45648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4285F4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Linux / WSL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20" name="Text 17">
              <a:extLst>
                <a:ext uri="{FF2B5EF4-FFF2-40B4-BE49-F238E27FC236}">
                  <a16:creationId xmlns:a16="http://schemas.microsoft.com/office/drawing/2014/main" id="{0A43F930-D63B-4B29-94D6-711900EFCCFF}"/>
                </a:ext>
              </a:extLst>
            </p:cNvPr>
            <p:cNvSpPr/>
            <p:nvPr/>
          </p:nvSpPr>
          <p:spPr>
            <a:xfrm>
              <a:off x="5940000" y="3600000"/>
              <a:ext cx="554076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>
                  <a:solidFill>
                    <a:schemeClr val="lt1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curl -fsSL https://chatgpt.com/codex/install.sh | sh</a:t>
              </a:r>
              <a:endParaRPr lang="en-US" sz="95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pic>
          <p:nvPicPr>
            <p:cNvPr id="121" name="그림 67">
              <a:extLst>
                <a:ext uri="{FF2B5EF4-FFF2-40B4-BE49-F238E27FC236}">
                  <a16:creationId xmlns:a16="http://schemas.microsoft.com/office/drawing/2014/main" id="{DA4746BE-6D34-46B4-678B-6750BB7574EE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847440" y="3210480"/>
              <a:ext cx="456480" cy="456480"/>
            </a:xfrm>
            <a:prstGeom prst="rect">
              <a:avLst/>
            </a:prstGeom>
            <a:noFill/>
            <a:ln w="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22" name="내용 개체 틀 75">
              <a:extLst>
                <a:ext uri="{FF2B5EF4-FFF2-40B4-BE49-F238E27FC236}">
                  <a16:creationId xmlns:a16="http://schemas.microsoft.com/office/drawing/2014/main" id="{32F0F80D-ECE9-C9B2-B75D-6D49B2AA3B28}"/>
                </a:ext>
              </a:extLst>
            </p:cNvPr>
            <p:cNvSpPr/>
            <p:nvPr/>
          </p:nvSpPr>
          <p:spPr>
            <a:xfrm>
              <a:off x="623880" y="4235040"/>
              <a:ext cx="10943640" cy="45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프리젠테이션 5 Medium"/>
              </a:endParaRPr>
            </a:p>
          </p:txBody>
        </p:sp>
        <p:sp>
          <p:nvSpPr>
            <p:cNvPr id="123" name="Shape 8">
              <a:extLst>
                <a:ext uri="{FF2B5EF4-FFF2-40B4-BE49-F238E27FC236}">
                  <a16:creationId xmlns:a16="http://schemas.microsoft.com/office/drawing/2014/main" id="{D926A489-6EE0-A798-D44B-0E1B32F217CE}"/>
                </a:ext>
              </a:extLst>
            </p:cNvPr>
            <p:cNvSpPr/>
            <p:nvPr/>
          </p:nvSpPr>
          <p:spPr>
            <a:xfrm>
              <a:off x="4556160" y="4141800"/>
              <a:ext cx="6924960" cy="45648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FF0000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Helper </a:t>
              </a:r>
              <a:r>
                <a:rPr lang="ko-KR" sz="1000" b="0" u="none" strike="noStrike">
                  <a:solidFill>
                    <a:srgbClr val="FF0000"/>
                  </a:solidFill>
                  <a:effectLst/>
                  <a:uFillTx/>
                  <a:latin typeface="프리젠테이션 6 SemiBold"/>
                  <a:ea typeface="프리젠테이션 6 SemiBold"/>
                </a:rPr>
                <a:t>오류 시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124" name="Text 17">
              <a:extLst>
                <a:ext uri="{FF2B5EF4-FFF2-40B4-BE49-F238E27FC236}">
                  <a16:creationId xmlns:a16="http://schemas.microsoft.com/office/drawing/2014/main" id="{2EEBA182-2B7A-A9D2-8D3F-5A1E40C8823A}"/>
                </a:ext>
              </a:extLst>
            </p:cNvPr>
            <p:cNvSpPr/>
            <p:nvPr/>
          </p:nvSpPr>
          <p:spPr>
            <a:xfrm>
              <a:off x="5940000" y="4140000"/>
              <a:ext cx="554112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700" b="0" u="none" strike="noStrike">
                  <a:solidFill>
                    <a:schemeClr val="lt1"/>
                  </a:solidFill>
                  <a:effectLst/>
                  <a:uFillTx/>
                  <a:latin typeface="프리젠테이션 5 Medium"/>
                  <a:ea typeface="프리젠테이션 5 Medium"/>
                </a:rPr>
                <a:t>&amp; (Join-Path (Get-ChildItem "$env:USERPROFILE\.codex\packages\standalone\releases" -Directory | Sort-Object Name -Descending | Select-Object -First 1).FullName "bin\codex.exe")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36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6;p3"/>
          <p:cNvSpPr/>
          <p:nvPr/>
        </p:nvSpPr>
        <p:spPr>
          <a:xfrm>
            <a:off x="822960" y="822960"/>
            <a:ext cx="2285280" cy="56628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7;p3"/>
          <p:cNvSpPr/>
          <p:nvPr/>
        </p:nvSpPr>
        <p:spPr>
          <a:xfrm>
            <a:off x="987480" y="106056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8;p3"/>
          <p:cNvSpPr/>
          <p:nvPr/>
        </p:nvSpPr>
        <p:spPr>
          <a:xfrm>
            <a:off x="1188720" y="106056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9;p3"/>
          <p:cNvSpPr/>
          <p:nvPr/>
        </p:nvSpPr>
        <p:spPr>
          <a:xfrm>
            <a:off x="1389960" y="106056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20;p3"/>
          <p:cNvSpPr/>
          <p:nvPr/>
        </p:nvSpPr>
        <p:spPr>
          <a:xfrm>
            <a:off x="1600200" y="8229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Google Shape;21;p3"/>
          <p:cNvSpPr/>
          <p:nvPr/>
        </p:nvSpPr>
        <p:spPr>
          <a:xfrm>
            <a:off x="822960" y="20116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47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클로드 설치 및 세팅 가이드</a:t>
            </a:r>
            <a:endParaRPr lang="en-US" sz="4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Google Shape;22;p3"/>
          <p:cNvSpPr/>
          <p:nvPr/>
        </p:nvSpPr>
        <p:spPr>
          <a:xfrm>
            <a:off x="841320" y="35204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Google Shape;23;p3"/>
          <p:cNvSpPr/>
          <p:nvPr/>
        </p:nvSpPr>
        <p:spPr>
          <a:xfrm>
            <a:off x="841320" y="4023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Google Shape;24;p3"/>
          <p:cNvSpPr/>
          <p:nvPr/>
        </p:nvSpPr>
        <p:spPr>
          <a:xfrm>
            <a:off x="822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5;p3"/>
          <p:cNvSpPr/>
          <p:nvPr/>
        </p:nvSpPr>
        <p:spPr>
          <a:xfrm>
            <a:off x="969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5" name="Google Shape;26;p3"/>
          <p:cNvSpPr/>
          <p:nvPr/>
        </p:nvSpPr>
        <p:spPr>
          <a:xfrm>
            <a:off x="26517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27;p3"/>
          <p:cNvSpPr/>
          <p:nvPr/>
        </p:nvSpPr>
        <p:spPr>
          <a:xfrm>
            <a:off x="27979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Google Shape;28;p3"/>
          <p:cNvSpPr/>
          <p:nvPr/>
        </p:nvSpPr>
        <p:spPr>
          <a:xfrm>
            <a:off x="44805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29;p3"/>
          <p:cNvSpPr/>
          <p:nvPr/>
        </p:nvSpPr>
        <p:spPr>
          <a:xfrm>
            <a:off x="46267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Google Shape;30;p3"/>
          <p:cNvSpPr/>
          <p:nvPr/>
        </p:nvSpPr>
        <p:spPr>
          <a:xfrm>
            <a:off x="63093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31;p3"/>
          <p:cNvSpPr/>
          <p:nvPr/>
        </p:nvSpPr>
        <p:spPr>
          <a:xfrm>
            <a:off x="64555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Google Shape;32;p3"/>
          <p:cNvSpPr/>
          <p:nvPr/>
        </p:nvSpPr>
        <p:spPr>
          <a:xfrm>
            <a:off x="81381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33;p3"/>
          <p:cNvSpPr/>
          <p:nvPr/>
        </p:nvSpPr>
        <p:spPr>
          <a:xfrm>
            <a:off x="82843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3" name="Google Shape;34;p3"/>
          <p:cNvSpPr/>
          <p:nvPr/>
        </p:nvSpPr>
        <p:spPr>
          <a:xfrm>
            <a:off x="9966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35;p3"/>
          <p:cNvSpPr/>
          <p:nvPr/>
        </p:nvSpPr>
        <p:spPr>
          <a:xfrm>
            <a:off x="10113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41;p4"/>
          <p:cNvSpPr/>
          <p:nvPr/>
        </p:nvSpPr>
        <p:spPr>
          <a:xfrm>
            <a:off x="502920" y="38412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시작하기 전에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터미널 여는 방법부터 확인하세요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Google Shape;42;p4"/>
          <p:cNvSpPr/>
          <p:nvPr/>
        </p:nvSpPr>
        <p:spPr>
          <a:xfrm>
            <a:off x="521280" y="114300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이 가이드의 모든 명령어는 “터미널”이라는 검은 입력 창에 입력합니다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내 환경에 맞는 방법으로 터미널을 열어 두세요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Google Shape;43;p4"/>
          <p:cNvSpPr/>
          <p:nvPr/>
        </p:nvSpPr>
        <p:spPr>
          <a:xfrm>
            <a:off x="50292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44;p4"/>
          <p:cNvSpPr/>
          <p:nvPr/>
        </p:nvSpPr>
        <p:spPr>
          <a:xfrm>
            <a:off x="77724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Google Shape;45;p4" descr="preencoded.png"/>
          <p:cNvPicPr/>
          <p:nvPr/>
        </p:nvPicPr>
        <p:blipFill>
          <a:blip r:embed="rId3"/>
          <a:stretch/>
        </p:blipFill>
        <p:spPr>
          <a:xfrm>
            <a:off x="90540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Google Shape;46;p4"/>
          <p:cNvSpPr/>
          <p:nvPr/>
        </p:nvSpPr>
        <p:spPr>
          <a:xfrm>
            <a:off x="77724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Windows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Google Shape;47;p4"/>
          <p:cNvSpPr/>
          <p:nvPr/>
        </p:nvSpPr>
        <p:spPr>
          <a:xfrm>
            <a:off x="77724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시작 메뉴에서 </a:t>
            </a:r>
            <a:r>
              <a:rPr lang="en-US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PowerShell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을 검색해 실행합니다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또는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윈도우 키 </a:t>
            </a:r>
            <a:r>
              <a:rPr lang="en-US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+ R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→ “powershell”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입력 →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Google Shape;48;p4"/>
          <p:cNvSpPr/>
          <p:nvPr/>
        </p:nvSpPr>
        <p:spPr>
          <a:xfrm>
            <a:off x="428868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49;p4"/>
          <p:cNvSpPr/>
          <p:nvPr/>
        </p:nvSpPr>
        <p:spPr>
          <a:xfrm>
            <a:off x="456300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Google Shape;50;p4" descr="preencoded.png"/>
          <p:cNvPicPr/>
          <p:nvPr/>
        </p:nvPicPr>
        <p:blipFill>
          <a:blip r:embed="rId3"/>
          <a:stretch/>
        </p:blipFill>
        <p:spPr>
          <a:xfrm>
            <a:off x="469080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51;p4"/>
          <p:cNvSpPr/>
          <p:nvPr/>
        </p:nvSpPr>
        <p:spPr>
          <a:xfrm>
            <a:off x="456300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macOS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Google Shape;52;p4"/>
          <p:cNvSpPr/>
          <p:nvPr/>
        </p:nvSpPr>
        <p:spPr>
          <a:xfrm>
            <a:off x="456300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⌘ + Space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로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Spotlight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열고 </a:t>
            </a:r>
            <a:r>
              <a:rPr lang="ko-KR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터미널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을 검색해 실행합니다.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Google Shape;53;p4"/>
          <p:cNvSpPr/>
          <p:nvPr/>
        </p:nvSpPr>
        <p:spPr>
          <a:xfrm>
            <a:off x="807408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54;p4"/>
          <p:cNvSpPr/>
          <p:nvPr/>
        </p:nvSpPr>
        <p:spPr>
          <a:xfrm>
            <a:off x="834840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Google Shape;55;p4" descr="preencoded.png"/>
          <p:cNvPicPr/>
          <p:nvPr/>
        </p:nvPicPr>
        <p:blipFill>
          <a:blip r:embed="rId4"/>
          <a:stretch/>
        </p:blipFill>
        <p:spPr>
          <a:xfrm>
            <a:off x="847656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Google Shape;56;p4"/>
          <p:cNvSpPr/>
          <p:nvPr/>
        </p:nvSpPr>
        <p:spPr>
          <a:xfrm>
            <a:off x="834840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안에서 </a:t>
            </a: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권장</a:t>
            </a: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Google Shape;57;p4"/>
          <p:cNvSpPr/>
          <p:nvPr/>
        </p:nvSpPr>
        <p:spPr>
          <a:xfrm>
            <a:off x="834840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하단의 </a:t>
            </a:r>
            <a:r>
              <a:rPr lang="ko-KR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터미널 탭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을 클릭합니다.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단축키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Alt + F12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 (macOS: ⌥ + F12)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프로젝트 폴더에서 바로 열려 편리합니다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Google Shape;58;p4"/>
          <p:cNvSpPr/>
          <p:nvPr/>
        </p:nvSpPr>
        <p:spPr>
          <a:xfrm>
            <a:off x="502920" y="5166360"/>
            <a:ext cx="11182320" cy="1096560"/>
          </a:xfrm>
          <a:prstGeom prst="roundRect">
            <a:avLst>
              <a:gd name="adj" fmla="val 75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59;p4"/>
          <p:cNvSpPr/>
          <p:nvPr/>
        </p:nvSpPr>
        <p:spPr>
          <a:xfrm>
            <a:off x="777240" y="5166360"/>
            <a:ext cx="1060632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복사 </a:t>
            </a:r>
            <a:r>
              <a:rPr lang="en-US" sz="135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135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붙여넣기만 하면 됩니다  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가이드의 명령어를 드래그해 복사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(Ctrl+C)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한 뒤 터미널에 붙여넣고 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를 누르세요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붙여넣기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: Windows PowerShell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은 </a:t>
            </a:r>
            <a:r>
              <a:rPr lang="ko-KR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마우스 우클릭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또는 Ctrl+V,  macOS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는 ⌘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+V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입니다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65;p5"/>
          <p:cNvSpPr/>
          <p:nvPr/>
        </p:nvSpPr>
        <p:spPr>
          <a:xfrm>
            <a:off x="502920" y="38412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전체 흐름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여섯 단계만 따라 하면 끝납니다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Google Shape;66;p5"/>
          <p:cNvSpPr/>
          <p:nvPr/>
        </p:nvSpPr>
        <p:spPr>
          <a:xfrm>
            <a:off x="521280" y="114300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각 단계마다 “어떻게 하는지”와 “어떤 화면이 나오면 성공인지”를 함께 안내합니다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Google Shape;67;p5"/>
          <p:cNvSpPr/>
          <p:nvPr/>
        </p:nvSpPr>
        <p:spPr>
          <a:xfrm>
            <a:off x="502920" y="1783080"/>
            <a:ext cx="3611160" cy="20566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68;p5"/>
          <p:cNvSpPr/>
          <p:nvPr/>
        </p:nvSpPr>
        <p:spPr>
          <a:xfrm>
            <a:off x="777240" y="2057400"/>
            <a:ext cx="529560" cy="52956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Google Shape;69;p5" descr="preencoded.png"/>
          <p:cNvPicPr/>
          <p:nvPr/>
        </p:nvPicPr>
        <p:blipFill>
          <a:blip r:embed="rId3"/>
          <a:stretch/>
        </p:blipFill>
        <p:spPr>
          <a:xfrm>
            <a:off x="905400" y="21855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Google Shape;70;p5"/>
          <p:cNvSpPr/>
          <p:nvPr/>
        </p:nvSpPr>
        <p:spPr>
          <a:xfrm>
            <a:off x="3337560" y="202068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8D2C9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Google Shape;71;p5"/>
          <p:cNvSpPr/>
          <p:nvPr/>
        </p:nvSpPr>
        <p:spPr>
          <a:xfrm>
            <a:off x="777240" y="2743200"/>
            <a:ext cx="3062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Google Shape;72;p5"/>
          <p:cNvSpPr/>
          <p:nvPr/>
        </p:nvSpPr>
        <p:spPr>
          <a:xfrm>
            <a:off x="777240" y="313632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터미널에 설치 명령어를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붙여넣고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Google Shape;73;p5"/>
          <p:cNvSpPr/>
          <p:nvPr/>
        </p:nvSpPr>
        <p:spPr>
          <a:xfrm>
            <a:off x="4316040" y="1783080"/>
            <a:ext cx="3611160" cy="20566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74;p5"/>
          <p:cNvSpPr/>
          <p:nvPr/>
        </p:nvSpPr>
        <p:spPr>
          <a:xfrm>
            <a:off x="4590360" y="2057400"/>
            <a:ext cx="529560" cy="52956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Google Shape;75;p5" descr="preencoded.png"/>
          <p:cNvPicPr/>
          <p:nvPr/>
        </p:nvPicPr>
        <p:blipFill>
          <a:blip r:embed="rId4"/>
          <a:stretch/>
        </p:blipFill>
        <p:spPr>
          <a:xfrm>
            <a:off x="4718160" y="21855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Google Shape;76;p5"/>
          <p:cNvSpPr/>
          <p:nvPr/>
        </p:nvSpPr>
        <p:spPr>
          <a:xfrm>
            <a:off x="7150680" y="202068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8D2C9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Google Shape;77;p5"/>
          <p:cNvSpPr/>
          <p:nvPr/>
        </p:nvSpPr>
        <p:spPr>
          <a:xfrm>
            <a:off x="4590360" y="2743200"/>
            <a:ext cx="3062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실행 </a:t>
            </a:r>
            <a:r>
              <a:rPr lang="en-US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7" name="Google Shape;78;p5"/>
          <p:cNvSpPr/>
          <p:nvPr/>
        </p:nvSpPr>
        <p:spPr>
          <a:xfrm>
            <a:off x="4590360" y="313632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입력 → 화면에서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선택 → 브라우저에서 로그인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Google Shape;79;p5"/>
          <p:cNvSpPr/>
          <p:nvPr/>
        </p:nvSpPr>
        <p:spPr>
          <a:xfrm>
            <a:off x="8129160" y="1783080"/>
            <a:ext cx="3611160" cy="20566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80;p5"/>
          <p:cNvSpPr/>
          <p:nvPr/>
        </p:nvSpPr>
        <p:spPr>
          <a:xfrm>
            <a:off x="8403480" y="2057400"/>
            <a:ext cx="529560" cy="52956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Google Shape;81;p5" descr="preencoded.png"/>
          <p:cNvPicPr/>
          <p:nvPr/>
        </p:nvPicPr>
        <p:blipFill>
          <a:blip r:embed="rId5"/>
          <a:stretch/>
        </p:blipFill>
        <p:spPr>
          <a:xfrm>
            <a:off x="8531280" y="21855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Google Shape;82;p5"/>
          <p:cNvSpPr/>
          <p:nvPr/>
        </p:nvSpPr>
        <p:spPr>
          <a:xfrm>
            <a:off x="10963800" y="202068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8D2C9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Google Shape;83;p5"/>
          <p:cNvSpPr/>
          <p:nvPr/>
        </p:nvSpPr>
        <p:spPr>
          <a:xfrm>
            <a:off x="8403480" y="2743200"/>
            <a:ext cx="3062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3" name="Google Shape;84;p5"/>
          <p:cNvSpPr/>
          <p:nvPr/>
        </p:nvSpPr>
        <p:spPr>
          <a:xfrm>
            <a:off x="8403480" y="313632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플러그인 설치 후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아이콘으로 실행 확인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Google Shape;85;p5"/>
          <p:cNvSpPr/>
          <p:nvPr/>
        </p:nvSpPr>
        <p:spPr>
          <a:xfrm>
            <a:off x="502920" y="4114800"/>
            <a:ext cx="3611160" cy="20566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86;p5"/>
          <p:cNvSpPr/>
          <p:nvPr/>
        </p:nvSpPr>
        <p:spPr>
          <a:xfrm>
            <a:off x="777240" y="4389120"/>
            <a:ext cx="529560" cy="52956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Google Shape;87;p5" descr="preencoded.png"/>
          <p:cNvPicPr/>
          <p:nvPr/>
        </p:nvPicPr>
        <p:blipFill>
          <a:blip r:embed="rId6"/>
          <a:stretch/>
        </p:blipFill>
        <p:spPr>
          <a:xfrm>
            <a:off x="905400" y="451728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Google Shape;88;p5"/>
          <p:cNvSpPr/>
          <p:nvPr/>
        </p:nvSpPr>
        <p:spPr>
          <a:xfrm>
            <a:off x="3337560" y="43524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8D2C9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Google Shape;89;p5"/>
          <p:cNvSpPr/>
          <p:nvPr/>
        </p:nvSpPr>
        <p:spPr>
          <a:xfrm>
            <a:off x="777240" y="5074920"/>
            <a:ext cx="3062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Google Shape;90;p5"/>
          <p:cNvSpPr/>
          <p:nvPr/>
        </p:nvSpPr>
        <p:spPr>
          <a:xfrm>
            <a:off x="777240" y="546804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세팅 파일 압축 해제 후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프롬프트 한 줄 입력하면 자동 진행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0" name="Google Shape;91;p5"/>
          <p:cNvSpPr/>
          <p:nvPr/>
        </p:nvSpPr>
        <p:spPr>
          <a:xfrm>
            <a:off x="4316040" y="4114800"/>
            <a:ext cx="3611160" cy="20566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92;p5"/>
          <p:cNvSpPr/>
          <p:nvPr/>
        </p:nvSpPr>
        <p:spPr>
          <a:xfrm>
            <a:off x="4590360" y="4389120"/>
            <a:ext cx="529560" cy="52956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Google Shape;93;p5" descr="preencoded.png"/>
          <p:cNvPicPr/>
          <p:nvPr/>
        </p:nvPicPr>
        <p:blipFill>
          <a:blip r:embed="rId7"/>
          <a:stretch/>
        </p:blipFill>
        <p:spPr>
          <a:xfrm>
            <a:off x="4718160" y="451728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Google Shape;94;p5"/>
          <p:cNvSpPr/>
          <p:nvPr/>
        </p:nvSpPr>
        <p:spPr>
          <a:xfrm>
            <a:off x="7150680" y="43524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8D2C9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4" name="Google Shape;95;p5"/>
          <p:cNvSpPr/>
          <p:nvPr/>
        </p:nvSpPr>
        <p:spPr>
          <a:xfrm>
            <a:off x="4590360" y="5074920"/>
            <a:ext cx="3062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Google Shape;96;p5"/>
          <p:cNvSpPr/>
          <p:nvPr/>
        </p:nvSpPr>
        <p:spPr>
          <a:xfrm>
            <a:off x="4590360" y="546804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에이전트 목록이 표로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출력되는지 확인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Google Shape;97;p5"/>
          <p:cNvSpPr/>
          <p:nvPr/>
        </p:nvSpPr>
        <p:spPr>
          <a:xfrm>
            <a:off x="8129160" y="4114800"/>
            <a:ext cx="3611160" cy="205668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98;p5"/>
          <p:cNvSpPr/>
          <p:nvPr/>
        </p:nvSpPr>
        <p:spPr>
          <a:xfrm>
            <a:off x="8403480" y="4389120"/>
            <a:ext cx="529560" cy="52956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Google Shape;99;p5" descr="preencoded.png"/>
          <p:cNvPicPr/>
          <p:nvPr/>
        </p:nvPicPr>
        <p:blipFill>
          <a:blip r:embed="rId8"/>
          <a:stretch/>
        </p:blipFill>
        <p:spPr>
          <a:xfrm>
            <a:off x="8531280" y="451728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100;p5"/>
          <p:cNvSpPr/>
          <p:nvPr/>
        </p:nvSpPr>
        <p:spPr>
          <a:xfrm>
            <a:off x="10963800" y="43524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8D2C9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Google Shape;101;p5"/>
          <p:cNvSpPr/>
          <p:nvPr/>
        </p:nvSpPr>
        <p:spPr>
          <a:xfrm>
            <a:off x="8403480" y="5074920"/>
            <a:ext cx="3062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Google Shape;102;p5"/>
          <p:cNvSpPr/>
          <p:nvPr/>
        </p:nvSpPr>
        <p:spPr>
          <a:xfrm>
            <a:off x="8403480" y="5468040"/>
            <a:ext cx="30625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분석 프롬프트를 입력해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동작을 최종 확인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08;p6"/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109;p6"/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Google Shape;110;p6"/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Code </a:t>
            </a: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Google Shape;111;p6"/>
          <p:cNvSpPr/>
          <p:nvPr/>
        </p:nvSpPr>
        <p:spPr>
          <a:xfrm>
            <a:off x="1298520" y="11156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내 환경에 맞는 카드 하나를 골라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명령어를 통째로 복사해 터미널에 붙여넣고 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누르세요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Google Shape;112;p6"/>
          <p:cNvSpPr/>
          <p:nvPr/>
        </p:nvSpPr>
        <p:spPr>
          <a:xfrm>
            <a:off x="502920" y="1874520"/>
            <a:ext cx="3638520" cy="361116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113;p6"/>
          <p:cNvSpPr/>
          <p:nvPr/>
        </p:nvSpPr>
        <p:spPr>
          <a:xfrm>
            <a:off x="777240" y="213048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macOS · Linux · WSL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Google Shape;114;p6"/>
          <p:cNvSpPr/>
          <p:nvPr/>
        </p:nvSpPr>
        <p:spPr>
          <a:xfrm>
            <a:off x="777240" y="2532960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Mac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이나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Linux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쓴다면 이 명령어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Google Shape;115;p6"/>
          <p:cNvSpPr/>
          <p:nvPr/>
        </p:nvSpPr>
        <p:spPr>
          <a:xfrm>
            <a:off x="777240" y="3246120"/>
            <a:ext cx="3089880" cy="191952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 w="0">
            <a:noFill/>
          </a:ln>
          <a:effectLst>
            <a:outerShdw blurRad="127080" dist="25560" dir="54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116;p6"/>
          <p:cNvSpPr/>
          <p:nvPr/>
        </p:nvSpPr>
        <p:spPr>
          <a:xfrm>
            <a:off x="978480" y="342900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117;p6"/>
          <p:cNvSpPr/>
          <p:nvPr/>
        </p:nvSpPr>
        <p:spPr>
          <a:xfrm>
            <a:off x="1179720" y="342900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118;p6"/>
          <p:cNvSpPr/>
          <p:nvPr/>
        </p:nvSpPr>
        <p:spPr>
          <a:xfrm>
            <a:off x="1380600" y="342900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119;p6"/>
          <p:cNvSpPr/>
          <p:nvPr/>
        </p:nvSpPr>
        <p:spPr>
          <a:xfrm>
            <a:off x="1033200" y="3630240"/>
            <a:ext cx="2577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15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curl -fsSL https://claude.ai/install.sh | bash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Google Shape;120;p6"/>
          <p:cNvSpPr/>
          <p:nvPr/>
        </p:nvSpPr>
        <p:spPr>
          <a:xfrm>
            <a:off x="4288680" y="1874520"/>
            <a:ext cx="3638520" cy="361116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121;p6"/>
          <p:cNvSpPr/>
          <p:nvPr/>
        </p:nvSpPr>
        <p:spPr>
          <a:xfrm>
            <a:off x="4563000" y="213048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Windows PowerShell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Google Shape;122;p6"/>
          <p:cNvSpPr/>
          <p:nvPr/>
        </p:nvSpPr>
        <p:spPr>
          <a:xfrm>
            <a:off x="4563000" y="2532960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Windows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라면 이 명령어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권장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Google Shape;123;p6"/>
          <p:cNvSpPr/>
          <p:nvPr/>
        </p:nvSpPr>
        <p:spPr>
          <a:xfrm>
            <a:off x="4563000" y="3246120"/>
            <a:ext cx="3089880" cy="191952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 w="0">
            <a:noFill/>
          </a:ln>
          <a:effectLst>
            <a:outerShdw blurRad="127080" dist="25560" dir="54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124;p6"/>
          <p:cNvSpPr/>
          <p:nvPr/>
        </p:nvSpPr>
        <p:spPr>
          <a:xfrm>
            <a:off x="4763880" y="342900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125;p6"/>
          <p:cNvSpPr/>
          <p:nvPr/>
        </p:nvSpPr>
        <p:spPr>
          <a:xfrm>
            <a:off x="4965120" y="342900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126;p6"/>
          <p:cNvSpPr/>
          <p:nvPr/>
        </p:nvSpPr>
        <p:spPr>
          <a:xfrm>
            <a:off x="5166360" y="342900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127;p6"/>
          <p:cNvSpPr/>
          <p:nvPr/>
        </p:nvSpPr>
        <p:spPr>
          <a:xfrm>
            <a:off x="4818960" y="3630240"/>
            <a:ext cx="2577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PS&gt; </a:t>
            </a:r>
            <a:r>
              <a:rPr lang="en-US" sz="115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irm https://claude.ai/install.ps1 | iex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Google Shape;128;p6"/>
          <p:cNvSpPr/>
          <p:nvPr/>
        </p:nvSpPr>
        <p:spPr>
          <a:xfrm>
            <a:off x="8074080" y="1874520"/>
            <a:ext cx="3638520" cy="361116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129;p6"/>
          <p:cNvSpPr/>
          <p:nvPr/>
        </p:nvSpPr>
        <p:spPr>
          <a:xfrm>
            <a:off x="8348400" y="213048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Windows CMD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Google Shape;130;p6"/>
          <p:cNvSpPr/>
          <p:nvPr/>
        </p:nvSpPr>
        <p:spPr>
          <a:xfrm>
            <a:off x="8348400" y="2532960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명령 프롬프트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(cmd)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쓸 때만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Google Shape;131;p6"/>
          <p:cNvSpPr/>
          <p:nvPr/>
        </p:nvSpPr>
        <p:spPr>
          <a:xfrm>
            <a:off x="8348400" y="3246120"/>
            <a:ext cx="3089880" cy="191952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 w="0">
            <a:noFill/>
          </a:ln>
          <a:effectLst>
            <a:outerShdw blurRad="127080" dist="25560" dir="54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132;p6"/>
          <p:cNvSpPr/>
          <p:nvPr/>
        </p:nvSpPr>
        <p:spPr>
          <a:xfrm>
            <a:off x="8549640" y="342900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133;p6"/>
          <p:cNvSpPr/>
          <p:nvPr/>
        </p:nvSpPr>
        <p:spPr>
          <a:xfrm>
            <a:off x="8750880" y="342900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134;p6"/>
          <p:cNvSpPr/>
          <p:nvPr/>
        </p:nvSpPr>
        <p:spPr>
          <a:xfrm>
            <a:off x="8952120" y="342900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135;p6"/>
          <p:cNvSpPr/>
          <p:nvPr/>
        </p:nvSpPr>
        <p:spPr>
          <a:xfrm>
            <a:off x="8604360" y="3630240"/>
            <a:ext cx="2577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&gt; </a:t>
            </a:r>
            <a:r>
              <a:rPr lang="en-US" sz="115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curl -fsSL https://claude.ai/install.cmd -o install.cmd &amp;&amp; install.cmd &amp;&amp; del install.cmd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Google Shape;136;p6"/>
          <p:cNvSpPr/>
          <p:nvPr/>
        </p:nvSpPr>
        <p:spPr>
          <a:xfrm>
            <a:off x="502920" y="5715000"/>
            <a:ext cx="11182320" cy="776520"/>
          </a:xfrm>
          <a:prstGeom prst="roundRect">
            <a:avLst>
              <a:gd name="adj" fmla="val 9412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Google Shape;137;p6" descr="preencoded.png"/>
          <p:cNvPicPr/>
          <p:nvPr/>
        </p:nvPicPr>
        <p:blipFill>
          <a:blip r:embed="rId3"/>
          <a:stretch/>
        </p:blipFill>
        <p:spPr>
          <a:xfrm>
            <a:off x="704160" y="59756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Google Shape;138;p6"/>
          <p:cNvSpPr/>
          <p:nvPr/>
        </p:nvSpPr>
        <p:spPr>
          <a:xfrm>
            <a:off x="1069920" y="5715000"/>
            <a:ext cx="104324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설치가 끝나면 터미널을 완전히 닫았다가 새로 연 뒤  </a:t>
            </a:r>
            <a:r>
              <a:rPr lang="en-US" sz="1150" b="1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claude --version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을 입력해 보세요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버전 번호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예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: 2.1.207)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가 나오면 성공입니다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“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명령을 찾을 수 없음”이 나오면 터미널을 다시 열어 재시도하세요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108;p 1"/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109;p 2"/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Google Shape;110;p 2"/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Code Path </a:t>
            </a: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등록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6" name="Google Shape;111;p 2"/>
          <p:cNvSpPr/>
          <p:nvPr/>
        </p:nvSpPr>
        <p:spPr>
          <a:xfrm>
            <a:off x="1298520" y="11156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설치 후 아래와 같은 문구가 나타났을 시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하단 명령어를 통째로 복사해 터미널에 붙여넣고 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누르세요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Google Shape;136;p 2"/>
          <p:cNvSpPr/>
          <p:nvPr/>
        </p:nvSpPr>
        <p:spPr>
          <a:xfrm>
            <a:off x="502920" y="5715000"/>
            <a:ext cx="11182320" cy="776520"/>
          </a:xfrm>
          <a:prstGeom prst="roundRect">
            <a:avLst>
              <a:gd name="adj" fmla="val 9412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138;p 2"/>
          <p:cNvSpPr/>
          <p:nvPr/>
        </p:nvSpPr>
        <p:spPr>
          <a:xfrm>
            <a:off x="1069920" y="5715000"/>
            <a:ext cx="104324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$p = [Environment]::GetEnvironmentVariable("Path", "User")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[Environment]::SetEnvironmentVariable("Path", ($p.TrimEnd(';') + ";$env:USERPROFILE\.local\bin"), "User")</a:t>
            </a:r>
          </a:p>
        </p:txBody>
      </p:sp>
      <p:sp>
        <p:nvSpPr>
          <p:cNvPr id="239" name="Google Shape;180;p 1"/>
          <p:cNvSpPr/>
          <p:nvPr/>
        </p:nvSpPr>
        <p:spPr>
          <a:xfrm>
            <a:off x="745560" y="1965960"/>
            <a:ext cx="10697760" cy="3253680"/>
          </a:xfrm>
          <a:prstGeom prst="roundRect">
            <a:avLst>
              <a:gd name="adj" fmla="val 2670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그림 239"/>
          <p:cNvPicPr/>
          <p:nvPr/>
        </p:nvPicPr>
        <p:blipFill>
          <a:blip r:embed="rId3"/>
          <a:srcRect r="1926" b="9677"/>
          <a:stretch/>
        </p:blipFill>
        <p:spPr>
          <a:xfrm>
            <a:off x="900000" y="2061360"/>
            <a:ext cx="10439280" cy="30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Google Shape;127;p 1"/>
          <p:cNvSpPr/>
          <p:nvPr/>
        </p:nvSpPr>
        <p:spPr>
          <a:xfrm>
            <a:off x="658440" y="5964480"/>
            <a:ext cx="34956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PS&gt;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168;p7"/>
          <p:cNvSpPr/>
          <p:nvPr/>
        </p:nvSpPr>
        <p:spPr>
          <a:xfrm>
            <a:off x="6089760" y="4605480"/>
            <a:ext cx="5650200" cy="1157040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144;p7"/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145;p7"/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5" name="Google Shape;146;p7"/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Code </a:t>
            </a: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실행하기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Google Shape;147;p7"/>
          <p:cNvSpPr/>
          <p:nvPr/>
        </p:nvSpPr>
        <p:spPr>
          <a:xfrm>
            <a:off x="1298520" y="11156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설치가 끝났다면 이제 실행해 봅니다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터미널에 딱 한 단어만 입력하면 됩니다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7" name="Google Shape;148;p7"/>
          <p:cNvSpPr/>
          <p:nvPr/>
        </p:nvSpPr>
        <p:spPr>
          <a:xfrm>
            <a:off x="502920" y="182880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149;p7"/>
          <p:cNvSpPr/>
          <p:nvPr/>
        </p:nvSpPr>
        <p:spPr>
          <a:xfrm>
            <a:off x="502920" y="1828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9" name="Google Shape;150;p7"/>
          <p:cNvSpPr/>
          <p:nvPr/>
        </p:nvSpPr>
        <p:spPr>
          <a:xfrm>
            <a:off x="978480" y="1837800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프로젝트 폴더로 이동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Google Shape;151;p7"/>
          <p:cNvSpPr/>
          <p:nvPr/>
        </p:nvSpPr>
        <p:spPr>
          <a:xfrm>
            <a:off x="978480" y="2157840"/>
            <a:ext cx="473580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하단 터미널을 쓰면 이미 프로젝트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폴더라서 이 단계는 건너뛰어도 됩니다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일반 터미널이라면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cd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폴더경로 로 이동하세요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1" name="Google Shape;152;p7"/>
          <p:cNvSpPr/>
          <p:nvPr/>
        </p:nvSpPr>
        <p:spPr>
          <a:xfrm>
            <a:off x="502920" y="297180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153;p7"/>
          <p:cNvSpPr/>
          <p:nvPr/>
        </p:nvSpPr>
        <p:spPr>
          <a:xfrm>
            <a:off x="502920" y="2971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3" name="Google Shape;154;p7"/>
          <p:cNvSpPr/>
          <p:nvPr/>
        </p:nvSpPr>
        <p:spPr>
          <a:xfrm>
            <a:off x="978480" y="2980800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입력 후 </a:t>
            </a: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4" name="Google Shape;155;p7"/>
          <p:cNvSpPr/>
          <p:nvPr/>
        </p:nvSpPr>
        <p:spPr>
          <a:xfrm>
            <a:off x="978480" y="3300840"/>
            <a:ext cx="4735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소문자로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라고만 입력하면 됩니다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5" name="Google Shape;156;p7"/>
          <p:cNvSpPr/>
          <p:nvPr/>
        </p:nvSpPr>
        <p:spPr>
          <a:xfrm>
            <a:off x="502920" y="365760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157;p7"/>
          <p:cNvSpPr/>
          <p:nvPr/>
        </p:nvSpPr>
        <p:spPr>
          <a:xfrm>
            <a:off x="502920" y="36576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7" name="Google Shape;158;p7"/>
          <p:cNvSpPr/>
          <p:nvPr/>
        </p:nvSpPr>
        <p:spPr>
          <a:xfrm>
            <a:off x="978480" y="3666600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잠시 기다리기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8" name="Google Shape;159;p7"/>
          <p:cNvSpPr/>
          <p:nvPr/>
        </p:nvSpPr>
        <p:spPr>
          <a:xfrm>
            <a:off x="978480" y="3986640"/>
            <a:ext cx="47358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몇 초 뒤 오른쪽과 같은 환영 화면이 나타나고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처음 실행이라면 로그인 화면으로 이어집니다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9" name="Google Shape;160;p7"/>
          <p:cNvSpPr/>
          <p:nvPr/>
        </p:nvSpPr>
        <p:spPr>
          <a:xfrm>
            <a:off x="446858" y="5705708"/>
            <a:ext cx="5211360" cy="955440"/>
          </a:xfrm>
          <a:prstGeom prst="roundRect">
            <a:avLst>
              <a:gd name="adj" fmla="val 5333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Google Shape;161;p7" descr="preencoded.png"/>
          <p:cNvPicPr/>
          <p:nvPr/>
        </p:nvPicPr>
        <p:blipFill>
          <a:blip r:embed="rId3"/>
          <a:stretch/>
        </p:blipFill>
        <p:spPr>
          <a:xfrm>
            <a:off x="644498" y="6004148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Google Shape;162;p7"/>
          <p:cNvSpPr/>
          <p:nvPr/>
        </p:nvSpPr>
        <p:spPr>
          <a:xfrm>
            <a:off x="1013858" y="5705708"/>
            <a:ext cx="4461480" cy="95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Code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로고 배너와 버전 정보가 보이면 정상 실행된 것입니다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종료하고 싶을 땐  </a:t>
            </a:r>
            <a:r>
              <a:rPr lang="en-US" sz="1150" b="1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/exit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를 입력하거나 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Ctrl+C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를 두 번 누르면 됩니다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2" name="Google Shape;163;p7"/>
          <p:cNvSpPr/>
          <p:nvPr/>
        </p:nvSpPr>
        <p:spPr>
          <a:xfrm>
            <a:off x="6106941" y="1675618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실행하면 이런 화면이 나옵니다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3" name="Google Shape;164;p7"/>
          <p:cNvSpPr/>
          <p:nvPr/>
        </p:nvSpPr>
        <p:spPr>
          <a:xfrm>
            <a:off x="6106941" y="2105458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터미널에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입력한 모습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Google Shape;165;p7"/>
          <p:cNvSpPr/>
          <p:nvPr/>
        </p:nvSpPr>
        <p:spPr>
          <a:xfrm>
            <a:off x="6061221" y="2388778"/>
            <a:ext cx="5650200" cy="402120"/>
          </a:xfrm>
          <a:prstGeom prst="roundRect">
            <a:avLst>
              <a:gd name="adj" fmla="val 1588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Google Shape;166;p7" descr="shots/run_prompt.png"/>
          <p:cNvPicPr/>
          <p:nvPr/>
        </p:nvPicPr>
        <p:blipFill>
          <a:blip r:embed="rId4"/>
          <a:stretch/>
        </p:blipFill>
        <p:spPr>
          <a:xfrm>
            <a:off x="6106941" y="2434498"/>
            <a:ext cx="555876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Google Shape;167;p7"/>
          <p:cNvSpPr/>
          <p:nvPr/>
        </p:nvSpPr>
        <p:spPr>
          <a:xfrm>
            <a:off x="6070221" y="2985298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누르면 잠시 후 환영 화면이 표시됩니다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7" name="Google Shape;168;p7"/>
          <p:cNvSpPr/>
          <p:nvPr/>
        </p:nvSpPr>
        <p:spPr>
          <a:xfrm>
            <a:off x="6061221" y="3327298"/>
            <a:ext cx="5650200" cy="1157040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Google Shape;169;p7" descr="shots/run_banner.png"/>
          <p:cNvPicPr/>
          <p:nvPr/>
        </p:nvPicPr>
        <p:blipFill>
          <a:blip r:embed="rId5"/>
          <a:stretch/>
        </p:blipFill>
        <p:spPr>
          <a:xfrm>
            <a:off x="6106941" y="3373018"/>
            <a:ext cx="5558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Google Shape;170;p7"/>
          <p:cNvSpPr/>
          <p:nvPr/>
        </p:nvSpPr>
        <p:spPr>
          <a:xfrm>
            <a:off x="6080760" y="5914440"/>
            <a:ext cx="5558760" cy="61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화면의 버전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모델 표기는 시점에 따라 다를 수 있습니다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처음 실행이라면 곧바로 로그인 선택 화면이 이어집니다 → 다음 페이지에서 계속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1" name="Google Shape;156;p7"/>
          <p:cNvSpPr/>
          <p:nvPr/>
        </p:nvSpPr>
        <p:spPr>
          <a:xfrm>
            <a:off x="502920" y="4613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2" name="Google Shape;158;p7"/>
          <p:cNvSpPr/>
          <p:nvPr/>
        </p:nvSpPr>
        <p:spPr>
          <a:xfrm>
            <a:off x="978480" y="4622760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Codex </a:t>
            </a:r>
            <a:r>
              <a:rPr lang="en-US" altLang="ko-KR" sz="1350" b="1">
                <a:solidFill>
                  <a:srgbClr val="33302B"/>
                </a:solidFill>
                <a:latin typeface="Malgun Gothic"/>
                <a:ea typeface="Malgun Gothic"/>
              </a:rPr>
              <a:t>MCP Server </a:t>
            </a:r>
            <a:r>
              <a:rPr lang="ko-KR" sz="1350" b="1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설정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3" name="Google Shape;159;p7"/>
          <p:cNvSpPr/>
          <p:nvPr/>
        </p:nvSpPr>
        <p:spPr>
          <a:xfrm>
            <a:off x="978480" y="4942800"/>
            <a:ext cx="4735800" cy="46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 dirty="0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해당 가이드에서는 </a:t>
            </a:r>
            <a:r>
              <a:rPr lang="en-US" sz="1150" b="0" u="none" strike="noStrike" dirty="0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Codex </a:t>
            </a:r>
            <a:r>
              <a:rPr lang="ko-KR" sz="1150" b="0" u="none" strike="noStrike" dirty="0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</a:t>
            </a: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사용하기 때문에 1. Use this MCP server를 </a:t>
            </a: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선택합니다. 만약 이 화면이 나오지 않는다면 Step 4. Codex 워커 연결 </a:t>
            </a: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확인을 참고하세요.</a:t>
            </a:r>
            <a:endParaRPr lang="ko-K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A6CD59-BD76-8D5B-BB3A-30E4FBDF6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6164" y="4667495"/>
            <a:ext cx="5766289" cy="1108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76;p8"/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177;p8"/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6" name="Google Shape;178;p8"/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로그인 화면 — </a:t>
            </a:r>
            <a:r>
              <a:rPr lang="en-US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번을 선택하세요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7" name="Google Shape;179;p8"/>
          <p:cNvSpPr/>
          <p:nvPr/>
        </p:nvSpPr>
        <p:spPr>
          <a:xfrm>
            <a:off x="1298520" y="11156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처음 실행하면 자동으로 나타나는 화면입니다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마우스는 쓰지 않고 키보드로만 조작합니다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8" name="Google Shape;180;p8"/>
          <p:cNvSpPr/>
          <p:nvPr/>
        </p:nvSpPr>
        <p:spPr>
          <a:xfrm>
            <a:off x="745200" y="1965960"/>
            <a:ext cx="10697760" cy="2396520"/>
          </a:xfrm>
          <a:prstGeom prst="roundRect">
            <a:avLst>
              <a:gd name="adj" fmla="val 2670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Google Shape;181;p8" descr="shots/login1.png"/>
          <p:cNvPicPr/>
          <p:nvPr/>
        </p:nvPicPr>
        <p:blipFill>
          <a:blip r:embed="rId3"/>
          <a:stretch/>
        </p:blipFill>
        <p:spPr>
          <a:xfrm>
            <a:off x="790920" y="2011680"/>
            <a:ext cx="10606320" cy="230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Google Shape;182;p8"/>
          <p:cNvSpPr/>
          <p:nvPr/>
        </p:nvSpPr>
        <p:spPr>
          <a:xfrm>
            <a:off x="502920" y="4709160"/>
            <a:ext cx="3611160" cy="159948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183;p8"/>
          <p:cNvSpPr/>
          <p:nvPr/>
        </p:nvSpPr>
        <p:spPr>
          <a:xfrm>
            <a:off x="731520" y="4937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184;p8"/>
          <p:cNvSpPr/>
          <p:nvPr/>
        </p:nvSpPr>
        <p:spPr>
          <a:xfrm>
            <a:off x="731520" y="4937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3" name="Google Shape;185;p8"/>
          <p:cNvSpPr/>
          <p:nvPr/>
        </p:nvSpPr>
        <p:spPr>
          <a:xfrm>
            <a:off x="1216080" y="4946760"/>
            <a:ext cx="26967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화면 확인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Google Shape;186;p8"/>
          <p:cNvSpPr/>
          <p:nvPr/>
        </p:nvSpPr>
        <p:spPr>
          <a:xfrm>
            <a:off x="731520" y="539496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“Select login method”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라는 선택 화면이 보입니다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세 가지 로그인 방법 중 하나를 고르는 단계입니다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Google Shape;187;p8"/>
          <p:cNvSpPr/>
          <p:nvPr/>
        </p:nvSpPr>
        <p:spPr>
          <a:xfrm>
            <a:off x="4288680" y="4709160"/>
            <a:ext cx="3611160" cy="159948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188;p8"/>
          <p:cNvSpPr/>
          <p:nvPr/>
        </p:nvSpPr>
        <p:spPr>
          <a:xfrm>
            <a:off x="4517280" y="4937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189;p8"/>
          <p:cNvSpPr/>
          <p:nvPr/>
        </p:nvSpPr>
        <p:spPr>
          <a:xfrm>
            <a:off x="4517280" y="4937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8" name="Google Shape;190;p8"/>
          <p:cNvSpPr/>
          <p:nvPr/>
        </p:nvSpPr>
        <p:spPr>
          <a:xfrm>
            <a:off x="5001840" y="4946760"/>
            <a:ext cx="26967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키보드 ↑ ↓ 로 이동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9" name="Google Shape;191;p8"/>
          <p:cNvSpPr/>
          <p:nvPr/>
        </p:nvSpPr>
        <p:spPr>
          <a:xfrm>
            <a:off x="4517280" y="539496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방향키로 항목을 이동할 수 있습니다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en-US" sz="11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❯ </a:t>
            </a:r>
            <a:r>
              <a:rPr lang="ko-KR" sz="11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표시가 </a:t>
            </a:r>
            <a:r>
              <a:rPr lang="en-US" sz="11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r>
              <a:rPr lang="ko-KR" sz="11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번에 있는지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확인하세요. (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기본으로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번에 있습니다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Google Shape;192;p8"/>
          <p:cNvSpPr/>
          <p:nvPr/>
        </p:nvSpPr>
        <p:spPr>
          <a:xfrm>
            <a:off x="8074080" y="4709160"/>
            <a:ext cx="3611160" cy="159948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193;p8"/>
          <p:cNvSpPr/>
          <p:nvPr/>
        </p:nvSpPr>
        <p:spPr>
          <a:xfrm>
            <a:off x="8302680" y="4937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194;p8"/>
          <p:cNvSpPr/>
          <p:nvPr/>
        </p:nvSpPr>
        <p:spPr>
          <a:xfrm>
            <a:off x="8302680" y="4937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Google Shape;195;p8"/>
          <p:cNvSpPr/>
          <p:nvPr/>
        </p:nvSpPr>
        <p:spPr>
          <a:xfrm>
            <a:off x="8787240" y="4946760"/>
            <a:ext cx="26967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Enter </a:t>
            </a: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로 선택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4" name="Google Shape;196;p8"/>
          <p:cNvSpPr/>
          <p:nvPr/>
        </p:nvSpPr>
        <p:spPr>
          <a:xfrm>
            <a:off x="8302680" y="539496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1. Claude account with subscription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에서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누릅니다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우리 팀은 항상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번만 사용합니다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02;p9"/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203;p9"/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7" name="Google Shape;204;p9"/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브라우저에서 로그인 완료하기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8" name="Google Shape;205;p9"/>
          <p:cNvSpPr/>
          <p:nvPr/>
        </p:nvSpPr>
        <p:spPr>
          <a:xfrm>
            <a:off x="1298520" y="11156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번을 선택하면 브라우저가 자동으로 열립니다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실제 화면과 함께 순서대로 진행해 보세요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9" name="Google Shape;206;p9"/>
          <p:cNvSpPr/>
          <p:nvPr/>
        </p:nvSpPr>
        <p:spPr>
          <a:xfrm>
            <a:off x="502920" y="178308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207;p9"/>
          <p:cNvSpPr/>
          <p:nvPr/>
        </p:nvSpPr>
        <p:spPr>
          <a:xfrm>
            <a:off x="502920" y="1783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1" name="Google Shape;208;p9"/>
          <p:cNvSpPr/>
          <p:nvPr/>
        </p:nvSpPr>
        <p:spPr>
          <a:xfrm>
            <a:off x="978480" y="1792080"/>
            <a:ext cx="31356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브라우저에서 </a:t>
            </a: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[</a:t>
            </a: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승인</a:t>
            </a: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] </a:t>
            </a: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클릭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2" name="Google Shape;209;p9"/>
          <p:cNvSpPr/>
          <p:nvPr/>
        </p:nvSpPr>
        <p:spPr>
          <a:xfrm>
            <a:off x="978480" y="2121480"/>
            <a:ext cx="313560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연결 요청 화면이 뜨면 팀 계정으로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로그인한 뒤 승인 버튼을 누릅니다</a:t>
            </a: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3" name="Google Shape;210;p9"/>
          <p:cNvSpPr/>
          <p:nvPr/>
        </p:nvSpPr>
        <p:spPr>
          <a:xfrm>
            <a:off x="1120320" y="2834640"/>
            <a:ext cx="2376720" cy="283608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Google Shape;211;p9" descr="shots/login3.png"/>
          <p:cNvPicPr/>
          <p:nvPr/>
        </p:nvPicPr>
        <p:blipFill>
          <a:blip r:embed="rId3"/>
          <a:stretch/>
        </p:blipFill>
        <p:spPr>
          <a:xfrm>
            <a:off x="1166040" y="2880360"/>
            <a:ext cx="2285280" cy="274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Google Shape;212;p9"/>
          <p:cNvSpPr/>
          <p:nvPr/>
        </p:nvSpPr>
        <p:spPr>
          <a:xfrm>
            <a:off x="4297680" y="178308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213;p9"/>
          <p:cNvSpPr/>
          <p:nvPr/>
        </p:nvSpPr>
        <p:spPr>
          <a:xfrm>
            <a:off x="4297680" y="1783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7" name="Google Shape;214;p9"/>
          <p:cNvSpPr/>
          <p:nvPr/>
        </p:nvSpPr>
        <p:spPr>
          <a:xfrm>
            <a:off x="4773240" y="1792080"/>
            <a:ext cx="31356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완료 화면이 뜨면 창 닫기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Google Shape;215;p9"/>
          <p:cNvSpPr/>
          <p:nvPr/>
        </p:nvSpPr>
        <p:spPr>
          <a:xfrm>
            <a:off x="4773240" y="2121480"/>
            <a:ext cx="313560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“Claude Code </a:t>
            </a:r>
            <a:r>
              <a:rPr lang="ko-KR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설정이 완료되었습니다”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가 보이면 브라우저는 닫아도 됩니다</a:t>
            </a: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9" name="Google Shape;216;p9"/>
          <p:cNvSpPr/>
          <p:nvPr/>
        </p:nvSpPr>
        <p:spPr>
          <a:xfrm>
            <a:off x="4572000" y="2834640"/>
            <a:ext cx="3062520" cy="2373840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Google Shape;217;p9" descr="shots/login4.png"/>
          <p:cNvPicPr/>
          <p:nvPr/>
        </p:nvPicPr>
        <p:blipFill>
          <a:blip r:embed="rId4"/>
          <a:stretch/>
        </p:blipFill>
        <p:spPr>
          <a:xfrm>
            <a:off x="4617720" y="2880360"/>
            <a:ext cx="2971080" cy="22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Google Shape;218;p9"/>
          <p:cNvSpPr/>
          <p:nvPr/>
        </p:nvSpPr>
        <p:spPr>
          <a:xfrm>
            <a:off x="8092440" y="178308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219;p9"/>
          <p:cNvSpPr/>
          <p:nvPr/>
        </p:nvSpPr>
        <p:spPr>
          <a:xfrm>
            <a:off x="8092440" y="1783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3" name="Google Shape;220;p9"/>
          <p:cNvSpPr/>
          <p:nvPr/>
        </p:nvSpPr>
        <p:spPr>
          <a:xfrm>
            <a:off x="8568000" y="1792080"/>
            <a:ext cx="311724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터미널로 돌아와 </a:t>
            </a: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4" name="Google Shape;221;p9"/>
          <p:cNvSpPr/>
          <p:nvPr/>
        </p:nvSpPr>
        <p:spPr>
          <a:xfrm>
            <a:off x="8568000" y="2121480"/>
            <a:ext cx="31172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Logged in as </a:t>
            </a:r>
            <a:r>
              <a:rPr lang="ko-KR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회사계정 </a:t>
            </a: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· Login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successful </a:t>
            </a:r>
            <a:r>
              <a:rPr lang="ko-KR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확인 후 </a:t>
            </a: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r>
              <a:rPr lang="ko-KR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누릅니다</a:t>
            </a:r>
            <a:r>
              <a:rPr lang="en-US" sz="10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5" name="Google Shape;222;p9"/>
          <p:cNvSpPr/>
          <p:nvPr/>
        </p:nvSpPr>
        <p:spPr>
          <a:xfrm>
            <a:off x="8083440" y="2834640"/>
            <a:ext cx="3611160" cy="86904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Google Shape;223;p9" descr="shots/login5.png"/>
          <p:cNvPicPr/>
          <p:nvPr/>
        </p:nvPicPr>
        <p:blipFill>
          <a:blip r:embed="rId5"/>
          <a:stretch/>
        </p:blipFill>
        <p:spPr>
          <a:xfrm>
            <a:off x="8129160" y="2880360"/>
            <a:ext cx="3519720" cy="77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Google Shape;224;p9"/>
          <p:cNvSpPr/>
          <p:nvPr/>
        </p:nvSpPr>
        <p:spPr>
          <a:xfrm>
            <a:off x="502920" y="5897880"/>
            <a:ext cx="11182320" cy="547920"/>
          </a:xfrm>
          <a:prstGeom prst="roundRect">
            <a:avLst>
              <a:gd name="adj" fmla="val 13333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Google Shape;225;p9" descr="preencoded.png"/>
          <p:cNvPicPr/>
          <p:nvPr/>
        </p:nvPicPr>
        <p:blipFill>
          <a:blip r:embed="rId6"/>
          <a:stretch/>
        </p:blipFill>
        <p:spPr>
          <a:xfrm>
            <a:off x="704160" y="60440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Google Shape;226;p9"/>
          <p:cNvSpPr/>
          <p:nvPr/>
        </p:nvSpPr>
        <p:spPr>
          <a:xfrm>
            <a:off x="1069920" y="5897880"/>
            <a:ext cx="104324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한 번 로그인하면 자격 증명이 저장되어 </a:t>
            </a:r>
            <a:r>
              <a:rPr lang="ko-KR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다시 로그인할 필요가 없습니다</a:t>
            </a:r>
            <a:r>
              <a:rPr lang="en-US" sz="11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다음부터는 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만 입력하면 바로 시작됩니다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0" name="Google Shape;227;p9"/>
          <p:cNvSpPr/>
          <p:nvPr/>
        </p:nvSpPr>
        <p:spPr>
          <a:xfrm>
            <a:off x="502920" y="6510600"/>
            <a:ext cx="111549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막히면</a:t>
            </a: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? 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브라우저가 안 열리면 터미널에 표시된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URL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을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(c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키로 복사해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)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주소창에 붙여넣으세요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잘못 선택했다면 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Esc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누른 뒤 </a:t>
            </a: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/login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으로 언제든 다시 시작할 수 있습니다</a:t>
            </a:r>
            <a:r>
              <a:rPr lang="en-US" sz="11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233;p10"/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234;p10"/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3" name="Google Shape;235;p10"/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연동 — 플러그인 설치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4" name="Google Shape;236;p10"/>
          <p:cNvSpPr/>
          <p:nvPr/>
        </p:nvSpPr>
        <p:spPr>
          <a:xfrm>
            <a:off x="502920" y="178308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237;p10"/>
          <p:cNvSpPr/>
          <p:nvPr/>
        </p:nvSpPr>
        <p:spPr>
          <a:xfrm>
            <a:off x="502920" y="1783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6" name="Google Shape;238;p10"/>
          <p:cNvSpPr/>
          <p:nvPr/>
        </p:nvSpPr>
        <p:spPr>
          <a:xfrm>
            <a:off x="978480" y="179208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설정 창 열기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7" name="Google Shape;239;p10"/>
          <p:cNvSpPr/>
          <p:nvPr/>
        </p:nvSpPr>
        <p:spPr>
          <a:xfrm>
            <a:off x="978480" y="2112120"/>
            <a:ext cx="30898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메뉴에서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File → Settings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(macOS: IntelliJ IDEA → Settings)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8" name="Google Shape;240;p10"/>
          <p:cNvSpPr/>
          <p:nvPr/>
        </p:nvSpPr>
        <p:spPr>
          <a:xfrm>
            <a:off x="502920" y="2651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241;p10"/>
          <p:cNvSpPr/>
          <p:nvPr/>
        </p:nvSpPr>
        <p:spPr>
          <a:xfrm>
            <a:off x="502920" y="2651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0" name="Google Shape;242;p10"/>
          <p:cNvSpPr/>
          <p:nvPr/>
        </p:nvSpPr>
        <p:spPr>
          <a:xfrm>
            <a:off x="978480" y="266076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Plugins </a:t>
            </a: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에서 검색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1" name="Google Shape;243;p10"/>
          <p:cNvSpPr/>
          <p:nvPr/>
        </p:nvSpPr>
        <p:spPr>
          <a:xfrm>
            <a:off x="978480" y="2980800"/>
            <a:ext cx="30898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왼쪽 목록에서 “플러그인”을 누르고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검색창에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code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입력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2" name="Google Shape;244;p10"/>
          <p:cNvSpPr/>
          <p:nvPr/>
        </p:nvSpPr>
        <p:spPr>
          <a:xfrm>
            <a:off x="502920" y="352044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245;p10"/>
          <p:cNvSpPr/>
          <p:nvPr/>
        </p:nvSpPr>
        <p:spPr>
          <a:xfrm>
            <a:off x="502920" y="35204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4" name="Google Shape;246;p10"/>
          <p:cNvSpPr/>
          <p:nvPr/>
        </p:nvSpPr>
        <p:spPr>
          <a:xfrm>
            <a:off x="978480" y="352944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설치 후 재시작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5" name="Google Shape;247;p10"/>
          <p:cNvSpPr/>
          <p:nvPr/>
        </p:nvSpPr>
        <p:spPr>
          <a:xfrm>
            <a:off x="978480" y="3849480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Anthropic PBC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가 만든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Code [Beta]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의 “설치”를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누르고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IDE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재시작합니다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6" name="Google Shape;248;p10"/>
          <p:cNvSpPr/>
          <p:nvPr/>
        </p:nvSpPr>
        <p:spPr>
          <a:xfrm>
            <a:off x="502920" y="4709160"/>
            <a:ext cx="3565440" cy="1188000"/>
          </a:xfrm>
          <a:prstGeom prst="roundRect">
            <a:avLst>
              <a:gd name="adj" fmla="val 6154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7" name="Google Shape;249;p10" descr="preencoded.png"/>
          <p:cNvPicPr/>
          <p:nvPr/>
        </p:nvPicPr>
        <p:blipFill>
          <a:blip r:embed="rId3"/>
          <a:stretch/>
        </p:blipFill>
        <p:spPr>
          <a:xfrm>
            <a:off x="704160" y="517536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Google Shape;250;p10"/>
          <p:cNvSpPr/>
          <p:nvPr/>
        </p:nvSpPr>
        <p:spPr>
          <a:xfrm>
            <a:off x="1069920" y="4709160"/>
            <a:ext cx="2815560" cy="11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비슷한 이름의 플러그인이 많습니다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제작사가 </a:t>
            </a:r>
            <a:r>
              <a:rPr lang="en-US" sz="115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Anthropic PBC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인 것을 설치하세요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9" name="Google Shape;251;p10"/>
          <p:cNvSpPr/>
          <p:nvPr/>
        </p:nvSpPr>
        <p:spPr>
          <a:xfrm>
            <a:off x="4434840" y="1554480"/>
            <a:ext cx="6765120" cy="493704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Google Shape;252;p10" descr="shots/intellij1.png"/>
          <p:cNvPicPr/>
          <p:nvPr/>
        </p:nvPicPr>
        <p:blipFill>
          <a:blip r:embed="rId4"/>
          <a:stretch/>
        </p:blipFill>
        <p:spPr>
          <a:xfrm>
            <a:off x="4480560" y="1600200"/>
            <a:ext cx="6673680" cy="4845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258;p11"/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259;p11"/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3" name="Google Shape;260;p11"/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300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연동 — 실행 확인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4" name="Google Shape;261;p11"/>
          <p:cNvSpPr/>
          <p:nvPr/>
        </p:nvSpPr>
        <p:spPr>
          <a:xfrm>
            <a:off x="502920" y="178308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262;p11"/>
          <p:cNvSpPr/>
          <p:nvPr/>
        </p:nvSpPr>
        <p:spPr>
          <a:xfrm>
            <a:off x="502920" y="1783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Google Shape;263;p11"/>
          <p:cNvSpPr/>
          <p:nvPr/>
        </p:nvSpPr>
        <p:spPr>
          <a:xfrm>
            <a:off x="978480" y="179208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아이콘 클릭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7" name="Google Shape;264;p11"/>
          <p:cNvSpPr/>
          <p:nvPr/>
        </p:nvSpPr>
        <p:spPr>
          <a:xfrm>
            <a:off x="978480" y="2112120"/>
            <a:ext cx="30898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재시작 후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IDE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화면 상단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우측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생긴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아이콘을 누릅니다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8" name="Google Shape;265;p11"/>
          <p:cNvSpPr/>
          <p:nvPr/>
        </p:nvSpPr>
        <p:spPr>
          <a:xfrm>
            <a:off x="502920" y="2651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266;p11"/>
          <p:cNvSpPr/>
          <p:nvPr/>
        </p:nvSpPr>
        <p:spPr>
          <a:xfrm>
            <a:off x="502920" y="2651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Google Shape;267;p11"/>
          <p:cNvSpPr/>
          <p:nvPr/>
        </p:nvSpPr>
        <p:spPr>
          <a:xfrm>
            <a:off x="978480" y="266076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터미널 탭 자동 실행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1" name="Google Shape;268;p11"/>
          <p:cNvSpPr/>
          <p:nvPr/>
        </p:nvSpPr>
        <p:spPr>
          <a:xfrm>
            <a:off x="978480" y="2980800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하단에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Claude Code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탭이 열리고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자동으로 실행됩니다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앞에서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로그인했다면 바로 사용 가능합니다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2" name="Google Shape;269;p11"/>
          <p:cNvSpPr/>
          <p:nvPr/>
        </p:nvSpPr>
        <p:spPr>
          <a:xfrm>
            <a:off x="502920" y="3840480"/>
            <a:ext cx="3565440" cy="1142280"/>
          </a:xfrm>
          <a:prstGeom prst="roundRect">
            <a:avLst>
              <a:gd name="adj" fmla="val 64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Google Shape;270;p11" descr="preencoded.png"/>
          <p:cNvPicPr/>
          <p:nvPr/>
        </p:nvPicPr>
        <p:blipFill>
          <a:blip r:embed="rId3"/>
          <a:stretch/>
        </p:blipFill>
        <p:spPr>
          <a:xfrm>
            <a:off x="704160" y="4284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Google Shape;271;p11"/>
          <p:cNvSpPr/>
          <p:nvPr/>
        </p:nvSpPr>
        <p:spPr>
          <a:xfrm>
            <a:off x="1069920" y="3840480"/>
            <a:ext cx="281556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오른쪽처럼 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Claude Code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배너와 입력창이 보이면 연동 완료입니다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이후 작업은 모두 이 창에서 진행합니다</a:t>
            </a:r>
            <a:r>
              <a:rPr lang="en-US" sz="1150" b="0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5" name="Google Shape;272;p11"/>
          <p:cNvSpPr/>
          <p:nvPr/>
        </p:nvSpPr>
        <p:spPr>
          <a:xfrm>
            <a:off x="4160520" y="1554480"/>
            <a:ext cx="7553160" cy="493704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Google Shape;273;p11" descr="shots/intellij2.png"/>
          <p:cNvPicPr/>
          <p:nvPr/>
        </p:nvPicPr>
        <p:blipFill>
          <a:blip r:embed="rId4"/>
          <a:stretch/>
        </p:blipFill>
        <p:spPr>
          <a:xfrm>
            <a:off x="4206240" y="1600200"/>
            <a:ext cx="7461720" cy="4845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10EE-4AE5-0499-1823-95C1BCBE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08;p6">
            <a:extLst>
              <a:ext uri="{FF2B5EF4-FFF2-40B4-BE49-F238E27FC236}">
                <a16:creationId xmlns:a16="http://schemas.microsoft.com/office/drawing/2014/main" id="{4A4F8E96-553B-DF27-508C-1DC725D488FE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109;p6">
            <a:extLst>
              <a:ext uri="{FF2B5EF4-FFF2-40B4-BE49-F238E27FC236}">
                <a16:creationId xmlns:a16="http://schemas.microsoft.com/office/drawing/2014/main" id="{E6427323-3154-D606-9D3B-EC739AE8CF9F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Google Shape;110;p6">
            <a:extLst>
              <a:ext uri="{FF2B5EF4-FFF2-40B4-BE49-F238E27FC236}">
                <a16:creationId xmlns:a16="http://schemas.microsoft.com/office/drawing/2014/main" id="{5ACF7D89-AD35-D566-FEB7-4EC6BE9B0954}"/>
              </a:ext>
            </a:extLst>
          </p:cNvPr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4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de-DE" sz="3000" b="1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Codex</a:t>
            </a:r>
            <a:r>
              <a:rPr lang="en-US" sz="3000" b="1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sz="3000" b="1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Google Shape;111;p6">
            <a:extLst>
              <a:ext uri="{FF2B5EF4-FFF2-40B4-BE49-F238E27FC236}">
                <a16:creationId xmlns:a16="http://schemas.microsoft.com/office/drawing/2014/main" id="{11753BCC-223A-F514-41C3-379816AD87FA}"/>
              </a:ext>
            </a:extLst>
          </p:cNvPr>
          <p:cNvSpPr/>
          <p:nvPr/>
        </p:nvSpPr>
        <p:spPr>
          <a:xfrm>
            <a:off x="1298520" y="11156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내 환경에 맞는 카드 하나를 골라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명령어를 통째로 복사해 터미널에 붙여넣고 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Enter</a:t>
            </a:r>
            <a:r>
              <a:rPr lang="ko-KR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누르세요</a:t>
            </a:r>
            <a:r>
              <a:rPr lang="en-US" sz="130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Google Shape;112;p6">
            <a:extLst>
              <a:ext uri="{FF2B5EF4-FFF2-40B4-BE49-F238E27FC236}">
                <a16:creationId xmlns:a16="http://schemas.microsoft.com/office/drawing/2014/main" id="{A8D5DB92-991B-26A0-02A0-5970AAC165A3}"/>
              </a:ext>
            </a:extLst>
          </p:cNvPr>
          <p:cNvSpPr/>
          <p:nvPr/>
        </p:nvSpPr>
        <p:spPr>
          <a:xfrm>
            <a:off x="502920" y="1874520"/>
            <a:ext cx="3638520" cy="361116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113;p6">
            <a:extLst>
              <a:ext uri="{FF2B5EF4-FFF2-40B4-BE49-F238E27FC236}">
                <a16:creationId xmlns:a16="http://schemas.microsoft.com/office/drawing/2014/main" id="{CE50E5A8-D89F-AC4B-F543-2E4842283E53}"/>
              </a:ext>
            </a:extLst>
          </p:cNvPr>
          <p:cNvSpPr/>
          <p:nvPr/>
        </p:nvSpPr>
        <p:spPr>
          <a:xfrm>
            <a:off x="777240" y="213048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macOS · Linux · WSL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Google Shape;114;p6">
            <a:extLst>
              <a:ext uri="{FF2B5EF4-FFF2-40B4-BE49-F238E27FC236}">
                <a16:creationId xmlns:a16="http://schemas.microsoft.com/office/drawing/2014/main" id="{4ACAFE1D-0478-9DFD-BA0D-E193A0524C12}"/>
              </a:ext>
            </a:extLst>
          </p:cNvPr>
          <p:cNvSpPr/>
          <p:nvPr/>
        </p:nvSpPr>
        <p:spPr>
          <a:xfrm>
            <a:off x="777240" y="2532960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Mac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이나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Linux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를 쓴다면 이 명령어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Google Shape;115;p6">
            <a:extLst>
              <a:ext uri="{FF2B5EF4-FFF2-40B4-BE49-F238E27FC236}">
                <a16:creationId xmlns:a16="http://schemas.microsoft.com/office/drawing/2014/main" id="{6FA4024F-A5BD-6352-F565-EABABF351C24}"/>
              </a:ext>
            </a:extLst>
          </p:cNvPr>
          <p:cNvSpPr/>
          <p:nvPr/>
        </p:nvSpPr>
        <p:spPr>
          <a:xfrm>
            <a:off x="777240" y="3246120"/>
            <a:ext cx="3089880" cy="191952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 w="0">
            <a:noFill/>
          </a:ln>
          <a:effectLst>
            <a:outerShdw blurRad="127080" dist="25560" dir="54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116;p6">
            <a:extLst>
              <a:ext uri="{FF2B5EF4-FFF2-40B4-BE49-F238E27FC236}">
                <a16:creationId xmlns:a16="http://schemas.microsoft.com/office/drawing/2014/main" id="{A8228BDE-A221-4A34-822B-D87EC19B7BEA}"/>
              </a:ext>
            </a:extLst>
          </p:cNvPr>
          <p:cNvSpPr/>
          <p:nvPr/>
        </p:nvSpPr>
        <p:spPr>
          <a:xfrm>
            <a:off x="978480" y="342900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117;p6">
            <a:extLst>
              <a:ext uri="{FF2B5EF4-FFF2-40B4-BE49-F238E27FC236}">
                <a16:creationId xmlns:a16="http://schemas.microsoft.com/office/drawing/2014/main" id="{31F2ACC8-E8D2-F618-4582-ED2458BC6480}"/>
              </a:ext>
            </a:extLst>
          </p:cNvPr>
          <p:cNvSpPr/>
          <p:nvPr/>
        </p:nvSpPr>
        <p:spPr>
          <a:xfrm>
            <a:off x="1179720" y="342900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118;p6">
            <a:extLst>
              <a:ext uri="{FF2B5EF4-FFF2-40B4-BE49-F238E27FC236}">
                <a16:creationId xmlns:a16="http://schemas.microsoft.com/office/drawing/2014/main" id="{43BF8DCD-8DE2-A9C7-4D70-BC2F160A1778}"/>
              </a:ext>
            </a:extLst>
          </p:cNvPr>
          <p:cNvSpPr/>
          <p:nvPr/>
        </p:nvSpPr>
        <p:spPr>
          <a:xfrm>
            <a:off x="1380600" y="342900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119;p6">
            <a:extLst>
              <a:ext uri="{FF2B5EF4-FFF2-40B4-BE49-F238E27FC236}">
                <a16:creationId xmlns:a16="http://schemas.microsoft.com/office/drawing/2014/main" id="{9D71A5AB-C9CD-E88C-E7AA-8DB7B6010462}"/>
              </a:ext>
            </a:extLst>
          </p:cNvPr>
          <p:cNvSpPr/>
          <p:nvPr/>
        </p:nvSpPr>
        <p:spPr>
          <a:xfrm>
            <a:off x="1033200" y="3630240"/>
            <a:ext cx="2577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150" dirty="0">
                <a:solidFill>
                  <a:srgbClr val="E8E3DB"/>
                </a:solidFill>
                <a:latin typeface="Courier New"/>
                <a:ea typeface="Courier New"/>
              </a:rPr>
              <a:t>curl -</a:t>
            </a:r>
            <a:r>
              <a:rPr lang="en-US" sz="1150" dirty="0" err="1">
                <a:solidFill>
                  <a:srgbClr val="E8E3DB"/>
                </a:solidFill>
                <a:latin typeface="Courier New"/>
                <a:ea typeface="Courier New"/>
              </a:rPr>
              <a:t>fsSL</a:t>
            </a:r>
            <a:r>
              <a:rPr lang="en-US" sz="1150" dirty="0">
                <a:solidFill>
                  <a:srgbClr val="E8E3DB"/>
                </a:solidFill>
                <a:latin typeface="Courier New"/>
                <a:ea typeface="Courier New"/>
              </a:rPr>
              <a:t> https://chatgpt.com/codex/install.sh | </a:t>
            </a:r>
            <a:r>
              <a:rPr lang="en-US" sz="1150" dirty="0" err="1">
                <a:solidFill>
                  <a:srgbClr val="E8E3DB"/>
                </a:solidFill>
                <a:latin typeface="Courier New"/>
                <a:ea typeface="Courier New"/>
              </a:rPr>
              <a:t>sh</a:t>
            </a:r>
            <a:endParaRPr lang="en-US" sz="1150" dirty="0">
              <a:solidFill>
                <a:srgbClr val="E8E3DB"/>
              </a:solidFill>
              <a:latin typeface="Courier New"/>
              <a:ea typeface="Courier New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Google Shape;120;p6">
            <a:extLst>
              <a:ext uri="{FF2B5EF4-FFF2-40B4-BE49-F238E27FC236}">
                <a16:creationId xmlns:a16="http://schemas.microsoft.com/office/drawing/2014/main" id="{083229AD-B0E6-FA44-5E74-49C9B54396BC}"/>
              </a:ext>
            </a:extLst>
          </p:cNvPr>
          <p:cNvSpPr/>
          <p:nvPr/>
        </p:nvSpPr>
        <p:spPr>
          <a:xfrm>
            <a:off x="4288680" y="1874520"/>
            <a:ext cx="3638520" cy="361116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121;p6">
            <a:extLst>
              <a:ext uri="{FF2B5EF4-FFF2-40B4-BE49-F238E27FC236}">
                <a16:creationId xmlns:a16="http://schemas.microsoft.com/office/drawing/2014/main" id="{73D14664-2228-66B4-E9EE-45CBA6CC56F7}"/>
              </a:ext>
            </a:extLst>
          </p:cNvPr>
          <p:cNvSpPr/>
          <p:nvPr/>
        </p:nvSpPr>
        <p:spPr>
          <a:xfrm>
            <a:off x="4563000" y="213048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Windows PowerShell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Google Shape;122;p6">
            <a:extLst>
              <a:ext uri="{FF2B5EF4-FFF2-40B4-BE49-F238E27FC236}">
                <a16:creationId xmlns:a16="http://schemas.microsoft.com/office/drawing/2014/main" id="{FE67A6F1-9543-49A9-01BD-9BE3EFEC6A5D}"/>
              </a:ext>
            </a:extLst>
          </p:cNvPr>
          <p:cNvSpPr/>
          <p:nvPr/>
        </p:nvSpPr>
        <p:spPr>
          <a:xfrm>
            <a:off x="4563000" y="2532960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Windows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라면 이 명령어 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권장</a:t>
            </a:r>
            <a:r>
              <a:rPr lang="en-US" sz="1150" b="0" u="none" strike="noStrike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Google Shape;123;p6">
            <a:extLst>
              <a:ext uri="{FF2B5EF4-FFF2-40B4-BE49-F238E27FC236}">
                <a16:creationId xmlns:a16="http://schemas.microsoft.com/office/drawing/2014/main" id="{F358F05F-D0EB-CC49-DEAA-EFBEF781D46C}"/>
              </a:ext>
            </a:extLst>
          </p:cNvPr>
          <p:cNvSpPr/>
          <p:nvPr/>
        </p:nvSpPr>
        <p:spPr>
          <a:xfrm>
            <a:off x="4563000" y="3246120"/>
            <a:ext cx="3089880" cy="191952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 w="0">
            <a:noFill/>
          </a:ln>
          <a:effectLst>
            <a:outerShdw blurRad="127080" dist="25560" dir="54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124;p6">
            <a:extLst>
              <a:ext uri="{FF2B5EF4-FFF2-40B4-BE49-F238E27FC236}">
                <a16:creationId xmlns:a16="http://schemas.microsoft.com/office/drawing/2014/main" id="{B05A1663-5897-142A-35AA-B1E07F70303A}"/>
              </a:ext>
            </a:extLst>
          </p:cNvPr>
          <p:cNvSpPr/>
          <p:nvPr/>
        </p:nvSpPr>
        <p:spPr>
          <a:xfrm>
            <a:off x="4763880" y="342900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125;p6">
            <a:extLst>
              <a:ext uri="{FF2B5EF4-FFF2-40B4-BE49-F238E27FC236}">
                <a16:creationId xmlns:a16="http://schemas.microsoft.com/office/drawing/2014/main" id="{EFA63880-491B-2F18-63AA-F18F5643DAE5}"/>
              </a:ext>
            </a:extLst>
          </p:cNvPr>
          <p:cNvSpPr/>
          <p:nvPr/>
        </p:nvSpPr>
        <p:spPr>
          <a:xfrm>
            <a:off x="4965120" y="342900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126;p6">
            <a:extLst>
              <a:ext uri="{FF2B5EF4-FFF2-40B4-BE49-F238E27FC236}">
                <a16:creationId xmlns:a16="http://schemas.microsoft.com/office/drawing/2014/main" id="{4781A6D3-0A78-5828-DDCF-9E696F03C19B}"/>
              </a:ext>
            </a:extLst>
          </p:cNvPr>
          <p:cNvSpPr/>
          <p:nvPr/>
        </p:nvSpPr>
        <p:spPr>
          <a:xfrm>
            <a:off x="5166360" y="342900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127;p6">
            <a:extLst>
              <a:ext uri="{FF2B5EF4-FFF2-40B4-BE49-F238E27FC236}">
                <a16:creationId xmlns:a16="http://schemas.microsoft.com/office/drawing/2014/main" id="{B91748F3-CABA-4A7B-ECAD-C89A0D67F73E}"/>
              </a:ext>
            </a:extLst>
          </p:cNvPr>
          <p:cNvSpPr/>
          <p:nvPr/>
        </p:nvSpPr>
        <p:spPr>
          <a:xfrm>
            <a:off x="4818960" y="3630240"/>
            <a:ext cx="2577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PS&gt; </a:t>
            </a:r>
            <a:r>
              <a:rPr lang="de-DE" sz="1150" dirty="0" err="1">
                <a:solidFill>
                  <a:schemeClr val="bg1"/>
                </a:solidFill>
              </a:rPr>
              <a:t>powershell</a:t>
            </a:r>
            <a:r>
              <a:rPr lang="de-DE" sz="1150" dirty="0">
                <a:solidFill>
                  <a:schemeClr val="bg1"/>
                </a:solidFill>
              </a:rPr>
              <a:t> -</a:t>
            </a:r>
            <a:r>
              <a:rPr lang="de-DE" sz="1150" dirty="0" err="1">
                <a:solidFill>
                  <a:schemeClr val="bg1"/>
                </a:solidFill>
              </a:rPr>
              <a:t>ExecutionPolicy</a:t>
            </a:r>
            <a:r>
              <a:rPr lang="de-DE" sz="1150" dirty="0">
                <a:solidFill>
                  <a:schemeClr val="bg1"/>
                </a:solidFill>
              </a:rPr>
              <a:t> </a:t>
            </a:r>
            <a:r>
              <a:rPr lang="de-DE" sz="1150" dirty="0" err="1">
                <a:solidFill>
                  <a:schemeClr val="bg1"/>
                </a:solidFill>
              </a:rPr>
              <a:t>ByPass</a:t>
            </a:r>
            <a:r>
              <a:rPr lang="de-DE" sz="1150" dirty="0">
                <a:solidFill>
                  <a:schemeClr val="bg1"/>
                </a:solidFill>
              </a:rPr>
              <a:t> -c "</a:t>
            </a:r>
            <a:r>
              <a:rPr lang="de-DE" sz="1150" dirty="0" err="1">
                <a:solidFill>
                  <a:schemeClr val="bg1"/>
                </a:solidFill>
              </a:rPr>
              <a:t>irm</a:t>
            </a:r>
            <a:r>
              <a:rPr lang="de-DE" sz="1150" dirty="0">
                <a:solidFill>
                  <a:schemeClr val="bg1"/>
                </a:solidFill>
              </a:rPr>
              <a:t> https://chatgpt.com/codex/install.ps1 | </a:t>
            </a:r>
            <a:r>
              <a:rPr lang="de-DE" sz="1150" dirty="0" err="1">
                <a:solidFill>
                  <a:schemeClr val="bg1"/>
                </a:solidFill>
              </a:rPr>
              <a:t>iex</a:t>
            </a:r>
            <a:r>
              <a:rPr lang="de-DE" sz="1150" dirty="0">
                <a:solidFill>
                  <a:schemeClr val="bg1"/>
                </a:solidFill>
              </a:rPr>
              <a:t>"</a:t>
            </a:r>
            <a:endParaRPr lang="en-US" sz="1150" b="0" u="none" strike="noStrike" dirty="0">
              <a:solidFill>
                <a:schemeClr val="bg1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Google Shape;128;p6">
            <a:extLst>
              <a:ext uri="{FF2B5EF4-FFF2-40B4-BE49-F238E27FC236}">
                <a16:creationId xmlns:a16="http://schemas.microsoft.com/office/drawing/2014/main" id="{6C95635C-F6D4-3FDF-D670-FE6F644BBC78}"/>
              </a:ext>
            </a:extLst>
          </p:cNvPr>
          <p:cNvSpPr/>
          <p:nvPr/>
        </p:nvSpPr>
        <p:spPr>
          <a:xfrm>
            <a:off x="8074080" y="1874520"/>
            <a:ext cx="3638520" cy="361116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129;p6">
            <a:extLst>
              <a:ext uri="{FF2B5EF4-FFF2-40B4-BE49-F238E27FC236}">
                <a16:creationId xmlns:a16="http://schemas.microsoft.com/office/drawing/2014/main" id="{5C4037C6-C028-4FD7-3ACC-43B0B93404E4}"/>
              </a:ext>
            </a:extLst>
          </p:cNvPr>
          <p:cNvSpPr/>
          <p:nvPr/>
        </p:nvSpPr>
        <p:spPr>
          <a:xfrm>
            <a:off x="8348400" y="213048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altLang="de-DE" sz="1650" b="1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패키지 매니저</a:t>
            </a:r>
            <a:endParaRPr lang="en-US" sz="16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Google Shape;130;p6">
            <a:extLst>
              <a:ext uri="{FF2B5EF4-FFF2-40B4-BE49-F238E27FC236}">
                <a16:creationId xmlns:a16="http://schemas.microsoft.com/office/drawing/2014/main" id="{ECCE93FF-3BFA-20E9-ED0D-76086C571C7D}"/>
              </a:ext>
            </a:extLst>
          </p:cNvPr>
          <p:cNvSpPr/>
          <p:nvPr/>
        </p:nvSpPr>
        <p:spPr>
          <a:xfrm>
            <a:off x="8348400" y="2532960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de-DE" sz="1150" b="0" u="none" strike="noStrike" dirty="0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이미 개발 도구가 깔려 있다면 이 방법도 좋음</a:t>
            </a:r>
            <a:endParaRPr lang="de-DE" altLang="ko-KR" sz="1150" b="0" u="none" strike="noStrike" dirty="0">
              <a:solidFill>
                <a:srgbClr val="7A746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25" name="Google Shape;131;p6">
            <a:extLst>
              <a:ext uri="{FF2B5EF4-FFF2-40B4-BE49-F238E27FC236}">
                <a16:creationId xmlns:a16="http://schemas.microsoft.com/office/drawing/2014/main" id="{E34F2923-FF57-0058-20F0-BBADBE19B0CA}"/>
              </a:ext>
            </a:extLst>
          </p:cNvPr>
          <p:cNvSpPr/>
          <p:nvPr/>
        </p:nvSpPr>
        <p:spPr>
          <a:xfrm>
            <a:off x="8348400" y="3246120"/>
            <a:ext cx="3089880" cy="90297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 w="0">
            <a:noFill/>
          </a:ln>
          <a:effectLst>
            <a:outerShdw blurRad="127080" dist="25560" dir="54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132;p6">
            <a:extLst>
              <a:ext uri="{FF2B5EF4-FFF2-40B4-BE49-F238E27FC236}">
                <a16:creationId xmlns:a16="http://schemas.microsoft.com/office/drawing/2014/main" id="{480905D2-30F6-4C9C-32BE-018D6B511C91}"/>
              </a:ext>
            </a:extLst>
          </p:cNvPr>
          <p:cNvSpPr/>
          <p:nvPr/>
        </p:nvSpPr>
        <p:spPr>
          <a:xfrm>
            <a:off x="8549640" y="342900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133;p6">
            <a:extLst>
              <a:ext uri="{FF2B5EF4-FFF2-40B4-BE49-F238E27FC236}">
                <a16:creationId xmlns:a16="http://schemas.microsoft.com/office/drawing/2014/main" id="{2FA92697-1CE9-AFB9-D4D1-9FED741468D7}"/>
              </a:ext>
            </a:extLst>
          </p:cNvPr>
          <p:cNvSpPr/>
          <p:nvPr/>
        </p:nvSpPr>
        <p:spPr>
          <a:xfrm>
            <a:off x="8750880" y="342900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134;p6">
            <a:extLst>
              <a:ext uri="{FF2B5EF4-FFF2-40B4-BE49-F238E27FC236}">
                <a16:creationId xmlns:a16="http://schemas.microsoft.com/office/drawing/2014/main" id="{132726D6-C1BA-9C39-0F0B-9EF0D6DDDDD1}"/>
              </a:ext>
            </a:extLst>
          </p:cNvPr>
          <p:cNvSpPr/>
          <p:nvPr/>
        </p:nvSpPr>
        <p:spPr>
          <a:xfrm>
            <a:off x="8952120" y="342900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135;p6">
            <a:extLst>
              <a:ext uri="{FF2B5EF4-FFF2-40B4-BE49-F238E27FC236}">
                <a16:creationId xmlns:a16="http://schemas.microsoft.com/office/drawing/2014/main" id="{976B330B-B51A-B33D-505A-60DED8AE775C}"/>
              </a:ext>
            </a:extLst>
          </p:cNvPr>
          <p:cNvSpPr/>
          <p:nvPr/>
        </p:nvSpPr>
        <p:spPr>
          <a:xfrm>
            <a:off x="8604360" y="3630240"/>
            <a:ext cx="2810400" cy="4191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&gt; </a:t>
            </a:r>
            <a:r>
              <a:rPr lang="en-US" sz="1150" dirty="0" err="1">
                <a:solidFill>
                  <a:srgbClr val="E8E3DB"/>
                </a:solidFill>
                <a:latin typeface="Courier New"/>
                <a:ea typeface="Courier New"/>
              </a:rPr>
              <a:t>npm</a:t>
            </a:r>
            <a:r>
              <a:rPr lang="en-US" sz="1150" dirty="0">
                <a:solidFill>
                  <a:srgbClr val="E8E3DB"/>
                </a:solidFill>
                <a:latin typeface="Courier New"/>
                <a:ea typeface="Courier New"/>
              </a:rPr>
              <a:t> install -g @openai/codex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Google Shape;136;p6">
            <a:extLst>
              <a:ext uri="{FF2B5EF4-FFF2-40B4-BE49-F238E27FC236}">
                <a16:creationId xmlns:a16="http://schemas.microsoft.com/office/drawing/2014/main" id="{0419C8B0-5B7D-905C-3FE5-C21F073E50A9}"/>
              </a:ext>
            </a:extLst>
          </p:cNvPr>
          <p:cNvSpPr/>
          <p:nvPr/>
        </p:nvSpPr>
        <p:spPr>
          <a:xfrm>
            <a:off x="502920" y="5715000"/>
            <a:ext cx="11182320" cy="776520"/>
          </a:xfrm>
          <a:prstGeom prst="roundRect">
            <a:avLst>
              <a:gd name="adj" fmla="val 9412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Google Shape;137;p6" descr="preencoded.png">
            <a:extLst>
              <a:ext uri="{FF2B5EF4-FFF2-40B4-BE49-F238E27FC236}">
                <a16:creationId xmlns:a16="http://schemas.microsoft.com/office/drawing/2014/main" id="{ABF88697-D3A0-9E74-6112-5E4586BA6AC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04160" y="59756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Google Shape;138;p6">
            <a:extLst>
              <a:ext uri="{FF2B5EF4-FFF2-40B4-BE49-F238E27FC236}">
                <a16:creationId xmlns:a16="http://schemas.microsoft.com/office/drawing/2014/main" id="{B80DA543-282C-2F67-D00E-A9C2FC984175}"/>
              </a:ext>
            </a:extLst>
          </p:cNvPr>
          <p:cNvSpPr/>
          <p:nvPr/>
        </p:nvSpPr>
        <p:spPr>
          <a:xfrm>
            <a:off x="1069920" y="5715000"/>
            <a:ext cx="104324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설치가 끝나면 터미널을 완전히 닫았다가 새로 연 뒤  </a:t>
            </a:r>
            <a:r>
              <a:rPr lang="en-US" altLang="ko-KR" sz="1150" b="1" dirty="0">
                <a:solidFill>
                  <a:srgbClr val="D97757"/>
                </a:solidFill>
                <a:latin typeface="Courier New"/>
                <a:ea typeface="Malgun Gothic"/>
              </a:rPr>
              <a:t>codex</a:t>
            </a:r>
            <a:r>
              <a:rPr lang="en-US" sz="1150" b="1" u="none" strike="noStrike" dirty="0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 --version</a:t>
            </a:r>
            <a:r>
              <a:rPr lang="en-US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 </a:t>
            </a:r>
            <a:r>
              <a:rPr lang="ko-KR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을 입력해 보세요</a:t>
            </a:r>
            <a:r>
              <a:rPr lang="en-US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버전 번호</a:t>
            </a:r>
            <a:r>
              <a:rPr lang="en-US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예</a:t>
            </a:r>
            <a:r>
              <a:rPr lang="en-US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en-US" sz="1150" dirty="0">
                <a:solidFill>
                  <a:srgbClr val="33302B"/>
                </a:solidFill>
                <a:latin typeface="Malgun Gothic"/>
                <a:ea typeface="Malgun Gothic"/>
              </a:rPr>
              <a:t>codex-cli 0.149.1</a:t>
            </a:r>
            <a:r>
              <a:rPr lang="en-US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r>
              <a:rPr lang="ko-KR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가 나오면 성공입니다</a:t>
            </a:r>
            <a:r>
              <a:rPr lang="en-US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 “</a:t>
            </a:r>
            <a:r>
              <a:rPr lang="ko-KR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명령을 찾을 수 없음”이 나오면 터미널을 다시 열어 재시도하세요</a:t>
            </a:r>
            <a:r>
              <a:rPr lang="en-US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" name="Google Shape;131;p6">
            <a:extLst>
              <a:ext uri="{FF2B5EF4-FFF2-40B4-BE49-F238E27FC236}">
                <a16:creationId xmlns:a16="http://schemas.microsoft.com/office/drawing/2014/main" id="{0FBB6537-9EC6-D022-6875-2707877EACAD}"/>
              </a:ext>
            </a:extLst>
          </p:cNvPr>
          <p:cNvSpPr/>
          <p:nvPr/>
        </p:nvSpPr>
        <p:spPr>
          <a:xfrm>
            <a:off x="8348400" y="4491990"/>
            <a:ext cx="3089880" cy="90297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 w="0">
            <a:noFill/>
          </a:ln>
          <a:effectLst>
            <a:outerShdw blurRad="127080" dist="25560" dir="54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135;p6">
            <a:extLst>
              <a:ext uri="{FF2B5EF4-FFF2-40B4-BE49-F238E27FC236}">
                <a16:creationId xmlns:a16="http://schemas.microsoft.com/office/drawing/2014/main" id="{BF8D942B-5877-DB35-16D1-B44A326EF77B}"/>
              </a:ext>
            </a:extLst>
          </p:cNvPr>
          <p:cNvSpPr/>
          <p:nvPr/>
        </p:nvSpPr>
        <p:spPr>
          <a:xfrm>
            <a:off x="8549640" y="4822020"/>
            <a:ext cx="2810400" cy="4191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&gt; </a:t>
            </a:r>
            <a:r>
              <a:rPr lang="en-US" sz="1150" dirty="0">
                <a:solidFill>
                  <a:srgbClr val="E8E3DB"/>
                </a:solidFill>
                <a:latin typeface="Courier New"/>
                <a:ea typeface="Courier New"/>
              </a:rPr>
              <a:t>brew install --cask codex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sz="1150" dirty="0">
              <a:solidFill>
                <a:srgbClr val="E8E3DB"/>
              </a:solidFill>
              <a:latin typeface="Courier New"/>
              <a:ea typeface="Courier New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Google Shape;132;p6">
            <a:extLst>
              <a:ext uri="{FF2B5EF4-FFF2-40B4-BE49-F238E27FC236}">
                <a16:creationId xmlns:a16="http://schemas.microsoft.com/office/drawing/2014/main" id="{10E630AA-6C91-C487-F615-87C331F921AB}"/>
              </a:ext>
            </a:extLst>
          </p:cNvPr>
          <p:cNvSpPr/>
          <p:nvPr/>
        </p:nvSpPr>
        <p:spPr>
          <a:xfrm>
            <a:off x="8549640" y="463473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33;p6">
            <a:extLst>
              <a:ext uri="{FF2B5EF4-FFF2-40B4-BE49-F238E27FC236}">
                <a16:creationId xmlns:a16="http://schemas.microsoft.com/office/drawing/2014/main" id="{3B7C2D60-B1E5-66CC-724C-370DC2714DA3}"/>
              </a:ext>
            </a:extLst>
          </p:cNvPr>
          <p:cNvSpPr/>
          <p:nvPr/>
        </p:nvSpPr>
        <p:spPr>
          <a:xfrm>
            <a:off x="8750880" y="463473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134;p6">
            <a:extLst>
              <a:ext uri="{FF2B5EF4-FFF2-40B4-BE49-F238E27FC236}">
                <a16:creationId xmlns:a16="http://schemas.microsoft.com/office/drawing/2014/main" id="{256EFDF7-3E6F-EFEF-877E-BF7CBF526CEF}"/>
              </a:ext>
            </a:extLst>
          </p:cNvPr>
          <p:cNvSpPr/>
          <p:nvPr/>
        </p:nvSpPr>
        <p:spPr>
          <a:xfrm>
            <a:off x="8952120" y="463473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30;p6">
            <a:extLst>
              <a:ext uri="{FF2B5EF4-FFF2-40B4-BE49-F238E27FC236}">
                <a16:creationId xmlns:a16="http://schemas.microsoft.com/office/drawing/2014/main" id="{47E9E3E8-9174-87B3-C92D-8253DD4C28D7}"/>
              </a:ext>
            </a:extLst>
          </p:cNvPr>
          <p:cNvSpPr/>
          <p:nvPr/>
        </p:nvSpPr>
        <p:spPr>
          <a:xfrm>
            <a:off x="8324880" y="2837295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de-DE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Npm</a:t>
            </a:r>
            <a:r>
              <a:rPr lang="ko-KR" altLang="de-DE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de-DE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(Node.js</a:t>
            </a:r>
            <a:r>
              <a:rPr lang="ko-KR" altLang="de-DE" sz="1150" dirty="0">
                <a:solidFill>
                  <a:srgbClr val="7A746B"/>
                </a:solidFill>
                <a:latin typeface="Malgun Gothic"/>
                <a:ea typeface="Malgun Gothic"/>
              </a:rPr>
              <a:t> 사용자</a:t>
            </a:r>
            <a:r>
              <a:rPr lang="de-DE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)</a:t>
            </a:r>
            <a:endParaRPr lang="de-DE" altLang="ko-KR" sz="1150" b="0" u="none" strike="noStrike" dirty="0">
              <a:solidFill>
                <a:srgbClr val="7A746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7" name="Google Shape;130;p6">
            <a:extLst>
              <a:ext uri="{FF2B5EF4-FFF2-40B4-BE49-F238E27FC236}">
                <a16:creationId xmlns:a16="http://schemas.microsoft.com/office/drawing/2014/main" id="{F2CE284B-1768-B44D-08D5-1FCF1A3C5AE9}"/>
              </a:ext>
            </a:extLst>
          </p:cNvPr>
          <p:cNvSpPr/>
          <p:nvPr/>
        </p:nvSpPr>
        <p:spPr>
          <a:xfrm>
            <a:off x="8348400" y="4102650"/>
            <a:ext cx="3089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de-DE" altLang="ko-KR" sz="1150" b="0" u="none" strike="noStrike" dirty="0" err="1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Homebrew</a:t>
            </a:r>
            <a:r>
              <a:rPr lang="de-DE" altLang="ko-KR" sz="1150" b="0" u="none" strike="noStrike" dirty="0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 (</a:t>
            </a:r>
            <a:r>
              <a:rPr lang="de-DE" altLang="ko-KR" sz="1150" b="0" u="none" strike="noStrike" dirty="0" err="1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macOS</a:t>
            </a:r>
            <a:r>
              <a:rPr lang="de-DE" altLang="ko-KR" sz="1150" b="0" u="none" strike="noStrike" dirty="0">
                <a:solidFill>
                  <a:srgbClr val="7A746B"/>
                </a:solidFill>
                <a:effectLst/>
                <a:uFillTx/>
                <a:latin typeface="Malgun Gothic"/>
                <a:ea typeface="Malgun Gothic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3483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E2AF4-C2E2-3973-CCEA-867B0939A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258;p11">
            <a:extLst>
              <a:ext uri="{FF2B5EF4-FFF2-40B4-BE49-F238E27FC236}">
                <a16:creationId xmlns:a16="http://schemas.microsoft.com/office/drawing/2014/main" id="{F982A794-57FB-AEED-FDE2-4A5423239D5F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259;p11">
            <a:extLst>
              <a:ext uri="{FF2B5EF4-FFF2-40B4-BE49-F238E27FC236}">
                <a16:creationId xmlns:a16="http://schemas.microsoft.com/office/drawing/2014/main" id="{F8D7CCC0-7CD8-D548-9841-E5ED90D57CD4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en-US" sz="2400" b="1" u="none" strike="noStrike">
              <a:solidFill>
                <a:srgbClr val="FFFFFF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343" name="Google Shape;260;p11">
            <a:extLst>
              <a:ext uri="{FF2B5EF4-FFF2-40B4-BE49-F238E27FC236}">
                <a16:creationId xmlns:a16="http://schemas.microsoft.com/office/drawing/2014/main" id="{49421315-06DC-43E3-E69E-7935B022E98E}"/>
              </a:ext>
            </a:extLst>
          </p:cNvPr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</a:t>
            </a:r>
            <a:r>
              <a:rPr lang="en-US" sz="1100" b="1">
                <a:solidFill>
                  <a:srgbClr val="D97757"/>
                </a:solidFill>
                <a:latin typeface="Malgun Gothic"/>
                <a:ea typeface="Malgun Gothic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Codex 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워커</a:t>
            </a: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연결</a:t>
            </a: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3000" b="1">
                <a:solidFill>
                  <a:srgbClr val="33302B"/>
                </a:solidFill>
                <a:latin typeface="Malgun Gothic"/>
                <a:ea typeface="Malgun Gothic"/>
              </a:rPr>
              <a:t>확인 - 1. ChatGPT 로그인</a:t>
            </a:r>
          </a:p>
        </p:txBody>
      </p:sp>
      <p:sp>
        <p:nvSpPr>
          <p:cNvPr id="352" name="Google Shape;269;p11">
            <a:extLst>
              <a:ext uri="{FF2B5EF4-FFF2-40B4-BE49-F238E27FC236}">
                <a16:creationId xmlns:a16="http://schemas.microsoft.com/office/drawing/2014/main" id="{A409AF5C-7C14-111E-64F0-466105463B2C}"/>
              </a:ext>
            </a:extLst>
          </p:cNvPr>
          <p:cNvSpPr/>
          <p:nvPr/>
        </p:nvSpPr>
        <p:spPr>
          <a:xfrm>
            <a:off x="493151" y="4954172"/>
            <a:ext cx="3565440" cy="1142280"/>
          </a:xfrm>
          <a:prstGeom prst="roundRect">
            <a:avLst>
              <a:gd name="adj" fmla="val 64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Google Shape;270;p11" descr="preencoded.png">
            <a:extLst>
              <a:ext uri="{FF2B5EF4-FFF2-40B4-BE49-F238E27FC236}">
                <a16:creationId xmlns:a16="http://schemas.microsoft.com/office/drawing/2014/main" id="{90E1D047-CDC1-9D10-3C99-BEECAB4DB0F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5314" y="5397692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Google Shape;271;p11">
            <a:extLst>
              <a:ext uri="{FF2B5EF4-FFF2-40B4-BE49-F238E27FC236}">
                <a16:creationId xmlns:a16="http://schemas.microsoft.com/office/drawing/2014/main" id="{5AEE0F48-42DD-2B95-6254-B55E0DBB3779}"/>
              </a:ext>
            </a:extLst>
          </p:cNvPr>
          <p:cNvSpPr/>
          <p:nvPr/>
        </p:nvSpPr>
        <p:spPr>
          <a:xfrm>
            <a:off x="1060151" y="4954172"/>
            <a:ext cx="281556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de-DE" sz="1150" b="1" dirty="0">
                <a:solidFill>
                  <a:srgbClr val="33302B"/>
                </a:solidFill>
                <a:latin typeface="Malgun Gothic"/>
                <a:ea typeface="Malgun Gothic"/>
              </a:rPr>
              <a:t>코덱스 설치는 </a:t>
            </a:r>
            <a:r>
              <a:rPr lang="de-DE" altLang="ko-KR" sz="1150" b="1" dirty="0">
                <a:solidFill>
                  <a:srgbClr val="33302B"/>
                </a:solidFill>
                <a:latin typeface="Malgun Gothic"/>
                <a:ea typeface="Malgun Gothic"/>
              </a:rPr>
              <a:t>3</a:t>
            </a:r>
            <a:r>
              <a:rPr lang="ko-KR" altLang="de-DE" sz="1150" b="1" dirty="0">
                <a:solidFill>
                  <a:srgbClr val="33302B"/>
                </a:solidFill>
                <a:latin typeface="Malgun Gothic"/>
                <a:ea typeface="Malgun Gothic"/>
              </a:rPr>
              <a:t>페이지를 참고하세요</a:t>
            </a:r>
            <a:r>
              <a:rPr lang="de-DE" altLang="ko-KR" sz="1150" b="1" dirty="0">
                <a:solidFill>
                  <a:srgbClr val="33302B"/>
                </a:solidFill>
                <a:latin typeface="Malgun Gothic"/>
                <a:ea typeface="Malgun Gothic"/>
              </a:rPr>
              <a:t>.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 dirty="0">
                <a:solidFill>
                  <a:srgbClr val="33302B"/>
                </a:solidFill>
                <a:latin typeface="Malgun Gothic"/>
                <a:ea typeface="Malgun Gothic"/>
              </a:rPr>
              <a:t>오른쪽처럼 로그인을 완료합니다.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 dirty="0">
                <a:solidFill>
                  <a:srgbClr val="33302B"/>
                </a:solidFill>
                <a:latin typeface="Malgun Gothic"/>
                <a:ea typeface="Malgun Gothic"/>
              </a:rPr>
              <a:t>이미 ChatGPT에 로그인이 되어 있다면 이 장을 넘어가셔도 좋습니다.</a:t>
            </a:r>
          </a:p>
        </p:txBody>
      </p:sp>
      <p:sp>
        <p:nvSpPr>
          <p:cNvPr id="355" name="Google Shape;272;p11">
            <a:extLst>
              <a:ext uri="{FF2B5EF4-FFF2-40B4-BE49-F238E27FC236}">
                <a16:creationId xmlns:a16="http://schemas.microsoft.com/office/drawing/2014/main" id="{7521F534-FE68-57B5-E6F9-E2A62783B5F8}"/>
              </a:ext>
            </a:extLst>
          </p:cNvPr>
          <p:cNvSpPr/>
          <p:nvPr/>
        </p:nvSpPr>
        <p:spPr>
          <a:xfrm>
            <a:off x="4160520" y="1554480"/>
            <a:ext cx="7553160" cy="493704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82CA4-66A4-08B3-1273-68767213C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640" y="1555384"/>
            <a:ext cx="7762875" cy="1304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280039-21E9-B883-5FF0-AD3EF8E41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442" y="2814515"/>
            <a:ext cx="3771655" cy="3661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F1BE6C-EDFB-8447-43E7-0BDDC287C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436" y="3124567"/>
            <a:ext cx="3672743" cy="2973022"/>
          </a:xfrm>
          <a:prstGeom prst="rect">
            <a:avLst/>
          </a:prstGeom>
        </p:spPr>
      </p:pic>
      <p:sp>
        <p:nvSpPr>
          <p:cNvPr id="12" name="Google Shape;147;p7">
            <a:extLst>
              <a:ext uri="{FF2B5EF4-FFF2-40B4-BE49-F238E27FC236}">
                <a16:creationId xmlns:a16="http://schemas.microsoft.com/office/drawing/2014/main" id="{BF23ADB7-23B8-E269-11A6-3A33DF81D34A}"/>
              </a:ext>
            </a:extLst>
          </p:cNvPr>
          <p:cNvSpPr/>
          <p:nvPr/>
        </p:nvSpPr>
        <p:spPr>
          <a:xfrm>
            <a:off x="1298520" y="111564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Step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2 에서 MCP Server </a:t>
            </a: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found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in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this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project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화면을 못 보셨다면 이 장을 따라오세요.</a:t>
            </a:r>
          </a:p>
          <a:p>
            <a:pPr>
              <a:tabLst>
                <a:tab pos="0" algn="l"/>
              </a:tabLst>
            </a:pP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이미 1. </a:t>
            </a: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Use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this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MCP </a:t>
            </a:r>
            <a:r>
              <a:rPr lang="ko-KR" altLang="en-US" sz="1300" dirty="0" err="1">
                <a:solidFill>
                  <a:srgbClr val="7A746B"/>
                </a:solidFill>
                <a:latin typeface="Malgun Gothic"/>
                <a:ea typeface="Malgun Gothic"/>
              </a:rPr>
              <a:t>server를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 선택하셨다면 ③ 연결 확인만 하시면 됩니다.</a:t>
            </a:r>
          </a:p>
        </p:txBody>
      </p:sp>
      <p:sp>
        <p:nvSpPr>
          <p:cNvPr id="14" name="Google Shape;261;p11">
            <a:extLst>
              <a:ext uri="{FF2B5EF4-FFF2-40B4-BE49-F238E27FC236}">
                <a16:creationId xmlns:a16="http://schemas.microsoft.com/office/drawing/2014/main" id="{805690B8-D1E9-B10B-B183-5704B58962C3}"/>
              </a:ext>
            </a:extLst>
          </p:cNvPr>
          <p:cNvSpPr/>
          <p:nvPr/>
        </p:nvSpPr>
        <p:spPr>
          <a:xfrm>
            <a:off x="502920" y="178308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62;p11">
            <a:extLst>
              <a:ext uri="{FF2B5EF4-FFF2-40B4-BE49-F238E27FC236}">
                <a16:creationId xmlns:a16="http://schemas.microsoft.com/office/drawing/2014/main" id="{914786BB-6FDB-9814-A5A2-7AB7BDFDAF69}"/>
              </a:ext>
            </a:extLst>
          </p:cNvPr>
          <p:cNvSpPr/>
          <p:nvPr/>
        </p:nvSpPr>
        <p:spPr>
          <a:xfrm>
            <a:off x="499012" y="1788942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Google Shape;263;p11">
            <a:extLst>
              <a:ext uri="{FF2B5EF4-FFF2-40B4-BE49-F238E27FC236}">
                <a16:creationId xmlns:a16="http://schemas.microsoft.com/office/drawing/2014/main" id="{81823361-8BD0-953D-DE38-872DE04BC4F7}"/>
              </a:ext>
            </a:extLst>
          </p:cNvPr>
          <p:cNvSpPr/>
          <p:nvPr/>
        </p:nvSpPr>
        <p:spPr>
          <a:xfrm>
            <a:off x="978480" y="179208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50" b="1">
                <a:solidFill>
                  <a:srgbClr val="33302B"/>
                </a:solidFill>
                <a:latin typeface="Malgun Gothic"/>
                <a:ea typeface="Malgun Gothic"/>
              </a:rPr>
              <a:t>ChatGPT </a:t>
            </a: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구독으로</a:t>
            </a:r>
            <a:r>
              <a:rPr lang="en-US" sz="1350" b="1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로그인</a:t>
            </a:r>
            <a:endParaRPr lang="ko-KR" altLang="en-US" sz="13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0" name="Google Shape;264;p11">
            <a:extLst>
              <a:ext uri="{FF2B5EF4-FFF2-40B4-BE49-F238E27FC236}">
                <a16:creationId xmlns:a16="http://schemas.microsoft.com/office/drawing/2014/main" id="{99B4526F-F47E-6DD3-3D67-706AD2EAF475}"/>
              </a:ext>
            </a:extLst>
          </p:cNvPr>
          <p:cNvSpPr/>
          <p:nvPr/>
        </p:nvSpPr>
        <p:spPr>
          <a:xfrm>
            <a:off x="978480" y="2112120"/>
            <a:ext cx="30898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PS&gt;codex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입력</a:t>
            </a:r>
            <a:endParaRPr lang="en-US" dirty="0" err="1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브라우저가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열리면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팀이나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개인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 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계정으로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승인</a:t>
            </a:r>
          </a:p>
        </p:txBody>
      </p:sp>
      <p:sp>
        <p:nvSpPr>
          <p:cNvPr id="22" name="Google Shape;265;p11">
            <a:extLst>
              <a:ext uri="{FF2B5EF4-FFF2-40B4-BE49-F238E27FC236}">
                <a16:creationId xmlns:a16="http://schemas.microsoft.com/office/drawing/2014/main" id="{4A2A5686-584E-F59E-58AA-BB1A70982E42}"/>
              </a:ext>
            </a:extLst>
          </p:cNvPr>
          <p:cNvSpPr/>
          <p:nvPr/>
        </p:nvSpPr>
        <p:spPr>
          <a:xfrm>
            <a:off x="502920" y="2651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266;p11">
            <a:extLst>
              <a:ext uri="{FF2B5EF4-FFF2-40B4-BE49-F238E27FC236}">
                <a16:creationId xmlns:a16="http://schemas.microsoft.com/office/drawing/2014/main" id="{E48FF630-6418-3775-5380-3DE131E88680}"/>
              </a:ext>
            </a:extLst>
          </p:cNvPr>
          <p:cNvSpPr/>
          <p:nvPr/>
        </p:nvSpPr>
        <p:spPr>
          <a:xfrm>
            <a:off x="499012" y="2657622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Google Shape;267;p11">
            <a:extLst>
              <a:ext uri="{FF2B5EF4-FFF2-40B4-BE49-F238E27FC236}">
                <a16:creationId xmlns:a16="http://schemas.microsoft.com/office/drawing/2014/main" id="{D1EC7254-1EA7-A7F5-A477-CBE17DC3C6D8}"/>
              </a:ext>
            </a:extLst>
          </p:cNvPr>
          <p:cNvSpPr/>
          <p:nvPr/>
        </p:nvSpPr>
        <p:spPr>
          <a:xfrm>
            <a:off x="978480" y="266076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.mcp.json 확인 및 Claude Code 실행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8" name="Google Shape;268;p11">
            <a:extLst>
              <a:ext uri="{FF2B5EF4-FFF2-40B4-BE49-F238E27FC236}">
                <a16:creationId xmlns:a16="http://schemas.microsoft.com/office/drawing/2014/main" id="{EECD9C65-3749-CE6B-1766-E48F2219E478}"/>
              </a:ext>
            </a:extLst>
          </p:cNvPr>
          <p:cNvSpPr/>
          <p:nvPr/>
        </p:nvSpPr>
        <p:spPr>
          <a:xfrm>
            <a:off x="978480" y="2980800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.mcp.json은 스타터가 만듭니다. </a:t>
            </a: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직접 작성하지 마세요. 확인만 해주세요.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확인 후 Claude Code 실행 ! PS&gt;claude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30" name="Google Shape;265;p11">
            <a:extLst>
              <a:ext uri="{FF2B5EF4-FFF2-40B4-BE49-F238E27FC236}">
                <a16:creationId xmlns:a16="http://schemas.microsoft.com/office/drawing/2014/main" id="{3AEE6286-AC8E-0204-34D7-4B135DDD30A2}"/>
              </a:ext>
            </a:extLst>
          </p:cNvPr>
          <p:cNvSpPr/>
          <p:nvPr/>
        </p:nvSpPr>
        <p:spPr>
          <a:xfrm>
            <a:off x="483381" y="3775221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266;p11">
            <a:extLst>
              <a:ext uri="{FF2B5EF4-FFF2-40B4-BE49-F238E27FC236}">
                <a16:creationId xmlns:a16="http://schemas.microsoft.com/office/drawing/2014/main" id="{A95DB017-AD01-E153-71B7-74BCA9D71E52}"/>
              </a:ext>
            </a:extLst>
          </p:cNvPr>
          <p:cNvSpPr/>
          <p:nvPr/>
        </p:nvSpPr>
        <p:spPr>
          <a:xfrm>
            <a:off x="479473" y="3771313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en-US" sz="1350" b="1" u="none" strike="noStrike">
              <a:solidFill>
                <a:srgbClr val="FFFFFF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34" name="Google Shape;267;p11">
            <a:extLst>
              <a:ext uri="{FF2B5EF4-FFF2-40B4-BE49-F238E27FC236}">
                <a16:creationId xmlns:a16="http://schemas.microsoft.com/office/drawing/2014/main" id="{EC8E7141-71FE-FE0E-92F6-D264A318B8EA}"/>
              </a:ext>
            </a:extLst>
          </p:cNvPr>
          <p:cNvSpPr/>
          <p:nvPr/>
        </p:nvSpPr>
        <p:spPr>
          <a:xfrm>
            <a:off x="978479" y="3774452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/mcp 로 연결 확인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36" name="Google Shape;268;p11">
            <a:extLst>
              <a:ext uri="{FF2B5EF4-FFF2-40B4-BE49-F238E27FC236}">
                <a16:creationId xmlns:a16="http://schemas.microsoft.com/office/drawing/2014/main" id="{4BEB9E77-4648-556B-F95A-8DA2ABF61959}"/>
              </a:ext>
            </a:extLst>
          </p:cNvPr>
          <p:cNvSpPr/>
          <p:nvPr/>
        </p:nvSpPr>
        <p:spPr>
          <a:xfrm>
            <a:off x="968710" y="4084723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Claude Code 재시작 후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Use this MCP server 선택</a:t>
            </a: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/mcp 입력하여 mcp연결 상태 확인</a:t>
            </a:r>
            <a:endParaRPr lang="ko-KR"/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3. Codex 가 connected 면 완료 !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66017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DA5D8-339C-A698-551E-A04A56C7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258;p11">
            <a:extLst>
              <a:ext uri="{FF2B5EF4-FFF2-40B4-BE49-F238E27FC236}">
                <a16:creationId xmlns:a16="http://schemas.microsoft.com/office/drawing/2014/main" id="{468F115D-989C-3C27-BE24-737547771619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259;p11">
            <a:extLst>
              <a:ext uri="{FF2B5EF4-FFF2-40B4-BE49-F238E27FC236}">
                <a16:creationId xmlns:a16="http://schemas.microsoft.com/office/drawing/2014/main" id="{511EB988-F9DB-9300-5C70-424FF72AAC0D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en-US" sz="2400" b="1" u="none" strike="noStrike">
              <a:solidFill>
                <a:srgbClr val="FFFFFF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343" name="Google Shape;260;p11">
            <a:extLst>
              <a:ext uri="{FF2B5EF4-FFF2-40B4-BE49-F238E27FC236}">
                <a16:creationId xmlns:a16="http://schemas.microsoft.com/office/drawing/2014/main" id="{0C6E7B33-89DD-4433-33D2-531653FE59D2}"/>
              </a:ext>
            </a:extLst>
          </p:cNvPr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</a:t>
            </a:r>
            <a:r>
              <a:rPr lang="en-US" sz="1100" b="1" dirty="0">
                <a:solidFill>
                  <a:srgbClr val="D97757"/>
                </a:solidFill>
                <a:latin typeface="Malgun Gothic"/>
                <a:ea typeface="Malgun Gothic"/>
              </a:rPr>
              <a:t>4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Codex 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워커</a:t>
            </a: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연결</a:t>
            </a: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확인 - 2. .</a:t>
            </a:r>
            <a:r>
              <a:rPr lang="ko-KR" altLang="en-US" sz="3000" b="1" dirty="0" err="1">
                <a:solidFill>
                  <a:srgbClr val="33302B"/>
                </a:solidFill>
                <a:latin typeface="Malgun Gothic"/>
                <a:ea typeface="Malgun Gothic"/>
              </a:rPr>
              <a:t>mcp.json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 설정 확인</a:t>
            </a:r>
          </a:p>
        </p:txBody>
      </p:sp>
      <p:sp>
        <p:nvSpPr>
          <p:cNvPr id="352" name="Google Shape;269;p11">
            <a:extLst>
              <a:ext uri="{FF2B5EF4-FFF2-40B4-BE49-F238E27FC236}">
                <a16:creationId xmlns:a16="http://schemas.microsoft.com/office/drawing/2014/main" id="{A7DE4A62-295C-CC46-7312-4B58FA5922CF}"/>
              </a:ext>
            </a:extLst>
          </p:cNvPr>
          <p:cNvSpPr/>
          <p:nvPr/>
        </p:nvSpPr>
        <p:spPr>
          <a:xfrm>
            <a:off x="493151" y="4728030"/>
            <a:ext cx="3565440" cy="1142280"/>
          </a:xfrm>
          <a:prstGeom prst="roundRect">
            <a:avLst>
              <a:gd name="adj" fmla="val 64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Google Shape;270;p11" descr="preencoded.png">
            <a:extLst>
              <a:ext uri="{FF2B5EF4-FFF2-40B4-BE49-F238E27FC236}">
                <a16:creationId xmlns:a16="http://schemas.microsoft.com/office/drawing/2014/main" id="{B12DB87A-050C-C684-DC8D-5ABDFC1E67B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5314" y="517155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Google Shape;271;p11">
            <a:extLst>
              <a:ext uri="{FF2B5EF4-FFF2-40B4-BE49-F238E27FC236}">
                <a16:creationId xmlns:a16="http://schemas.microsoft.com/office/drawing/2014/main" id="{6511B557-2E50-05AC-C570-FC9BCDBF37E0}"/>
              </a:ext>
            </a:extLst>
          </p:cNvPr>
          <p:cNvSpPr/>
          <p:nvPr/>
        </p:nvSpPr>
        <p:spPr>
          <a:xfrm>
            <a:off x="1060151" y="4728030"/>
            <a:ext cx="281556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Codex는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mcp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를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통하여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통신합니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다.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C856AD-37BF-878D-C7DF-55ACD4E8B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778" y="2076507"/>
            <a:ext cx="7551617" cy="3284008"/>
          </a:xfrm>
          <a:prstGeom prst="rect">
            <a:avLst/>
          </a:prstGeom>
        </p:spPr>
      </p:pic>
      <p:sp>
        <p:nvSpPr>
          <p:cNvPr id="40" name="Google Shape;261;p11">
            <a:extLst>
              <a:ext uri="{FF2B5EF4-FFF2-40B4-BE49-F238E27FC236}">
                <a16:creationId xmlns:a16="http://schemas.microsoft.com/office/drawing/2014/main" id="{AF1F093D-BFE9-EB41-1B14-F3EACC23BAA5}"/>
              </a:ext>
            </a:extLst>
          </p:cNvPr>
          <p:cNvSpPr/>
          <p:nvPr/>
        </p:nvSpPr>
        <p:spPr>
          <a:xfrm>
            <a:off x="502920" y="1556938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262;p11">
            <a:extLst>
              <a:ext uri="{FF2B5EF4-FFF2-40B4-BE49-F238E27FC236}">
                <a16:creationId xmlns:a16="http://schemas.microsoft.com/office/drawing/2014/main" id="{51584CC0-ADEC-71E9-B1C7-1113828314AA}"/>
              </a:ext>
            </a:extLst>
          </p:cNvPr>
          <p:cNvSpPr/>
          <p:nvPr/>
        </p:nvSpPr>
        <p:spPr>
          <a:xfrm>
            <a:off x="499012" y="1562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Google Shape;263;p11">
            <a:extLst>
              <a:ext uri="{FF2B5EF4-FFF2-40B4-BE49-F238E27FC236}">
                <a16:creationId xmlns:a16="http://schemas.microsoft.com/office/drawing/2014/main" id="{F5D093B0-740F-6AA0-3248-60C6EDAFC5C7}"/>
              </a:ext>
            </a:extLst>
          </p:cNvPr>
          <p:cNvSpPr/>
          <p:nvPr/>
        </p:nvSpPr>
        <p:spPr>
          <a:xfrm>
            <a:off x="978480" y="1565938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50" b="1">
                <a:solidFill>
                  <a:srgbClr val="33302B"/>
                </a:solidFill>
                <a:latin typeface="Malgun Gothic"/>
                <a:ea typeface="Malgun Gothic"/>
              </a:rPr>
              <a:t>ChatGPT </a:t>
            </a: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구독으로</a:t>
            </a:r>
            <a:r>
              <a:rPr lang="en-US" sz="1350" b="1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로그인</a:t>
            </a:r>
            <a:endParaRPr lang="ko-KR" altLang="en-US" sz="13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46" name="Google Shape;264;p11">
            <a:extLst>
              <a:ext uri="{FF2B5EF4-FFF2-40B4-BE49-F238E27FC236}">
                <a16:creationId xmlns:a16="http://schemas.microsoft.com/office/drawing/2014/main" id="{517C4543-46F0-040F-88A4-B709F0FBC6AE}"/>
              </a:ext>
            </a:extLst>
          </p:cNvPr>
          <p:cNvSpPr/>
          <p:nvPr/>
        </p:nvSpPr>
        <p:spPr>
          <a:xfrm>
            <a:off x="978480" y="1885978"/>
            <a:ext cx="30898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PS&gt;codex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입력</a:t>
            </a:r>
            <a:endParaRPr lang="en-US" dirty="0" err="1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브라우저가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열리면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팀이나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개인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 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계정으로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승인</a:t>
            </a:r>
          </a:p>
        </p:txBody>
      </p:sp>
      <p:sp>
        <p:nvSpPr>
          <p:cNvPr id="48" name="Google Shape;265;p11">
            <a:extLst>
              <a:ext uri="{FF2B5EF4-FFF2-40B4-BE49-F238E27FC236}">
                <a16:creationId xmlns:a16="http://schemas.microsoft.com/office/drawing/2014/main" id="{EA11FF71-3965-1A73-7B9F-A085AF542EAB}"/>
              </a:ext>
            </a:extLst>
          </p:cNvPr>
          <p:cNvSpPr/>
          <p:nvPr/>
        </p:nvSpPr>
        <p:spPr>
          <a:xfrm>
            <a:off x="502920" y="2425618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266;p11">
            <a:extLst>
              <a:ext uri="{FF2B5EF4-FFF2-40B4-BE49-F238E27FC236}">
                <a16:creationId xmlns:a16="http://schemas.microsoft.com/office/drawing/2014/main" id="{85EB1835-E2B7-62BF-3F5A-DB31FD2F4A6E}"/>
              </a:ext>
            </a:extLst>
          </p:cNvPr>
          <p:cNvSpPr/>
          <p:nvPr/>
        </p:nvSpPr>
        <p:spPr>
          <a:xfrm>
            <a:off x="499012" y="24314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Google Shape;267;p11">
            <a:extLst>
              <a:ext uri="{FF2B5EF4-FFF2-40B4-BE49-F238E27FC236}">
                <a16:creationId xmlns:a16="http://schemas.microsoft.com/office/drawing/2014/main" id="{661D5F06-B596-856B-E0E0-998E6018784F}"/>
              </a:ext>
            </a:extLst>
          </p:cNvPr>
          <p:cNvSpPr/>
          <p:nvPr/>
        </p:nvSpPr>
        <p:spPr>
          <a:xfrm>
            <a:off x="978480" y="2434618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.mcp.json 확인 및 Claude Code 실행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54" name="Google Shape;268;p11">
            <a:extLst>
              <a:ext uri="{FF2B5EF4-FFF2-40B4-BE49-F238E27FC236}">
                <a16:creationId xmlns:a16="http://schemas.microsoft.com/office/drawing/2014/main" id="{F72B5689-0EDC-3618-0A7D-2C8ACDB9D47E}"/>
              </a:ext>
            </a:extLst>
          </p:cNvPr>
          <p:cNvSpPr/>
          <p:nvPr/>
        </p:nvSpPr>
        <p:spPr>
          <a:xfrm>
            <a:off x="978480" y="2754658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.mcp.json은 스타터가 만듭니다. 직접 작성하지 마세요. 확인만 해주세요.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확인 후 </a:t>
            </a:r>
            <a:r>
              <a:rPr lang="ko-KR" altLang="en-US" sz="1150" dirty="0" err="1">
                <a:solidFill>
                  <a:srgbClr val="7A746B"/>
                </a:solidFill>
                <a:latin typeface="Malgun Gothic"/>
                <a:ea typeface="Malgun Gothic"/>
              </a:rPr>
              <a:t>Claude</a:t>
            </a: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150" dirty="0" err="1">
                <a:solidFill>
                  <a:srgbClr val="7A746B"/>
                </a:solidFill>
                <a:latin typeface="Malgun Gothic"/>
                <a:ea typeface="Malgun Gothic"/>
              </a:rPr>
              <a:t>Code</a:t>
            </a: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실행 ! PS&gt;</a:t>
            </a:r>
            <a:r>
              <a:rPr lang="ko-KR" altLang="en-US" sz="1150" dirty="0" err="1">
                <a:solidFill>
                  <a:srgbClr val="7A746B"/>
                </a:solidFill>
                <a:latin typeface="Malgun Gothic"/>
                <a:ea typeface="Malgun Gothic"/>
              </a:rPr>
              <a:t>claude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56" name="Google Shape;265;p11">
            <a:extLst>
              <a:ext uri="{FF2B5EF4-FFF2-40B4-BE49-F238E27FC236}">
                <a16:creationId xmlns:a16="http://schemas.microsoft.com/office/drawing/2014/main" id="{E2C359CE-AB7A-514B-47AA-4864B94404AC}"/>
              </a:ext>
            </a:extLst>
          </p:cNvPr>
          <p:cNvSpPr/>
          <p:nvPr/>
        </p:nvSpPr>
        <p:spPr>
          <a:xfrm>
            <a:off x="483381" y="3549079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266;p11">
            <a:extLst>
              <a:ext uri="{FF2B5EF4-FFF2-40B4-BE49-F238E27FC236}">
                <a16:creationId xmlns:a16="http://schemas.microsoft.com/office/drawing/2014/main" id="{F0BE4654-05E0-0101-06C6-17D88F7F5927}"/>
              </a:ext>
            </a:extLst>
          </p:cNvPr>
          <p:cNvSpPr/>
          <p:nvPr/>
        </p:nvSpPr>
        <p:spPr>
          <a:xfrm>
            <a:off x="489242" y="3545171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en-US" sz="1350" b="1" u="none" strike="noStrike">
              <a:solidFill>
                <a:srgbClr val="FFFFFF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60" name="Google Shape;267;p11">
            <a:extLst>
              <a:ext uri="{FF2B5EF4-FFF2-40B4-BE49-F238E27FC236}">
                <a16:creationId xmlns:a16="http://schemas.microsoft.com/office/drawing/2014/main" id="{E3BCD3B7-823C-A0D6-1439-D27C18F91FB7}"/>
              </a:ext>
            </a:extLst>
          </p:cNvPr>
          <p:cNvSpPr/>
          <p:nvPr/>
        </p:nvSpPr>
        <p:spPr>
          <a:xfrm>
            <a:off x="978479" y="354831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/mcp 로 연결 확인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62" name="Google Shape;268;p11">
            <a:extLst>
              <a:ext uri="{FF2B5EF4-FFF2-40B4-BE49-F238E27FC236}">
                <a16:creationId xmlns:a16="http://schemas.microsoft.com/office/drawing/2014/main" id="{4A3C2995-E46D-A44E-73D0-E5EF7B1C530A}"/>
              </a:ext>
            </a:extLst>
          </p:cNvPr>
          <p:cNvSpPr/>
          <p:nvPr/>
        </p:nvSpPr>
        <p:spPr>
          <a:xfrm>
            <a:off x="968710" y="3858581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Claude Code 재시작 후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Use this MCP server 선택</a:t>
            </a: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/mcp 입력하여 mcp연결 상태 확인</a:t>
            </a:r>
            <a:endParaRPr lang="ko-KR"/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3. Codex 가 connected 면 완료 !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98CC4-A21D-F806-3B79-989BA0DD1211}"/>
              </a:ext>
            </a:extLst>
          </p:cNvPr>
          <p:cNvSpPr txBox="1"/>
          <p:nvPr/>
        </p:nvSpPr>
        <p:spPr>
          <a:xfrm>
            <a:off x="1280159" y="1130068"/>
            <a:ext cx="85226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0" algn="l"/>
              </a:tabLst>
            </a:pP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2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번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, 3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번 내용은 이후에 나오는 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Multi-agent-starter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를 진행한 이후에 진행 해주세요 </a:t>
            </a:r>
          </a:p>
        </p:txBody>
      </p:sp>
    </p:spTree>
    <p:extLst>
      <p:ext uri="{BB962C8B-B14F-4D97-AF65-F5344CB8AC3E}">
        <p14:creationId xmlns:p14="http://schemas.microsoft.com/office/powerpoint/2010/main" val="2496699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D41E4-9447-1288-1AEE-48ED96C2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258;p11">
            <a:extLst>
              <a:ext uri="{FF2B5EF4-FFF2-40B4-BE49-F238E27FC236}">
                <a16:creationId xmlns:a16="http://schemas.microsoft.com/office/drawing/2014/main" id="{1A4D5F4F-46B6-05CE-11FB-CADE785F4C3F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259;p11">
            <a:extLst>
              <a:ext uri="{FF2B5EF4-FFF2-40B4-BE49-F238E27FC236}">
                <a16:creationId xmlns:a16="http://schemas.microsoft.com/office/drawing/2014/main" id="{16592E83-A2BC-366D-3DE0-6B14EC81D023}"/>
              </a:ext>
            </a:extLst>
          </p:cNvPr>
          <p:cNvSpPr/>
          <p:nvPr/>
        </p:nvSpPr>
        <p:spPr>
          <a:xfrm>
            <a:off x="502920" y="45720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en-US" sz="2400" b="1" u="none" strike="noStrike">
              <a:solidFill>
                <a:srgbClr val="FFFFFF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343" name="Google Shape;260;p11">
            <a:extLst>
              <a:ext uri="{FF2B5EF4-FFF2-40B4-BE49-F238E27FC236}">
                <a16:creationId xmlns:a16="http://schemas.microsoft.com/office/drawing/2014/main" id="{C8B4ADEF-C53B-CD17-734A-08DF3373AAB4}"/>
              </a:ext>
            </a:extLst>
          </p:cNvPr>
          <p:cNvSpPr/>
          <p:nvPr/>
        </p:nvSpPr>
        <p:spPr>
          <a:xfrm>
            <a:off x="1280160" y="384120"/>
            <a:ext cx="96919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STEP </a:t>
            </a:r>
            <a:r>
              <a:rPr lang="en-US" sz="1100" b="1">
                <a:solidFill>
                  <a:srgbClr val="D97757"/>
                </a:solidFill>
                <a:latin typeface="Malgun Gothic"/>
                <a:ea typeface="Malgun Gothic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Codex 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워커</a:t>
            </a: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연결</a:t>
            </a:r>
            <a:r>
              <a:rPr lang="en-US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3000" b="1">
                <a:solidFill>
                  <a:srgbClr val="33302B"/>
                </a:solidFill>
                <a:latin typeface="Malgun Gothic"/>
                <a:ea typeface="Malgun Gothic"/>
              </a:rPr>
              <a:t>확인 - 3. /mcp 로 codex 연결 확인</a:t>
            </a:r>
          </a:p>
        </p:txBody>
      </p:sp>
      <p:sp>
        <p:nvSpPr>
          <p:cNvPr id="344" name="Google Shape;261;p11">
            <a:extLst>
              <a:ext uri="{FF2B5EF4-FFF2-40B4-BE49-F238E27FC236}">
                <a16:creationId xmlns:a16="http://schemas.microsoft.com/office/drawing/2014/main" id="{3F3F03F9-4D38-94DB-A802-2DCFFF8CCD67}"/>
              </a:ext>
            </a:extLst>
          </p:cNvPr>
          <p:cNvSpPr/>
          <p:nvPr/>
        </p:nvSpPr>
        <p:spPr>
          <a:xfrm>
            <a:off x="502920" y="178308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262;p11">
            <a:extLst>
              <a:ext uri="{FF2B5EF4-FFF2-40B4-BE49-F238E27FC236}">
                <a16:creationId xmlns:a16="http://schemas.microsoft.com/office/drawing/2014/main" id="{DC8183E0-4995-9559-D31A-6C9261E2C47F}"/>
              </a:ext>
            </a:extLst>
          </p:cNvPr>
          <p:cNvSpPr/>
          <p:nvPr/>
        </p:nvSpPr>
        <p:spPr>
          <a:xfrm>
            <a:off x="502920" y="1783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Google Shape;263;p11">
            <a:extLst>
              <a:ext uri="{FF2B5EF4-FFF2-40B4-BE49-F238E27FC236}">
                <a16:creationId xmlns:a16="http://schemas.microsoft.com/office/drawing/2014/main" id="{C7F72A56-65DF-B9C8-88E4-92C4C32A99A1}"/>
              </a:ext>
            </a:extLst>
          </p:cNvPr>
          <p:cNvSpPr/>
          <p:nvPr/>
        </p:nvSpPr>
        <p:spPr>
          <a:xfrm>
            <a:off x="978480" y="179208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50" b="1">
                <a:solidFill>
                  <a:srgbClr val="33302B"/>
                </a:solidFill>
                <a:latin typeface="Malgun Gothic"/>
                <a:ea typeface="Malgun Gothic"/>
              </a:rPr>
              <a:t>ChatGPT </a:t>
            </a: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구독으로</a:t>
            </a:r>
            <a:r>
              <a:rPr lang="en-US" sz="1350" b="1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로그인</a:t>
            </a:r>
            <a:endParaRPr lang="ko-KR" altLang="en-US" sz="13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347" name="Google Shape;264;p11">
            <a:extLst>
              <a:ext uri="{FF2B5EF4-FFF2-40B4-BE49-F238E27FC236}">
                <a16:creationId xmlns:a16="http://schemas.microsoft.com/office/drawing/2014/main" id="{E90D3D81-1EE2-16E1-0960-96792716C52B}"/>
              </a:ext>
            </a:extLst>
          </p:cNvPr>
          <p:cNvSpPr/>
          <p:nvPr/>
        </p:nvSpPr>
        <p:spPr>
          <a:xfrm>
            <a:off x="978480" y="2112120"/>
            <a:ext cx="30898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PS&gt; codex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입력</a:t>
            </a:r>
            <a:endParaRPr lang="en-US" dirty="0" err="1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브라우저가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열리면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팀이나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개인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 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계정으로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승인</a:t>
            </a:r>
            <a:endParaRPr lang="en-US" altLang="ko-KR" sz="115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348" name="Google Shape;265;p11">
            <a:extLst>
              <a:ext uri="{FF2B5EF4-FFF2-40B4-BE49-F238E27FC236}">
                <a16:creationId xmlns:a16="http://schemas.microsoft.com/office/drawing/2014/main" id="{62828F31-4AC5-73E1-E180-D5959607BCB8}"/>
              </a:ext>
            </a:extLst>
          </p:cNvPr>
          <p:cNvSpPr/>
          <p:nvPr/>
        </p:nvSpPr>
        <p:spPr>
          <a:xfrm>
            <a:off x="502920" y="2651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266;p11">
            <a:extLst>
              <a:ext uri="{FF2B5EF4-FFF2-40B4-BE49-F238E27FC236}">
                <a16:creationId xmlns:a16="http://schemas.microsoft.com/office/drawing/2014/main" id="{F40141DC-1976-D3AD-5C5F-6C0B1BB8B128}"/>
              </a:ext>
            </a:extLst>
          </p:cNvPr>
          <p:cNvSpPr/>
          <p:nvPr/>
        </p:nvSpPr>
        <p:spPr>
          <a:xfrm>
            <a:off x="502920" y="2651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Google Shape;267;p11">
            <a:extLst>
              <a:ext uri="{FF2B5EF4-FFF2-40B4-BE49-F238E27FC236}">
                <a16:creationId xmlns:a16="http://schemas.microsoft.com/office/drawing/2014/main" id="{EF32D436-5E37-FF20-A6AB-EE0BE70F3AB8}"/>
              </a:ext>
            </a:extLst>
          </p:cNvPr>
          <p:cNvSpPr/>
          <p:nvPr/>
        </p:nvSpPr>
        <p:spPr>
          <a:xfrm>
            <a:off x="978480" y="2660760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.mcp.json 확인 및 Claude Code 실행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351" name="Google Shape;268;p11">
            <a:extLst>
              <a:ext uri="{FF2B5EF4-FFF2-40B4-BE49-F238E27FC236}">
                <a16:creationId xmlns:a16="http://schemas.microsoft.com/office/drawing/2014/main" id="{77E47CDD-8693-F0B2-6788-DA7F7FCB9EC4}"/>
              </a:ext>
            </a:extLst>
          </p:cNvPr>
          <p:cNvSpPr/>
          <p:nvPr/>
        </p:nvSpPr>
        <p:spPr>
          <a:xfrm>
            <a:off x="978480" y="2980800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.mcp.json은 스타터가 만듭니다. </a:t>
            </a: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직접 작성하지 마세요. 확인만 해주세요.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확인 후 Claude Code 실행 ! PS&gt;claude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352" name="Google Shape;269;p11">
            <a:extLst>
              <a:ext uri="{FF2B5EF4-FFF2-40B4-BE49-F238E27FC236}">
                <a16:creationId xmlns:a16="http://schemas.microsoft.com/office/drawing/2014/main" id="{61AFEE61-8B9A-F4B4-2BC2-495D89C186C5}"/>
              </a:ext>
            </a:extLst>
          </p:cNvPr>
          <p:cNvSpPr/>
          <p:nvPr/>
        </p:nvSpPr>
        <p:spPr>
          <a:xfrm>
            <a:off x="493151" y="4954172"/>
            <a:ext cx="3565440" cy="1142280"/>
          </a:xfrm>
          <a:prstGeom prst="roundRect">
            <a:avLst>
              <a:gd name="adj" fmla="val 64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Google Shape;270;p11" descr="preencoded.png">
            <a:extLst>
              <a:ext uri="{FF2B5EF4-FFF2-40B4-BE49-F238E27FC236}">
                <a16:creationId xmlns:a16="http://schemas.microsoft.com/office/drawing/2014/main" id="{5ACCCEF1-CA56-2BB9-EC94-91C72868833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5314" y="5397692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Google Shape;271;p11">
            <a:extLst>
              <a:ext uri="{FF2B5EF4-FFF2-40B4-BE49-F238E27FC236}">
                <a16:creationId xmlns:a16="http://schemas.microsoft.com/office/drawing/2014/main" id="{650787A1-2FEE-5AE6-F409-45CE61CAD350}"/>
              </a:ext>
            </a:extLst>
          </p:cNvPr>
          <p:cNvSpPr/>
          <p:nvPr/>
        </p:nvSpPr>
        <p:spPr>
          <a:xfrm>
            <a:off x="1060151" y="4954172"/>
            <a:ext cx="281556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오른쪽처럼</a:t>
            </a:r>
            <a:r>
              <a:rPr lang="ko-KR" sz="1150" b="0" u="none" strike="noStrike" dirty="0">
                <a:solidFill>
                  <a:srgbClr val="33302B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codex</a:t>
            </a:r>
            <a:r>
              <a:rPr 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connected 면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연동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완료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입니다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.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이후에는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사용자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요청에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따라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>
                <a:solidFill>
                  <a:srgbClr val="33302B"/>
                </a:solidFill>
                <a:latin typeface="Malgun Gothic"/>
                <a:ea typeface="Malgun Gothic"/>
              </a:rPr>
              <a:t>codex-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main과</a:t>
            </a:r>
            <a:r>
              <a:rPr lang="en-US" altLang="ko-KR" sz="1150">
                <a:solidFill>
                  <a:srgbClr val="33302B"/>
                </a:solidFill>
                <a:latin typeface="Malgun Gothic"/>
                <a:ea typeface="Malgun Gothic"/>
              </a:rPr>
              <a:t> codex-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critic을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사용할</a:t>
            </a:r>
            <a:r>
              <a:rPr lang="en-US" altLang="ko-KR" sz="1150">
                <a:solidFill>
                  <a:srgbClr val="33302B"/>
                </a:solidFill>
                <a:latin typeface="Malgun Gothic"/>
                <a:ea typeface="Malgun Gothic"/>
              </a:rPr>
              <a:t> 수 </a:t>
            </a:r>
            <a:r>
              <a:rPr lang="en-US" altLang="ko-KR" sz="1150" err="1">
                <a:solidFill>
                  <a:srgbClr val="33302B"/>
                </a:solidFill>
                <a:latin typeface="Malgun Gothic"/>
                <a:ea typeface="Malgun Gothic"/>
              </a:rPr>
              <a:t>있습니다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355" name="Google Shape;272;p11">
            <a:extLst>
              <a:ext uri="{FF2B5EF4-FFF2-40B4-BE49-F238E27FC236}">
                <a16:creationId xmlns:a16="http://schemas.microsoft.com/office/drawing/2014/main" id="{43979849-6BEC-76C6-2844-C708E1278E19}"/>
              </a:ext>
            </a:extLst>
          </p:cNvPr>
          <p:cNvSpPr/>
          <p:nvPr/>
        </p:nvSpPr>
        <p:spPr>
          <a:xfrm>
            <a:off x="4160520" y="1554480"/>
            <a:ext cx="7553160" cy="493704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Google Shape;265;p11">
            <a:extLst>
              <a:ext uri="{FF2B5EF4-FFF2-40B4-BE49-F238E27FC236}">
                <a16:creationId xmlns:a16="http://schemas.microsoft.com/office/drawing/2014/main" id="{B7CEB3C5-6897-623C-A8EA-C0F656D1079D}"/>
              </a:ext>
            </a:extLst>
          </p:cNvPr>
          <p:cNvSpPr/>
          <p:nvPr/>
        </p:nvSpPr>
        <p:spPr>
          <a:xfrm>
            <a:off x="483381" y="3775221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266;p11">
            <a:extLst>
              <a:ext uri="{FF2B5EF4-FFF2-40B4-BE49-F238E27FC236}">
                <a16:creationId xmlns:a16="http://schemas.microsoft.com/office/drawing/2014/main" id="{B9A55DD0-6262-9B4D-2807-52E60FBB612C}"/>
              </a:ext>
            </a:extLst>
          </p:cNvPr>
          <p:cNvSpPr/>
          <p:nvPr/>
        </p:nvSpPr>
        <p:spPr>
          <a:xfrm>
            <a:off x="483381" y="3775221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en-US" sz="1350" b="1" u="none" strike="noStrike">
              <a:solidFill>
                <a:srgbClr val="FFFFFF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4" name="Google Shape;267;p11">
            <a:extLst>
              <a:ext uri="{FF2B5EF4-FFF2-40B4-BE49-F238E27FC236}">
                <a16:creationId xmlns:a16="http://schemas.microsoft.com/office/drawing/2014/main" id="{C168354B-468B-2219-63CC-B80BEA0AC6CC}"/>
              </a:ext>
            </a:extLst>
          </p:cNvPr>
          <p:cNvSpPr/>
          <p:nvPr/>
        </p:nvSpPr>
        <p:spPr>
          <a:xfrm>
            <a:off x="978479" y="3774452"/>
            <a:ext cx="30898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/mcp 로 연결 확인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5" name="Google Shape;268;p11">
            <a:extLst>
              <a:ext uri="{FF2B5EF4-FFF2-40B4-BE49-F238E27FC236}">
                <a16:creationId xmlns:a16="http://schemas.microsoft.com/office/drawing/2014/main" id="{20C58EAE-7BC5-E564-094A-51B998E20716}"/>
              </a:ext>
            </a:extLst>
          </p:cNvPr>
          <p:cNvSpPr/>
          <p:nvPr/>
        </p:nvSpPr>
        <p:spPr>
          <a:xfrm>
            <a:off x="968710" y="4084723"/>
            <a:ext cx="3089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Claude Code 재시작 후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Use this MCP server 선택</a:t>
            </a:r>
          </a:p>
          <a:p>
            <a:pPr marL="228600" indent="-228600">
              <a:lnSpc>
                <a:spcPct val="120000"/>
              </a:lnSpc>
              <a:buAutoNum type="arabicPeriod"/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/mcp 입력하여 mcp연결 상태 확인</a:t>
            </a:r>
            <a:endParaRPr lang="ko-KR"/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3. codex 가 connected 면 완료 !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09C437-6F4C-62E2-27D8-C0718CB39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692" y="1493711"/>
            <a:ext cx="7551616" cy="1828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1DAE9-0B7E-9522-4F0B-92EA3324B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1693" y="3319882"/>
            <a:ext cx="7551616" cy="1498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4AC55-45FE-7CA1-E577-FDA75943A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1692" y="4818674"/>
            <a:ext cx="7551616" cy="20271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F0FC53-9F20-FEA9-6E61-10FA7E78CB1E}"/>
              </a:ext>
            </a:extLst>
          </p:cNvPr>
          <p:cNvSpPr txBox="1"/>
          <p:nvPr/>
        </p:nvSpPr>
        <p:spPr>
          <a:xfrm>
            <a:off x="1280159" y="1130068"/>
            <a:ext cx="85226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해당 내용은 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Multi-agent-starter</a:t>
            </a:r>
            <a:r>
              <a:rPr lang="ko-KR" altLang="en-US" sz="1300" dirty="0">
                <a:solidFill>
                  <a:srgbClr val="7A746B"/>
                </a:solidFill>
                <a:latin typeface="Malgun Gothic"/>
                <a:ea typeface="Malgun Gothic"/>
              </a:rPr>
              <a:t>를 진행한 이후에 확인이 가능합니다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  <a:endParaRPr lang="ko-KR" altLang="en-US" sz="130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66603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16;p 1"/>
          <p:cNvSpPr/>
          <p:nvPr/>
        </p:nvSpPr>
        <p:spPr>
          <a:xfrm>
            <a:off x="822960" y="822960"/>
            <a:ext cx="2284560" cy="56556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17;p 2"/>
          <p:cNvSpPr/>
          <p:nvPr/>
        </p:nvSpPr>
        <p:spPr>
          <a:xfrm>
            <a:off x="987480" y="1060560"/>
            <a:ext cx="99000" cy="9900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34920" rIns="49680" bIns="3492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18;p 2"/>
          <p:cNvSpPr/>
          <p:nvPr/>
        </p:nvSpPr>
        <p:spPr>
          <a:xfrm>
            <a:off x="1188720" y="1060560"/>
            <a:ext cx="99000" cy="9900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34920" rIns="49680" bIns="3492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19;p 2"/>
          <p:cNvSpPr/>
          <p:nvPr/>
        </p:nvSpPr>
        <p:spPr>
          <a:xfrm>
            <a:off x="1389960" y="1060560"/>
            <a:ext cx="99000" cy="9900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34920" rIns="49680" bIns="3492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20;p 2"/>
          <p:cNvSpPr/>
          <p:nvPr/>
        </p:nvSpPr>
        <p:spPr>
          <a:xfrm>
            <a:off x="1600200" y="822960"/>
            <a:ext cx="1461600" cy="56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2" name="Google Shape;21;p 2"/>
          <p:cNvSpPr/>
          <p:nvPr/>
        </p:nvSpPr>
        <p:spPr>
          <a:xfrm>
            <a:off x="822960" y="2011680"/>
            <a:ext cx="10514160" cy="14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b="0" u="none" strike="noStrike" dirty="0">
                <a:solidFill>
                  <a:schemeClr val="lt1"/>
                </a:solidFill>
                <a:effectLst/>
                <a:uFillTx/>
                <a:latin typeface="프리젠테이션 6 SemiBold"/>
                <a:ea typeface="프리젠테이션 6 SemiBold"/>
              </a:rPr>
              <a:t>Multi-agent-starter (</a:t>
            </a:r>
            <a:r>
              <a:rPr lang="ko-KR" sz="4800" b="0" u="none" strike="noStrike" dirty="0" err="1">
                <a:solidFill>
                  <a:schemeClr val="lt1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4800" b="0" u="none" strike="noStrike" dirty="0">
                <a:solidFill>
                  <a:schemeClr val="lt1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4800" b="0" u="none" strike="noStrike" dirty="0">
                <a:solidFill>
                  <a:schemeClr val="lt1"/>
                </a:solidFill>
                <a:effectLst/>
                <a:uFillTx/>
                <a:latin typeface="프리젠테이션 6 SemiBold"/>
                <a:ea typeface="프리젠테이션 6 SemiBold"/>
              </a:rPr>
              <a:t>설치</a:t>
            </a:r>
            <a:endParaRPr lang="en-US" sz="48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4800" b="0" u="none" strike="noStrike" dirty="0">
                <a:solidFill>
                  <a:schemeClr val="accent3"/>
                </a:solidFill>
                <a:effectLst/>
                <a:uFillTx/>
                <a:latin typeface="프리젠테이션 5 Medium"/>
                <a:ea typeface="프리젠테이션 5 Medium"/>
              </a:rPr>
              <a:t>Multi-agent System </a:t>
            </a:r>
            <a:r>
              <a:rPr lang="ko-KR" sz="4800" b="0" u="none" strike="noStrike" dirty="0">
                <a:solidFill>
                  <a:schemeClr val="accent3"/>
                </a:solidFill>
                <a:effectLst/>
                <a:uFillTx/>
                <a:latin typeface="프리젠테이션 5 Medium"/>
                <a:ea typeface="프리젠테이션 5 Medium"/>
              </a:rPr>
              <a:t>구성</a:t>
            </a:r>
            <a:endParaRPr lang="en-US" sz="48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3" name="Google Shape;22;p 2"/>
          <p:cNvSpPr/>
          <p:nvPr/>
        </p:nvSpPr>
        <p:spPr>
          <a:xfrm>
            <a:off x="841320" y="3520440"/>
            <a:ext cx="100569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4" name="Google Shape;23;p 2"/>
          <p:cNvSpPr/>
          <p:nvPr/>
        </p:nvSpPr>
        <p:spPr>
          <a:xfrm>
            <a:off x="841320" y="402336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5" name="Google Shape;24;p 2"/>
          <p:cNvSpPr/>
          <p:nvPr/>
        </p:nvSpPr>
        <p:spPr>
          <a:xfrm>
            <a:off x="822960" y="5349240"/>
            <a:ext cx="1699200" cy="73008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25;p 2"/>
          <p:cNvSpPr/>
          <p:nvPr/>
        </p:nvSpPr>
        <p:spPr>
          <a:xfrm>
            <a:off x="969120" y="5349240"/>
            <a:ext cx="142488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7" name="Google Shape;26;p 2"/>
          <p:cNvSpPr/>
          <p:nvPr/>
        </p:nvSpPr>
        <p:spPr>
          <a:xfrm>
            <a:off x="2651760" y="5349240"/>
            <a:ext cx="1699200" cy="73008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27;p 2"/>
          <p:cNvSpPr/>
          <p:nvPr/>
        </p:nvSpPr>
        <p:spPr>
          <a:xfrm>
            <a:off x="2797920" y="5349240"/>
            <a:ext cx="142488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9" name="Google Shape;28;p 2"/>
          <p:cNvSpPr/>
          <p:nvPr/>
        </p:nvSpPr>
        <p:spPr>
          <a:xfrm>
            <a:off x="4480560" y="5349240"/>
            <a:ext cx="1699200" cy="73008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29;p 2"/>
          <p:cNvSpPr/>
          <p:nvPr/>
        </p:nvSpPr>
        <p:spPr>
          <a:xfrm>
            <a:off x="4626720" y="5349240"/>
            <a:ext cx="142488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1" name="Google Shape;30;p 2"/>
          <p:cNvSpPr/>
          <p:nvPr/>
        </p:nvSpPr>
        <p:spPr>
          <a:xfrm>
            <a:off x="6309360" y="5349240"/>
            <a:ext cx="1699200" cy="73008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31;p 2"/>
          <p:cNvSpPr/>
          <p:nvPr/>
        </p:nvSpPr>
        <p:spPr>
          <a:xfrm>
            <a:off x="6455520" y="5349240"/>
            <a:ext cx="142488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3" name="Google Shape;32;p 2"/>
          <p:cNvSpPr/>
          <p:nvPr/>
        </p:nvSpPr>
        <p:spPr>
          <a:xfrm>
            <a:off x="8138160" y="5349240"/>
            <a:ext cx="1699200" cy="73008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Google Shape;33;p 2"/>
          <p:cNvSpPr/>
          <p:nvPr/>
        </p:nvSpPr>
        <p:spPr>
          <a:xfrm>
            <a:off x="8284320" y="5349240"/>
            <a:ext cx="142488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5" name="Google Shape;34;p 2"/>
          <p:cNvSpPr/>
          <p:nvPr/>
        </p:nvSpPr>
        <p:spPr>
          <a:xfrm>
            <a:off x="9966960" y="5349240"/>
            <a:ext cx="1699200" cy="73008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35;p 2"/>
          <p:cNvSpPr/>
          <p:nvPr/>
        </p:nvSpPr>
        <p:spPr>
          <a:xfrm>
            <a:off x="10113120" y="5349240"/>
            <a:ext cx="142488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5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899208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설치할 디렉토리 생성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스크린샷 –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orchestrator)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해당 디렉토리로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claude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시작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/plugins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Marketplaces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+Add Marketplace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netwaif/multi-agent-starter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multi-agent-starter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⑨ Install for you, in this repo only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⑩ /reload-plugins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/>
          </p:nvPr>
        </p:nvSpPr>
        <p:spPr>
          <a:xfrm>
            <a:off x="623880" y="44928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예제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플러그인 설치 ①②③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380" name="그림 379"/>
          <p:cNvPicPr/>
          <p:nvPr/>
        </p:nvPicPr>
        <p:blipFill>
          <a:blip r:embed="rId3"/>
          <a:stretch/>
        </p:blipFill>
        <p:spPr>
          <a:xfrm>
            <a:off x="716040" y="1323360"/>
            <a:ext cx="8133120" cy="454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직사각형 1"/>
          <p:cNvSpPr/>
          <p:nvPr/>
        </p:nvSpPr>
        <p:spPr>
          <a:xfrm>
            <a:off x="2839680" y="1869120"/>
            <a:ext cx="1299240" cy="2142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2" name="직사각형 3"/>
          <p:cNvSpPr/>
          <p:nvPr/>
        </p:nvSpPr>
        <p:spPr>
          <a:xfrm>
            <a:off x="3600000" y="3420000"/>
            <a:ext cx="675720" cy="178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3" name="타원 1"/>
          <p:cNvSpPr/>
          <p:nvPr/>
        </p:nvSpPr>
        <p:spPr>
          <a:xfrm>
            <a:off x="2610000" y="171036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4" name="타원 4"/>
          <p:cNvSpPr/>
          <p:nvPr/>
        </p:nvSpPr>
        <p:spPr>
          <a:xfrm>
            <a:off x="4230360" y="3240000"/>
            <a:ext cx="26856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5" name="직사각형 4"/>
          <p:cNvSpPr/>
          <p:nvPr/>
        </p:nvSpPr>
        <p:spPr>
          <a:xfrm>
            <a:off x="2839680" y="3240000"/>
            <a:ext cx="1299240" cy="178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6" name="타원 6"/>
          <p:cNvSpPr/>
          <p:nvPr/>
        </p:nvSpPr>
        <p:spPr>
          <a:xfrm>
            <a:off x="2610360" y="3060000"/>
            <a:ext cx="26856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7" name="직사각형 7"/>
          <p:cNvSpPr/>
          <p:nvPr/>
        </p:nvSpPr>
        <p:spPr>
          <a:xfrm>
            <a:off x="796320" y="1404720"/>
            <a:ext cx="1182600" cy="2142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1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예제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플러그인 설치 ④⑤⑥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390" name="그림 3"/>
          <p:cNvPicPr/>
          <p:nvPr/>
        </p:nvPicPr>
        <p:blipFill>
          <a:blip r:embed="rId3"/>
          <a:stretch/>
        </p:blipFill>
        <p:spPr>
          <a:xfrm>
            <a:off x="694800" y="1323360"/>
            <a:ext cx="8154360" cy="45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직사각형 2"/>
          <p:cNvSpPr/>
          <p:nvPr/>
        </p:nvSpPr>
        <p:spPr>
          <a:xfrm>
            <a:off x="724320" y="3549240"/>
            <a:ext cx="7986960" cy="268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2" name="직사각형 5"/>
          <p:cNvSpPr/>
          <p:nvPr/>
        </p:nvSpPr>
        <p:spPr>
          <a:xfrm>
            <a:off x="2926080" y="4007880"/>
            <a:ext cx="954360" cy="2142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3" name="타원 2"/>
          <p:cNvSpPr/>
          <p:nvPr/>
        </p:nvSpPr>
        <p:spPr>
          <a:xfrm>
            <a:off x="623880" y="33786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4" name="타원 3"/>
          <p:cNvSpPr/>
          <p:nvPr/>
        </p:nvSpPr>
        <p:spPr>
          <a:xfrm>
            <a:off x="2791080" y="3817800"/>
            <a:ext cx="26856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5" name="직사각형 6"/>
          <p:cNvSpPr/>
          <p:nvPr/>
        </p:nvSpPr>
        <p:spPr>
          <a:xfrm>
            <a:off x="741600" y="4564080"/>
            <a:ext cx="1508400" cy="2142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6" name="타원 5"/>
          <p:cNvSpPr/>
          <p:nvPr/>
        </p:nvSpPr>
        <p:spPr>
          <a:xfrm>
            <a:off x="624240" y="4430520"/>
            <a:ext cx="26856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7" name="Shape 12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설치할 디렉토리 생성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스크린샷 –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orchestrator)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해당 디렉토리로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claude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시작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/plugins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Marketplaces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+Add Marketplace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netwaif/multi-agent-starter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multi-agent-starter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⑨ Install for you, in this repo only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⑩ /reload-plugins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13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예제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플러그인 설치 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00" name="그림 1"/>
          <p:cNvPicPr/>
          <p:nvPr/>
        </p:nvPicPr>
        <p:blipFill>
          <a:blip r:embed="rId3"/>
          <a:stretch/>
        </p:blipFill>
        <p:spPr>
          <a:xfrm>
            <a:off x="694800" y="1323360"/>
            <a:ext cx="8154360" cy="45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직사각형 8"/>
          <p:cNvSpPr/>
          <p:nvPr/>
        </p:nvSpPr>
        <p:spPr>
          <a:xfrm>
            <a:off x="724320" y="5093640"/>
            <a:ext cx="7986960" cy="268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2" name="타원 7"/>
          <p:cNvSpPr/>
          <p:nvPr/>
        </p:nvSpPr>
        <p:spPr>
          <a:xfrm>
            <a:off x="623880" y="4923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3" name="Shape 17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설치할 디렉토리 생성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스크린샷 –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orchestrator)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해당 디렉토리로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claude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시작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/plugins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Marketplaces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+Add Marketplace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netwaif/multi-agent-starter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multi-agent-starter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⑨ Install for you, in this repo only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⑩ /reload-plugins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18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예제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플러그인 설치 ⑧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06" name="그림 4"/>
          <p:cNvPicPr/>
          <p:nvPr/>
        </p:nvPicPr>
        <p:blipFill>
          <a:blip r:embed="rId3"/>
          <a:stretch/>
        </p:blipFill>
        <p:spPr>
          <a:xfrm>
            <a:off x="694800" y="1323360"/>
            <a:ext cx="8154360" cy="45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직사각형 9"/>
          <p:cNvSpPr/>
          <p:nvPr/>
        </p:nvSpPr>
        <p:spPr>
          <a:xfrm>
            <a:off x="724320" y="5093640"/>
            <a:ext cx="7986960" cy="268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8" name="타원 8"/>
          <p:cNvSpPr/>
          <p:nvPr/>
        </p:nvSpPr>
        <p:spPr>
          <a:xfrm>
            <a:off x="623880" y="4923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9" name="직사각형 12"/>
          <p:cNvSpPr/>
          <p:nvPr/>
        </p:nvSpPr>
        <p:spPr>
          <a:xfrm>
            <a:off x="1895040" y="5490000"/>
            <a:ext cx="1164600" cy="268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23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설치할 디렉토리 생성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스크린샷 –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orchestrator)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해당 디렉토리로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claude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시작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/plugins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Marketplaces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+Add Marketplace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netwaif/multi-agent-starter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multi-agent-starter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⑨ Install for you, in this repo only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⑩ /reload-plugins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24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예제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플러그인 설치 ⑨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13" name="그림 5"/>
          <p:cNvPicPr/>
          <p:nvPr/>
        </p:nvPicPr>
        <p:blipFill>
          <a:blip r:embed="rId3"/>
          <a:stretch/>
        </p:blipFill>
        <p:spPr>
          <a:xfrm>
            <a:off x="694800" y="1323360"/>
            <a:ext cx="8154360" cy="45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직사각형 10"/>
          <p:cNvSpPr/>
          <p:nvPr/>
        </p:nvSpPr>
        <p:spPr>
          <a:xfrm>
            <a:off x="724320" y="5093640"/>
            <a:ext cx="7986960" cy="268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5" name="타원 9"/>
          <p:cNvSpPr/>
          <p:nvPr/>
        </p:nvSpPr>
        <p:spPr>
          <a:xfrm>
            <a:off x="623880" y="4923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6" name="Shape 25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설치할 디렉토리 생성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스크린샷 –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orchestrator)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해당 디렉토리로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claude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시작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/plugins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Marketplaces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+Add Marketplace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netwaif/multi-agent-starter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multi-agent-starter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⑨ Install for you, in this repo only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⑩ /reload-plugins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29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예제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플러그인 설치 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19" name="그림 6"/>
          <p:cNvPicPr/>
          <p:nvPr/>
        </p:nvPicPr>
        <p:blipFill>
          <a:blip r:embed="rId3"/>
          <a:stretch/>
        </p:blipFill>
        <p:spPr>
          <a:xfrm>
            <a:off x="694800" y="1323360"/>
            <a:ext cx="8154360" cy="45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직사각형 11"/>
          <p:cNvSpPr/>
          <p:nvPr/>
        </p:nvSpPr>
        <p:spPr>
          <a:xfrm>
            <a:off x="724320" y="3281760"/>
            <a:ext cx="7986960" cy="268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1" name="타원 10"/>
          <p:cNvSpPr/>
          <p:nvPr/>
        </p:nvSpPr>
        <p:spPr>
          <a:xfrm>
            <a:off x="623880" y="3111480"/>
            <a:ext cx="251280" cy="251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10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2" name="Shape 30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설치할 디렉토리 생성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스크린샷 –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orchestrator)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해당 디렉토리로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claude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시작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/plugins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Marketplaces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+Add Marketplace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netwaif/multi-agent-starter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multi-agent-starter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⑨ Install for you, in this repo only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⑩ /reload-plugins 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31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실무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포터블형 ①②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425" name="Shape 35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인텔리제이 실행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Clone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URL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https://github.com/313DEVGRP/Java-Service-Tree-Framework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Clone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Claude Code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아이콘 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명령 실행 터미널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프리젠테이션 5 Medium"/>
              </a:rPr>
              <a:t> 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-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에디터 화면으로 이동은 우클릭 ‘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Move to Editor’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이후에는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Intellij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안에서만 개발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26" name="그림 425"/>
          <p:cNvPicPr/>
          <p:nvPr/>
        </p:nvPicPr>
        <p:blipFill>
          <a:blip r:embed="rId3"/>
          <a:srcRect b="31196"/>
          <a:stretch/>
        </p:blipFill>
        <p:spPr>
          <a:xfrm>
            <a:off x="695160" y="1323360"/>
            <a:ext cx="8148600" cy="458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직사각형 13"/>
          <p:cNvSpPr/>
          <p:nvPr/>
        </p:nvSpPr>
        <p:spPr>
          <a:xfrm>
            <a:off x="7347960" y="1917720"/>
            <a:ext cx="1298160" cy="407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8" name="타원 11"/>
          <p:cNvSpPr/>
          <p:nvPr/>
        </p:nvSpPr>
        <p:spPr>
          <a:xfrm>
            <a:off x="7200000" y="1800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36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실무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포터블형 ③④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431" name="Shape 37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인텔리제이 실행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Clone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URL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https://github.com/313DEVGRP/Java-Service-Tree-Framework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Clone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Claude Code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아이콘 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명령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 터미널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프리젠테이션 5 Medium"/>
              </a:rPr>
              <a:t> 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-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에디터 화면으로 이동은 우클릭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‘Move to Editor’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이후에는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Intellij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안에서만 개발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32" name="직사각형 15"/>
          <p:cNvSpPr/>
          <p:nvPr/>
        </p:nvSpPr>
        <p:spPr>
          <a:xfrm>
            <a:off x="7347960" y="1917720"/>
            <a:ext cx="1298160" cy="407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3" name="타원 15"/>
          <p:cNvSpPr/>
          <p:nvPr/>
        </p:nvSpPr>
        <p:spPr>
          <a:xfrm>
            <a:off x="7200000" y="1800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434" name="그림 433"/>
          <p:cNvPicPr/>
          <p:nvPr/>
        </p:nvPicPr>
        <p:blipFill>
          <a:blip r:embed="rId3"/>
          <a:srcRect t="78185" b="-41"/>
          <a:stretch/>
        </p:blipFill>
        <p:spPr>
          <a:xfrm>
            <a:off x="695520" y="4500000"/>
            <a:ext cx="8124120" cy="14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그림 434"/>
          <p:cNvPicPr/>
          <p:nvPr/>
        </p:nvPicPr>
        <p:blipFill>
          <a:blip r:embed="rId3"/>
          <a:srcRect b="50665"/>
          <a:stretch/>
        </p:blipFill>
        <p:spPr>
          <a:xfrm>
            <a:off x="695160" y="1323360"/>
            <a:ext cx="8124120" cy="32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직사각형 18"/>
          <p:cNvSpPr/>
          <p:nvPr/>
        </p:nvSpPr>
        <p:spPr>
          <a:xfrm>
            <a:off x="3381120" y="2340000"/>
            <a:ext cx="3638160" cy="407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7" name="타원 16"/>
          <p:cNvSpPr/>
          <p:nvPr/>
        </p:nvSpPr>
        <p:spPr>
          <a:xfrm>
            <a:off x="3240000" y="2160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38" name="직사각형 19"/>
          <p:cNvSpPr/>
          <p:nvPr/>
        </p:nvSpPr>
        <p:spPr>
          <a:xfrm>
            <a:off x="6980400" y="5463360"/>
            <a:ext cx="890640" cy="407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9" name="타원 17"/>
          <p:cNvSpPr/>
          <p:nvPr/>
        </p:nvSpPr>
        <p:spPr>
          <a:xfrm>
            <a:off x="6804720" y="52902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39"/>
          <p:cNvSpPr/>
          <p:nvPr/>
        </p:nvSpPr>
        <p:spPr>
          <a:xfrm>
            <a:off x="623880" y="1062000"/>
            <a:ext cx="8295840" cy="510876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2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실무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–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포터블형 ⑤⑥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442" name="Shape 40"/>
          <p:cNvSpPr/>
          <p:nvPr/>
        </p:nvSpPr>
        <p:spPr>
          <a:xfrm>
            <a:off x="8992440" y="1062000"/>
            <a:ext cx="2574720" cy="510876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인텔리제이 실행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Clone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URL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입력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https://github.com/313DEVGRP/Java-Service-Tree-Framework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Clone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Claude Code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아이콘 선택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명령 실행 터미널 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-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에디터 화면으로 이동은 우클릭 ‘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Move to Editor’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이후에는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Intellij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안에서만 개발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443" name="직사각형 14"/>
          <p:cNvSpPr/>
          <p:nvPr/>
        </p:nvSpPr>
        <p:spPr>
          <a:xfrm>
            <a:off x="6980400" y="5463360"/>
            <a:ext cx="890640" cy="407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44" name="그림 443"/>
          <p:cNvPicPr/>
          <p:nvPr/>
        </p:nvPicPr>
        <p:blipFill>
          <a:blip r:embed="rId3"/>
          <a:stretch/>
        </p:blipFill>
        <p:spPr>
          <a:xfrm>
            <a:off x="694800" y="1323360"/>
            <a:ext cx="8124480" cy="461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직사각형 16"/>
          <p:cNvSpPr/>
          <p:nvPr/>
        </p:nvSpPr>
        <p:spPr>
          <a:xfrm>
            <a:off x="7920000" y="1260000"/>
            <a:ext cx="236520" cy="236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6" name="타원 12"/>
          <p:cNvSpPr/>
          <p:nvPr/>
        </p:nvSpPr>
        <p:spPr>
          <a:xfrm>
            <a:off x="7740000" y="1080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7" name="직사각형 17"/>
          <p:cNvSpPr/>
          <p:nvPr/>
        </p:nvSpPr>
        <p:spPr>
          <a:xfrm>
            <a:off x="1022760" y="4320000"/>
            <a:ext cx="416520" cy="1792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8" name="타원 13"/>
          <p:cNvSpPr/>
          <p:nvPr/>
        </p:nvSpPr>
        <p:spPr>
          <a:xfrm>
            <a:off x="810360" y="4140000"/>
            <a:ext cx="268920" cy="2685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6;p 2"/>
          <p:cNvSpPr/>
          <p:nvPr/>
        </p:nvSpPr>
        <p:spPr>
          <a:xfrm>
            <a:off x="822960" y="822960"/>
            <a:ext cx="2285280" cy="56628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17;p 3"/>
          <p:cNvSpPr/>
          <p:nvPr/>
        </p:nvSpPr>
        <p:spPr>
          <a:xfrm>
            <a:off x="987480" y="106056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18;p 3"/>
          <p:cNvSpPr/>
          <p:nvPr/>
        </p:nvSpPr>
        <p:spPr>
          <a:xfrm>
            <a:off x="1188720" y="106056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19;p 3"/>
          <p:cNvSpPr/>
          <p:nvPr/>
        </p:nvSpPr>
        <p:spPr>
          <a:xfrm>
            <a:off x="1389960" y="106056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20;p 3"/>
          <p:cNvSpPr/>
          <p:nvPr/>
        </p:nvSpPr>
        <p:spPr>
          <a:xfrm>
            <a:off x="1600200" y="8229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4" name="Google Shape;21;p 3"/>
          <p:cNvSpPr/>
          <p:nvPr/>
        </p:nvSpPr>
        <p:spPr>
          <a:xfrm>
            <a:off x="822960" y="20116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b="0" u="none" strike="noStrike">
                <a:solidFill>
                  <a:schemeClr val="accent3"/>
                </a:solidFill>
                <a:effectLst/>
                <a:uFillTx/>
                <a:latin typeface="프리젠테이션 5 Medium"/>
                <a:ea typeface="프리젠테이션 5 Medium"/>
              </a:rPr>
              <a:t>Multi-agent-starter (</a:t>
            </a:r>
            <a:r>
              <a:rPr lang="ko-KR" sz="4800" b="0" u="none" strike="noStrike">
                <a:solidFill>
                  <a:schemeClr val="accent3"/>
                </a:solidFill>
                <a:effectLst/>
                <a:uFillTx/>
                <a:latin typeface="프리젠테이션 5 Medium"/>
                <a:ea typeface="프리젠테이션 5 Medium"/>
              </a:rPr>
              <a:t>스타터</a:t>
            </a:r>
            <a:r>
              <a:rPr lang="en-US" sz="4800" b="0" u="none" strike="noStrike">
                <a:solidFill>
                  <a:schemeClr val="accent3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4800" b="0" u="none" strike="noStrike">
                <a:solidFill>
                  <a:schemeClr val="accent3"/>
                </a:solidFill>
                <a:effectLst/>
                <a:uFillTx/>
                <a:latin typeface="프리젠테이션 5 Medium"/>
                <a:ea typeface="프리젠테이션 5 Medium"/>
              </a:rPr>
              <a:t>설치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프리젠테이션 6 SemiBold"/>
                <a:ea typeface="프리젠테이션 6 SemiBold"/>
              </a:rPr>
              <a:t>Multi-agent System </a:t>
            </a:r>
            <a:r>
              <a:rPr lang="ko-KR" sz="4800" b="0" u="none" strike="noStrike">
                <a:solidFill>
                  <a:schemeClr val="lt1"/>
                </a:solidFill>
                <a:effectLst/>
                <a:uFillTx/>
                <a:latin typeface="프리젠테이션 6 SemiBold"/>
                <a:ea typeface="프리젠테이션 6 SemiBold"/>
              </a:rPr>
              <a:t>구성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5" name="Google Shape;22;p 3"/>
          <p:cNvSpPr/>
          <p:nvPr/>
        </p:nvSpPr>
        <p:spPr>
          <a:xfrm>
            <a:off x="841320" y="35204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6" name="Google Shape;23;p 3"/>
          <p:cNvSpPr/>
          <p:nvPr/>
        </p:nvSpPr>
        <p:spPr>
          <a:xfrm>
            <a:off x="841320" y="4023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7" name="Google Shape;24;p 3"/>
          <p:cNvSpPr/>
          <p:nvPr/>
        </p:nvSpPr>
        <p:spPr>
          <a:xfrm>
            <a:off x="822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25;p 3"/>
          <p:cNvSpPr/>
          <p:nvPr/>
        </p:nvSpPr>
        <p:spPr>
          <a:xfrm>
            <a:off x="969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9" name="Google Shape;26;p 3"/>
          <p:cNvSpPr/>
          <p:nvPr/>
        </p:nvSpPr>
        <p:spPr>
          <a:xfrm>
            <a:off x="26517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Google Shape;27;p 3"/>
          <p:cNvSpPr/>
          <p:nvPr/>
        </p:nvSpPr>
        <p:spPr>
          <a:xfrm>
            <a:off x="27979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1" name="Google Shape;28;p 3"/>
          <p:cNvSpPr/>
          <p:nvPr/>
        </p:nvSpPr>
        <p:spPr>
          <a:xfrm>
            <a:off x="44805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29;p 3"/>
          <p:cNvSpPr/>
          <p:nvPr/>
        </p:nvSpPr>
        <p:spPr>
          <a:xfrm>
            <a:off x="46267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3" name="Google Shape;30;p 3"/>
          <p:cNvSpPr/>
          <p:nvPr/>
        </p:nvSpPr>
        <p:spPr>
          <a:xfrm>
            <a:off x="63093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Google Shape;31;p 3"/>
          <p:cNvSpPr/>
          <p:nvPr/>
        </p:nvSpPr>
        <p:spPr>
          <a:xfrm>
            <a:off x="64555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5" name="Google Shape;32;p 3"/>
          <p:cNvSpPr/>
          <p:nvPr/>
        </p:nvSpPr>
        <p:spPr>
          <a:xfrm>
            <a:off x="81381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33;p 3"/>
          <p:cNvSpPr/>
          <p:nvPr/>
        </p:nvSpPr>
        <p:spPr>
          <a:xfrm>
            <a:off x="82843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7" name="Google Shape;34;p 3"/>
          <p:cNvSpPr/>
          <p:nvPr/>
        </p:nvSpPr>
        <p:spPr>
          <a:xfrm>
            <a:off x="9966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35;p 3"/>
          <p:cNvSpPr/>
          <p:nvPr/>
        </p:nvSpPr>
        <p:spPr>
          <a:xfrm>
            <a:off x="10113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1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71" name="그림 7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직사각형 20"/>
          <p:cNvSpPr/>
          <p:nvPr/>
        </p:nvSpPr>
        <p:spPr>
          <a:xfrm>
            <a:off x="724320" y="4386240"/>
            <a:ext cx="7987680" cy="2692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3" name="타원 14"/>
          <p:cNvSpPr/>
          <p:nvPr/>
        </p:nvSpPr>
        <p:spPr>
          <a:xfrm>
            <a:off x="623880" y="421560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4" name="Text 2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5" name="Shape 42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3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78" name="그림 8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직사각형 21"/>
          <p:cNvSpPr/>
          <p:nvPr/>
        </p:nvSpPr>
        <p:spPr>
          <a:xfrm>
            <a:off x="724320" y="3963240"/>
            <a:ext cx="8056800" cy="5302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0" name="타원 18"/>
          <p:cNvSpPr/>
          <p:nvPr/>
        </p:nvSpPr>
        <p:spPr>
          <a:xfrm>
            <a:off x="623880" y="379296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2" name="Shape 44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5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③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85" name="그림 9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직사각형 22"/>
          <p:cNvSpPr/>
          <p:nvPr/>
        </p:nvSpPr>
        <p:spPr>
          <a:xfrm>
            <a:off x="724320" y="3963240"/>
            <a:ext cx="8056800" cy="4460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7" name="타원 19"/>
          <p:cNvSpPr/>
          <p:nvPr/>
        </p:nvSpPr>
        <p:spPr>
          <a:xfrm>
            <a:off x="623880" y="379296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8" name="Text 4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9" name="Shape 46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47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92" name="그림 10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직사각형 23"/>
          <p:cNvSpPr/>
          <p:nvPr/>
        </p:nvSpPr>
        <p:spPr>
          <a:xfrm>
            <a:off x="724320" y="3963240"/>
            <a:ext cx="8056800" cy="15033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4" name="타원 20"/>
          <p:cNvSpPr/>
          <p:nvPr/>
        </p:nvSpPr>
        <p:spPr>
          <a:xfrm>
            <a:off x="623880" y="379296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95" name="Text 3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6" name="Shape 48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49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499" name="그림 11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직사각형 24"/>
          <p:cNvSpPr/>
          <p:nvPr/>
        </p:nvSpPr>
        <p:spPr>
          <a:xfrm>
            <a:off x="724320" y="3562200"/>
            <a:ext cx="8056800" cy="12279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1" name="타원 21"/>
          <p:cNvSpPr/>
          <p:nvPr/>
        </p:nvSpPr>
        <p:spPr>
          <a:xfrm>
            <a:off x="623880" y="334512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02" name="Text 8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3" name="Shape 50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51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06" name="그림 12"/>
          <p:cNvPicPr/>
          <p:nvPr/>
        </p:nvPicPr>
        <p:blipFill>
          <a:blip r:embed="rId3"/>
          <a:stretch/>
        </p:blipFill>
        <p:spPr>
          <a:xfrm>
            <a:off x="694800" y="1327680"/>
            <a:ext cx="8155080" cy="457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직사각형 25"/>
          <p:cNvSpPr/>
          <p:nvPr/>
        </p:nvSpPr>
        <p:spPr>
          <a:xfrm>
            <a:off x="3533760" y="2552760"/>
            <a:ext cx="4895280" cy="30758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8" name="타원 22"/>
          <p:cNvSpPr/>
          <p:nvPr/>
        </p:nvSpPr>
        <p:spPr>
          <a:xfrm>
            <a:off x="3398400" y="241776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09" name="Text 9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0" name="Shape 52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3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13" name="그림 13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직사각형 26"/>
          <p:cNvSpPr/>
          <p:nvPr/>
        </p:nvSpPr>
        <p:spPr>
          <a:xfrm>
            <a:off x="724320" y="2581200"/>
            <a:ext cx="8056800" cy="2761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5" name="타원 23"/>
          <p:cNvSpPr/>
          <p:nvPr/>
        </p:nvSpPr>
        <p:spPr>
          <a:xfrm>
            <a:off x="604800" y="244476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16" name="Text 10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517" name="직선 연결선 2"/>
          <p:cNvCxnSpPr/>
          <p:nvPr/>
        </p:nvCxnSpPr>
        <p:spPr>
          <a:xfrm>
            <a:off x="5419440" y="2809800"/>
            <a:ext cx="1544040" cy="720"/>
          </a:xfrm>
          <a:prstGeom prst="straightConnector1">
            <a:avLst/>
          </a:prstGeom>
          <a:ln w="12700">
            <a:solidFill>
              <a:srgbClr val="FF0000"/>
            </a:solidFill>
            <a:round/>
          </a:ln>
        </p:spPr>
      </p:cxnSp>
      <p:sp>
        <p:nvSpPr>
          <p:cNvPr id="518" name="Shape 54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5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21" name="그림 14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직사각형 27"/>
          <p:cNvSpPr/>
          <p:nvPr/>
        </p:nvSpPr>
        <p:spPr>
          <a:xfrm>
            <a:off x="724320" y="2976480"/>
            <a:ext cx="8056800" cy="12751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3" name="타원 24"/>
          <p:cNvSpPr/>
          <p:nvPr/>
        </p:nvSpPr>
        <p:spPr>
          <a:xfrm>
            <a:off x="588960" y="283968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24" name="Text 14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525" name="직선 연결선 1"/>
          <p:cNvCxnSpPr/>
          <p:nvPr/>
        </p:nvCxnSpPr>
        <p:spPr>
          <a:xfrm>
            <a:off x="4009680" y="4181400"/>
            <a:ext cx="2353680" cy="720"/>
          </a:xfrm>
          <a:prstGeom prst="straightConnector1">
            <a:avLst/>
          </a:prstGeom>
          <a:ln w="12700">
            <a:solidFill>
              <a:srgbClr val="FF0000"/>
            </a:solidFill>
            <a:round/>
          </a:ln>
        </p:spPr>
      </p:cxnSp>
      <p:sp>
        <p:nvSpPr>
          <p:cNvPr id="526" name="Shape 56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7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29" name="그림 15"/>
          <p:cNvPicPr/>
          <p:nvPr/>
        </p:nvPicPr>
        <p:blipFill>
          <a:blip r:embed="rId3"/>
          <a:stretch/>
        </p:blipFill>
        <p:spPr>
          <a:xfrm>
            <a:off x="694800" y="1342080"/>
            <a:ext cx="8155080" cy="454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직사각형 28"/>
          <p:cNvSpPr/>
          <p:nvPr/>
        </p:nvSpPr>
        <p:spPr>
          <a:xfrm>
            <a:off x="2590920" y="1657440"/>
            <a:ext cx="6190200" cy="31903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1" name="타원 25"/>
          <p:cNvSpPr/>
          <p:nvPr/>
        </p:nvSpPr>
        <p:spPr>
          <a:xfrm>
            <a:off x="2455560" y="152100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32" name="Text 16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3" name="Shape 58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34" name="직사각형 29"/>
          <p:cNvSpPr/>
          <p:nvPr/>
        </p:nvSpPr>
        <p:spPr>
          <a:xfrm>
            <a:off x="3467160" y="1773000"/>
            <a:ext cx="269640" cy="94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5" name="직사각형 30"/>
          <p:cNvSpPr/>
          <p:nvPr/>
        </p:nvSpPr>
        <p:spPr>
          <a:xfrm>
            <a:off x="1019160" y="3944520"/>
            <a:ext cx="269640" cy="94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9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⑧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38" name="그림 16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직사각형 31"/>
          <p:cNvSpPr/>
          <p:nvPr/>
        </p:nvSpPr>
        <p:spPr>
          <a:xfrm>
            <a:off x="724320" y="2976480"/>
            <a:ext cx="8056800" cy="19105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0" name="타원 26"/>
          <p:cNvSpPr/>
          <p:nvPr/>
        </p:nvSpPr>
        <p:spPr>
          <a:xfrm>
            <a:off x="588960" y="283968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1" name="Text 20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2" name="Shape 60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3" name="직사각형 32"/>
          <p:cNvSpPr/>
          <p:nvPr/>
        </p:nvSpPr>
        <p:spPr>
          <a:xfrm>
            <a:off x="724320" y="1613880"/>
            <a:ext cx="8056800" cy="2692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61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⑧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46" name="그림 17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직사각형 33"/>
          <p:cNvSpPr/>
          <p:nvPr/>
        </p:nvSpPr>
        <p:spPr>
          <a:xfrm>
            <a:off x="724320" y="1647720"/>
            <a:ext cx="8056800" cy="30186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8" name="타원 27"/>
          <p:cNvSpPr/>
          <p:nvPr/>
        </p:nvSpPr>
        <p:spPr>
          <a:xfrm>
            <a:off x="588960" y="151272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9" name="Text 21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0" name="Shape 62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63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스타터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설치 – 멀티 에이전트 시스템 구성 ⑧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53" name="그림 18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직사각형 34"/>
          <p:cNvSpPr/>
          <p:nvPr/>
        </p:nvSpPr>
        <p:spPr>
          <a:xfrm>
            <a:off x="724320" y="2219400"/>
            <a:ext cx="8056800" cy="25614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5" name="타원 28"/>
          <p:cNvSpPr/>
          <p:nvPr/>
        </p:nvSpPr>
        <p:spPr>
          <a:xfrm>
            <a:off x="588960" y="208296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56" name="Text 22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7" name="Shape 64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“멀티 에이전트 시스템 구성해줘” 입력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Flavor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 – 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claude”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설치 경로 선택 – “현재 작업 폴더”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Flavor ,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설치경로 제출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(submit)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(Python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없는 경우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진행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생성기 실행 및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디렉토리에 스타터 설치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사용법 확인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(1, 2, 3)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16;p 3"/>
          <p:cNvSpPr/>
          <p:nvPr/>
        </p:nvSpPr>
        <p:spPr>
          <a:xfrm>
            <a:off x="822960" y="822960"/>
            <a:ext cx="2285280" cy="56628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Google Shape;17;p 4"/>
          <p:cNvSpPr/>
          <p:nvPr/>
        </p:nvSpPr>
        <p:spPr>
          <a:xfrm>
            <a:off x="987480" y="106056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Google Shape;18;p 4"/>
          <p:cNvSpPr/>
          <p:nvPr/>
        </p:nvSpPr>
        <p:spPr>
          <a:xfrm>
            <a:off x="1188720" y="106056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Google Shape;19;p 4"/>
          <p:cNvSpPr/>
          <p:nvPr/>
        </p:nvSpPr>
        <p:spPr>
          <a:xfrm>
            <a:off x="1389960" y="106056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Google Shape;20;p 4"/>
          <p:cNvSpPr/>
          <p:nvPr/>
        </p:nvSpPr>
        <p:spPr>
          <a:xfrm>
            <a:off x="1600200" y="8229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3" name="Google Shape;21;p 4"/>
          <p:cNvSpPr/>
          <p:nvPr/>
        </p:nvSpPr>
        <p:spPr>
          <a:xfrm>
            <a:off x="822960" y="20116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프리젠테이션 5 Medium"/>
                <a:ea typeface="프리젠테이션 5 Medium"/>
              </a:rPr>
              <a:t>TUI  </a:t>
            </a:r>
            <a:r>
              <a:rPr lang="ko-KR" sz="4800" b="0" u="none" strike="noStrike">
                <a:solidFill>
                  <a:srgbClr val="FFFFFF"/>
                </a:solidFill>
                <a:effectLst/>
                <a:uFillTx/>
                <a:latin typeface="프리젠테이션 5 Medium"/>
                <a:ea typeface="프리젠테이션 5 Medium"/>
              </a:rPr>
              <a:t>모니터링 툴 설치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4" name="Google Shape;22;p 4"/>
          <p:cNvSpPr/>
          <p:nvPr/>
        </p:nvSpPr>
        <p:spPr>
          <a:xfrm>
            <a:off x="841320" y="35204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5" name="Google Shape;23;p 4"/>
          <p:cNvSpPr/>
          <p:nvPr/>
        </p:nvSpPr>
        <p:spPr>
          <a:xfrm>
            <a:off x="841320" y="4023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6" name="Google Shape;24;p 4"/>
          <p:cNvSpPr/>
          <p:nvPr/>
        </p:nvSpPr>
        <p:spPr>
          <a:xfrm>
            <a:off x="822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Google Shape;25;p 4"/>
          <p:cNvSpPr/>
          <p:nvPr/>
        </p:nvSpPr>
        <p:spPr>
          <a:xfrm>
            <a:off x="969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8" name="Google Shape;26;p 4"/>
          <p:cNvSpPr/>
          <p:nvPr/>
        </p:nvSpPr>
        <p:spPr>
          <a:xfrm>
            <a:off x="26517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Google Shape;27;p 4"/>
          <p:cNvSpPr/>
          <p:nvPr/>
        </p:nvSpPr>
        <p:spPr>
          <a:xfrm>
            <a:off x="27979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0" name="Google Shape;28;p 4"/>
          <p:cNvSpPr/>
          <p:nvPr/>
        </p:nvSpPr>
        <p:spPr>
          <a:xfrm>
            <a:off x="44805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Google Shape;29;p 4"/>
          <p:cNvSpPr/>
          <p:nvPr/>
        </p:nvSpPr>
        <p:spPr>
          <a:xfrm>
            <a:off x="46267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2" name="Google Shape;30;p 4"/>
          <p:cNvSpPr/>
          <p:nvPr/>
        </p:nvSpPr>
        <p:spPr>
          <a:xfrm>
            <a:off x="63093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Google Shape;31;p 4"/>
          <p:cNvSpPr/>
          <p:nvPr/>
        </p:nvSpPr>
        <p:spPr>
          <a:xfrm>
            <a:off x="64555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4" name="Google Shape;32;p 4"/>
          <p:cNvSpPr/>
          <p:nvPr/>
        </p:nvSpPr>
        <p:spPr>
          <a:xfrm>
            <a:off x="81381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Google Shape;33;p 4"/>
          <p:cNvSpPr/>
          <p:nvPr/>
        </p:nvSpPr>
        <p:spPr>
          <a:xfrm>
            <a:off x="82843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76" name="Google Shape;34;p 4"/>
          <p:cNvSpPr/>
          <p:nvPr/>
        </p:nvSpPr>
        <p:spPr>
          <a:xfrm>
            <a:off x="9966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Google Shape;35;p 4"/>
          <p:cNvSpPr/>
          <p:nvPr/>
        </p:nvSpPr>
        <p:spPr>
          <a:xfrm>
            <a:off x="10113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65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설치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(MAC)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580" name="Shape 66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명령어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</a:t>
            </a:r>
            <a:br>
              <a:rPr sz="1400" dirty="0"/>
            </a:b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brew install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netwaif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/tap/mat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→ MAT(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및 실행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   (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모니터링 할 디렉토리 설정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→ MAT(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 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 및 실행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  (mat 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시작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1" name="Text 26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582" name="그림 19"/>
          <p:cNvPicPr/>
          <p:nvPr/>
        </p:nvPicPr>
        <p:blipFill>
          <a:blip r:embed="rId3"/>
          <a:stretch/>
        </p:blipFill>
        <p:spPr>
          <a:xfrm>
            <a:off x="1076760" y="1417320"/>
            <a:ext cx="7390800" cy="439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직사각형 35"/>
          <p:cNvSpPr/>
          <p:nvPr/>
        </p:nvSpPr>
        <p:spPr>
          <a:xfrm>
            <a:off x="1141200" y="1932120"/>
            <a:ext cx="4249080" cy="169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84" name="타원 29"/>
          <p:cNvSpPr/>
          <p:nvPr/>
        </p:nvSpPr>
        <p:spPr>
          <a:xfrm>
            <a:off x="970560" y="179568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67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설치 및 실행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(Windows)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87" name="그림 20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Shape 68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 GoLang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(winget install GoLang.Go)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이동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 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git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클론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프리젠테이션 5 Medium"/>
              </a:rPr>
              <a:t> 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git clone https://github.com/netwaif/mat.git)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폴더로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mat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빌드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go build -o mat.exe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　．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mat – env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→ 오케스트레이터의 디렉토리 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$env:MAT_ROOT =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 화면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(task 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.\mat.exe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9" name="직사각형 36"/>
          <p:cNvSpPr/>
          <p:nvPr/>
        </p:nvSpPr>
        <p:spPr>
          <a:xfrm>
            <a:off x="1866960" y="3876840"/>
            <a:ext cx="2913840" cy="11613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7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1" name="직사각형 37"/>
          <p:cNvSpPr/>
          <p:nvPr/>
        </p:nvSpPr>
        <p:spPr>
          <a:xfrm>
            <a:off x="724320" y="2376360"/>
            <a:ext cx="3066120" cy="169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92" name="타원 30"/>
          <p:cNvSpPr/>
          <p:nvPr/>
        </p:nvSpPr>
        <p:spPr>
          <a:xfrm>
            <a:off x="588960" y="221940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69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설치 및 실행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(Windows) 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②③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595" name="그림 21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직사각형 38"/>
          <p:cNvSpPr/>
          <p:nvPr/>
        </p:nvSpPr>
        <p:spPr>
          <a:xfrm>
            <a:off x="724320" y="1628640"/>
            <a:ext cx="8056800" cy="24854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28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9" name="Shape 70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 GoLang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(winget install GoLang.Go)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이동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 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git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클론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프리젠테이션 5 Medium"/>
              </a:rPr>
              <a:t> 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git clone https://github.com/netwaif/mat.git)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폴더로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mat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빌드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go build -o mat.exe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　．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mat – env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→ 오케스트레이터의 디렉토리 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$env:MAT_ROOT =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 화면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(task 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.\mat.exe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0" name="타원 32"/>
          <p:cNvSpPr/>
          <p:nvPr/>
        </p:nvSpPr>
        <p:spPr>
          <a:xfrm>
            <a:off x="6802947" y="1578891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직사각형 38">
            <a:extLst>
              <a:ext uri="{FF2B5EF4-FFF2-40B4-BE49-F238E27FC236}">
                <a16:creationId xmlns:a16="http://schemas.microsoft.com/office/drawing/2014/main" id="{752BD2F0-05FC-D16D-F6BE-97531E457724}"/>
              </a:ext>
            </a:extLst>
          </p:cNvPr>
          <p:cNvSpPr/>
          <p:nvPr/>
        </p:nvSpPr>
        <p:spPr>
          <a:xfrm>
            <a:off x="694800" y="1628280"/>
            <a:ext cx="3100452" cy="219891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97" name="타원 31"/>
          <p:cNvSpPr/>
          <p:nvPr/>
        </p:nvSpPr>
        <p:spPr>
          <a:xfrm>
            <a:off x="588960" y="149364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71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설치 및 실행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(Windows)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603" name="그림 22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직사각형 39"/>
          <p:cNvSpPr/>
          <p:nvPr/>
        </p:nvSpPr>
        <p:spPr>
          <a:xfrm>
            <a:off x="724320" y="2300760"/>
            <a:ext cx="8056800" cy="9136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5" name="타원 33"/>
          <p:cNvSpPr/>
          <p:nvPr/>
        </p:nvSpPr>
        <p:spPr>
          <a:xfrm>
            <a:off x="588960" y="216576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6" name="Text 32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7" name="Shape 72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 GoLang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(winget install GoLang.Go)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이동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 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git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클론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프리젠테이션 5 Medium"/>
              </a:rPr>
              <a:t> 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git clone https://github.com/netwaif/mat.git)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폴더로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mat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빌드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go build -o mat.exe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　．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mat – env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→ 오케스트레이터의 디렉토리 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$env:MAT_ROOT =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 화면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(task 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.\mat.exe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Shape 73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설치 및 실행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(Windows)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610" name="그림 23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45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1" name="직사각형 40"/>
          <p:cNvSpPr/>
          <p:nvPr/>
        </p:nvSpPr>
        <p:spPr>
          <a:xfrm>
            <a:off x="724320" y="3200400"/>
            <a:ext cx="8056800" cy="25138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12" name="타원 34"/>
          <p:cNvSpPr/>
          <p:nvPr/>
        </p:nvSpPr>
        <p:spPr>
          <a:xfrm>
            <a:off x="588960" y="306540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13" name="Text 33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4" name="Shape 74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 GoLang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(winget install GoLang.Go)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이동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 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git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클론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git clone https://github.com/netwaif/mat.git)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폴더로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mat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빌드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go build -o mat.exe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　．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윈도우에서 오류시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$env:Path += ";C:\Program Files\Go\bin;$env:USERPROFILE\go\bin“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mat – env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→ 오케스트레이터의 디렉토리 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$env:MAT_ROOT =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 화면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(task 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.\mat.exe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75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설치 및 실행 ⑥⑦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pic>
        <p:nvPicPr>
          <p:cNvPr id="617" name="그림 24"/>
          <p:cNvPicPr/>
          <p:nvPr/>
        </p:nvPicPr>
        <p:blipFill>
          <a:blip r:embed="rId3"/>
          <a:stretch/>
        </p:blipFill>
        <p:spPr>
          <a:xfrm>
            <a:off x="694800" y="1323360"/>
            <a:ext cx="8155080" cy="80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직사각형 41"/>
          <p:cNvSpPr/>
          <p:nvPr/>
        </p:nvSpPr>
        <p:spPr>
          <a:xfrm>
            <a:off x="724320" y="1628640"/>
            <a:ext cx="8056800" cy="304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19" name="타원 35"/>
          <p:cNvSpPr/>
          <p:nvPr/>
        </p:nvSpPr>
        <p:spPr>
          <a:xfrm>
            <a:off x="588960" y="149364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20" name="Text 34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6232F"/>
                </a:solidFill>
                <a:effectLst/>
                <a:uFillTx/>
                <a:latin typeface="프리젠테이션 5 Medium"/>
                <a:ea typeface="프리젠테이션 5 Medium"/>
              </a:rPr>
              <a:t>flavor: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claude (claude-main·codex-main·codex-critic·gemini) / codex / antigravity  · 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생성 직후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validate.py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가 불변식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PASS/FAIL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검증 →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PASS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확인 후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1" name="Shape 76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 GoLang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설치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(winget install GoLang.Go)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repository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이동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폴더로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작업 폴더 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git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클론</a:t>
            </a:r>
            <a:br>
              <a:rPr sz="1200"/>
            </a:b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git clone https://github.com/netwaif/mat.git)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폴더로 이동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cd mat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빌드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go build -o mat.exe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　．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mat – env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→ 오케스트레이터의 디렉토리 설정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$env:MAT_ROOT = “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경로”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mat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 화면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(task 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.\mat.exe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22" name="그림 25"/>
          <p:cNvPicPr/>
          <p:nvPr/>
        </p:nvPicPr>
        <p:blipFill>
          <a:blip r:embed="rId3"/>
          <a:stretch/>
        </p:blipFill>
        <p:spPr>
          <a:xfrm>
            <a:off x="694800" y="2214000"/>
            <a:ext cx="8155080" cy="80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직사각형 42"/>
          <p:cNvSpPr/>
          <p:nvPr/>
        </p:nvSpPr>
        <p:spPr>
          <a:xfrm>
            <a:off x="724320" y="2710440"/>
            <a:ext cx="8056800" cy="3045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4" name="타원 36"/>
          <p:cNvSpPr/>
          <p:nvPr/>
        </p:nvSpPr>
        <p:spPr>
          <a:xfrm>
            <a:off x="571680" y="258444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25" name="그림 26"/>
          <p:cNvPicPr/>
          <p:nvPr/>
        </p:nvPicPr>
        <p:blipFill>
          <a:blip r:embed="rId4"/>
          <a:stretch/>
        </p:blipFill>
        <p:spPr>
          <a:xfrm>
            <a:off x="694800" y="3104640"/>
            <a:ext cx="8155080" cy="28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직사각형 43"/>
          <p:cNvSpPr/>
          <p:nvPr/>
        </p:nvSpPr>
        <p:spPr>
          <a:xfrm>
            <a:off x="724320" y="3475080"/>
            <a:ext cx="8056800" cy="25171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7" name="타원 37"/>
          <p:cNvSpPr/>
          <p:nvPr/>
        </p:nvSpPr>
        <p:spPr>
          <a:xfrm>
            <a:off x="571680" y="3349440"/>
            <a:ext cx="2696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16;p 4"/>
          <p:cNvSpPr/>
          <p:nvPr/>
        </p:nvSpPr>
        <p:spPr>
          <a:xfrm>
            <a:off x="822960" y="822960"/>
            <a:ext cx="2285280" cy="56628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Google Shape;17;p 5"/>
          <p:cNvSpPr/>
          <p:nvPr/>
        </p:nvSpPr>
        <p:spPr>
          <a:xfrm>
            <a:off x="987480" y="106056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Google Shape;18;p 5"/>
          <p:cNvSpPr/>
          <p:nvPr/>
        </p:nvSpPr>
        <p:spPr>
          <a:xfrm>
            <a:off x="1188720" y="106056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Google Shape;19;p 5"/>
          <p:cNvSpPr/>
          <p:nvPr/>
        </p:nvSpPr>
        <p:spPr>
          <a:xfrm>
            <a:off x="1389960" y="106056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Google Shape;20;p 5"/>
          <p:cNvSpPr/>
          <p:nvPr/>
        </p:nvSpPr>
        <p:spPr>
          <a:xfrm>
            <a:off x="1600200" y="8229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3" name="Google Shape;21;p 5"/>
          <p:cNvSpPr/>
          <p:nvPr/>
        </p:nvSpPr>
        <p:spPr>
          <a:xfrm>
            <a:off x="822960" y="20116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프리젠테이션 5 Medium"/>
                <a:ea typeface="프리젠테이션 5 Medium"/>
              </a:rPr>
              <a:t>MSA </a:t>
            </a:r>
            <a:r>
              <a:rPr lang="ko-KR" sz="4800" b="0" u="none" strike="noStrike">
                <a:solidFill>
                  <a:srgbClr val="FFFFFF"/>
                </a:solidFill>
                <a:effectLst/>
                <a:uFillTx/>
                <a:latin typeface="프리젠테이션 5 Medium"/>
                <a:ea typeface="프리젠테이션 5 Medium"/>
              </a:rPr>
              <a:t>구조에서 인공지능을 활용한 개발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4" name="Google Shape;22;p 5"/>
          <p:cNvSpPr/>
          <p:nvPr/>
        </p:nvSpPr>
        <p:spPr>
          <a:xfrm>
            <a:off x="841320" y="35204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5" name="Google Shape;23;p 5"/>
          <p:cNvSpPr/>
          <p:nvPr/>
        </p:nvSpPr>
        <p:spPr>
          <a:xfrm>
            <a:off x="841320" y="4023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6" name="Google Shape;24;p 5"/>
          <p:cNvSpPr/>
          <p:nvPr/>
        </p:nvSpPr>
        <p:spPr>
          <a:xfrm>
            <a:off x="822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25;p 5"/>
          <p:cNvSpPr/>
          <p:nvPr/>
        </p:nvSpPr>
        <p:spPr>
          <a:xfrm>
            <a:off x="969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8" name="Google Shape;26;p 5"/>
          <p:cNvSpPr/>
          <p:nvPr/>
        </p:nvSpPr>
        <p:spPr>
          <a:xfrm>
            <a:off x="26517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27;p 5"/>
          <p:cNvSpPr/>
          <p:nvPr/>
        </p:nvSpPr>
        <p:spPr>
          <a:xfrm>
            <a:off x="27979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40" name="Google Shape;28;p 5"/>
          <p:cNvSpPr/>
          <p:nvPr/>
        </p:nvSpPr>
        <p:spPr>
          <a:xfrm>
            <a:off x="44805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Google Shape;29;p 5"/>
          <p:cNvSpPr/>
          <p:nvPr/>
        </p:nvSpPr>
        <p:spPr>
          <a:xfrm>
            <a:off x="46267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42" name="Google Shape;30;p 5"/>
          <p:cNvSpPr/>
          <p:nvPr/>
        </p:nvSpPr>
        <p:spPr>
          <a:xfrm>
            <a:off x="63093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Google Shape;31;p 5"/>
          <p:cNvSpPr/>
          <p:nvPr/>
        </p:nvSpPr>
        <p:spPr>
          <a:xfrm>
            <a:off x="64555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44" name="Google Shape;32;p 5"/>
          <p:cNvSpPr/>
          <p:nvPr/>
        </p:nvSpPr>
        <p:spPr>
          <a:xfrm>
            <a:off x="81381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Google Shape;33;p 5"/>
          <p:cNvSpPr/>
          <p:nvPr/>
        </p:nvSpPr>
        <p:spPr>
          <a:xfrm>
            <a:off x="82843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46" name="Google Shape;34;p 5"/>
          <p:cNvSpPr/>
          <p:nvPr/>
        </p:nvSpPr>
        <p:spPr>
          <a:xfrm>
            <a:off x="9966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Google Shape;35;p 5"/>
          <p:cNvSpPr/>
          <p:nvPr/>
        </p:nvSpPr>
        <p:spPr>
          <a:xfrm>
            <a:off x="10113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77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MSA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구조에서 인공지능을 활용한 개발 방식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650" name="Shape 78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멀티에이전트와 서브에이전트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프로젝트에 하네스 문서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인공지능 활용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개발 준비 완료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51" name="Text 38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먼저 가벼운 프롬프트로 가용 가능한 에이전트 들을 물어보자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. Prompt :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멀티에이전트와 서브에이전트 목록 알려줘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2" name="직사각형 44"/>
          <p:cNvSpPr/>
          <p:nvPr/>
        </p:nvSpPr>
        <p:spPr>
          <a:xfrm>
            <a:off x="1649520" y="3856680"/>
            <a:ext cx="536760" cy="1796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3" name="타원 38"/>
          <p:cNvSpPr/>
          <p:nvPr/>
        </p:nvSpPr>
        <p:spPr>
          <a:xfrm>
            <a:off x="1729080" y="348480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54" name="Picture 2" descr="A screenshot of a computer&#10;&#10;AI-generated content may be incorrect."/>
          <p:cNvPicPr/>
          <p:nvPr/>
        </p:nvPicPr>
        <p:blipFill>
          <a:blip r:embed="rId3"/>
          <a:stretch/>
        </p:blipFill>
        <p:spPr>
          <a:xfrm>
            <a:off x="742320" y="1216800"/>
            <a:ext cx="8078400" cy="48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직사각형 45"/>
          <p:cNvSpPr/>
          <p:nvPr/>
        </p:nvSpPr>
        <p:spPr>
          <a:xfrm>
            <a:off x="760320" y="1433880"/>
            <a:ext cx="5128200" cy="199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6" name="타원 39"/>
          <p:cNvSpPr/>
          <p:nvPr/>
        </p:nvSpPr>
        <p:spPr>
          <a:xfrm>
            <a:off x="263520" y="140364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57" name="직사각형 46"/>
          <p:cNvSpPr/>
          <p:nvPr/>
        </p:nvSpPr>
        <p:spPr>
          <a:xfrm>
            <a:off x="1072800" y="1218960"/>
            <a:ext cx="917640" cy="1893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hape 79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MSA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구조에서 인공지능을 활용한 개발 방식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660" name="Shape 80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멀티에이전트와 서브에이전트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프로젝트에 하네스 문서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인공지능 활용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개발 준비 완료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61" name="Text 40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MSA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프로젝트 모듈들을 오케스트레이터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( Java-Service-Tree-Framework )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폴더 하위에 로드 시킨다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662" name="Picture 1"/>
          <p:cNvPicPr/>
          <p:nvPr/>
        </p:nvPicPr>
        <p:blipFill>
          <a:blip r:embed="rId3"/>
          <a:stretch/>
        </p:blipFill>
        <p:spPr>
          <a:xfrm>
            <a:off x="732600" y="1259280"/>
            <a:ext cx="8186040" cy="478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직사각형 47"/>
          <p:cNvSpPr/>
          <p:nvPr/>
        </p:nvSpPr>
        <p:spPr>
          <a:xfrm>
            <a:off x="3046320" y="2029680"/>
            <a:ext cx="3575160" cy="32569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64" name="타원 40"/>
          <p:cNvSpPr/>
          <p:nvPr/>
        </p:nvSpPr>
        <p:spPr>
          <a:xfrm>
            <a:off x="2862360" y="157968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65" name="직사각형 48"/>
          <p:cNvSpPr/>
          <p:nvPr/>
        </p:nvSpPr>
        <p:spPr>
          <a:xfrm>
            <a:off x="2382120" y="1179720"/>
            <a:ext cx="361080" cy="3067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2"/>
          <p:cNvSpPr/>
          <p:nvPr/>
        </p:nvSpPr>
        <p:spPr>
          <a:xfrm>
            <a:off x="2739600" y="1019160"/>
            <a:ext cx="16178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git &gt; clone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81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MSA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구조에서 인공지능을 활용한 개발 방식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669" name="Shape 82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멀티에이전트와 서브에이전트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프로젝트에 하네스 문서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인공지능 활용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개발 준비 완료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70" name="Text 41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각각의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 MSA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모듈마다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docs/ai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아래 하네스 문서가 정의되어 있어햐한다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671" name="Picture 4"/>
          <p:cNvPicPr/>
          <p:nvPr/>
        </p:nvPicPr>
        <p:blipFill>
          <a:blip r:embed="rId3"/>
          <a:stretch/>
        </p:blipFill>
        <p:spPr>
          <a:xfrm>
            <a:off x="762120" y="1208880"/>
            <a:ext cx="8019720" cy="482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2" name="직사각형 49"/>
          <p:cNvSpPr/>
          <p:nvPr/>
        </p:nvSpPr>
        <p:spPr>
          <a:xfrm>
            <a:off x="946080" y="2606040"/>
            <a:ext cx="1826280" cy="20552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73" name="타원 41"/>
          <p:cNvSpPr/>
          <p:nvPr/>
        </p:nvSpPr>
        <p:spPr>
          <a:xfrm>
            <a:off x="576360" y="247824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83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MSA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구조에서 인공지능을 활용한 개발 방식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676" name="Shape 84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멀티에이전트와 서브에이전트 확인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프로젝트에 하네스 문서 로드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인공지능 활용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MSA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프로젝트 개발 준비 완료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677" name="Text 42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오케스트레이터 아래 인공지능을 활용하여 개발 할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MSA </a:t>
            </a:r>
            <a:r>
              <a:rPr lang="ko-KR" sz="1150" b="0" u="none" strike="noStrike">
                <a:solidFill>
                  <a:srgbClr val="64748B"/>
                </a:solidFill>
                <a:effectLst/>
                <a:uFillTx/>
                <a:latin typeface="프리젠테이션 5 Medium"/>
                <a:ea typeface="프리젠테이션 5 Medium"/>
              </a:rPr>
              <a:t>모듈들이 로드되어 있는 모습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678" name="Picture 3"/>
          <p:cNvPicPr/>
          <p:nvPr/>
        </p:nvPicPr>
        <p:blipFill>
          <a:blip r:embed="rId3"/>
          <a:stretch/>
        </p:blipFill>
        <p:spPr>
          <a:xfrm>
            <a:off x="762120" y="1248840"/>
            <a:ext cx="8068680" cy="47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직사각형 50"/>
          <p:cNvSpPr/>
          <p:nvPr/>
        </p:nvSpPr>
        <p:spPr>
          <a:xfrm>
            <a:off x="1082880" y="2430360"/>
            <a:ext cx="1787400" cy="101016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80" name="타원 42"/>
          <p:cNvSpPr/>
          <p:nvPr/>
        </p:nvSpPr>
        <p:spPr>
          <a:xfrm>
            <a:off x="624960" y="242964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16;p 5"/>
          <p:cNvSpPr/>
          <p:nvPr/>
        </p:nvSpPr>
        <p:spPr>
          <a:xfrm>
            <a:off x="822960" y="822960"/>
            <a:ext cx="2285280" cy="56628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Google Shape;17;p 1"/>
          <p:cNvSpPr/>
          <p:nvPr/>
        </p:nvSpPr>
        <p:spPr>
          <a:xfrm>
            <a:off x="987480" y="106056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Google Shape;18;p 1"/>
          <p:cNvSpPr/>
          <p:nvPr/>
        </p:nvSpPr>
        <p:spPr>
          <a:xfrm>
            <a:off x="1188720" y="106056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Google Shape;19;p 1"/>
          <p:cNvSpPr/>
          <p:nvPr/>
        </p:nvSpPr>
        <p:spPr>
          <a:xfrm>
            <a:off x="1389960" y="106056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Google Shape;20;p 1"/>
          <p:cNvSpPr/>
          <p:nvPr/>
        </p:nvSpPr>
        <p:spPr>
          <a:xfrm>
            <a:off x="1600200" y="8229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6" name="Google Shape;21;p 1"/>
          <p:cNvSpPr/>
          <p:nvPr/>
        </p:nvSpPr>
        <p:spPr>
          <a:xfrm>
            <a:off x="822960" y="20116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프리젠테이션 5 Medium"/>
                <a:ea typeface="프리젠테이션 5 Medium"/>
              </a:rPr>
              <a:t>TUI  </a:t>
            </a:r>
            <a:r>
              <a:rPr lang="ko-KR" sz="4800" b="0" u="none" strike="noStrike">
                <a:solidFill>
                  <a:srgbClr val="FFFFFF"/>
                </a:solidFill>
                <a:effectLst/>
                <a:uFillTx/>
                <a:latin typeface="프리젠테이션 5 Medium"/>
                <a:ea typeface="프리젠테이션 5 Medium"/>
              </a:rPr>
              <a:t>모니터링 툴 사용하기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7" name="Google Shape;22;p 1"/>
          <p:cNvSpPr/>
          <p:nvPr/>
        </p:nvSpPr>
        <p:spPr>
          <a:xfrm>
            <a:off x="841320" y="35204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8" name="Google Shape;23;p 1"/>
          <p:cNvSpPr/>
          <p:nvPr/>
        </p:nvSpPr>
        <p:spPr>
          <a:xfrm>
            <a:off x="841320" y="4023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9" name="Google Shape;24;p 1"/>
          <p:cNvSpPr/>
          <p:nvPr/>
        </p:nvSpPr>
        <p:spPr>
          <a:xfrm>
            <a:off x="822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Google Shape;25;p 1"/>
          <p:cNvSpPr/>
          <p:nvPr/>
        </p:nvSpPr>
        <p:spPr>
          <a:xfrm>
            <a:off x="969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1" name="Google Shape;26;p 1"/>
          <p:cNvSpPr/>
          <p:nvPr/>
        </p:nvSpPr>
        <p:spPr>
          <a:xfrm>
            <a:off x="26517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Google Shape;27;p 1"/>
          <p:cNvSpPr/>
          <p:nvPr/>
        </p:nvSpPr>
        <p:spPr>
          <a:xfrm>
            <a:off x="27979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3" name="Google Shape;28;p 1"/>
          <p:cNvSpPr/>
          <p:nvPr/>
        </p:nvSpPr>
        <p:spPr>
          <a:xfrm>
            <a:off x="44805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Google Shape;29;p 1"/>
          <p:cNvSpPr/>
          <p:nvPr/>
        </p:nvSpPr>
        <p:spPr>
          <a:xfrm>
            <a:off x="46267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5" name="Google Shape;30;p 1"/>
          <p:cNvSpPr/>
          <p:nvPr/>
        </p:nvSpPr>
        <p:spPr>
          <a:xfrm>
            <a:off x="63093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Google Shape;31;p 1"/>
          <p:cNvSpPr/>
          <p:nvPr/>
        </p:nvSpPr>
        <p:spPr>
          <a:xfrm>
            <a:off x="64555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7" name="Google Shape;32;p 1"/>
          <p:cNvSpPr/>
          <p:nvPr/>
        </p:nvSpPr>
        <p:spPr>
          <a:xfrm>
            <a:off x="81381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Google Shape;33;p 1"/>
          <p:cNvSpPr/>
          <p:nvPr/>
        </p:nvSpPr>
        <p:spPr>
          <a:xfrm>
            <a:off x="82843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9" name="Google Shape;34;p 1"/>
          <p:cNvSpPr/>
          <p:nvPr/>
        </p:nvSpPr>
        <p:spPr>
          <a:xfrm>
            <a:off x="9966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35;p 1"/>
          <p:cNvSpPr/>
          <p:nvPr/>
        </p:nvSpPr>
        <p:spPr>
          <a:xfrm>
            <a:off x="10113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85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실습 ①</a:t>
            </a:r>
            <a:r>
              <a:rPr lang="ko-KR" altLang="en-US"/>
              <a:t> - Claude Code 실행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703" name="Shape 86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인텔리제이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내부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Claude Code Plugin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②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모니터링용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새로운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Terminal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추가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③ cd .\monitoring\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endParaRPr lang="en-US" sz="1200" dirty="0">
              <a:solidFill>
                <a:srgbClr val="000000"/>
              </a:solidFill>
              <a:latin typeface="Segoe UI"/>
              <a:ea typeface="프리젠테이션 5 Medium"/>
              <a:cs typeface="Segoe UI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④ mat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빌드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go build -o mat.exe .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⑤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폴더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오케스트레이션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환경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변수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설정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⑥ .\mat.exe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⑦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테스크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선택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단축키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⑧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에이전트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endParaRPr lang="en-US" sz="1200" dirty="0" err="1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04" name="Text 43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150" b="0" u="none" strike="noStrike">
              <a:solidFill>
                <a:srgbClr val="64748B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05" name="타원 43"/>
          <p:cNvSpPr/>
          <p:nvPr/>
        </p:nvSpPr>
        <p:spPr>
          <a:xfrm>
            <a:off x="7571160" y="79812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706" name="Grafik 1"/>
          <p:cNvPicPr/>
          <p:nvPr/>
        </p:nvPicPr>
        <p:blipFill>
          <a:blip r:embed="rId3"/>
          <a:stretch/>
        </p:blipFill>
        <p:spPr>
          <a:xfrm>
            <a:off x="771840" y="1117080"/>
            <a:ext cx="7990560" cy="499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직사각형 51"/>
          <p:cNvSpPr/>
          <p:nvPr/>
        </p:nvSpPr>
        <p:spPr>
          <a:xfrm>
            <a:off x="7491240" y="1121040"/>
            <a:ext cx="536760" cy="1796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Box 1"/>
          <p:cNvSpPr/>
          <p:nvPr/>
        </p:nvSpPr>
        <p:spPr>
          <a:xfrm>
            <a:off x="632525" y="6311880"/>
            <a:ext cx="10934319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lIns="90000" tIns="45000" rIns="90000" bIns="45000" numCol="1" spcCol="0" anchor="t">
            <a:spAutoFit/>
          </a:bodyPr>
          <a:lstStyle/>
          <a:p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35-40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페이지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 TUI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모니터링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툴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설치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) 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내용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응용이다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앞선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페이지에서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설치한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mat가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이미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monitoring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으로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내장되어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있다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endParaRPr lang="en-US" sz="14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 mat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폴더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== monitoring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폴더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87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ko-KR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ko-KR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실습 ②</a:t>
            </a:r>
            <a:r>
              <a:rPr lang="ko-KR" altLang="en-US" dirty="0"/>
              <a:t> </a:t>
            </a:r>
            <a:r>
              <a:rPr lang="en-US" altLang="ko-KR"/>
              <a:t>-</a:t>
            </a:r>
            <a:r>
              <a:rPr lang="ko-KR" altLang="en-US"/>
              <a:t> 모니터링용 Terminal 추가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711" name="Shape 88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인텔리제이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내부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Claude Code Plugin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②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모니터링용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새로운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Terminal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추가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③ cd .\monitoring\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endParaRPr lang="en-US" sz="1200" dirty="0">
              <a:solidFill>
                <a:srgbClr val="000000"/>
              </a:solidFill>
              <a:latin typeface="Segoe UI"/>
              <a:ea typeface="프리젠테이션 5 Medium"/>
              <a:cs typeface="Segoe UI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④ mat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빌드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go build -o mat.exe .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⑤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폴더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오케스트레이션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환경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변수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설정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⑥ .\mat.exe 실행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⑦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테스크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선택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단축키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⑧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에이전트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endParaRPr lang="en-US" sz="1200" dirty="0" err="1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12" name="Text 44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150" b="0" u="none" strike="noStrike">
              <a:solidFill>
                <a:srgbClr val="64748B"/>
              </a:solidFill>
              <a:effectLst/>
              <a:uFillTx/>
              <a:latin typeface="프리젠테이션 5 Medium"/>
            </a:endParaRPr>
          </a:p>
        </p:txBody>
      </p:sp>
      <p:pic>
        <p:nvPicPr>
          <p:cNvPr id="713" name="Picture 6"/>
          <p:cNvPicPr/>
          <p:nvPr/>
        </p:nvPicPr>
        <p:blipFill>
          <a:blip r:embed="rId3"/>
          <a:stretch/>
        </p:blipFill>
        <p:spPr>
          <a:xfrm>
            <a:off x="742320" y="1150920"/>
            <a:ext cx="8078400" cy="491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직사각형 52"/>
          <p:cNvSpPr/>
          <p:nvPr/>
        </p:nvSpPr>
        <p:spPr>
          <a:xfrm>
            <a:off x="740880" y="4550040"/>
            <a:ext cx="3477240" cy="16020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15" name="타원 44"/>
          <p:cNvSpPr/>
          <p:nvPr/>
        </p:nvSpPr>
        <p:spPr>
          <a:xfrm>
            <a:off x="1650960" y="171648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16" name="직사각형 53"/>
          <p:cNvSpPr/>
          <p:nvPr/>
        </p:nvSpPr>
        <p:spPr>
          <a:xfrm>
            <a:off x="1561320" y="2107800"/>
            <a:ext cx="556200" cy="2480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3"/>
          <p:cNvSpPr/>
          <p:nvPr/>
        </p:nvSpPr>
        <p:spPr>
          <a:xfrm>
            <a:off x="632525" y="6311880"/>
            <a:ext cx="10924549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lIns="90000" tIns="45000" rIns="90000" bIns="45000" numCol="1" spcCol="0" anchor="t">
            <a:spAutoFit/>
          </a:bodyPr>
          <a:lstStyle/>
          <a:p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35-40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페이지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 TUI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모니터링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툴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설치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) 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내용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응용이다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앞선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페이지에서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설치한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mat가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이미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monitoring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으로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내장되어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있다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endParaRPr lang="en-US" sz="14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 mat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폴더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== monitoring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폴더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87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MAT(모니터링) 실습 ③④ – mat 빌드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711" name="Shape 88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인텔리제이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내부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Claude Code Plugin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②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모니터링용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새로운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Terminal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추가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③ cd .\monitoring\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endParaRPr lang="en-US" sz="1200" dirty="0">
              <a:solidFill>
                <a:schemeClr val="lt1"/>
              </a:solidFill>
              <a:latin typeface="프리젠테이션 5 Medium"/>
              <a:ea typeface="프리젠테이션 5 Medium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④ mat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빌드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endParaRPr lang="en-US" sz="1200" dirty="0">
              <a:solidFill>
                <a:schemeClr val="lt1"/>
              </a:solidFill>
              <a:latin typeface="맑은 고딕"/>
              <a:ea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go build -o mat.exe . )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맑은 고딕"/>
              <a:ea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⑤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폴더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오케스트레이션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환경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변수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설정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⑥ .\mat.exe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⑦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테스크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선택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endParaRPr lang="en-US" sz="1200" dirty="0">
              <a:solidFill>
                <a:schemeClr val="lt1"/>
              </a:solidFill>
              <a:latin typeface="맑은 고딕"/>
              <a:ea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(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단축키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t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맑은 고딕"/>
              <a:ea typeface="맑은 고딕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⑧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에이전트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모니터링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712" name="Text 44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150" b="0" u="none" strike="noStrike">
              <a:solidFill>
                <a:srgbClr val="64748B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17" name="TextBox 3"/>
          <p:cNvSpPr/>
          <p:nvPr/>
        </p:nvSpPr>
        <p:spPr>
          <a:xfrm>
            <a:off x="632525" y="6311880"/>
            <a:ext cx="10846395" cy="541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lIns="90000" tIns="45000" rIns="90000" bIns="45000" numCol="1" spcCol="0" anchor="t">
            <a:spAutoFit/>
          </a:bodyPr>
          <a:lstStyle/>
          <a:p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명령을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찾지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못할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때 : $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env:Path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+= ";C:\Program Files\Go\bin;$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env:USERPROFILE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\go\bin" </a:t>
            </a:r>
            <a:endParaRPr lang="en-US" sz="1400" dirty="0" err="1">
              <a:solidFill>
                <a:srgbClr val="000000"/>
              </a:solidFill>
              <a:latin typeface="맑은 고딕"/>
              <a:ea typeface="맑은 고딕"/>
            </a:endParaRPr>
          </a:p>
          <a:p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미설치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시 :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winget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install </a:t>
            </a:r>
            <a:r>
              <a:rPr lang="en-US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GoLang.Go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  <a:ea typeface="맑은 고딕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E33CD0-19BD-285C-41EC-AC48FD589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066600"/>
            <a:ext cx="8284307" cy="50178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4D6E52-A05D-7E6B-F859-27D1320DB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15" y="3621088"/>
            <a:ext cx="7994895" cy="885825"/>
          </a:xfrm>
          <a:prstGeom prst="rect">
            <a:avLst/>
          </a:prstGeom>
        </p:spPr>
      </p:pic>
      <p:sp>
        <p:nvSpPr>
          <p:cNvPr id="6" name="직사각형 55">
            <a:extLst>
              <a:ext uri="{FF2B5EF4-FFF2-40B4-BE49-F238E27FC236}">
                <a16:creationId xmlns:a16="http://schemas.microsoft.com/office/drawing/2014/main" id="{6DD1C537-81EC-B3D0-A298-323194A1A376}"/>
              </a:ext>
            </a:extLst>
          </p:cNvPr>
          <p:cNvSpPr/>
          <p:nvPr/>
        </p:nvSpPr>
        <p:spPr>
          <a:xfrm>
            <a:off x="750551" y="3573114"/>
            <a:ext cx="7033199" cy="238158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직사각형 55">
            <a:extLst>
              <a:ext uri="{FF2B5EF4-FFF2-40B4-BE49-F238E27FC236}">
                <a16:creationId xmlns:a16="http://schemas.microsoft.com/office/drawing/2014/main" id="{B94A52C7-6813-6268-0608-824A3BEA1E4A}"/>
              </a:ext>
            </a:extLst>
          </p:cNvPr>
          <p:cNvSpPr/>
          <p:nvPr/>
        </p:nvSpPr>
        <p:spPr>
          <a:xfrm>
            <a:off x="750550" y="3807575"/>
            <a:ext cx="7033199" cy="238158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" name="타원 45">
            <a:extLst>
              <a:ext uri="{FF2B5EF4-FFF2-40B4-BE49-F238E27FC236}">
                <a16:creationId xmlns:a16="http://schemas.microsoft.com/office/drawing/2014/main" id="{3CDD16FA-185D-0E61-CEF0-605F20076E97}"/>
              </a:ext>
            </a:extLst>
          </p:cNvPr>
          <p:cNvSpPr/>
          <p:nvPr/>
        </p:nvSpPr>
        <p:spPr>
          <a:xfrm>
            <a:off x="370973" y="3543418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>
                <a:solidFill>
                  <a:schemeClr val="lt1"/>
                </a:solidFill>
                <a:latin typeface="프리젠테이션 5 Medium"/>
              </a:rPr>
              <a:t>3</a:t>
            </a:r>
            <a:endParaRPr lang="en-US"/>
          </a:p>
        </p:txBody>
      </p:sp>
      <p:sp>
        <p:nvSpPr>
          <p:cNvPr id="8" name="타원 45">
            <a:extLst>
              <a:ext uri="{FF2B5EF4-FFF2-40B4-BE49-F238E27FC236}">
                <a16:creationId xmlns:a16="http://schemas.microsoft.com/office/drawing/2014/main" id="{7FC3C3D7-DDF2-D5EA-C732-2A2BC8FDC150}"/>
              </a:ext>
            </a:extLst>
          </p:cNvPr>
          <p:cNvSpPr/>
          <p:nvPr/>
        </p:nvSpPr>
        <p:spPr>
          <a:xfrm>
            <a:off x="370973" y="3807187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>
                <a:solidFill>
                  <a:schemeClr val="lt1"/>
                </a:solidFill>
                <a:latin typeface="프리젠테이션 5 Medium"/>
              </a:rPr>
              <a:t>4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프리젠테이션 5 Mediu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hape 89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en-US" sz="2800" b="0" u="none" strike="noStrike" dirty="0" err="1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en-US" sz="2800" b="0" u="none" strike="noStrike" dirty="0" err="1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실습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</a:t>
            </a:r>
            <a:r>
              <a:rPr lang="en-US" dirty="0"/>
              <a:t>⑤⑥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720" name="Shape 90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인텔리제이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내부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Claude Code Plugin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②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모니터링용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새로운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Terminal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추가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③ cd .\monitoring\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endParaRPr lang="en-US" sz="1200" dirty="0">
              <a:solidFill>
                <a:srgbClr val="000000"/>
              </a:solidFill>
              <a:latin typeface="Segoe UI"/>
              <a:ea typeface="프리젠테이션 5 Medium"/>
              <a:cs typeface="Segoe UI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④ mat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빌드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go build -o mat.exe .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⑤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폴더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오케스트레이션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환경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변수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설정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⑥ .\mat.exe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⑦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테스크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선택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단축키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⑧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에이전트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endParaRPr lang="en-US" sz="1200" dirty="0" err="1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프리젠테이션 5 Medium"/>
            </a:endParaRPr>
          </a:p>
        </p:txBody>
      </p:sp>
      <p:pic>
        <p:nvPicPr>
          <p:cNvPr id="722" name="Picture 9"/>
          <p:cNvPicPr/>
          <p:nvPr/>
        </p:nvPicPr>
        <p:blipFill>
          <a:blip r:embed="rId3"/>
          <a:stretch/>
        </p:blipFill>
        <p:spPr>
          <a:xfrm>
            <a:off x="762120" y="1148028"/>
            <a:ext cx="8019720" cy="481537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타원 45"/>
          <p:cNvSpPr/>
          <p:nvPr/>
        </p:nvSpPr>
        <p:spPr>
          <a:xfrm>
            <a:off x="3135665" y="1452803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26" name="직사각형 55"/>
          <p:cNvSpPr/>
          <p:nvPr/>
        </p:nvSpPr>
        <p:spPr>
          <a:xfrm>
            <a:off x="760320" y="1785345"/>
            <a:ext cx="5128200" cy="199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727" name="Picture 10"/>
          <p:cNvPicPr/>
          <p:nvPr/>
        </p:nvPicPr>
        <p:blipFill>
          <a:blip r:embed="rId4"/>
          <a:stretch/>
        </p:blipFill>
        <p:spPr>
          <a:xfrm>
            <a:off x="763200" y="3013920"/>
            <a:ext cx="8017200" cy="80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8" name="타원 47"/>
          <p:cNvSpPr/>
          <p:nvPr/>
        </p:nvSpPr>
        <p:spPr>
          <a:xfrm>
            <a:off x="4865040" y="316224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29" name="직사각형 56"/>
          <p:cNvSpPr/>
          <p:nvPr/>
        </p:nvSpPr>
        <p:spPr>
          <a:xfrm>
            <a:off x="760320" y="3495240"/>
            <a:ext cx="5128200" cy="1990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Box 5"/>
          <p:cNvSpPr/>
          <p:nvPr/>
        </p:nvSpPr>
        <p:spPr>
          <a:xfrm>
            <a:off x="636480" y="6244200"/>
            <a:ext cx="1050840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모니터링할 오케스트레이션 환경 변수 설정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$env:MAT_ROOT = "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오케스트레이션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(Java-ServiceTree-Framework) </a:t>
            </a: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경로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lang="ko-K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예시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$env:MAT_ROOT = "C:\Users\boseok\IdeaProjects\Java-Service-Tree-Framework"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91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en-US" sz="2800" b="0" u="none" strike="noStrike" err="1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en-US" sz="2800" b="0" u="none" strike="noStrike" err="1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실습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⑦</a:t>
            </a:r>
            <a:r>
              <a:rPr lang="en-US" dirty="0"/>
              <a:t> - </a:t>
            </a:r>
            <a:r>
              <a:rPr lang="ko-KR" altLang="en-US"/>
              <a:t>모니터링</a:t>
            </a:r>
            <a:r>
              <a:rPr lang="en-US"/>
              <a:t> </a:t>
            </a:r>
            <a:r>
              <a:rPr lang="ko-KR" altLang="en-US"/>
              <a:t>테스크</a:t>
            </a:r>
            <a:r>
              <a:rPr lang="en-US"/>
              <a:t> </a:t>
            </a:r>
            <a:r>
              <a:rPr lang="ko-KR" altLang="en-US"/>
              <a:t>선택</a:t>
            </a:r>
            <a:endParaRPr lang="ko-KR" alt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733" name="Shape 92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인텔리제이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내부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Claude Code Plugin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②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모니터링용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새로운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Terminal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추가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③ cd .\monitoring\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endParaRPr lang="en-US" sz="1200" dirty="0">
              <a:solidFill>
                <a:srgbClr val="000000"/>
              </a:solidFill>
              <a:latin typeface="Segoe UI"/>
              <a:ea typeface="프리젠테이션 5 Medium"/>
              <a:cs typeface="Segoe UI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④ mat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빌드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go build -o mat.exe .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⑤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폴더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오케스트레이션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환경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변수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설정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⑥ .\mat.exe 실행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⑦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테스크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선택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단축키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⑧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에이전트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endParaRPr lang="en-US" sz="1200" dirty="0" err="1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34" name="Text 45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150" b="0" u="none" strike="noStrike">
              <a:solidFill>
                <a:srgbClr val="64748B"/>
              </a:solidFill>
              <a:effectLst/>
              <a:uFillTx/>
              <a:latin typeface="프리젠테이션 5 Medium"/>
            </a:endParaRPr>
          </a:p>
        </p:txBody>
      </p:sp>
      <p:pic>
        <p:nvPicPr>
          <p:cNvPr id="735" name="Picture 7" descr="A screenshot of a computer program&#10;&#10;AI-generated content may be incorrect."/>
          <p:cNvPicPr/>
          <p:nvPr/>
        </p:nvPicPr>
        <p:blipFill>
          <a:blip r:embed="rId3"/>
          <a:stretch/>
        </p:blipFill>
        <p:spPr>
          <a:xfrm>
            <a:off x="693720" y="1249200"/>
            <a:ext cx="8156520" cy="473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6" name="직사각형 57"/>
          <p:cNvSpPr/>
          <p:nvPr/>
        </p:nvSpPr>
        <p:spPr>
          <a:xfrm>
            <a:off x="3857040" y="3084840"/>
            <a:ext cx="1884960" cy="110772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7" name="타원 48"/>
          <p:cNvSpPr/>
          <p:nvPr/>
        </p:nvSpPr>
        <p:spPr>
          <a:xfrm>
            <a:off x="3673080" y="2732400"/>
            <a:ext cx="374040" cy="2692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프리젠테이션 5 Medium"/>
                <a:ea typeface="프리젠테이션 5 Medium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93"/>
          <p:cNvSpPr/>
          <p:nvPr/>
        </p:nvSpPr>
        <p:spPr>
          <a:xfrm>
            <a:off x="623880" y="1062000"/>
            <a:ext cx="8296560" cy="510948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1"/>
          <p:cNvSpPr>
            <a:spLocks noGrp="1"/>
          </p:cNvSpPr>
          <p:nvPr>
            <p:ph/>
          </p:nvPr>
        </p:nvSpPr>
        <p:spPr>
          <a:xfrm>
            <a:off x="623880" y="448560"/>
            <a:ext cx="1094364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MAT(</a:t>
            </a:r>
            <a:r>
              <a:rPr lang="en-US" sz="2800" b="0" u="none" strike="noStrike" dirty="0" err="1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모니터링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) </a:t>
            </a:r>
            <a:r>
              <a:rPr lang="en-US" sz="2800" b="0" u="none" strike="noStrike" dirty="0" err="1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실습</a:t>
            </a: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프리젠테이션 6 SemiBold"/>
                <a:ea typeface="프리젠테이션 6 SemiBold"/>
              </a:rPr>
              <a:t> ⑧</a:t>
            </a:r>
            <a:r>
              <a:rPr lang="en-US" dirty="0"/>
              <a:t> – </a:t>
            </a:r>
            <a:r>
              <a:rPr lang="ko-KR" altLang="en-US" dirty="0"/>
              <a:t>에이전트</a:t>
            </a:r>
            <a:r>
              <a:rPr lang="en-US" dirty="0"/>
              <a:t> </a:t>
            </a:r>
            <a:r>
              <a:rPr lang="ko-KR" altLang="en-US" dirty="0"/>
              <a:t>모니터링 화면 예시</a:t>
            </a:r>
            <a:endParaRPr lang="en-US" dirty="0"/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프리젠테이션 6 SemiBold"/>
            </a:endParaRPr>
          </a:p>
        </p:txBody>
      </p:sp>
      <p:sp>
        <p:nvSpPr>
          <p:cNvPr id="740" name="Shape 94"/>
          <p:cNvSpPr/>
          <p:nvPr/>
        </p:nvSpPr>
        <p:spPr>
          <a:xfrm>
            <a:off x="8992080" y="1062000"/>
            <a:ext cx="2575440" cy="510948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 w="0">
            <a:noFill/>
          </a:ln>
          <a:effectLst>
            <a:outerShdw blurRad="88920" dist="38160" dir="54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인텔리제이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내부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Claude Code Plugin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실행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②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모니터링용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새로운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Terminal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추가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③ cd .\monitoring\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endParaRPr lang="en-US" sz="1200" dirty="0">
              <a:solidFill>
                <a:srgbClr val="000000"/>
              </a:solidFill>
              <a:latin typeface="Segoe UI"/>
              <a:ea typeface="프리젠테이션 5 Medium"/>
              <a:cs typeface="Segoe UI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④ mat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빌드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go build -o mat.exe .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⑤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폴더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오케스트레이션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환경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변수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설정</a:t>
            </a:r>
            <a:endParaRPr lang="en-US" sz="1200" b="0" u="none" strike="noStrike" dirty="0" err="1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⑥ .\mat.exe 실행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⑦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할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테스크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선택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endParaRPr lang="en-US" sz="1200" dirty="0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(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단축키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t )</a:t>
            </a: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Malgun Gothic"/>
              <a:ea typeface="Malgun Gothic"/>
            </a:endParaRPr>
          </a:p>
          <a:p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⑧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에이전트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 </a:t>
            </a:r>
            <a:r>
              <a:rPr lang="en-US" sz="1200" b="0" u="none" strike="noStrike" dirty="0" err="1">
                <a:solidFill>
                  <a:schemeClr val="lt1"/>
                </a:solidFill>
                <a:effectLst/>
                <a:uFillTx/>
                <a:latin typeface="Segoe UI"/>
                <a:ea typeface="프리젠테이션 5 Medium"/>
                <a:cs typeface="Segoe UI"/>
              </a:rPr>
              <a:t>모니터링</a:t>
            </a:r>
            <a:endParaRPr lang="en-US" sz="1200" dirty="0" err="1">
              <a:solidFill>
                <a:schemeClr val="lt1"/>
              </a:solidFill>
              <a:latin typeface="Segoe UI"/>
              <a:ea typeface="프리젠테이션 5 Medium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chemeClr val="lt1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741" name="Text 46"/>
          <p:cNvSpPr/>
          <p:nvPr/>
        </p:nvSpPr>
        <p:spPr>
          <a:xfrm>
            <a:off x="633240" y="6308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150" b="0" u="none" strike="noStrike">
              <a:solidFill>
                <a:srgbClr val="64748B"/>
              </a:solidFill>
              <a:effectLst/>
              <a:uFillTx/>
              <a:latin typeface="프리젠테이션 5 Medium"/>
            </a:endParaRPr>
          </a:p>
        </p:txBody>
      </p:sp>
      <p:pic>
        <p:nvPicPr>
          <p:cNvPr id="742" name="Picture 8"/>
          <p:cNvPicPr/>
          <p:nvPr/>
        </p:nvPicPr>
        <p:blipFill>
          <a:blip r:embed="rId3"/>
          <a:stretch/>
        </p:blipFill>
        <p:spPr>
          <a:xfrm>
            <a:off x="742320" y="1171440"/>
            <a:ext cx="8097840" cy="4905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EFFCB-E79B-AA5A-21A6-0815049B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16;p 5">
            <a:extLst>
              <a:ext uri="{FF2B5EF4-FFF2-40B4-BE49-F238E27FC236}">
                <a16:creationId xmlns:a16="http://schemas.microsoft.com/office/drawing/2014/main" id="{63048B83-D055-0567-0723-2D3FD626E705}"/>
              </a:ext>
            </a:extLst>
          </p:cNvPr>
          <p:cNvSpPr/>
          <p:nvPr/>
        </p:nvSpPr>
        <p:spPr>
          <a:xfrm>
            <a:off x="822960" y="822960"/>
            <a:ext cx="2285280" cy="566280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Google Shape;17;p 1">
            <a:extLst>
              <a:ext uri="{FF2B5EF4-FFF2-40B4-BE49-F238E27FC236}">
                <a16:creationId xmlns:a16="http://schemas.microsoft.com/office/drawing/2014/main" id="{6EEE3260-9E7E-0440-A035-F7411ABC759F}"/>
              </a:ext>
            </a:extLst>
          </p:cNvPr>
          <p:cNvSpPr/>
          <p:nvPr/>
        </p:nvSpPr>
        <p:spPr>
          <a:xfrm>
            <a:off x="987480" y="1060560"/>
            <a:ext cx="99720" cy="99720"/>
          </a:xfrm>
          <a:prstGeom prst="ellipse">
            <a:avLst/>
          </a:prstGeom>
          <a:solidFill>
            <a:srgbClr val="E86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Google Shape;18;p 1">
            <a:extLst>
              <a:ext uri="{FF2B5EF4-FFF2-40B4-BE49-F238E27FC236}">
                <a16:creationId xmlns:a16="http://schemas.microsoft.com/office/drawing/2014/main" id="{145FD0CB-9B59-B1FB-FFE3-8AC81C5457E6}"/>
              </a:ext>
            </a:extLst>
          </p:cNvPr>
          <p:cNvSpPr/>
          <p:nvPr/>
        </p:nvSpPr>
        <p:spPr>
          <a:xfrm>
            <a:off x="1188720" y="1060560"/>
            <a:ext cx="99720" cy="99720"/>
          </a:xfrm>
          <a:prstGeom prst="ellipse">
            <a:avLst/>
          </a:prstGeom>
          <a:solidFill>
            <a:srgbClr val="F0B9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Google Shape;19;p 1">
            <a:extLst>
              <a:ext uri="{FF2B5EF4-FFF2-40B4-BE49-F238E27FC236}">
                <a16:creationId xmlns:a16="http://schemas.microsoft.com/office/drawing/2014/main" id="{D8B9EDBE-4F55-B794-6BC0-C3A7221AB57A}"/>
              </a:ext>
            </a:extLst>
          </p:cNvPr>
          <p:cNvSpPr/>
          <p:nvPr/>
        </p:nvSpPr>
        <p:spPr>
          <a:xfrm>
            <a:off x="1389960" y="1060560"/>
            <a:ext cx="99720" cy="99720"/>
          </a:xfrm>
          <a:prstGeom prst="ellipse">
            <a:avLst/>
          </a:prstGeom>
          <a:solidFill>
            <a:srgbClr val="8FBF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040" tIns="35280" rIns="50040" bIns="3528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Google Shape;20;p 1">
            <a:extLst>
              <a:ext uri="{FF2B5EF4-FFF2-40B4-BE49-F238E27FC236}">
                <a16:creationId xmlns:a16="http://schemas.microsoft.com/office/drawing/2014/main" id="{C88092A4-1A91-B19F-7144-B76139B3CEDE}"/>
              </a:ext>
            </a:extLst>
          </p:cNvPr>
          <p:cNvSpPr/>
          <p:nvPr/>
        </p:nvSpPr>
        <p:spPr>
          <a:xfrm>
            <a:off x="1600200" y="8229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7757"/>
                </a:solidFill>
                <a:effectLst/>
                <a:uFillTx/>
                <a:latin typeface="Courier New"/>
                <a:ea typeface="Courier New"/>
              </a:rPr>
              <a:t>$ </a:t>
            </a:r>
            <a:r>
              <a:rPr lang="en-US" sz="1400" b="0" u="none" strike="noStrike">
                <a:solidFill>
                  <a:srgbClr val="E8E3DB"/>
                </a:solidFill>
                <a:effectLst/>
                <a:uFillTx/>
                <a:latin typeface="Courier New"/>
                <a:ea typeface="Courier New"/>
              </a:rPr>
              <a:t>claude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6" name="Google Shape;21;p 1">
            <a:extLst>
              <a:ext uri="{FF2B5EF4-FFF2-40B4-BE49-F238E27FC236}">
                <a16:creationId xmlns:a16="http://schemas.microsoft.com/office/drawing/2014/main" id="{7CDDC035-FC8D-5FB7-563B-3AAE5AFE0BAF}"/>
              </a:ext>
            </a:extLst>
          </p:cNvPr>
          <p:cNvSpPr/>
          <p:nvPr/>
        </p:nvSpPr>
        <p:spPr>
          <a:xfrm>
            <a:off x="822960" y="20116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ko-KR" altLang="en-US" sz="4800">
                <a:solidFill>
                  <a:srgbClr val="FFFFFF"/>
                </a:solidFill>
                <a:latin typeface="프리젠테이션 5 Medium"/>
              </a:rPr>
              <a:t>Knot 플러그인</a:t>
            </a:r>
            <a:endParaRPr lang="ko-KR" altLang="en-US" sz="4800" b="0" u="none" strike="noStrike" dirty="0">
              <a:solidFill>
                <a:srgbClr val="FFFFFF"/>
              </a:solidFill>
              <a:effectLst/>
              <a:uFillTx/>
              <a:latin typeface="프리젠테이션 5 Medium"/>
            </a:endParaRPr>
          </a:p>
        </p:txBody>
      </p:sp>
      <p:sp>
        <p:nvSpPr>
          <p:cNvPr id="687" name="Google Shape;22;p 1">
            <a:extLst>
              <a:ext uri="{FF2B5EF4-FFF2-40B4-BE49-F238E27FC236}">
                <a16:creationId xmlns:a16="http://schemas.microsoft.com/office/drawing/2014/main" id="{D7058B0F-D229-7F6D-DACA-C994D13D9A85}"/>
              </a:ext>
            </a:extLst>
          </p:cNvPr>
          <p:cNvSpPr/>
          <p:nvPr/>
        </p:nvSpPr>
        <p:spPr>
          <a:xfrm>
            <a:off x="841320" y="35204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개발팀 온보딩  </a:t>
            </a:r>
            <a:r>
              <a:rPr lang="en-US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700" b="0" u="none" strike="noStrike">
                <a:solidFill>
                  <a:srgbClr val="B9B2A7"/>
                </a:solidFill>
                <a:effectLst/>
                <a:uFillTx/>
                <a:latin typeface="Malgun Gothic"/>
                <a:ea typeface="Malgun Gothic"/>
              </a:rPr>
              <a:t>처음 쓰는 분도 그대로 따라 하면 완료됩니다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8" name="Google Shape;23;p 1">
            <a:extLst>
              <a:ext uri="{FF2B5EF4-FFF2-40B4-BE49-F238E27FC236}">
                <a16:creationId xmlns:a16="http://schemas.microsoft.com/office/drawing/2014/main" id="{01E3301D-4C5C-E8D3-0E5E-939B371BCF89}"/>
              </a:ext>
            </a:extLst>
          </p:cNvPr>
          <p:cNvSpPr/>
          <p:nvPr/>
        </p:nvSpPr>
        <p:spPr>
          <a:xfrm>
            <a:off x="841320" y="4023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소요 시간 약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20~30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분  </a:t>
            </a:r>
            <a:r>
              <a:rPr lang="en-US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·  </a:t>
            </a:r>
            <a:r>
              <a:rPr lang="ko-KR" sz="1300" b="0" u="none" strike="noStrike">
                <a:solidFill>
                  <a:srgbClr val="8A8378"/>
                </a:solidFill>
                <a:effectLst/>
                <a:uFillTx/>
                <a:latin typeface="Malgun Gothic"/>
                <a:ea typeface="Malgun Gothic"/>
              </a:rPr>
              <a:t>명령어는 모두 복사해서 붙여넣으면 됩니다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9" name="Google Shape;24;p 1">
            <a:extLst>
              <a:ext uri="{FF2B5EF4-FFF2-40B4-BE49-F238E27FC236}">
                <a16:creationId xmlns:a16="http://schemas.microsoft.com/office/drawing/2014/main" id="{33090268-0D2B-F0FD-9F2B-87105BCD4DD0}"/>
              </a:ext>
            </a:extLst>
          </p:cNvPr>
          <p:cNvSpPr/>
          <p:nvPr/>
        </p:nvSpPr>
        <p:spPr>
          <a:xfrm>
            <a:off x="822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Google Shape;25;p 1">
            <a:extLst>
              <a:ext uri="{FF2B5EF4-FFF2-40B4-BE49-F238E27FC236}">
                <a16:creationId xmlns:a16="http://schemas.microsoft.com/office/drawing/2014/main" id="{1D04123A-3742-04F2-4D5A-94D8A677B17B}"/>
              </a:ext>
            </a:extLst>
          </p:cNvPr>
          <p:cNvSpPr/>
          <p:nvPr/>
        </p:nvSpPr>
        <p:spPr>
          <a:xfrm>
            <a:off x="969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설치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1" name="Google Shape;26;p 1">
            <a:extLst>
              <a:ext uri="{FF2B5EF4-FFF2-40B4-BE49-F238E27FC236}">
                <a16:creationId xmlns:a16="http://schemas.microsoft.com/office/drawing/2014/main" id="{DA3D6B2F-81A2-4450-F9FF-18937312FB27}"/>
              </a:ext>
            </a:extLst>
          </p:cNvPr>
          <p:cNvSpPr/>
          <p:nvPr/>
        </p:nvSpPr>
        <p:spPr>
          <a:xfrm>
            <a:off x="26517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Google Shape;27;p 1">
            <a:extLst>
              <a:ext uri="{FF2B5EF4-FFF2-40B4-BE49-F238E27FC236}">
                <a16:creationId xmlns:a16="http://schemas.microsoft.com/office/drawing/2014/main" id="{B70FF7E2-2690-B0F3-608D-2635120AF790}"/>
              </a:ext>
            </a:extLst>
          </p:cNvPr>
          <p:cNvSpPr/>
          <p:nvPr/>
        </p:nvSpPr>
        <p:spPr>
          <a:xfrm>
            <a:off x="27979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로그인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3" name="Google Shape;28;p 1">
            <a:extLst>
              <a:ext uri="{FF2B5EF4-FFF2-40B4-BE49-F238E27FC236}">
                <a16:creationId xmlns:a16="http://schemas.microsoft.com/office/drawing/2014/main" id="{7F1AD5F9-D1D7-1AED-102E-4DF800AF0034}"/>
              </a:ext>
            </a:extLst>
          </p:cNvPr>
          <p:cNvSpPr/>
          <p:nvPr/>
        </p:nvSpPr>
        <p:spPr>
          <a:xfrm>
            <a:off x="44805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Google Shape;29;p 1">
            <a:extLst>
              <a:ext uri="{FF2B5EF4-FFF2-40B4-BE49-F238E27FC236}">
                <a16:creationId xmlns:a16="http://schemas.microsoft.com/office/drawing/2014/main" id="{6F43AC36-AF06-5B51-0DAF-D1FDE1218B62}"/>
              </a:ext>
            </a:extLst>
          </p:cNvPr>
          <p:cNvSpPr/>
          <p:nvPr/>
        </p:nvSpPr>
        <p:spPr>
          <a:xfrm>
            <a:off x="46267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IntelliJ </a:t>
            </a: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연동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5" name="Google Shape;30;p 1">
            <a:extLst>
              <a:ext uri="{FF2B5EF4-FFF2-40B4-BE49-F238E27FC236}">
                <a16:creationId xmlns:a16="http://schemas.microsoft.com/office/drawing/2014/main" id="{7B724419-B1EC-6219-97DF-7CE2107B820A}"/>
              </a:ext>
            </a:extLst>
          </p:cNvPr>
          <p:cNvSpPr/>
          <p:nvPr/>
        </p:nvSpPr>
        <p:spPr>
          <a:xfrm>
            <a:off x="63093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Google Shape;31;p 1">
            <a:extLst>
              <a:ext uri="{FF2B5EF4-FFF2-40B4-BE49-F238E27FC236}">
                <a16:creationId xmlns:a16="http://schemas.microsoft.com/office/drawing/2014/main" id="{FD9E431B-DB7C-465A-6D8B-D76971EB352C}"/>
              </a:ext>
            </a:extLst>
          </p:cNvPr>
          <p:cNvSpPr/>
          <p:nvPr/>
        </p:nvSpPr>
        <p:spPr>
          <a:xfrm>
            <a:off x="64555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환경설정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7" name="Google Shape;32;p 1">
            <a:extLst>
              <a:ext uri="{FF2B5EF4-FFF2-40B4-BE49-F238E27FC236}">
                <a16:creationId xmlns:a16="http://schemas.microsoft.com/office/drawing/2014/main" id="{294C97BE-B486-2A6E-B288-6C4C6D7E2A95}"/>
              </a:ext>
            </a:extLst>
          </p:cNvPr>
          <p:cNvSpPr/>
          <p:nvPr/>
        </p:nvSpPr>
        <p:spPr>
          <a:xfrm>
            <a:off x="81381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Google Shape;33;p 1">
            <a:extLst>
              <a:ext uri="{FF2B5EF4-FFF2-40B4-BE49-F238E27FC236}">
                <a16:creationId xmlns:a16="http://schemas.microsoft.com/office/drawing/2014/main" id="{EF08FFF7-5BBB-5E15-AA33-89DA90871BE7}"/>
              </a:ext>
            </a:extLst>
          </p:cNvPr>
          <p:cNvSpPr/>
          <p:nvPr/>
        </p:nvSpPr>
        <p:spPr>
          <a:xfrm>
            <a:off x="82843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설정 확인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99" name="Google Shape;34;p 1">
            <a:extLst>
              <a:ext uri="{FF2B5EF4-FFF2-40B4-BE49-F238E27FC236}">
                <a16:creationId xmlns:a16="http://schemas.microsoft.com/office/drawing/2014/main" id="{0EBCDA06-9AA6-DBC9-98DC-8A44BB4F6A08}"/>
              </a:ext>
            </a:extLst>
          </p:cNvPr>
          <p:cNvSpPr/>
          <p:nvPr/>
        </p:nvSpPr>
        <p:spPr>
          <a:xfrm>
            <a:off x="9966960" y="5349240"/>
            <a:ext cx="1699920" cy="73080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>
            <a:solidFill>
              <a:srgbClr val="3A36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35;p 1">
            <a:extLst>
              <a:ext uri="{FF2B5EF4-FFF2-40B4-BE49-F238E27FC236}">
                <a16:creationId xmlns:a16="http://schemas.microsoft.com/office/drawing/2014/main" id="{FC275542-F7B8-4158-4773-FB1BEB34EEE7}"/>
              </a:ext>
            </a:extLst>
          </p:cNvPr>
          <p:cNvSpPr/>
          <p:nvPr/>
        </p:nvSpPr>
        <p:spPr>
          <a:xfrm>
            <a:off x="10113120" y="5349240"/>
            <a:ext cx="14256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E8E3DB"/>
                </a:solidFill>
                <a:effectLst/>
                <a:uFillTx/>
                <a:latin typeface="Malgun Gothic"/>
                <a:ea typeface="Malgun Gothic"/>
              </a:rPr>
              <a:t>테스트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601020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7C37F-3DD9-DBE6-D311-01A2A168F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41;p4">
            <a:extLst>
              <a:ext uri="{FF2B5EF4-FFF2-40B4-BE49-F238E27FC236}">
                <a16:creationId xmlns:a16="http://schemas.microsoft.com/office/drawing/2014/main" id="{530C7A77-DB4E-5CF5-CB83-940FB9ECE5D3}"/>
              </a:ext>
            </a:extLst>
          </p:cNvPr>
          <p:cNvSpPr/>
          <p:nvPr/>
        </p:nvSpPr>
        <p:spPr>
          <a:xfrm>
            <a:off x="502920" y="38412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ko-KR" altLang="en-US" sz="1100" b="1" u="none" strike="noStrike" dirty="0">
              <a:solidFill>
                <a:srgbClr val="D97757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tabLst>
                <a:tab pos="0" algn="l"/>
              </a:tabLst>
            </a:pPr>
            <a:r>
              <a:rPr lang="ko-KR" altLang="en-US" sz="3000" b="1">
                <a:solidFill>
                  <a:srgbClr val="33302B"/>
                </a:solidFill>
                <a:latin typeface="Malgun Gothic"/>
                <a:ea typeface="Malgun Gothic"/>
              </a:rPr>
              <a:t>Knot 플러그인 개요</a:t>
            </a:r>
            <a:endParaRPr lang="ko-KR" altLang="en-US" sz="300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46" name="Google Shape;42;p4">
            <a:extLst>
              <a:ext uri="{FF2B5EF4-FFF2-40B4-BE49-F238E27FC236}">
                <a16:creationId xmlns:a16="http://schemas.microsoft.com/office/drawing/2014/main" id="{E14F5FE6-A250-AE35-3DC1-415AB5F71A6A}"/>
              </a:ext>
            </a:extLst>
          </p:cNvPr>
          <p:cNvSpPr/>
          <p:nvPr/>
        </p:nvSpPr>
        <p:spPr>
          <a:xfrm>
            <a:off x="521280" y="114300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Knot은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팀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지식을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vault에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저장하고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,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필요할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때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근거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기반으로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다시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꺼내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쓰기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위한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플러그인입니다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  <a:endParaRPr lang="en-US"/>
          </a:p>
        </p:txBody>
      </p:sp>
      <p:sp>
        <p:nvSpPr>
          <p:cNvPr id="147" name="Google Shape;43;p4">
            <a:extLst>
              <a:ext uri="{FF2B5EF4-FFF2-40B4-BE49-F238E27FC236}">
                <a16:creationId xmlns:a16="http://schemas.microsoft.com/office/drawing/2014/main" id="{EFC6157B-2105-D968-60A0-A815B820227E}"/>
              </a:ext>
            </a:extLst>
          </p:cNvPr>
          <p:cNvSpPr/>
          <p:nvPr/>
        </p:nvSpPr>
        <p:spPr>
          <a:xfrm>
            <a:off x="50292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44;p4">
            <a:extLst>
              <a:ext uri="{FF2B5EF4-FFF2-40B4-BE49-F238E27FC236}">
                <a16:creationId xmlns:a16="http://schemas.microsoft.com/office/drawing/2014/main" id="{5E5F31CF-BE7F-0D29-B70C-8D93C4A72527}"/>
              </a:ext>
            </a:extLst>
          </p:cNvPr>
          <p:cNvSpPr/>
          <p:nvPr/>
        </p:nvSpPr>
        <p:spPr>
          <a:xfrm>
            <a:off x="77724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Google Shape;45;p4" descr="preencoded.png">
            <a:extLst>
              <a:ext uri="{FF2B5EF4-FFF2-40B4-BE49-F238E27FC236}">
                <a16:creationId xmlns:a16="http://schemas.microsoft.com/office/drawing/2014/main" id="{1F2496A7-4DC2-F387-18FB-67CD8B96AE7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0540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Google Shape;46;p4">
            <a:extLst>
              <a:ext uri="{FF2B5EF4-FFF2-40B4-BE49-F238E27FC236}">
                <a16:creationId xmlns:a16="http://schemas.microsoft.com/office/drawing/2014/main" id="{E58F589D-C036-3741-4A7D-49E4F6CC5FD5}"/>
              </a:ext>
            </a:extLst>
          </p:cNvPr>
          <p:cNvSpPr/>
          <p:nvPr/>
        </p:nvSpPr>
        <p:spPr>
          <a:xfrm>
            <a:off x="77724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핵심 개념</a:t>
            </a:r>
            <a:endParaRPr lang="ko-KR" altLang="en-US" sz="16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51" name="Google Shape;47;p4">
            <a:extLst>
              <a:ext uri="{FF2B5EF4-FFF2-40B4-BE49-F238E27FC236}">
                <a16:creationId xmlns:a16="http://schemas.microsoft.com/office/drawing/2014/main" id="{BF9DF1F6-21A0-1842-43FB-AA8FE5F52F3F}"/>
              </a:ext>
            </a:extLst>
          </p:cNvPr>
          <p:cNvSpPr/>
          <p:nvPr/>
        </p:nvSpPr>
        <p:spPr>
          <a:xfrm>
            <a:off x="77724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$KNOT_VAULT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지식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vault를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다루는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4개의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동작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(verb)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스킬입니다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altLang="ko-KR" sz="120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로직은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vault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안의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prompts/scripts/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에만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두고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,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플러그인은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이를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호출하는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얇은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shim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역할만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200" dirty="0" err="1">
                <a:solidFill>
                  <a:srgbClr val="7A746B"/>
                </a:solidFill>
                <a:latin typeface="Malgun Gothic"/>
                <a:ea typeface="Malgun Gothic"/>
              </a:rPr>
              <a:t>합니다</a:t>
            </a:r>
            <a:r>
              <a:rPr lang="en-US" altLang="ko-KR" sz="120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altLang="ko-KR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152" name="Google Shape;48;p4">
            <a:extLst>
              <a:ext uri="{FF2B5EF4-FFF2-40B4-BE49-F238E27FC236}">
                <a16:creationId xmlns:a16="http://schemas.microsoft.com/office/drawing/2014/main" id="{C7C49C37-98A5-03F8-F129-F523DA398AFC}"/>
              </a:ext>
            </a:extLst>
          </p:cNvPr>
          <p:cNvSpPr/>
          <p:nvPr/>
        </p:nvSpPr>
        <p:spPr>
          <a:xfrm>
            <a:off x="428868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49;p4">
            <a:extLst>
              <a:ext uri="{FF2B5EF4-FFF2-40B4-BE49-F238E27FC236}">
                <a16:creationId xmlns:a16="http://schemas.microsoft.com/office/drawing/2014/main" id="{E8F84BBB-41A8-B176-8DB0-4E63CBE34AE3}"/>
              </a:ext>
            </a:extLst>
          </p:cNvPr>
          <p:cNvSpPr/>
          <p:nvPr/>
        </p:nvSpPr>
        <p:spPr>
          <a:xfrm>
            <a:off x="456300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Google Shape;50;p4" descr="preencoded.png">
            <a:extLst>
              <a:ext uri="{FF2B5EF4-FFF2-40B4-BE49-F238E27FC236}">
                <a16:creationId xmlns:a16="http://schemas.microsoft.com/office/drawing/2014/main" id="{BE02A5E9-6960-E400-5827-4E616F11D36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69080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51;p4">
            <a:extLst>
              <a:ext uri="{FF2B5EF4-FFF2-40B4-BE49-F238E27FC236}">
                <a16:creationId xmlns:a16="http://schemas.microsoft.com/office/drawing/2014/main" id="{15470C95-A8F0-36D9-99E4-6F1B1DB0D762}"/>
              </a:ext>
            </a:extLst>
          </p:cNvPr>
          <p:cNvSpPr/>
          <p:nvPr/>
        </p:nvSpPr>
        <p:spPr>
          <a:xfrm>
            <a:off x="456300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정본 단일화</a:t>
            </a:r>
            <a:endParaRPr lang="en-US" altLang="ko-KR" sz="16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56" name="Google Shape;52;p4">
            <a:extLst>
              <a:ext uri="{FF2B5EF4-FFF2-40B4-BE49-F238E27FC236}">
                <a16:creationId xmlns:a16="http://schemas.microsoft.com/office/drawing/2014/main" id="{128131CD-553A-251B-8B15-16BDDF8E796D}"/>
              </a:ext>
            </a:extLst>
          </p:cNvPr>
          <p:cNvSpPr/>
          <p:nvPr/>
        </p:nvSpPr>
        <p:spPr>
          <a:xfrm>
            <a:off x="456300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>
                <a:solidFill>
                  <a:srgbClr val="7A746B"/>
                </a:solidFill>
                <a:latin typeface="Malgun Gothic"/>
                <a:ea typeface="Malgun Gothic"/>
              </a:rPr>
              <a:t>절차를 수정할 때는 vault 한 곳만 고치면 됩니다.</a:t>
            </a:r>
            <a:endParaRPr lang="ko-KR" altLang="en-US" sz="120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ko-KR" altLang="en-US" sz="120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>
                <a:solidFill>
                  <a:srgbClr val="7A746B"/>
                </a:solidFill>
                <a:latin typeface="Malgun Gothic"/>
                <a:ea typeface="Malgun Gothic"/>
              </a:rPr>
              <a:t>Claude, Code-Codex, agy 어디에서 호출해도 같은 vault prompts를 타기 때문에 결과 흐름이 일관됩니다.</a:t>
            </a:r>
            <a:endParaRPr lang="ko-KR" altLang="en-US" sz="120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157" name="Google Shape;53;p4">
            <a:extLst>
              <a:ext uri="{FF2B5EF4-FFF2-40B4-BE49-F238E27FC236}">
                <a16:creationId xmlns:a16="http://schemas.microsoft.com/office/drawing/2014/main" id="{29FE640B-B015-1C76-D81D-AB53DB7AE49B}"/>
              </a:ext>
            </a:extLst>
          </p:cNvPr>
          <p:cNvSpPr/>
          <p:nvPr/>
        </p:nvSpPr>
        <p:spPr>
          <a:xfrm>
            <a:off x="807408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54;p4">
            <a:extLst>
              <a:ext uri="{FF2B5EF4-FFF2-40B4-BE49-F238E27FC236}">
                <a16:creationId xmlns:a16="http://schemas.microsoft.com/office/drawing/2014/main" id="{F6F0EF3D-A10F-27F0-D726-A2459F1D4FD6}"/>
              </a:ext>
            </a:extLst>
          </p:cNvPr>
          <p:cNvSpPr/>
          <p:nvPr/>
        </p:nvSpPr>
        <p:spPr>
          <a:xfrm>
            <a:off x="834840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Google Shape;55;p4" descr="preencoded.png">
            <a:extLst>
              <a:ext uri="{FF2B5EF4-FFF2-40B4-BE49-F238E27FC236}">
                <a16:creationId xmlns:a16="http://schemas.microsoft.com/office/drawing/2014/main" id="{8068C346-324C-E7BE-CEF5-255B7041674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47656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Google Shape;56;p4">
            <a:extLst>
              <a:ext uri="{FF2B5EF4-FFF2-40B4-BE49-F238E27FC236}">
                <a16:creationId xmlns:a16="http://schemas.microsoft.com/office/drawing/2014/main" id="{78076511-E78F-33F2-502C-97E7B677C48C}"/>
              </a:ext>
            </a:extLst>
          </p:cNvPr>
          <p:cNvSpPr/>
          <p:nvPr/>
        </p:nvSpPr>
        <p:spPr>
          <a:xfrm>
            <a:off x="834840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650" b="1" dirty="0" err="1">
                <a:solidFill>
                  <a:srgbClr val="33302B"/>
                </a:solidFill>
                <a:latin typeface="Malgun Gothic"/>
                <a:ea typeface="Malgun Gothic"/>
              </a:rPr>
              <a:t>관리</a:t>
            </a:r>
            <a:r>
              <a:rPr lang="en-US" altLang="ko-KR" sz="165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블록</a:t>
            </a:r>
            <a:endParaRPr lang="en-US" sz="16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61" name="Google Shape;57;p4">
            <a:extLst>
              <a:ext uri="{FF2B5EF4-FFF2-40B4-BE49-F238E27FC236}">
                <a16:creationId xmlns:a16="http://schemas.microsoft.com/office/drawing/2014/main" id="{56C7E492-F801-DAC3-2D69-DD71AB2A8249}"/>
              </a:ext>
            </a:extLst>
          </p:cNvPr>
          <p:cNvSpPr/>
          <p:nvPr/>
        </p:nvSpPr>
        <p:spPr>
          <a:xfrm>
            <a:off x="834840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>
                <a:solidFill>
                  <a:srgbClr val="7A746B"/>
                </a:solidFill>
                <a:latin typeface="Malgun Gothic"/>
                <a:ea typeface="Malgun Gothic"/>
              </a:rPr>
              <a:t>컨텍스트 파일에 knot 자동층(관리 블록)을 추가해 둡니다.</a:t>
            </a:r>
            <a:endParaRPr lang="ko-KR" altLang="en-US" sz="120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ko-KR" altLang="en-US" sz="1200" b="0" u="none" strike="noStrike" dirty="0">
              <a:solidFill>
                <a:srgbClr val="7A746B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200">
                <a:solidFill>
                  <a:srgbClr val="7A746B"/>
                </a:solidFill>
                <a:latin typeface="Malgun Gothic"/>
                <a:ea typeface="Malgun Gothic"/>
              </a:rPr>
              <a:t>이후 사용자는 "knot에 저장해줘", "knot에 물어봐"처럼 자연어로 호출합니다.</a:t>
            </a:r>
            <a:endParaRPr lang="ko-KR" altLang="en-US" sz="120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162" name="Google Shape;58;p4">
            <a:extLst>
              <a:ext uri="{FF2B5EF4-FFF2-40B4-BE49-F238E27FC236}">
                <a16:creationId xmlns:a16="http://schemas.microsoft.com/office/drawing/2014/main" id="{3842435D-362E-CA7E-ED1E-08C26D89A4D8}"/>
              </a:ext>
            </a:extLst>
          </p:cNvPr>
          <p:cNvSpPr/>
          <p:nvPr/>
        </p:nvSpPr>
        <p:spPr>
          <a:xfrm>
            <a:off x="502920" y="5166360"/>
            <a:ext cx="11182320" cy="1096560"/>
          </a:xfrm>
          <a:prstGeom prst="roundRect">
            <a:avLst>
              <a:gd name="adj" fmla="val 75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59;p4">
            <a:extLst>
              <a:ext uri="{FF2B5EF4-FFF2-40B4-BE49-F238E27FC236}">
                <a16:creationId xmlns:a16="http://schemas.microsoft.com/office/drawing/2014/main" id="{7FBDDEB0-2F48-A87B-F50B-C5F508F9CBCC}"/>
              </a:ext>
            </a:extLst>
          </p:cNvPr>
          <p:cNvSpPr/>
          <p:nvPr/>
        </p:nvSpPr>
        <p:spPr>
          <a:xfrm>
            <a:off x="777240" y="5166360"/>
            <a:ext cx="1060632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ko-KR" sz="1350" u="none" strike="noStrike" dirty="0">
                <a:solidFill>
                  <a:srgbClr val="D97757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Knot은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"팀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지식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저장소"를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만들고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,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저장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· </a:t>
            </a:r>
            <a:r>
              <a:rPr lang="en-US" altLang="ko-KR" sz="1150" dirty="0" err="1">
                <a:solidFill>
                  <a:srgbClr val="33302B"/>
                </a:solidFill>
                <a:latin typeface="Malgun Gothic"/>
                <a:ea typeface="Malgun Gothic"/>
              </a:rPr>
              <a:t>컴파일</a:t>
            </a:r>
            <a:r>
              <a:rPr lang="en-US" altLang="ko-KR" sz="115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·</a:t>
            </a:r>
            <a:r>
              <a:rPr lang="en-US" altLang="ko-KR" sz="120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질의 </a:t>
            </a:r>
            <a:r>
              <a:rPr 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·</a:t>
            </a:r>
            <a:r>
              <a:rPr lang="en-US" altLang="ko-KR" sz="120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점검을</a:t>
            </a:r>
            <a:r>
              <a:rPr 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같은</a:t>
            </a:r>
            <a:r>
              <a:rPr 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규칙으로</a:t>
            </a:r>
            <a:r>
              <a:rPr 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반복하게</a:t>
            </a:r>
            <a:r>
              <a:rPr 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해주는</a:t>
            </a:r>
            <a:r>
              <a:rPr 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ko-KR" altLang="en-US" sz="1200" dirty="0">
                <a:solidFill>
                  <a:srgbClr val="33302B"/>
                </a:solidFill>
                <a:latin typeface="Malgun Gothic"/>
                <a:ea typeface="Malgun Gothic"/>
              </a:rPr>
              <a:t>장치입니다</a:t>
            </a:r>
            <a:r>
              <a:rPr lang="en-US" altLang="ko-KR" sz="1200" dirty="0">
                <a:solidFill>
                  <a:srgbClr val="33302B"/>
                </a:solidFill>
                <a:latin typeface="Malgun Gothic"/>
                <a:ea typeface="Malgun Gothic"/>
              </a:rPr>
              <a:t>.</a:t>
            </a:r>
            <a:endParaRPr lang="en-US" sz="1200">
              <a:solidFill>
                <a:srgbClr val="33302B"/>
              </a:solidFill>
              <a:latin typeface="Malgun Gothic"/>
              <a:ea typeface="Malgun Gothic"/>
            </a:endParaRPr>
          </a:p>
          <a:p>
            <a:pPr>
              <a:tabLst>
                <a:tab pos="0" algn="l"/>
              </a:tabLst>
            </a:pPr>
            <a:r>
              <a:rPr lang="en-US" sz="1200" dirty="0">
                <a:latin typeface="Malgun Gothic"/>
                <a:ea typeface="Malgun Gothic"/>
              </a:rPr>
              <a:t> </a:t>
            </a:r>
          </a:p>
          <a:p>
            <a:pPr>
              <a:tabLst>
                <a:tab pos="0" algn="l"/>
              </a:tabLst>
            </a:pPr>
            <a:r>
              <a:rPr lang="en-US" sz="1200" dirty="0">
                <a:latin typeface="Malgun Gothic"/>
                <a:ea typeface="Malgun Gothic"/>
              </a:rPr>
              <a:t> PowerShell : $</a:t>
            </a:r>
            <a:r>
              <a:rPr lang="en-US" sz="1200" dirty="0" err="1">
                <a:latin typeface="Malgun Gothic"/>
                <a:ea typeface="Malgun Gothic"/>
              </a:rPr>
              <a:t>env:KNOT_VAULT</a:t>
            </a:r>
            <a:r>
              <a:rPr lang="en-US" sz="1200" dirty="0">
                <a:latin typeface="Malgun Gothic"/>
                <a:ea typeface="Malgun Gothic"/>
              </a:rPr>
              <a:t> = "C:\DEV\</a:t>
            </a:r>
            <a:r>
              <a:rPr lang="en-US" sz="1200" dirty="0" err="1">
                <a:latin typeface="Malgun Gothic"/>
                <a:ea typeface="Malgun Gothic"/>
              </a:rPr>
              <a:t>sourcecode</a:t>
            </a:r>
            <a:r>
              <a:rPr lang="en-US" sz="1200" dirty="0">
                <a:latin typeface="Malgun Gothic"/>
                <a:ea typeface="Malgun Gothic"/>
              </a:rPr>
              <a:t>\Java-Service-Tree-Framework\knot-vault"</a:t>
            </a:r>
            <a:endParaRPr lang="en-US"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509519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DD3C8-64F4-C3E8-B044-508C561A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41;p4">
            <a:extLst>
              <a:ext uri="{FF2B5EF4-FFF2-40B4-BE49-F238E27FC236}">
                <a16:creationId xmlns:a16="http://schemas.microsoft.com/office/drawing/2014/main" id="{C29BED9F-B7EE-9776-4B23-E1806628036D}"/>
              </a:ext>
            </a:extLst>
          </p:cNvPr>
          <p:cNvSpPr/>
          <p:nvPr/>
        </p:nvSpPr>
        <p:spPr>
          <a:xfrm>
            <a:off x="502920" y="38412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ko-KR" altLang="en-US" sz="1100" b="1" u="none" strike="noStrike" dirty="0">
              <a:solidFill>
                <a:srgbClr val="D97757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33302B"/>
                </a:solidFill>
                <a:latin typeface="Malgun Gothic"/>
                <a:ea typeface="Malgun Gothic"/>
              </a:rPr>
              <a:t>Knot </a:t>
            </a:r>
            <a:r>
              <a:rPr lang="en-US" altLang="ko-KR" sz="3000" b="1" dirty="0" err="1">
                <a:solidFill>
                  <a:srgbClr val="33302B"/>
                </a:solidFill>
                <a:latin typeface="Malgun Gothic"/>
                <a:ea typeface="Malgun Gothic"/>
              </a:rPr>
              <a:t>사용</a:t>
            </a:r>
            <a:r>
              <a:rPr lang="en-US" altLang="ko-KR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3000" b="1" dirty="0" err="1">
                <a:solidFill>
                  <a:srgbClr val="33302B"/>
                </a:solidFill>
                <a:latin typeface="Malgun Gothic"/>
                <a:ea typeface="Malgun Gothic"/>
              </a:rPr>
              <a:t>흐름</a:t>
            </a:r>
            <a:r>
              <a:rPr lang="en-US" altLang="ko-KR" sz="3000" b="1" dirty="0">
                <a:solidFill>
                  <a:srgbClr val="33302B"/>
                </a:solidFill>
                <a:latin typeface="Malgun Gothic"/>
                <a:ea typeface="Malgun Gothic"/>
              </a:rPr>
              <a:t> ( save </a:t>
            </a:r>
            <a:r>
              <a:rPr lang="en-US" sz="3000" b="1" dirty="0">
                <a:solidFill>
                  <a:srgbClr val="2D2D2D"/>
                </a:solidFill>
                <a:latin typeface="Aptos"/>
                <a:ea typeface="Malgun Gothic"/>
              </a:rPr>
              <a:t>→ ingest )</a:t>
            </a:r>
          </a:p>
        </p:txBody>
      </p:sp>
      <p:sp>
        <p:nvSpPr>
          <p:cNvPr id="146" name="Google Shape;42;p4">
            <a:extLst>
              <a:ext uri="{FF2B5EF4-FFF2-40B4-BE49-F238E27FC236}">
                <a16:creationId xmlns:a16="http://schemas.microsoft.com/office/drawing/2014/main" id="{B876CC1F-8A12-10B2-E746-D1B43D0FEDFA}"/>
              </a:ext>
            </a:extLst>
          </p:cNvPr>
          <p:cNvSpPr/>
          <p:nvPr/>
        </p:nvSpPr>
        <p:spPr>
          <a:xfrm>
            <a:off x="521280" y="114300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핵심은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"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저장"과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"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컴파일"을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분리하는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것입니다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.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먼저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inbox에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넣고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,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이후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wiki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형태로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정리합니다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152" name="Google Shape;48;p4">
            <a:extLst>
              <a:ext uri="{FF2B5EF4-FFF2-40B4-BE49-F238E27FC236}">
                <a16:creationId xmlns:a16="http://schemas.microsoft.com/office/drawing/2014/main" id="{0499B3A6-6F4E-811A-4930-9511E2EC95D5}"/>
              </a:ext>
            </a:extLst>
          </p:cNvPr>
          <p:cNvSpPr/>
          <p:nvPr/>
        </p:nvSpPr>
        <p:spPr>
          <a:xfrm>
            <a:off x="6213218" y="1789723"/>
            <a:ext cx="5416520" cy="313403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49;p4">
            <a:extLst>
              <a:ext uri="{FF2B5EF4-FFF2-40B4-BE49-F238E27FC236}">
                <a16:creationId xmlns:a16="http://schemas.microsoft.com/office/drawing/2014/main" id="{395B1B90-8F1B-EF73-1B0A-330AD8F89A89}"/>
              </a:ext>
            </a:extLst>
          </p:cNvPr>
          <p:cNvSpPr/>
          <p:nvPr/>
        </p:nvSpPr>
        <p:spPr>
          <a:xfrm>
            <a:off x="6487538" y="2064043"/>
            <a:ext cx="491661" cy="442815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pic>
        <p:nvPicPr>
          <p:cNvPr id="154" name="Google Shape;50;p4" descr="preencoded.png">
            <a:extLst>
              <a:ext uri="{FF2B5EF4-FFF2-40B4-BE49-F238E27FC236}">
                <a16:creationId xmlns:a16="http://schemas.microsoft.com/office/drawing/2014/main" id="{DC093C9D-35A0-0696-064E-9908C39F756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69080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51;p4">
            <a:extLst>
              <a:ext uri="{FF2B5EF4-FFF2-40B4-BE49-F238E27FC236}">
                <a16:creationId xmlns:a16="http://schemas.microsoft.com/office/drawing/2014/main" id="{9CB73D3C-AD06-1CB3-D072-F1E195E31493}"/>
              </a:ext>
            </a:extLst>
          </p:cNvPr>
          <p:cNvSpPr/>
          <p:nvPr/>
        </p:nvSpPr>
        <p:spPr>
          <a:xfrm>
            <a:off x="6487538" y="2749843"/>
            <a:ext cx="4604110" cy="3748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Ingest - inbox를 wiki로 컴파일</a:t>
            </a:r>
            <a:endParaRPr lang="ko-KR" altLang="en-US" sz="16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56" name="Google Shape;52;p4">
            <a:extLst>
              <a:ext uri="{FF2B5EF4-FFF2-40B4-BE49-F238E27FC236}">
                <a16:creationId xmlns:a16="http://schemas.microsoft.com/office/drawing/2014/main" id="{4494C456-AA4E-9E2F-4719-0893930C736B}"/>
              </a:ext>
            </a:extLst>
          </p:cNvPr>
          <p:cNvSpPr/>
          <p:nvPr/>
        </p:nvSpPr>
        <p:spPr>
          <a:xfrm>
            <a:off x="6487538" y="3161323"/>
            <a:ext cx="4604110" cy="15209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사용 예시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"knot ingest", "지식그물 컴파일해줘"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동작 : prompts/ingest.md 규약대로 source/entity/concept 페이지를 만들고 [[교차링크]], index.md, log.md를 갱신합니다.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pic>
        <p:nvPicPr>
          <p:cNvPr id="159" name="Google Shape;55;p4" descr="preencoded.png">
            <a:extLst>
              <a:ext uri="{FF2B5EF4-FFF2-40B4-BE49-F238E27FC236}">
                <a16:creationId xmlns:a16="http://schemas.microsoft.com/office/drawing/2014/main" id="{BFE31A48-F17C-45C4-9020-D67CAF1190F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47656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Google Shape;58;p4">
            <a:extLst>
              <a:ext uri="{FF2B5EF4-FFF2-40B4-BE49-F238E27FC236}">
                <a16:creationId xmlns:a16="http://schemas.microsoft.com/office/drawing/2014/main" id="{25B62FA2-1283-3E5F-02B4-F6DE8A1B34F1}"/>
              </a:ext>
            </a:extLst>
          </p:cNvPr>
          <p:cNvSpPr/>
          <p:nvPr/>
        </p:nvSpPr>
        <p:spPr>
          <a:xfrm>
            <a:off x="502920" y="5166360"/>
            <a:ext cx="11182320" cy="1096560"/>
          </a:xfrm>
          <a:prstGeom prst="roundRect">
            <a:avLst>
              <a:gd name="adj" fmla="val 75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59;p4">
            <a:extLst>
              <a:ext uri="{FF2B5EF4-FFF2-40B4-BE49-F238E27FC236}">
                <a16:creationId xmlns:a16="http://schemas.microsoft.com/office/drawing/2014/main" id="{08E48639-9965-9A80-5282-60CCBDEF37B3}"/>
              </a:ext>
            </a:extLst>
          </p:cNvPr>
          <p:cNvSpPr/>
          <p:nvPr/>
        </p:nvSpPr>
        <p:spPr>
          <a:xfrm>
            <a:off x="777240" y="5166360"/>
            <a:ext cx="1060632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ko-KR" altLang="en-US" sz="1350" b="1">
                <a:solidFill>
                  <a:srgbClr val="D97757"/>
                </a:solidFill>
                <a:latin typeface="Malgun Gothic"/>
                <a:ea typeface="Malgun Gothic"/>
              </a:rPr>
              <a:t>왜 나누나?</a:t>
            </a:r>
            <a:r>
              <a:rPr lang="ko-KR" altLang="en-US" sz="1350" b="1" dirty="0">
                <a:solidFill>
                  <a:srgbClr val="D97757"/>
                </a:solidFill>
                <a:latin typeface="Malgun Gothic"/>
                <a:ea typeface="Malgun Gothic"/>
              </a:rPr>
              <a:t> </a:t>
            </a:r>
            <a:r>
              <a:rPr lang="ko-KR" sz="1350" b="1" dirty="0">
                <a:solidFill>
                  <a:srgbClr val="D97757"/>
                </a:solidFill>
                <a:latin typeface="Malgun Gothic"/>
                <a:ea typeface="Malgun Gothic"/>
              </a:rPr>
              <a:t>  </a:t>
            </a:r>
            <a:endParaRPr lang="ko-KR" sz="1350" dirty="0">
              <a:solidFill>
                <a:srgbClr val="D97757"/>
              </a:solidFill>
              <a:latin typeface="Malgun Gothic"/>
              <a:ea typeface="Malgun Gothic"/>
            </a:endParaRPr>
          </a:p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150">
                <a:solidFill>
                  <a:srgbClr val="33302B"/>
                </a:solidFill>
                <a:latin typeface="Malgun Gothic"/>
                <a:ea typeface="Malgun Gothic"/>
              </a:rPr>
              <a:t>Ingest 1 </a:t>
            </a:r>
            <a:r>
              <a:rPr lang="ko-KR" altLang="en-US" sz="1150">
                <a:solidFill>
                  <a:srgbClr val="33302B"/>
                </a:solidFill>
                <a:latin typeface="Malgun Gothic"/>
                <a:ea typeface="Malgun Gothic"/>
              </a:rPr>
              <a:t>단계에는 클린트리 가드가 있어 작업트리가 더러우면 중단됩니다. 그래서 save 단계에서 먼저 커밋해 둡니다.</a:t>
            </a:r>
          </a:p>
        </p:txBody>
      </p:sp>
      <p:sp>
        <p:nvSpPr>
          <p:cNvPr id="2" name="Google Shape;48;p4">
            <a:extLst>
              <a:ext uri="{FF2B5EF4-FFF2-40B4-BE49-F238E27FC236}">
                <a16:creationId xmlns:a16="http://schemas.microsoft.com/office/drawing/2014/main" id="{48D0E4B5-E849-E221-A782-5058DA21DB39}"/>
              </a:ext>
            </a:extLst>
          </p:cNvPr>
          <p:cNvSpPr/>
          <p:nvPr/>
        </p:nvSpPr>
        <p:spPr>
          <a:xfrm>
            <a:off x="498217" y="1809261"/>
            <a:ext cx="5416520" cy="313403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49;p4">
            <a:extLst>
              <a:ext uri="{FF2B5EF4-FFF2-40B4-BE49-F238E27FC236}">
                <a16:creationId xmlns:a16="http://schemas.microsoft.com/office/drawing/2014/main" id="{400E10AC-B3F3-6E4B-492A-FF26E2AAF302}"/>
              </a:ext>
            </a:extLst>
          </p:cNvPr>
          <p:cNvSpPr/>
          <p:nvPr/>
        </p:nvSpPr>
        <p:spPr>
          <a:xfrm>
            <a:off x="772537" y="2064043"/>
            <a:ext cx="501430" cy="442815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</a:rPr>
              <a:t>1</a:t>
            </a:r>
            <a:endParaRPr lang="en-US" sz="160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Google Shape;51;p4">
            <a:extLst>
              <a:ext uri="{FF2B5EF4-FFF2-40B4-BE49-F238E27FC236}">
                <a16:creationId xmlns:a16="http://schemas.microsoft.com/office/drawing/2014/main" id="{60CD56F5-DF75-3B0C-4768-0E62AC17FC6C}"/>
              </a:ext>
            </a:extLst>
          </p:cNvPr>
          <p:cNvSpPr/>
          <p:nvPr/>
        </p:nvSpPr>
        <p:spPr>
          <a:xfrm>
            <a:off x="772537" y="2769381"/>
            <a:ext cx="4604110" cy="3748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50" b="1">
                <a:solidFill>
                  <a:srgbClr val="33302B"/>
                </a:solidFill>
                <a:latin typeface="Malgun Gothic"/>
                <a:ea typeface="Malgun Gothic"/>
              </a:rPr>
              <a:t>Save - </a:t>
            </a:r>
            <a:r>
              <a:rPr lang="ko-KR" altLang="en-US" sz="1650" b="1" err="1">
                <a:solidFill>
                  <a:srgbClr val="33302B"/>
                </a:solidFill>
                <a:latin typeface="Malgun Gothic"/>
                <a:ea typeface="Malgun Gothic"/>
              </a:rPr>
              <a:t>원자료를</a:t>
            </a:r>
            <a:r>
              <a:rPr lang="en-US" sz="1650" b="1">
                <a:solidFill>
                  <a:srgbClr val="33302B"/>
                </a:solidFill>
                <a:latin typeface="Malgun Gothic"/>
                <a:ea typeface="Malgun Gothic"/>
              </a:rPr>
              <a:t> inbox</a:t>
            </a: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에</a:t>
            </a:r>
            <a:r>
              <a:rPr lang="en-US" sz="1650" b="1">
                <a:solidFill>
                  <a:srgbClr val="33302B"/>
                </a:solidFill>
                <a:latin typeface="Malgun Gothic"/>
                <a:ea typeface="Malgun Gothic"/>
              </a:rPr>
              <a:t> </a:t>
            </a: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넣기</a:t>
            </a:r>
            <a:endParaRPr lang="ko-KR" altLang="en-US" sz="16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5" name="Google Shape;52;p4">
            <a:extLst>
              <a:ext uri="{FF2B5EF4-FFF2-40B4-BE49-F238E27FC236}">
                <a16:creationId xmlns:a16="http://schemas.microsoft.com/office/drawing/2014/main" id="{03B399CD-78F8-8341-27E7-1763AD64D70A}"/>
              </a:ext>
            </a:extLst>
          </p:cNvPr>
          <p:cNvSpPr/>
          <p:nvPr/>
        </p:nvSpPr>
        <p:spPr>
          <a:xfrm>
            <a:off x="772537" y="3161323"/>
            <a:ext cx="4897186" cy="15209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사용 예시</a:t>
            </a:r>
            <a:endParaRPr lang="en-US" altLang="ko-KR" sz="115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"이거 knot에 저장해줘" , "vault"에 넣어줘"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동작 : 자료를 inbox/에 슬러그 파일로 저장하고, 해당 파일만 커밋합니다.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이 단계에서는 아직 wiki에 반영되지 않습니다.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pic>
        <p:nvPicPr>
          <p:cNvPr id="6" name="Google Shape;55;p4" descr="preencoded.png">
            <a:extLst>
              <a:ext uri="{FF2B5EF4-FFF2-40B4-BE49-F238E27FC236}">
                <a16:creationId xmlns:a16="http://schemas.microsoft.com/office/drawing/2014/main" id="{DD7F2733-D7F3-8606-E784-9AC1041783C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761559" y="2250818"/>
            <a:ext cx="255240" cy="2552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9820584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D9868-6C97-4C55-FF81-7EAAE516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148;p7">
            <a:extLst>
              <a:ext uri="{FF2B5EF4-FFF2-40B4-BE49-F238E27FC236}">
                <a16:creationId xmlns:a16="http://schemas.microsoft.com/office/drawing/2014/main" id="{9AFC8E82-F486-008A-F008-87DCABF5D759}"/>
              </a:ext>
            </a:extLst>
          </p:cNvPr>
          <p:cNvSpPr/>
          <p:nvPr/>
        </p:nvSpPr>
        <p:spPr>
          <a:xfrm>
            <a:off x="502920" y="182880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149;p7">
            <a:extLst>
              <a:ext uri="{FF2B5EF4-FFF2-40B4-BE49-F238E27FC236}">
                <a16:creationId xmlns:a16="http://schemas.microsoft.com/office/drawing/2014/main" id="{9E83BEEE-6614-10B0-034B-0979A2D238C9}"/>
              </a:ext>
            </a:extLst>
          </p:cNvPr>
          <p:cNvSpPr/>
          <p:nvPr/>
        </p:nvSpPr>
        <p:spPr>
          <a:xfrm>
            <a:off x="502920" y="1828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9" name="Google Shape;150;p7">
            <a:extLst>
              <a:ext uri="{FF2B5EF4-FFF2-40B4-BE49-F238E27FC236}">
                <a16:creationId xmlns:a16="http://schemas.microsoft.com/office/drawing/2014/main" id="{558C7427-0D6D-B751-CA29-501C3104E175}"/>
              </a:ext>
            </a:extLst>
          </p:cNvPr>
          <p:cNvSpPr/>
          <p:nvPr/>
        </p:nvSpPr>
        <p:spPr>
          <a:xfrm>
            <a:off x="978480" y="1837800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Save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50" name="Google Shape;151;p7">
            <a:extLst>
              <a:ext uri="{FF2B5EF4-FFF2-40B4-BE49-F238E27FC236}">
                <a16:creationId xmlns:a16="http://schemas.microsoft.com/office/drawing/2014/main" id="{5E2B4FCD-66E3-D298-E321-495D94BB2F99}"/>
              </a:ext>
            </a:extLst>
          </p:cNvPr>
          <p:cNvSpPr/>
          <p:nvPr/>
        </p:nvSpPr>
        <p:spPr>
          <a:xfrm>
            <a:off x="988249" y="2148071"/>
            <a:ext cx="4726031" cy="5522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원</a:t>
            </a:r>
            <a:r>
              <a:rPr 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자료를</a:t>
            </a:r>
            <a:r>
              <a:rPr lang="en-US" sz="1150">
                <a:solidFill>
                  <a:srgbClr val="7A746B"/>
                </a:solidFill>
                <a:latin typeface="Malgun Gothic"/>
                <a:ea typeface="Malgun Gothic"/>
              </a:rPr>
              <a:t> inbox/</a:t>
            </a: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에</a:t>
            </a:r>
            <a:r>
              <a:rPr 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저장합니다</a:t>
            </a:r>
            <a:r>
              <a:rPr lang="en-US" sz="115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아직 wiki 반영 전 단계입니다.</a:t>
            </a:r>
            <a:endParaRPr 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251" name="Google Shape;152;p7">
            <a:extLst>
              <a:ext uri="{FF2B5EF4-FFF2-40B4-BE49-F238E27FC236}">
                <a16:creationId xmlns:a16="http://schemas.microsoft.com/office/drawing/2014/main" id="{3791CB8B-1C9D-E996-E8E9-11794C191CAA}"/>
              </a:ext>
            </a:extLst>
          </p:cNvPr>
          <p:cNvSpPr/>
          <p:nvPr/>
        </p:nvSpPr>
        <p:spPr>
          <a:xfrm>
            <a:off x="483382" y="2737338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153;p7">
            <a:extLst>
              <a:ext uri="{FF2B5EF4-FFF2-40B4-BE49-F238E27FC236}">
                <a16:creationId xmlns:a16="http://schemas.microsoft.com/office/drawing/2014/main" id="{7C7706EF-EE81-3D1F-9163-BC97048EB663}"/>
              </a:ext>
            </a:extLst>
          </p:cNvPr>
          <p:cNvSpPr/>
          <p:nvPr/>
        </p:nvSpPr>
        <p:spPr>
          <a:xfrm>
            <a:off x="483382" y="2737338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3" name="Google Shape;154;p7">
            <a:extLst>
              <a:ext uri="{FF2B5EF4-FFF2-40B4-BE49-F238E27FC236}">
                <a16:creationId xmlns:a16="http://schemas.microsoft.com/office/drawing/2014/main" id="{92BECECD-254E-C90F-F273-13CA5D57EF0F}"/>
              </a:ext>
            </a:extLst>
          </p:cNvPr>
          <p:cNvSpPr/>
          <p:nvPr/>
        </p:nvSpPr>
        <p:spPr>
          <a:xfrm>
            <a:off x="958942" y="2746338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>
                <a:solidFill>
                  <a:srgbClr val="33302B"/>
                </a:solidFill>
                <a:latin typeface="Malgun Gothic"/>
                <a:ea typeface="Malgun Gothic"/>
              </a:rPr>
              <a:t>ingest</a:t>
            </a:r>
            <a:endParaRPr 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54" name="Google Shape;155;p7">
            <a:extLst>
              <a:ext uri="{FF2B5EF4-FFF2-40B4-BE49-F238E27FC236}">
                <a16:creationId xmlns:a16="http://schemas.microsoft.com/office/drawing/2014/main" id="{2D82E274-5AA0-F4CE-3689-9DFE921E3C3A}"/>
              </a:ext>
            </a:extLst>
          </p:cNvPr>
          <p:cNvSpPr/>
          <p:nvPr/>
        </p:nvSpPr>
        <p:spPr>
          <a:xfrm>
            <a:off x="958942" y="3066378"/>
            <a:ext cx="4735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150">
                <a:solidFill>
                  <a:srgbClr val="7A746B"/>
                </a:solidFill>
                <a:latin typeface="Malgun Gothic"/>
                <a:ea typeface="Malgun Gothic"/>
              </a:rPr>
              <a:t>Inbox </a:t>
            </a:r>
            <a:r>
              <a:rPr lang="ko-KR" altLang="en-US" sz="1150" err="1">
                <a:solidFill>
                  <a:srgbClr val="7A746B"/>
                </a:solidFill>
                <a:latin typeface="Malgun Gothic"/>
                <a:ea typeface="Malgun Gothic"/>
              </a:rPr>
              <a:t>자료를</a:t>
            </a:r>
            <a:r>
              <a:rPr lang="en-US" sz="1150">
                <a:solidFill>
                  <a:srgbClr val="7A746B"/>
                </a:solidFill>
                <a:latin typeface="Malgun Gothic"/>
                <a:ea typeface="Malgun Gothic"/>
              </a:rPr>
              <a:t> wiki </a:t>
            </a:r>
            <a:r>
              <a:rPr lang="ko-KR" altLang="en-US" sz="1150" err="1">
                <a:solidFill>
                  <a:srgbClr val="7A746B"/>
                </a:solidFill>
                <a:latin typeface="Malgun Gothic"/>
                <a:ea typeface="Malgun Gothic"/>
              </a:rPr>
              <a:t>구조로</a:t>
            </a:r>
            <a:r>
              <a:rPr 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150" err="1">
                <a:solidFill>
                  <a:srgbClr val="7A746B"/>
                </a:solidFill>
                <a:latin typeface="Malgun Gothic"/>
                <a:ea typeface="Malgun Gothic"/>
              </a:rPr>
              <a:t>컴파일</a:t>
            </a:r>
            <a:r>
              <a:rPr lang="en-US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150" err="1">
                <a:solidFill>
                  <a:srgbClr val="7A746B"/>
                </a:solidFill>
                <a:latin typeface="Malgun Gothic"/>
                <a:ea typeface="Malgun Gothic"/>
              </a:rPr>
              <a:t>합니다</a:t>
            </a:r>
            <a:r>
              <a:rPr lang="en-US" altLang="ko-KR" sz="115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  <a:endParaRPr 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Source/entity/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concept와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교차링크를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갱신합니다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255" name="Google Shape;156;p7">
            <a:extLst>
              <a:ext uri="{FF2B5EF4-FFF2-40B4-BE49-F238E27FC236}">
                <a16:creationId xmlns:a16="http://schemas.microsoft.com/office/drawing/2014/main" id="{12FD2944-EF11-6E48-2DDB-AB653E00E380}"/>
              </a:ext>
            </a:extLst>
          </p:cNvPr>
          <p:cNvSpPr/>
          <p:nvPr/>
        </p:nvSpPr>
        <p:spPr>
          <a:xfrm>
            <a:off x="502920" y="365760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157;p7">
            <a:extLst>
              <a:ext uri="{FF2B5EF4-FFF2-40B4-BE49-F238E27FC236}">
                <a16:creationId xmlns:a16="http://schemas.microsoft.com/office/drawing/2014/main" id="{0638534B-16D1-1D3E-E4BA-92D80C3510BF}"/>
              </a:ext>
            </a:extLst>
          </p:cNvPr>
          <p:cNvSpPr/>
          <p:nvPr/>
        </p:nvSpPr>
        <p:spPr>
          <a:xfrm>
            <a:off x="502920" y="36576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7" name="Google Shape;158;p7">
            <a:extLst>
              <a:ext uri="{FF2B5EF4-FFF2-40B4-BE49-F238E27FC236}">
                <a16:creationId xmlns:a16="http://schemas.microsoft.com/office/drawing/2014/main" id="{F2D440C6-3B37-EAAF-5347-D391B555AE7C}"/>
              </a:ext>
            </a:extLst>
          </p:cNvPr>
          <p:cNvSpPr/>
          <p:nvPr/>
        </p:nvSpPr>
        <p:spPr>
          <a:xfrm>
            <a:off x="978480" y="3666600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query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58" name="Google Shape;159;p7">
            <a:extLst>
              <a:ext uri="{FF2B5EF4-FFF2-40B4-BE49-F238E27FC236}">
                <a16:creationId xmlns:a16="http://schemas.microsoft.com/office/drawing/2014/main" id="{065AF6EB-17BB-E24A-5DF8-3E35549E87C6}"/>
              </a:ext>
            </a:extLst>
          </p:cNvPr>
          <p:cNvSpPr/>
          <p:nvPr/>
        </p:nvSpPr>
        <p:spPr>
          <a:xfrm>
            <a:off x="978480" y="3986640"/>
            <a:ext cx="47358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"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knot에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물어봐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"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형태로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질의합니다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  <a:endParaRPr lang="ko-KR" altLang="en-US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근거가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 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없으면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지어내지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않고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"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근거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없음"으로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50" dirty="0" err="1">
                <a:solidFill>
                  <a:srgbClr val="7A746B"/>
                </a:solidFill>
                <a:latin typeface="Malgun Gothic"/>
                <a:ea typeface="Malgun Gothic"/>
              </a:rPr>
              <a:t>답합니다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259" name="Google Shape;160;p7">
            <a:extLst>
              <a:ext uri="{FF2B5EF4-FFF2-40B4-BE49-F238E27FC236}">
                <a16:creationId xmlns:a16="http://schemas.microsoft.com/office/drawing/2014/main" id="{0223AEA9-AD30-E5E6-2ED6-2847475699EA}"/>
              </a:ext>
            </a:extLst>
          </p:cNvPr>
          <p:cNvSpPr/>
          <p:nvPr/>
        </p:nvSpPr>
        <p:spPr>
          <a:xfrm>
            <a:off x="427320" y="5549400"/>
            <a:ext cx="5211360" cy="955440"/>
          </a:xfrm>
          <a:prstGeom prst="roundRect">
            <a:avLst>
              <a:gd name="adj" fmla="val 5333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Google Shape;161;p7" descr="preencoded.png">
            <a:extLst>
              <a:ext uri="{FF2B5EF4-FFF2-40B4-BE49-F238E27FC236}">
                <a16:creationId xmlns:a16="http://schemas.microsoft.com/office/drawing/2014/main" id="{991BE3DD-B6BC-4E94-6420-E2B1EAE842A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24960" y="58478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Google Shape;162;p7">
            <a:extLst>
              <a:ext uri="{FF2B5EF4-FFF2-40B4-BE49-F238E27FC236}">
                <a16:creationId xmlns:a16="http://schemas.microsoft.com/office/drawing/2014/main" id="{72073C8E-4BDB-5CEA-A809-E3977B9CD4BF}"/>
              </a:ext>
            </a:extLst>
          </p:cNvPr>
          <p:cNvSpPr/>
          <p:nvPr/>
        </p:nvSpPr>
        <p:spPr>
          <a:xfrm>
            <a:off x="994320" y="5549400"/>
            <a:ext cx="4461480" cy="95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>
                <a:latin typeface="Consolas"/>
                <a:ea typeface="Malgun Gothic"/>
              </a:rPr>
              <a:t>save</a:t>
            </a:r>
            <a:r>
              <a:rPr lang="en-US" altLang="ko-KR" sz="1300">
                <a:latin typeface="Consolas"/>
                <a:ea typeface="Malgun Gothic"/>
              </a:rPr>
              <a:t> → </a:t>
            </a:r>
            <a:r>
              <a:rPr lang="en-US" sz="1300">
                <a:latin typeface="Consolas"/>
                <a:ea typeface="Malgun Gothic"/>
              </a:rPr>
              <a:t>ingest → </a:t>
            </a:r>
            <a:r>
              <a:rPr lang="en-US" altLang="ko-KR" sz="1300">
                <a:latin typeface="Consolas"/>
                <a:ea typeface="Malgun Gothic"/>
              </a:rPr>
              <a:t>query</a:t>
            </a:r>
            <a:br>
              <a:rPr lang="en-US" altLang="ko-KR" sz="1300" dirty="0">
                <a:latin typeface="Consolas"/>
                <a:ea typeface="Malgun Gothic"/>
              </a:rPr>
            </a:br>
            <a:r>
              <a:rPr lang="en-US" altLang="ko-KR" sz="1300">
                <a:latin typeface="Consolas"/>
                <a:ea typeface="Malgun Gothic"/>
              </a:rPr>
              <a:t>         ↘</a:t>
            </a:r>
            <a:r>
              <a:rPr lang="en-US" sz="1300">
                <a:latin typeface="Consolas"/>
                <a:ea typeface="Malgun Gothic"/>
              </a:rPr>
              <a:t> lint</a:t>
            </a:r>
            <a:r>
              <a:rPr lang="en-US" altLang="ko-KR" sz="1300">
                <a:latin typeface="Consolas"/>
                <a:ea typeface="Malgun Gothic"/>
              </a:rPr>
              <a:t> </a:t>
            </a:r>
            <a:r>
              <a:rPr lang="ko-KR" altLang="en-US" sz="1300" dirty="0">
                <a:latin typeface="Consolas"/>
                <a:ea typeface="Malgun Gothic"/>
              </a:rPr>
              <a:t>로</a:t>
            </a:r>
            <a:r>
              <a:rPr lang="en-US" altLang="ko-KR" sz="1300">
                <a:latin typeface="Consolas"/>
                <a:ea typeface="Malgun Gothic"/>
              </a:rPr>
              <a:t> vault </a:t>
            </a:r>
            <a:r>
              <a:rPr lang="ko-KR" altLang="en-US" sz="1300" dirty="0">
                <a:latin typeface="Consolas"/>
                <a:ea typeface="Malgun Gothic"/>
              </a:rPr>
              <a:t>상태</a:t>
            </a:r>
            <a:r>
              <a:rPr lang="en-US" altLang="ko-KR" sz="1300" dirty="0">
                <a:latin typeface="Consolas"/>
                <a:ea typeface="Malgun Gothic"/>
              </a:rPr>
              <a:t> </a:t>
            </a:r>
            <a:r>
              <a:rPr lang="ko-KR" altLang="en-US" sz="1300" dirty="0">
                <a:latin typeface="Consolas"/>
                <a:ea typeface="Malgun Gothic"/>
              </a:rPr>
              <a:t>점검</a:t>
            </a:r>
            <a:endParaRPr lang="en-US" sz="1300" dirty="0">
              <a:latin typeface="Consolas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sz="1150" b="0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62" name="Google Shape;163;p7">
            <a:extLst>
              <a:ext uri="{FF2B5EF4-FFF2-40B4-BE49-F238E27FC236}">
                <a16:creationId xmlns:a16="http://schemas.microsoft.com/office/drawing/2014/main" id="{14CB74AC-A9BD-6F08-C412-B15266A38E26}"/>
              </a:ext>
            </a:extLst>
          </p:cNvPr>
          <p:cNvSpPr/>
          <p:nvPr/>
        </p:nvSpPr>
        <p:spPr>
          <a:xfrm>
            <a:off x="6126480" y="17830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400" b="1">
                <a:solidFill>
                  <a:srgbClr val="33302B"/>
                </a:solidFill>
                <a:latin typeface="Malgun Gothic"/>
                <a:ea typeface="Malgun Gothic"/>
              </a:rPr>
              <a:t>이렇게 실행합니다.</a:t>
            </a:r>
            <a:endParaRPr lang="ko-KR" altLang="en-US" sz="140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63" name="Google Shape;164;p7">
            <a:extLst>
              <a:ext uri="{FF2B5EF4-FFF2-40B4-BE49-F238E27FC236}">
                <a16:creationId xmlns:a16="http://schemas.microsoft.com/office/drawing/2014/main" id="{FD0CE8B5-034F-5FF2-6861-681D68B60ADD}"/>
              </a:ext>
            </a:extLst>
          </p:cNvPr>
          <p:cNvSpPr/>
          <p:nvPr/>
        </p:nvSpPr>
        <p:spPr>
          <a:xfrm>
            <a:off x="6136249" y="2066382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100">
                <a:solidFill>
                  <a:srgbClr val="7A746B"/>
                </a:solidFill>
                <a:latin typeface="Malgun Gothic"/>
                <a:ea typeface="Malgun Gothic"/>
              </a:rPr>
              <a:t>프롬프트 입력 내용</a:t>
            </a:r>
            <a:endParaRPr lang="ko-KR" altLang="en-US" sz="1100" b="0" u="none" strike="noStrike">
              <a:solidFill>
                <a:srgbClr val="7A746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64" name="Google Shape;165;p7">
            <a:extLst>
              <a:ext uri="{FF2B5EF4-FFF2-40B4-BE49-F238E27FC236}">
                <a16:creationId xmlns:a16="http://schemas.microsoft.com/office/drawing/2014/main" id="{AA5977E5-641A-5E68-437C-BE9D2CBF8C84}"/>
              </a:ext>
            </a:extLst>
          </p:cNvPr>
          <p:cNvSpPr/>
          <p:nvPr/>
        </p:nvSpPr>
        <p:spPr>
          <a:xfrm>
            <a:off x="6090529" y="2437625"/>
            <a:ext cx="5650200" cy="402120"/>
          </a:xfrm>
          <a:prstGeom prst="roundRect">
            <a:avLst>
              <a:gd name="adj" fmla="val 1588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ea typeface="+mn-lt"/>
                <a:cs typeface="+mn-lt"/>
              </a:rPr>
              <a:t>knot-vault/schema.md</a:t>
            </a:r>
            <a:r>
              <a:rPr lang="ko-KR" sz="1400" dirty="0">
                <a:solidFill>
                  <a:srgbClr val="000000"/>
                </a:solidFill>
                <a:ea typeface="+mn-lt"/>
                <a:cs typeface="+mn-lt"/>
              </a:rPr>
              <a:t>를</a:t>
            </a:r>
            <a:r>
              <a:rPr lang="ko-KR" alt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sz="1400" dirty="0">
                <a:solidFill>
                  <a:srgbClr val="000000"/>
                </a:solidFill>
                <a:ea typeface="+mn-lt"/>
                <a:cs typeface="+mn-lt"/>
              </a:rPr>
              <a:t>정독하고</a:t>
            </a:r>
            <a:r>
              <a:rPr lang="en-US" altLang="ko-KR" sz="1400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r>
              <a:rPr lang="ko-KR" alt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000000"/>
                </a:solidFill>
                <a:ea typeface="+mn-lt"/>
                <a:cs typeface="+mn-lt"/>
              </a:rPr>
              <a:t>&lt;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파일경로</a:t>
            </a:r>
            <a:r>
              <a:rPr lang="en-US" altLang="ko-KR" sz="1400">
                <a:solidFill>
                  <a:srgbClr val="000000"/>
                </a:solidFill>
                <a:ea typeface="+mn-lt"/>
                <a:cs typeface="+mn-lt"/>
              </a:rPr>
              <a:t>&gt;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를 inbox/에 넣어라</a:t>
            </a:r>
            <a:endParaRPr lang="en-US" altLang="ko-KR" sz="1400" dirty="0">
              <a:cs typeface="Arial"/>
            </a:endParaRPr>
          </a:p>
        </p:txBody>
      </p:sp>
      <p:sp>
        <p:nvSpPr>
          <p:cNvPr id="269" name="Google Shape;170;p7">
            <a:extLst>
              <a:ext uri="{FF2B5EF4-FFF2-40B4-BE49-F238E27FC236}">
                <a16:creationId xmlns:a16="http://schemas.microsoft.com/office/drawing/2014/main" id="{DCD8073C-527D-EA39-20B5-C2A92819EF96}"/>
              </a:ext>
            </a:extLst>
          </p:cNvPr>
          <p:cNvSpPr/>
          <p:nvPr/>
        </p:nvSpPr>
        <p:spPr>
          <a:xfrm>
            <a:off x="6101926" y="5438190"/>
            <a:ext cx="5791593" cy="5375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ko-KR" altLang="en-US" sz="1100" dirty="0">
                <a:solidFill>
                  <a:srgbClr val="7A746B"/>
                </a:solidFill>
                <a:latin typeface="Malgun Gothic"/>
                <a:ea typeface="Malgun Gothic"/>
              </a:rPr>
              <a:t>기계</a:t>
            </a:r>
            <a:r>
              <a:rPr lang="en-US" sz="11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sz="1100" dirty="0" err="1">
                <a:solidFill>
                  <a:srgbClr val="7A746B"/>
                </a:solidFill>
                <a:latin typeface="Malgun Gothic"/>
                <a:ea typeface="Malgun Gothic"/>
              </a:rPr>
              <a:t>검사만</a:t>
            </a:r>
            <a:r>
              <a:rPr lang="en-US" sz="11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ko-KR" altLang="en-US" sz="1100" dirty="0">
                <a:solidFill>
                  <a:srgbClr val="7A746B"/>
                </a:solidFill>
                <a:latin typeface="Malgun Gothic"/>
                <a:ea typeface="Malgun Gothic"/>
              </a:rPr>
              <a:t>빠르게</a:t>
            </a:r>
            <a:r>
              <a:rPr lang="en-US" sz="11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sz="1100" dirty="0" err="1">
                <a:solidFill>
                  <a:srgbClr val="7A746B"/>
                </a:solidFill>
                <a:latin typeface="Malgun Gothic"/>
                <a:ea typeface="Malgun Gothic"/>
              </a:rPr>
              <a:t>돌릴</a:t>
            </a:r>
            <a:r>
              <a:rPr lang="en-US" sz="1100" dirty="0">
                <a:solidFill>
                  <a:srgbClr val="7A746B"/>
                </a:solidFill>
                <a:latin typeface="Malgun Gothic"/>
                <a:ea typeface="Malgun Gothic"/>
              </a:rPr>
              <a:t> 땐 </a:t>
            </a:r>
            <a:r>
              <a:rPr lang="ko-KR" altLang="en-US" sz="1100" dirty="0">
                <a:solidFill>
                  <a:srgbClr val="7A746B"/>
                </a:solidFill>
                <a:latin typeface="Malgun Gothic"/>
                <a:ea typeface="Malgun Gothic"/>
              </a:rPr>
              <a:t>프롬프트에</a:t>
            </a:r>
            <a:r>
              <a:rPr lang="en-US" altLang="ko-KR" sz="1100" dirty="0">
                <a:solidFill>
                  <a:srgbClr val="7A746B"/>
                </a:solidFill>
                <a:latin typeface="Malgun Gothic"/>
                <a:ea typeface="Malgun Gothic"/>
              </a:rPr>
              <a:t> ! 를 </a:t>
            </a:r>
            <a:r>
              <a:rPr lang="en-US" altLang="ko-KR" sz="1100" dirty="0" err="1">
                <a:solidFill>
                  <a:srgbClr val="7A746B"/>
                </a:solidFill>
                <a:latin typeface="Malgun Gothic"/>
                <a:ea typeface="Malgun Gothic"/>
              </a:rPr>
              <a:t>붙여</a:t>
            </a:r>
            <a:r>
              <a:rPr lang="en-US" altLang="ko-KR" sz="11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00" dirty="0" err="1">
                <a:solidFill>
                  <a:srgbClr val="7A746B"/>
                </a:solidFill>
                <a:latin typeface="Malgun Gothic"/>
                <a:ea typeface="Malgun Gothic"/>
              </a:rPr>
              <a:t>셀을</a:t>
            </a:r>
            <a:r>
              <a:rPr lang="en-US" altLang="ko-KR" sz="11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00" dirty="0" err="1">
                <a:solidFill>
                  <a:srgbClr val="7A746B"/>
                </a:solidFill>
                <a:latin typeface="Malgun Gothic"/>
                <a:ea typeface="Malgun Gothic"/>
              </a:rPr>
              <a:t>바로</a:t>
            </a:r>
            <a:r>
              <a:rPr lang="en-US" altLang="ko-KR" sz="11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100" dirty="0" err="1">
                <a:solidFill>
                  <a:srgbClr val="7A746B"/>
                </a:solidFill>
                <a:latin typeface="Malgun Gothic"/>
                <a:ea typeface="Malgun Gothic"/>
              </a:rPr>
              <a:t>실행할</a:t>
            </a:r>
            <a:r>
              <a:rPr lang="en-US" altLang="ko-KR" sz="1100" dirty="0">
                <a:solidFill>
                  <a:srgbClr val="7A746B"/>
                </a:solidFill>
                <a:latin typeface="Malgun Gothic"/>
                <a:ea typeface="Malgun Gothic"/>
              </a:rPr>
              <a:t> 수 </a:t>
            </a:r>
            <a:r>
              <a:rPr lang="en-US" altLang="ko-KR" sz="1100" dirty="0" err="1">
                <a:solidFill>
                  <a:srgbClr val="7A746B"/>
                </a:solidFill>
                <a:latin typeface="Malgun Gothic"/>
                <a:ea typeface="Malgun Gothic"/>
              </a:rPr>
              <a:t>있습니다</a:t>
            </a:r>
            <a:r>
              <a:rPr lang="en-US" altLang="ko-KR" sz="1100" dirty="0">
                <a:solidFill>
                  <a:srgbClr val="7A746B"/>
                </a:solidFill>
                <a:latin typeface="Malgun Gothic"/>
                <a:ea typeface="Malgun Gothic"/>
              </a:rPr>
              <a:t>. </a:t>
            </a:r>
            <a:endParaRPr lang="ko-KR" altLang="en-US" sz="1100" b="1" dirty="0">
              <a:solidFill>
                <a:srgbClr val="33302B"/>
              </a:solidFill>
              <a:latin typeface="Malgun Gothic"/>
              <a:ea typeface="Malgun Gothic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altLang="ko-KR" sz="1100" b="1">
                <a:solidFill>
                  <a:srgbClr val="33302B"/>
                </a:solidFill>
                <a:latin typeface="Malgun Gothic"/>
                <a:ea typeface="Malgun Gothic"/>
              </a:rPr>
              <a:t>!python </a:t>
            </a:r>
            <a:r>
              <a:rPr lang="en-US" altLang="ko-KR" sz="1100" b="1" dirty="0">
                <a:solidFill>
                  <a:srgbClr val="33302B"/>
                </a:solidFill>
                <a:latin typeface="Malgun Gothic"/>
                <a:ea typeface="Malgun Gothic"/>
              </a:rPr>
              <a:t>knot-vault/scripts/lint.py</a:t>
            </a:r>
            <a:endParaRPr lang="ko-KR" altLang="en-US" sz="110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71" name="Google Shape;156;p7">
            <a:extLst>
              <a:ext uri="{FF2B5EF4-FFF2-40B4-BE49-F238E27FC236}">
                <a16:creationId xmlns:a16="http://schemas.microsoft.com/office/drawing/2014/main" id="{59BE03EF-F6AC-D088-7580-11ADC708DD90}"/>
              </a:ext>
            </a:extLst>
          </p:cNvPr>
          <p:cNvSpPr/>
          <p:nvPr/>
        </p:nvSpPr>
        <p:spPr>
          <a:xfrm>
            <a:off x="502920" y="4613760"/>
            <a:ext cx="346680" cy="34668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2" name="Google Shape;158;p7">
            <a:extLst>
              <a:ext uri="{FF2B5EF4-FFF2-40B4-BE49-F238E27FC236}">
                <a16:creationId xmlns:a16="http://schemas.microsoft.com/office/drawing/2014/main" id="{F26BAF33-5E6E-033B-ADBE-8DAF90CB2F88}"/>
              </a:ext>
            </a:extLst>
          </p:cNvPr>
          <p:cNvSpPr/>
          <p:nvPr/>
        </p:nvSpPr>
        <p:spPr>
          <a:xfrm>
            <a:off x="978480" y="4622760"/>
            <a:ext cx="47358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lint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73" name="Google Shape;159;p7">
            <a:extLst>
              <a:ext uri="{FF2B5EF4-FFF2-40B4-BE49-F238E27FC236}">
                <a16:creationId xmlns:a16="http://schemas.microsoft.com/office/drawing/2014/main" id="{4533003D-F310-46C2-906D-6E4FBC50D36E}"/>
              </a:ext>
            </a:extLst>
          </p:cNvPr>
          <p:cNvSpPr/>
          <p:nvPr/>
        </p:nvSpPr>
        <p:spPr>
          <a:xfrm>
            <a:off x="978480" y="4942800"/>
            <a:ext cx="4735800" cy="46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Vault 건강검진입니다.</a:t>
            </a: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ko-KR" altLang="en-US" sz="1150">
                <a:solidFill>
                  <a:srgbClr val="7A746B"/>
                </a:solidFill>
                <a:latin typeface="Malgun Gothic"/>
                <a:ea typeface="Malgun Gothic"/>
              </a:rPr>
              <a:t>Scripts/lint/py는 기계 점검, prompts/lint.md는 의미 점검을 담당합니다.</a:t>
            </a:r>
            <a:endParaRPr lang="ko-KR" altLang="en-US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3" name="Google Shape;41;p4">
            <a:extLst>
              <a:ext uri="{FF2B5EF4-FFF2-40B4-BE49-F238E27FC236}">
                <a16:creationId xmlns:a16="http://schemas.microsoft.com/office/drawing/2014/main" id="{2CB84233-5649-4912-AA96-2B5D59B3B2FA}"/>
              </a:ext>
            </a:extLst>
          </p:cNvPr>
          <p:cNvSpPr/>
          <p:nvPr/>
        </p:nvSpPr>
        <p:spPr>
          <a:xfrm>
            <a:off x="502920" y="38412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ko-KR" altLang="en-US" sz="1100" b="1" u="none" strike="noStrike" dirty="0">
              <a:solidFill>
                <a:srgbClr val="D97757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33302B"/>
                </a:solidFill>
                <a:latin typeface="Malgun Gothic"/>
                <a:ea typeface="Malgun Gothic"/>
              </a:rPr>
              <a:t>Knot </a:t>
            </a:r>
            <a:r>
              <a:rPr lang="en-US" altLang="ko-KR" sz="3000" b="1" dirty="0" err="1">
                <a:solidFill>
                  <a:srgbClr val="33302B"/>
                </a:solidFill>
                <a:latin typeface="Malgun Gothic"/>
                <a:ea typeface="Malgun Gothic"/>
              </a:rPr>
              <a:t>사용</a:t>
            </a:r>
            <a:r>
              <a:rPr lang="en-US" altLang="ko-KR" sz="3000" b="1" dirty="0">
                <a:solidFill>
                  <a:srgbClr val="33302B"/>
                </a:solidFill>
                <a:latin typeface="Malgun Gothic"/>
                <a:ea typeface="Malgun Gothic"/>
              </a:rPr>
              <a:t> </a:t>
            </a:r>
            <a:r>
              <a:rPr lang="en-US" altLang="ko-KR" sz="3000" b="1" dirty="0" err="1">
                <a:solidFill>
                  <a:srgbClr val="33302B"/>
                </a:solidFill>
                <a:latin typeface="Malgun Gothic"/>
                <a:ea typeface="Malgun Gothic"/>
              </a:rPr>
              <a:t>흐름</a:t>
            </a:r>
            <a:r>
              <a:rPr lang="en-US" altLang="ko-KR" sz="3000" b="1" dirty="0">
                <a:solidFill>
                  <a:srgbClr val="33302B"/>
                </a:solidFill>
                <a:latin typeface="Malgun Gothic"/>
                <a:ea typeface="Malgun Gothic"/>
              </a:rPr>
              <a:t> ( verb 기준</a:t>
            </a:r>
            <a:r>
              <a:rPr lang="en-US" sz="3000" b="1" dirty="0">
                <a:solidFill>
                  <a:srgbClr val="2D2D2D"/>
                </a:solidFill>
                <a:latin typeface="Aptos"/>
                <a:ea typeface="Malgun Gothic"/>
              </a:rPr>
              <a:t> )</a:t>
            </a:r>
          </a:p>
        </p:txBody>
      </p:sp>
      <p:sp>
        <p:nvSpPr>
          <p:cNvPr id="5" name="Google Shape;42;p4">
            <a:extLst>
              <a:ext uri="{FF2B5EF4-FFF2-40B4-BE49-F238E27FC236}">
                <a16:creationId xmlns:a16="http://schemas.microsoft.com/office/drawing/2014/main" id="{A5A99C5F-731F-0D9E-9657-B0621184211D}"/>
              </a:ext>
            </a:extLst>
          </p:cNvPr>
          <p:cNvSpPr/>
          <p:nvPr/>
        </p:nvSpPr>
        <p:spPr>
          <a:xfrm>
            <a:off x="521280" y="114300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Knot은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복잡한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메뉴가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아니라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 </a:t>
            </a:r>
            <a:r>
              <a:rPr lang="en-US" sz="1400" dirty="0" err="1">
                <a:solidFill>
                  <a:srgbClr val="6E6E6E"/>
                </a:solidFill>
                <a:latin typeface="Aptos"/>
                <a:ea typeface="Malgun Gothic"/>
              </a:rPr>
              <a:t>save·ingest·query·lint</a:t>
            </a:r>
            <a:r>
              <a:rPr lang="en-US" sz="1400" dirty="0">
                <a:solidFill>
                  <a:srgbClr val="6E6E6E"/>
                </a:solidFill>
                <a:latin typeface="Aptos"/>
                <a:ea typeface="Malgun Gothic"/>
              </a:rPr>
              <a:t> </a:t>
            </a:r>
            <a:r>
              <a:rPr lang="ko-KR" altLang="en-US" sz="1400" dirty="0">
                <a:solidFill>
                  <a:srgbClr val="6E6E6E"/>
                </a:solidFill>
                <a:latin typeface="Aptos"/>
                <a:ea typeface="Malgun Gothic"/>
              </a:rPr>
              <a:t>네</a:t>
            </a:r>
            <a:r>
              <a:rPr lang="en-US" sz="1400" dirty="0">
                <a:solidFill>
                  <a:srgbClr val="6E6E6E"/>
                </a:solidFill>
                <a:latin typeface="Aptos"/>
                <a:ea typeface="Malgun Gothic"/>
              </a:rPr>
              <a:t> </a:t>
            </a:r>
            <a:r>
              <a:rPr lang="ko-KR" altLang="en-US" sz="1400" dirty="0">
                <a:solidFill>
                  <a:srgbClr val="6E6E6E"/>
                </a:solidFill>
                <a:latin typeface="Aptos"/>
                <a:ea typeface="Malgun Gothic"/>
              </a:rPr>
              <a:t>가지</a:t>
            </a:r>
            <a:r>
              <a:rPr lang="en-US" altLang="ko-KR" sz="1400" dirty="0">
                <a:solidFill>
                  <a:srgbClr val="6E6E6E"/>
                </a:solidFill>
                <a:latin typeface="Aptos"/>
                <a:ea typeface="Malgun Gothic"/>
              </a:rPr>
              <a:t> </a:t>
            </a:r>
            <a:r>
              <a:rPr lang="en-US" altLang="ko-KR" sz="1400" dirty="0" err="1">
                <a:solidFill>
                  <a:srgbClr val="6E6E6E"/>
                </a:solidFill>
                <a:latin typeface="Aptos"/>
                <a:ea typeface="Malgun Gothic"/>
              </a:rPr>
              <a:t>동작으로</a:t>
            </a:r>
            <a:r>
              <a:rPr lang="en-US" altLang="ko-KR" sz="1400" dirty="0">
                <a:solidFill>
                  <a:srgbClr val="6E6E6E"/>
                </a:solidFill>
                <a:latin typeface="Aptos"/>
                <a:ea typeface="Malgun Gothic"/>
              </a:rPr>
              <a:t> </a:t>
            </a:r>
            <a:r>
              <a:rPr lang="en-US" altLang="ko-KR" sz="1400" dirty="0" err="1">
                <a:solidFill>
                  <a:srgbClr val="6E6E6E"/>
                </a:solidFill>
                <a:latin typeface="Aptos"/>
                <a:ea typeface="Malgun Gothic"/>
              </a:rPr>
              <a:t>사용합니다</a:t>
            </a:r>
            <a:r>
              <a:rPr lang="en-US" altLang="ko-KR" sz="1400" dirty="0">
                <a:solidFill>
                  <a:srgbClr val="6E6E6E"/>
                </a:solidFill>
                <a:latin typeface="Aptos"/>
                <a:ea typeface="Malgun Gothic"/>
              </a:rPr>
              <a:t>.</a:t>
            </a:r>
          </a:p>
        </p:txBody>
      </p:sp>
      <p:sp>
        <p:nvSpPr>
          <p:cNvPr id="7" name="Google Shape;165;p7">
            <a:extLst>
              <a:ext uri="{FF2B5EF4-FFF2-40B4-BE49-F238E27FC236}">
                <a16:creationId xmlns:a16="http://schemas.microsoft.com/office/drawing/2014/main" id="{31D0EFCF-4B93-8201-BA12-E8BA725CF462}"/>
              </a:ext>
            </a:extLst>
          </p:cNvPr>
          <p:cNvSpPr/>
          <p:nvPr/>
        </p:nvSpPr>
        <p:spPr>
          <a:xfrm>
            <a:off x="6090529" y="3079138"/>
            <a:ext cx="5650200" cy="402120"/>
          </a:xfrm>
          <a:prstGeom prst="roundRect">
            <a:avLst>
              <a:gd name="adj" fmla="val 1588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knot-vault/</a:t>
            </a:r>
            <a:r>
              <a:rPr lang="en-US" sz="1400" err="1">
                <a:solidFill>
                  <a:srgbClr val="000000"/>
                </a:solidFill>
                <a:ea typeface="+mn-lt"/>
                <a:cs typeface="+mn-lt"/>
              </a:rPr>
              <a:t>schema.md</a:t>
            </a:r>
            <a:r>
              <a:rPr lang="ko-KR" altLang="en-US" sz="1400" err="1">
                <a:solidFill>
                  <a:srgbClr val="000000"/>
                </a:solidFill>
                <a:ea typeface="+mn-lt"/>
                <a:cs typeface="+mn-lt"/>
              </a:rPr>
              <a:t>와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knot-vault/prompts/</a:t>
            </a:r>
            <a:r>
              <a:rPr lang="en-US" sz="1400" err="1">
                <a:solidFill>
                  <a:srgbClr val="000000"/>
                </a:solidFill>
                <a:ea typeface="+mn-lt"/>
                <a:cs typeface="+mn-lt"/>
              </a:rPr>
              <a:t>ingest.md</a:t>
            </a:r>
            <a:r>
              <a:rPr lang="ko-KR" altLang="en-US" sz="1400" err="1">
                <a:solidFill>
                  <a:srgbClr val="000000"/>
                </a:solidFill>
                <a:ea typeface="+mn-lt"/>
                <a:cs typeface="+mn-lt"/>
              </a:rPr>
              <a:t>를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 err="1">
                <a:solidFill>
                  <a:srgbClr val="000000"/>
                </a:solidFill>
                <a:ea typeface="+mn-lt"/>
                <a:cs typeface="+mn-lt"/>
              </a:rPr>
              <a:t>정독하고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그대로 실행하라.</a:t>
            </a:r>
            <a:endParaRPr lang="en-US" dirty="0" err="1"/>
          </a:p>
        </p:txBody>
      </p:sp>
      <p:sp>
        <p:nvSpPr>
          <p:cNvPr id="9" name="Google Shape;165;p7">
            <a:extLst>
              <a:ext uri="{FF2B5EF4-FFF2-40B4-BE49-F238E27FC236}">
                <a16:creationId xmlns:a16="http://schemas.microsoft.com/office/drawing/2014/main" id="{3C233604-3071-E27F-05E1-EEFDA6594C7F}"/>
              </a:ext>
            </a:extLst>
          </p:cNvPr>
          <p:cNvSpPr/>
          <p:nvPr/>
        </p:nvSpPr>
        <p:spPr>
          <a:xfrm>
            <a:off x="6101926" y="3784149"/>
            <a:ext cx="5650200" cy="402120"/>
          </a:xfrm>
          <a:prstGeom prst="roundRect">
            <a:avLst>
              <a:gd name="adj" fmla="val 1588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knot-vault/schema.md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와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knot-vault/prompts/query.md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를</a:t>
            </a:r>
            <a:r>
              <a:rPr lang="en-US" altLang="ko-KR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정독하고</a:t>
            </a:r>
            <a:r>
              <a:rPr lang="en-US" altLang="ko-KR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그대로</a:t>
            </a:r>
            <a:r>
              <a:rPr lang="en-US" altLang="ko-KR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실행하라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ko-KR" altLang="en-US" sz="1400" err="1">
                <a:solidFill>
                  <a:srgbClr val="000000"/>
                </a:solidFill>
                <a:ea typeface="+mn-lt"/>
                <a:cs typeface="+mn-lt"/>
              </a:rPr>
              <a:t>질문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: &lt;</a:t>
            </a:r>
            <a:r>
              <a:rPr lang="ko-KR" altLang="en-US" sz="1400" err="1">
                <a:solidFill>
                  <a:srgbClr val="000000"/>
                </a:solidFill>
                <a:ea typeface="+mn-lt"/>
                <a:cs typeface="+mn-lt"/>
              </a:rPr>
              <a:t>질문내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용</a:t>
            </a:r>
            <a:r>
              <a:rPr lang="en-US" altLang="ko-KR" sz="1400">
                <a:solidFill>
                  <a:srgbClr val="000000"/>
                </a:solidFill>
                <a:ea typeface="+mn-lt"/>
                <a:cs typeface="+mn-lt"/>
              </a:rPr>
              <a:t>&gt;</a:t>
            </a:r>
            <a:endParaRPr lang="ko-KR" altLang="en-US" sz="1400">
              <a:cs typeface="Arial"/>
            </a:endParaRPr>
          </a:p>
        </p:txBody>
      </p:sp>
      <p:sp>
        <p:nvSpPr>
          <p:cNvPr id="11" name="Google Shape;165;p7">
            <a:extLst>
              <a:ext uri="{FF2B5EF4-FFF2-40B4-BE49-F238E27FC236}">
                <a16:creationId xmlns:a16="http://schemas.microsoft.com/office/drawing/2014/main" id="{1AAC4A37-8335-AB5F-A043-5E855FD2632A}"/>
              </a:ext>
            </a:extLst>
          </p:cNvPr>
          <p:cNvSpPr/>
          <p:nvPr/>
        </p:nvSpPr>
        <p:spPr>
          <a:xfrm>
            <a:off x="6090528" y="4419964"/>
            <a:ext cx="5650200" cy="402120"/>
          </a:xfrm>
          <a:prstGeom prst="roundRect">
            <a:avLst>
              <a:gd name="adj" fmla="val 15889"/>
            </a:avLst>
          </a:prstGeom>
          <a:solidFill>
            <a:srgbClr val="FFFFFF"/>
          </a:solidFill>
          <a:ln w="12700">
            <a:solidFill>
              <a:srgbClr val="E4E0DA"/>
            </a:solidFill>
            <a:round/>
          </a:ln>
          <a:effectLst>
            <a:outerShdw blurRad="152280" dist="38160" dir="5400000" algn="bl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knot-vault/schema.md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와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knot-vault/prompts/lint.md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를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정독하고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1400">
                <a:solidFill>
                  <a:srgbClr val="000000"/>
                </a:solidFill>
                <a:ea typeface="+mn-lt"/>
                <a:cs typeface="+mn-lt"/>
              </a:rPr>
              <a:t>그대로 실행하라.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7" name="Google Shape;150;p7">
            <a:extLst>
              <a:ext uri="{FF2B5EF4-FFF2-40B4-BE49-F238E27FC236}">
                <a16:creationId xmlns:a16="http://schemas.microsoft.com/office/drawing/2014/main" id="{72D1F74E-54A5-91EA-D890-C4078FDBF07D}"/>
              </a:ext>
            </a:extLst>
          </p:cNvPr>
          <p:cNvSpPr/>
          <p:nvPr/>
        </p:nvSpPr>
        <p:spPr>
          <a:xfrm>
            <a:off x="5529313" y="2546883"/>
            <a:ext cx="629467" cy="204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Save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9" name="Google Shape;150;p7">
            <a:extLst>
              <a:ext uri="{FF2B5EF4-FFF2-40B4-BE49-F238E27FC236}">
                <a16:creationId xmlns:a16="http://schemas.microsoft.com/office/drawing/2014/main" id="{01C34DC1-4847-7368-7901-CCDE3570F281}"/>
              </a:ext>
            </a:extLst>
          </p:cNvPr>
          <p:cNvSpPr/>
          <p:nvPr/>
        </p:nvSpPr>
        <p:spPr>
          <a:xfrm>
            <a:off x="5529312" y="3181882"/>
            <a:ext cx="629467" cy="204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ingest</a:t>
            </a:r>
            <a:endParaRPr lang="ko-KR" altLang="en-US" sz="13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20" name="Google Shape;150;p7">
            <a:extLst>
              <a:ext uri="{FF2B5EF4-FFF2-40B4-BE49-F238E27FC236}">
                <a16:creationId xmlns:a16="http://schemas.microsoft.com/office/drawing/2014/main" id="{03B84980-A984-1C51-D445-B15BABE094E2}"/>
              </a:ext>
            </a:extLst>
          </p:cNvPr>
          <p:cNvSpPr/>
          <p:nvPr/>
        </p:nvSpPr>
        <p:spPr>
          <a:xfrm>
            <a:off x="5529311" y="3880381"/>
            <a:ext cx="629467" cy="204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query</a:t>
            </a:r>
            <a:endParaRPr lang="en-US" altLang="ko-KR"/>
          </a:p>
        </p:txBody>
      </p:sp>
      <p:sp>
        <p:nvSpPr>
          <p:cNvPr id="21" name="Google Shape;150;p7">
            <a:extLst>
              <a:ext uri="{FF2B5EF4-FFF2-40B4-BE49-F238E27FC236}">
                <a16:creationId xmlns:a16="http://schemas.microsoft.com/office/drawing/2014/main" id="{76565365-2CD4-4167-FCA6-42555A6EC13C}"/>
              </a:ext>
            </a:extLst>
          </p:cNvPr>
          <p:cNvSpPr/>
          <p:nvPr/>
        </p:nvSpPr>
        <p:spPr>
          <a:xfrm>
            <a:off x="5529310" y="4525964"/>
            <a:ext cx="629467" cy="204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350" b="1">
                <a:solidFill>
                  <a:srgbClr val="33302B"/>
                </a:solidFill>
                <a:latin typeface="Malgun Gothic"/>
                <a:ea typeface="Malgun Gothic"/>
              </a:rPr>
              <a:t>lint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8749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95276-45BE-92A7-BD70-A9D330A4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41;p4">
            <a:extLst>
              <a:ext uri="{FF2B5EF4-FFF2-40B4-BE49-F238E27FC236}">
                <a16:creationId xmlns:a16="http://schemas.microsoft.com/office/drawing/2014/main" id="{27E98A92-863A-7B67-C992-3E3BE4CFCF1E}"/>
              </a:ext>
            </a:extLst>
          </p:cNvPr>
          <p:cNvSpPr/>
          <p:nvPr/>
        </p:nvSpPr>
        <p:spPr>
          <a:xfrm>
            <a:off x="502920" y="38412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ko-KR" altLang="en-US" sz="1100" b="1" u="none" strike="noStrike" dirty="0">
              <a:solidFill>
                <a:srgbClr val="D97757"/>
              </a:solidFill>
              <a:effectLst/>
              <a:uFillTx/>
              <a:latin typeface="Malgun Gothic"/>
              <a:ea typeface="Malgun Gothic"/>
            </a:endParaRPr>
          </a:p>
          <a:p>
            <a:pPr>
              <a:tabLst>
                <a:tab pos="0" algn="l"/>
              </a:tabLst>
            </a:pPr>
            <a:r>
              <a:rPr lang="ko-KR" altLang="en-US" sz="3000" b="1">
                <a:solidFill>
                  <a:srgbClr val="33302B"/>
                </a:solidFill>
                <a:latin typeface="Malgun Gothic"/>
                <a:ea typeface="Malgun Gothic"/>
              </a:rPr>
              <a:t>Knot 운영 기준 ( 기본은 수동 )</a:t>
            </a:r>
            <a:endParaRPr lang="ko-KR" altLang="en-US" sz="300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46" name="Google Shape;42;p4">
            <a:extLst>
              <a:ext uri="{FF2B5EF4-FFF2-40B4-BE49-F238E27FC236}">
                <a16:creationId xmlns:a16="http://schemas.microsoft.com/office/drawing/2014/main" id="{AD3E836D-33E3-8F80-4A1F-7A18F99B7A7A}"/>
              </a:ext>
            </a:extLst>
          </p:cNvPr>
          <p:cNvSpPr/>
          <p:nvPr/>
        </p:nvSpPr>
        <p:spPr>
          <a:xfrm>
            <a:off x="521280" y="114300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자동화보다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중요한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것은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정본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관리와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근거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기반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응답입니다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.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기본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운용은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사람이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확인하고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실행하는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 </a:t>
            </a:r>
            <a:r>
              <a:rPr lang="en-US" altLang="ko-KR" sz="1300" dirty="0" err="1">
                <a:solidFill>
                  <a:srgbClr val="7A746B"/>
                </a:solidFill>
                <a:latin typeface="Malgun Gothic"/>
                <a:ea typeface="Malgun Gothic"/>
              </a:rPr>
              <a:t>방식입니다</a:t>
            </a:r>
            <a:r>
              <a:rPr lang="en-US" altLang="ko-KR" sz="1300" dirty="0">
                <a:solidFill>
                  <a:srgbClr val="7A746B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147" name="Google Shape;43;p4">
            <a:extLst>
              <a:ext uri="{FF2B5EF4-FFF2-40B4-BE49-F238E27FC236}">
                <a16:creationId xmlns:a16="http://schemas.microsoft.com/office/drawing/2014/main" id="{67A16318-295F-AB08-9056-8DC11EB77029}"/>
              </a:ext>
            </a:extLst>
          </p:cNvPr>
          <p:cNvSpPr/>
          <p:nvPr/>
        </p:nvSpPr>
        <p:spPr>
          <a:xfrm>
            <a:off x="50292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44;p4">
            <a:extLst>
              <a:ext uri="{FF2B5EF4-FFF2-40B4-BE49-F238E27FC236}">
                <a16:creationId xmlns:a16="http://schemas.microsoft.com/office/drawing/2014/main" id="{F8168764-BD3A-F5F0-7C1B-77CF2B9FA806}"/>
              </a:ext>
            </a:extLst>
          </p:cNvPr>
          <p:cNvSpPr/>
          <p:nvPr/>
        </p:nvSpPr>
        <p:spPr>
          <a:xfrm>
            <a:off x="77724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Google Shape;45;p4" descr="preencoded.png">
            <a:extLst>
              <a:ext uri="{FF2B5EF4-FFF2-40B4-BE49-F238E27FC236}">
                <a16:creationId xmlns:a16="http://schemas.microsoft.com/office/drawing/2014/main" id="{4E47B1AE-6C14-A951-CAF5-E8D9D104D3E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0540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Google Shape;46;p4">
            <a:extLst>
              <a:ext uri="{FF2B5EF4-FFF2-40B4-BE49-F238E27FC236}">
                <a16:creationId xmlns:a16="http://schemas.microsoft.com/office/drawing/2014/main" id="{79C98591-71DF-0D4D-B7B0-7AC928CBA1BE}"/>
              </a:ext>
            </a:extLst>
          </p:cNvPr>
          <p:cNvSpPr/>
          <p:nvPr/>
        </p:nvSpPr>
        <p:spPr>
          <a:xfrm>
            <a:off x="77724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근거 기반 응답</a:t>
            </a:r>
            <a:endParaRPr lang="ko-KR" altLang="en-US" sz="16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51" name="Google Shape;47;p4">
            <a:extLst>
              <a:ext uri="{FF2B5EF4-FFF2-40B4-BE49-F238E27FC236}">
                <a16:creationId xmlns:a16="http://schemas.microsoft.com/office/drawing/2014/main" id="{1D130467-91E0-335A-C78E-E7933AEE5227}"/>
              </a:ext>
            </a:extLst>
          </p:cNvPr>
          <p:cNvSpPr/>
          <p:nvPr/>
        </p:nvSpPr>
        <p:spPr>
          <a:xfrm>
            <a:off x="77724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query는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vault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안의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근거를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기준으로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답합니다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.</a:t>
            </a:r>
            <a:b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</a:br>
            <a:b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</a:b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근거가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없으면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답을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만들어내지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않고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“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근거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없음”으로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en-US" sz="1200" dirty="0" err="1">
                <a:solidFill>
                  <a:srgbClr val="5F5F5F"/>
                </a:solidFill>
                <a:latin typeface="Aptos"/>
                <a:ea typeface="Malgun Gothic"/>
              </a:rPr>
              <a:t>처리합니다</a:t>
            </a:r>
            <a:r>
              <a:rPr lang="en-US" sz="1200" dirty="0">
                <a:solidFill>
                  <a:srgbClr val="5F5F5F"/>
                </a:solidFill>
                <a:latin typeface="Aptos"/>
                <a:ea typeface="Malgun Gothic"/>
              </a:rPr>
              <a:t>.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altLang="ko-KR" sz="1200" dirty="0">
              <a:solidFill>
                <a:srgbClr val="7A746B"/>
              </a:solidFill>
              <a:latin typeface="Malgun Gothic"/>
              <a:ea typeface="Malgun Gothi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en-US" altLang="ko-KR" sz="115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152" name="Google Shape;48;p4">
            <a:extLst>
              <a:ext uri="{FF2B5EF4-FFF2-40B4-BE49-F238E27FC236}">
                <a16:creationId xmlns:a16="http://schemas.microsoft.com/office/drawing/2014/main" id="{978865A9-67B8-7175-96FE-6D0751A4C98E}"/>
              </a:ext>
            </a:extLst>
          </p:cNvPr>
          <p:cNvSpPr/>
          <p:nvPr/>
        </p:nvSpPr>
        <p:spPr>
          <a:xfrm>
            <a:off x="428868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49;p4">
            <a:extLst>
              <a:ext uri="{FF2B5EF4-FFF2-40B4-BE49-F238E27FC236}">
                <a16:creationId xmlns:a16="http://schemas.microsoft.com/office/drawing/2014/main" id="{CDDC9F83-718F-843B-C216-136CDA4D41AE}"/>
              </a:ext>
            </a:extLst>
          </p:cNvPr>
          <p:cNvSpPr/>
          <p:nvPr/>
        </p:nvSpPr>
        <p:spPr>
          <a:xfrm>
            <a:off x="456300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Google Shape;50;p4" descr="preencoded.png">
            <a:extLst>
              <a:ext uri="{FF2B5EF4-FFF2-40B4-BE49-F238E27FC236}">
                <a16:creationId xmlns:a16="http://schemas.microsoft.com/office/drawing/2014/main" id="{93CF5167-A115-6859-5DED-1ED49C2D1DD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69080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51;p4">
            <a:extLst>
              <a:ext uri="{FF2B5EF4-FFF2-40B4-BE49-F238E27FC236}">
                <a16:creationId xmlns:a16="http://schemas.microsoft.com/office/drawing/2014/main" id="{9B26A459-0403-871A-9C7B-AF39261FADF7}"/>
              </a:ext>
            </a:extLst>
          </p:cNvPr>
          <p:cNvSpPr/>
          <p:nvPr/>
        </p:nvSpPr>
        <p:spPr>
          <a:xfrm>
            <a:off x="456300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건강 검진</a:t>
            </a:r>
            <a:endParaRPr lang="ko-KR" altLang="en-US" sz="1650" b="1" u="none" strike="noStrike" dirty="0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56" name="Google Shape;52;p4">
            <a:extLst>
              <a:ext uri="{FF2B5EF4-FFF2-40B4-BE49-F238E27FC236}">
                <a16:creationId xmlns:a16="http://schemas.microsoft.com/office/drawing/2014/main" id="{620A7B24-DFFE-F036-A271-A6AFAA9C12A7}"/>
              </a:ext>
            </a:extLst>
          </p:cNvPr>
          <p:cNvSpPr/>
          <p:nvPr/>
        </p:nvSpPr>
        <p:spPr>
          <a:xfrm>
            <a:off x="456300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lint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는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구조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오류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,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모순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, stale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문서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,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고아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문서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등을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점검합니다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.</a:t>
            </a:r>
            <a:br>
              <a:rPr lang="en-US" altLang="ko-KR" sz="1200" dirty="0">
                <a:solidFill>
                  <a:srgbClr val="5F5F5F"/>
                </a:solidFill>
                <a:latin typeface="Aptos"/>
                <a:ea typeface="Malgun Gothic"/>
              </a:rPr>
            </a:br>
            <a:br>
              <a:rPr lang="en-US" altLang="ko-KR" sz="1200" dirty="0">
                <a:solidFill>
                  <a:srgbClr val="5F5F5F"/>
                </a:solidFill>
                <a:latin typeface="Aptos"/>
                <a:ea typeface="Malgun Gothic"/>
              </a:rPr>
            </a:b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기계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점검과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의미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점검을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함께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수행합니다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.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ko-KR" altLang="en-US" sz="120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157" name="Google Shape;53;p4">
            <a:extLst>
              <a:ext uri="{FF2B5EF4-FFF2-40B4-BE49-F238E27FC236}">
                <a16:creationId xmlns:a16="http://schemas.microsoft.com/office/drawing/2014/main" id="{73EDC895-D587-1BFD-CB52-45C742CAB7BB}"/>
              </a:ext>
            </a:extLst>
          </p:cNvPr>
          <p:cNvSpPr/>
          <p:nvPr/>
        </p:nvSpPr>
        <p:spPr>
          <a:xfrm>
            <a:off x="8074080" y="1828800"/>
            <a:ext cx="3638520" cy="301680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54;p4">
            <a:extLst>
              <a:ext uri="{FF2B5EF4-FFF2-40B4-BE49-F238E27FC236}">
                <a16:creationId xmlns:a16="http://schemas.microsoft.com/office/drawing/2014/main" id="{CDF0F4A5-30A9-7AD2-F607-ECEDB5593E59}"/>
              </a:ext>
            </a:extLst>
          </p:cNvPr>
          <p:cNvSpPr/>
          <p:nvPr/>
        </p:nvSpPr>
        <p:spPr>
          <a:xfrm>
            <a:off x="8348400" y="2103120"/>
            <a:ext cx="511200" cy="511200"/>
          </a:xfrm>
          <a:prstGeom prst="ellipse">
            <a:avLst/>
          </a:prstGeom>
          <a:solidFill>
            <a:srgbClr val="D977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Google Shape;55;p4" descr="preencoded.png">
            <a:extLst>
              <a:ext uri="{FF2B5EF4-FFF2-40B4-BE49-F238E27FC236}">
                <a16:creationId xmlns:a16="http://schemas.microsoft.com/office/drawing/2014/main" id="{C50167C8-2E80-6C98-A9D2-EA6A3C3749D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476560" y="2231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Google Shape;56;p4">
            <a:extLst>
              <a:ext uri="{FF2B5EF4-FFF2-40B4-BE49-F238E27FC236}">
                <a16:creationId xmlns:a16="http://schemas.microsoft.com/office/drawing/2014/main" id="{4087EAAB-209E-3DBF-BA61-EAEC9E342C56}"/>
              </a:ext>
            </a:extLst>
          </p:cNvPr>
          <p:cNvSpPr/>
          <p:nvPr/>
        </p:nvSpPr>
        <p:spPr>
          <a:xfrm>
            <a:off x="8348400" y="2788920"/>
            <a:ext cx="30898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ko-KR" altLang="en-US" sz="1650" b="1">
                <a:solidFill>
                  <a:srgbClr val="33302B"/>
                </a:solidFill>
                <a:latin typeface="Malgun Gothic"/>
                <a:ea typeface="Malgun Gothic"/>
              </a:rPr>
              <a:t>무인 운용</a:t>
            </a:r>
            <a:endParaRPr lang="ko-KR" altLang="en-US" sz="1650" b="1" u="none" strike="noStrike">
              <a:solidFill>
                <a:srgbClr val="33302B"/>
              </a:solidFill>
              <a:effectLst/>
              <a:uFillTx/>
              <a:latin typeface="Malgun Gothic"/>
              <a:ea typeface="Malgun Gothic"/>
            </a:endParaRPr>
          </a:p>
        </p:txBody>
      </p:sp>
      <p:sp>
        <p:nvSpPr>
          <p:cNvPr id="161" name="Google Shape;57;p4">
            <a:extLst>
              <a:ext uri="{FF2B5EF4-FFF2-40B4-BE49-F238E27FC236}">
                <a16:creationId xmlns:a16="http://schemas.microsoft.com/office/drawing/2014/main" id="{B15008C3-3565-91A1-8385-B972FAB77671}"/>
              </a:ext>
            </a:extLst>
          </p:cNvPr>
          <p:cNvSpPr/>
          <p:nvPr/>
        </p:nvSpPr>
        <p:spPr>
          <a:xfrm>
            <a:off x="8348400" y="3200400"/>
            <a:ext cx="308988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scripts/drain.sh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를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스케줄러에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등록할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수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있습니다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.</a:t>
            </a:r>
            <a:br>
              <a:rPr lang="en-US" altLang="ko-KR" sz="1200" dirty="0">
                <a:solidFill>
                  <a:srgbClr val="5F5F5F"/>
                </a:solidFill>
                <a:latin typeface="Aptos"/>
                <a:ea typeface="Malgun Gothic"/>
              </a:rPr>
            </a:br>
            <a:br>
              <a:rPr lang="en-US" altLang="ko-KR" sz="1200" dirty="0">
                <a:solidFill>
                  <a:srgbClr val="5F5F5F"/>
                </a:solidFill>
                <a:latin typeface="Aptos"/>
                <a:ea typeface="Malgun Gothic"/>
              </a:rPr>
            </a:b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다만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기본값은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OFF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이며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,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사용자에게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물어본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뒤에만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 </a:t>
            </a:r>
            <a:r>
              <a:rPr lang="ko-KR" altLang="en-US" sz="1200">
                <a:solidFill>
                  <a:srgbClr val="5F5F5F"/>
                </a:solidFill>
                <a:latin typeface="Aptos"/>
                <a:ea typeface="Malgun Gothic"/>
              </a:rPr>
              <a:t>등록합니다</a:t>
            </a:r>
            <a:r>
              <a:rPr lang="en-US" altLang="ko-KR" sz="1200">
                <a:solidFill>
                  <a:srgbClr val="5F5F5F"/>
                </a:solidFill>
                <a:latin typeface="Aptos"/>
                <a:ea typeface="Malgun Gothic"/>
              </a:rPr>
              <a:t>.</a:t>
            </a: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ko-KR" altLang="en-US" sz="1200" dirty="0">
              <a:solidFill>
                <a:srgbClr val="7A746B"/>
              </a:solidFill>
              <a:latin typeface="Malgun Gothic"/>
              <a:ea typeface="Malgun Gothic"/>
            </a:endParaRPr>
          </a:p>
        </p:txBody>
      </p:sp>
      <p:sp>
        <p:nvSpPr>
          <p:cNvPr id="162" name="Google Shape;58;p4">
            <a:extLst>
              <a:ext uri="{FF2B5EF4-FFF2-40B4-BE49-F238E27FC236}">
                <a16:creationId xmlns:a16="http://schemas.microsoft.com/office/drawing/2014/main" id="{A98F8BD3-AAB6-028D-BABE-7C2E98F2339A}"/>
              </a:ext>
            </a:extLst>
          </p:cNvPr>
          <p:cNvSpPr/>
          <p:nvPr/>
        </p:nvSpPr>
        <p:spPr>
          <a:xfrm>
            <a:off x="522458" y="5537590"/>
            <a:ext cx="11153013" cy="676484"/>
          </a:xfrm>
          <a:prstGeom prst="roundRect">
            <a:avLst>
              <a:gd name="adj" fmla="val 7500"/>
            </a:avLst>
          </a:prstGeom>
          <a:solidFill>
            <a:srgbClr val="F9EF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59;p4">
            <a:extLst>
              <a:ext uri="{FF2B5EF4-FFF2-40B4-BE49-F238E27FC236}">
                <a16:creationId xmlns:a16="http://schemas.microsoft.com/office/drawing/2014/main" id="{E7D9BB64-A0AB-1A54-3592-6C5A594B8F19}"/>
              </a:ext>
            </a:extLst>
          </p:cNvPr>
          <p:cNvSpPr/>
          <p:nvPr/>
        </p:nvSpPr>
        <p:spPr>
          <a:xfrm>
            <a:off x="767471" y="5625514"/>
            <a:ext cx="10664935" cy="490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endParaRPr lang="ko-KR" altLang="en-US" sz="1200" dirty="0">
              <a:solidFill>
                <a:srgbClr val="554B46"/>
              </a:solidFill>
              <a:latin typeface="Aptos"/>
              <a:ea typeface="Malgun Gothic"/>
            </a:endParaRPr>
          </a:p>
          <a:p>
            <a:pPr>
              <a:tabLst>
                <a:tab pos="0" algn="l"/>
              </a:tabLst>
            </a:pPr>
            <a:endParaRPr lang="ko-KR" altLang="en-US" sz="1200" dirty="0">
              <a:solidFill>
                <a:srgbClr val="554B46"/>
              </a:solidFill>
              <a:latin typeface="Aptos"/>
              <a:ea typeface="Malgun Gothic"/>
            </a:endParaRPr>
          </a:p>
          <a:p>
            <a:pPr>
              <a:tabLst>
                <a:tab pos="0" algn="l"/>
              </a:tabLst>
            </a:pP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권장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사용</a:t>
            </a:r>
            <a:r>
              <a:rPr lang="en-US" sz="1200">
                <a:solidFill>
                  <a:srgbClr val="554B46"/>
                </a:solidFill>
                <a:latin typeface="Aptos"/>
                <a:ea typeface="Malgun Gothic"/>
              </a:rPr>
              <a:t>: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자료가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생기면</a:t>
            </a:r>
            <a:r>
              <a:rPr lang="en-US" sz="1200">
                <a:solidFill>
                  <a:srgbClr val="554B46"/>
                </a:solidFill>
                <a:latin typeface="Aptos"/>
                <a:ea typeface="Malgun Gothic"/>
              </a:rPr>
              <a:t> save,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정리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시간이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되면</a:t>
            </a:r>
            <a:r>
              <a:rPr lang="en-US" sz="1200">
                <a:solidFill>
                  <a:srgbClr val="554B46"/>
                </a:solidFill>
                <a:latin typeface="Aptos"/>
                <a:ea typeface="Malgun Gothic"/>
              </a:rPr>
              <a:t> ingest,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답변이</a:t>
            </a:r>
            <a:r>
              <a:rPr lang="en-US" altLang="ko-KR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필요하면</a:t>
            </a:r>
            <a:r>
              <a:rPr lang="en-US" sz="1200">
                <a:solidFill>
                  <a:srgbClr val="554B46"/>
                </a:solidFill>
                <a:latin typeface="Aptos"/>
                <a:ea typeface="Malgun Gothic"/>
              </a:rPr>
              <a:t> query,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정기적으로</a:t>
            </a:r>
            <a:r>
              <a:rPr lang="en-US" sz="1200">
                <a:solidFill>
                  <a:srgbClr val="554B46"/>
                </a:solidFill>
                <a:latin typeface="Aptos"/>
                <a:ea typeface="Malgun Gothic"/>
              </a:rPr>
              <a:t> lint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를</a:t>
            </a:r>
            <a:r>
              <a:rPr lang="en-US" sz="1200" dirty="0">
                <a:solidFill>
                  <a:srgbClr val="554B46"/>
                </a:solidFill>
                <a:latin typeface="Aptos"/>
                <a:ea typeface="Malgun Gothic"/>
              </a:rPr>
              <a:t> </a:t>
            </a:r>
            <a:r>
              <a:rPr lang="ko-KR" altLang="en-US" sz="1200">
                <a:solidFill>
                  <a:srgbClr val="554B46"/>
                </a:solidFill>
                <a:latin typeface="Aptos"/>
                <a:ea typeface="Malgun Gothic"/>
              </a:rPr>
              <a:t>실행합니다</a:t>
            </a:r>
            <a:r>
              <a:rPr lang="en-US" sz="1200">
                <a:solidFill>
                  <a:srgbClr val="554B46"/>
                </a:solidFill>
                <a:latin typeface="Aptos"/>
                <a:ea typeface="Malgun Gothic"/>
              </a:rPr>
              <a:t>.</a:t>
            </a:r>
            <a:endParaRPr lang="ko-KR" sz="1200">
              <a:solidFill>
                <a:srgbClr val="554B46"/>
              </a:solidFill>
              <a:latin typeface="Aptos"/>
              <a:ea typeface="Malgun Gothic"/>
            </a:endParaRPr>
          </a:p>
          <a:p>
            <a:pPr>
              <a:lnSpc>
                <a:spcPct val="135000"/>
              </a:lnSpc>
              <a:tabLst>
                <a:tab pos="0" algn="l"/>
              </a:tabLst>
            </a:pPr>
            <a:endParaRPr lang="ko-KR" altLang="en-US" sz="1350" b="1" dirty="0">
              <a:solidFill>
                <a:srgbClr val="D97757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2157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6385</Words>
  <Application>Microsoft Office PowerPoint</Application>
  <PresentationFormat>와이드스크린</PresentationFormat>
  <Paragraphs>1262</Paragraphs>
  <Slides>64</Slides>
  <Notes>63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6" baseType="lpstr">
      <vt:lpstr>Malgun Gothic</vt:lpstr>
      <vt:lpstr>Malgun Gothic</vt:lpstr>
      <vt:lpstr>프리젠테이션 5 Medium</vt:lpstr>
      <vt:lpstr>프리젠테이션 6 SemiBold</vt:lpstr>
      <vt:lpstr>Aptos</vt:lpstr>
      <vt:lpstr>Arial</vt:lpstr>
      <vt:lpstr>Consolas</vt:lpstr>
      <vt:lpstr>Courier New</vt:lpstr>
      <vt:lpstr>Segoe UI</vt:lpstr>
      <vt:lpstr>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이동민</dc:creator>
  <dc:description/>
  <cp:lastModifiedBy>민규 이</cp:lastModifiedBy>
  <cp:revision>315</cp:revision>
  <dcterms:modified xsi:type="dcterms:W3CDTF">2026-09-19T08:08:54Z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47</vt:i4>
  </property>
  <property fmtid="{D5CDD505-2E9C-101B-9397-08002B2CF9AE}" pid="3" name="PresentationFormat">
    <vt:lpwstr>와이드스크린</vt:lpwstr>
  </property>
  <property fmtid="{D5CDD505-2E9C-101B-9397-08002B2CF9AE}" pid="4" name="Slides">
    <vt:i4>48</vt:i4>
  </property>
</Properties>
</file>