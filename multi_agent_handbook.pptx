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60" r:id="rId5"/>
    <p:sldId id="261" r:id="rId6"/>
    <p:sldId id="303" r:id="rId7"/>
    <p:sldId id="324" r:id="rId8"/>
    <p:sldId id="297" r:id="rId9"/>
    <p:sldId id="298" r:id="rId10"/>
    <p:sldId id="299" r:id="rId11"/>
    <p:sldId id="304" r:id="rId12"/>
    <p:sldId id="274" r:id="rId13"/>
    <p:sldId id="275" r:id="rId14"/>
    <p:sldId id="276" r:id="rId15"/>
    <p:sldId id="277" r:id="rId16"/>
    <p:sldId id="278" r:id="rId17"/>
    <p:sldId id="279" r:id="rId18"/>
    <p:sldId id="321" r:id="rId19"/>
    <p:sldId id="280" r:id="rId20"/>
    <p:sldId id="281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291" r:id="rId31"/>
    <p:sldId id="306" r:id="rId32"/>
    <p:sldId id="282" r:id="rId33"/>
    <p:sldId id="325" r:id="rId34"/>
    <p:sldId id="293" r:id="rId35"/>
    <p:sldId id="294" r:id="rId36"/>
    <p:sldId id="301" r:id="rId37"/>
    <p:sldId id="307" r:id="rId38"/>
    <p:sldId id="263" r:id="rId39"/>
    <p:sldId id="268" r:id="rId40"/>
    <p:sldId id="328" r:id="rId41"/>
    <p:sldId id="327" r:id="rId42"/>
    <p:sldId id="262" r:id="rId43"/>
    <p:sldId id="308" r:id="rId44"/>
    <p:sldId id="309" r:id="rId45"/>
    <p:sldId id="310" r:id="rId46"/>
    <p:sldId id="311" r:id="rId47"/>
    <p:sldId id="312" r:id="rId48"/>
    <p:sldId id="313" r:id="rId49"/>
    <p:sldId id="318" r:id="rId50"/>
    <p:sldId id="264" r:id="rId51"/>
    <p:sldId id="314" r:id="rId52"/>
    <p:sldId id="317" r:id="rId53"/>
    <p:sldId id="316" r:id="rId54"/>
    <p:sldId id="319" r:id="rId55"/>
    <p:sldId id="265" r:id="rId56"/>
    <p:sldId id="322" r:id="rId57"/>
    <p:sldId id="323" r:id="rId58"/>
    <p:sldId id="320" r:id="rId59"/>
    <p:sldId id="269" r:id="rId60"/>
    <p:sldId id="266" r:id="rId61"/>
    <p:sldId id="270" r:id="rId62"/>
    <p:sldId id="272" r:id="rId63"/>
    <p:sldId id="346" r:id="rId64"/>
    <p:sldId id="330" r:id="rId65"/>
    <p:sldId id="347" r:id="rId66"/>
    <p:sldId id="332" r:id="rId67"/>
    <p:sldId id="326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8" r:id="rId76"/>
    <p:sldId id="341" r:id="rId77"/>
    <p:sldId id="342" r:id="rId78"/>
    <p:sldId id="343" r:id="rId79"/>
    <p:sldId id="344" r:id="rId80"/>
    <p:sldId id="345" r:id="rId81"/>
    <p:sldId id="349" r:id="rId82"/>
    <p:sldId id="350" r:id="rId83"/>
    <p:sldId id="351" r:id="rId84"/>
    <p:sldId id="352" r:id="rId85"/>
    <p:sldId id="355" r:id="rId86"/>
    <p:sldId id="353" r:id="rId87"/>
    <p:sldId id="354" r:id="rId8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0C0C0C"/>
    <a:srgbClr val="EEEEEE"/>
    <a:srgbClr val="64748B"/>
    <a:srgbClr val="5EA1F2"/>
    <a:srgbClr val="E8A13A"/>
    <a:srgbClr val="4285F4"/>
    <a:srgbClr val="12A594"/>
    <a:srgbClr val="16232F"/>
    <a:srgbClr val="0F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 autoAdjust="0"/>
    <p:restoredTop sz="95238" autoAdjust="0"/>
  </p:normalViewPr>
  <p:slideViewPr>
    <p:cSldViewPr snapToGrid="0" snapToObjects="1">
      <p:cViewPr varScale="1">
        <p:scale>
          <a:sx n="148" d="100"/>
          <a:sy n="148" d="100"/>
        </p:scale>
        <p:origin x="28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30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shell 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에 </a:t>
            </a:r>
            <a:r>
              <a:rPr lang="ko-KR" altLang="en-US" sz="1200" dirty="0" err="1">
                <a:latin typeface="프리젠테이션 5 Medium" pitchFamily="2" charset="-127"/>
                <a:ea typeface="프리젠테이션 5 Medium" pitchFamily="2" charset="-127"/>
              </a:rPr>
              <a:t>복붙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 할 것</a:t>
            </a: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. Win, mac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도 모를 수 있으니</a:t>
            </a:r>
            <a:endParaRPr lang="en-US" altLang="ko-KR" sz="1200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C8D0-C1B7-5128-7A2F-0E54C179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22900-0A29-3ED9-F26C-E236E4FA2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C7F54-664C-1BF2-9007-97F30ACD6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이미 설치 되었다면</a:t>
            </a:r>
            <a:r>
              <a:rPr lang="en-US" altLang="ko-KR" sz="1200" dirty="0">
                <a:latin typeface="프리젠테이션 5 Medium" pitchFamily="2" charset="-127"/>
                <a:ea typeface="프리젠테이션 5 Medium" pitchFamily="2" charset="-127"/>
              </a:rPr>
              <a:t>, jump </a:t>
            </a:r>
            <a:r>
              <a:rPr lang="ko-KR" altLang="en-US" sz="1200" dirty="0">
                <a:latin typeface="프리젠테이션 5 Medium" pitchFamily="2" charset="-127"/>
                <a:ea typeface="프리젠테이션 5 Medium" pitchFamily="2" charset="-127"/>
              </a:rPr>
              <a:t>할 것 문구 추가</a:t>
            </a:r>
            <a:endParaRPr lang="en-US" altLang="ko-KR" sz="1200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0B5B8-DF57-C226-26D8-F9972C4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25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893E-4E47-DD4A-8A3C-EFA8EDC2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5B40C-BB1B-1E81-569F-16ED384E1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A9119-F856-4BA1-B28A-3165D7410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1542F-B397-6C0E-131C-A48E0256A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32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27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20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6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C3CEE-0F26-1D97-03E4-80E84595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4F5DB-77E7-CABA-CC08-DD1301B11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64738-1A14-DEBF-0327-CD61A89B1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A126F-F458-B722-0F2E-D3CA7BB78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71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9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76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2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04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48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43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8BE9-D3B4-F764-B2A2-263FE59E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23681-C16C-8550-7494-3C2AAC47F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5C8E3-7CC3-45DC-027D-6DF239135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53576-839D-0524-4484-9E4E3C6A4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25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70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51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97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85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244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706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906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820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225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16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003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7BDE-4B89-A8FB-2A1A-FD7A24B0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4174D-0FC6-7CF9-B1CD-EC1900297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EF835-9615-CB7C-EA5F-B6440E876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35DB5-94B6-5A02-8704-00259BA1B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527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240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D0FB-0FDD-BF70-3080-82D2D455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40674-336F-882F-FDB4-6D77296A3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9426E-45E9-2126-3D30-A3736A21A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057C3-323E-93AB-9EFD-C3763B7D4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095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613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526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91F6-FCCE-DF5E-CFA1-9ABF93C1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B8648-D0C7-3223-C9EF-F1FC2D763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8DFD6-9868-5CDF-3B0E-7284024F1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BD018-369A-E56F-6E45-77E649129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15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D587-08A2-6B3F-2236-CFB687AB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B9CE9-C7AB-4338-71C2-8D18CC25E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0D14A-6661-D612-F968-E3536806E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CA340-5099-7AF9-7798-C95A791F3A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632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278F-1938-7824-64A1-4AEFBB69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881A3-D40E-5F60-5404-D6FEC6353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8F0E-4849-D1B3-75EB-11D785DC1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197D1-7071-3F04-2EB2-9166166FE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86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7F8F-ACEE-A617-04C0-646FEA86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1C9DD-8CC7-F108-FDCF-3E056E8E7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059B2-9765-A450-7712-4ECEC14E3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C037E-2E5E-5641-05F1-855A09639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069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41F8-39CA-4CB1-31B9-4C82E8F3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947B9-A846-A2A7-235B-2CFE42CAD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2A73C-C806-0E40-FB5D-C5CADEB18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90961-87E5-0F1C-AF91-DF4256A05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042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33468-C705-DAEF-21C3-DE5AD2D5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0F4D1-45E7-AEC6-8731-9B140DD2B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00041-B024-C7AA-23F6-3C47DC484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C8C2-1E23-3636-8F4F-984B88CE9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49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4AAA-9241-32A4-336C-71A75BE5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988CC-5371-DABF-D6AC-88615389E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9263C-E112-819D-4171-549081174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5075E-9951-C780-E0C2-043342F699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051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4987-2ACD-7508-7218-60EB25B0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C32FB-8944-529A-6E7A-1C936FEF7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38095-43D4-B9E9-B31E-3A027B61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A1475-ABDB-1BDF-1873-6AEBF33B5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6678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0B5B-05C3-148C-85B8-98C875EF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2E9B4-1DE4-DDD8-CFA2-0023CC8E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A92D1-7B6D-09D9-A6E6-9D587EBCF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8C45E-59DE-BB29-22D4-90AAD55B0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378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772F-AC6E-BFB7-4425-B97DF05D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2EDB2-73DB-3B78-813F-B1B66B213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53D14-635D-DAC6-D016-7D6227E45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4FB78-0A2D-4FCF-8366-C6450E069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001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3098-B954-0ABE-F9E5-80982202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1DAD4-08A7-E19B-0AD2-DA75D8B26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E2080-09B8-0181-F7B8-09BDE0EF7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38108-0920-9F8B-8162-ACAD7E29F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079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6E10C-9902-1F15-28A3-D71621C7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1F1D0-F46B-DA8E-A41E-D147839DF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DD97E-4EEE-E406-C1C1-E5A1C3D97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BD733-69CF-4296-9811-24609137C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310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3978-941E-198A-EC2C-C9952A13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53A7-815F-1793-2CCF-8884CEB4E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0CE35-BECD-EE49-03AC-0DE4AFB24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F26D-60E0-BD14-1019-5FFB20659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492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0488-1DAD-81FD-49CE-740A5437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649F2-0242-73EA-6638-F02DA4A7B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DCB53-43BE-C410-69BC-E6F197C3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3DEF8-4F9A-DE5E-13E1-B1E7F81BB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2820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9EEA-46E8-D086-F005-0B3A951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9D632-1393-68A2-AEA1-027EC8F54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F8C3E-7ACE-56D6-5DBF-5704BC54C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20B93-C6EF-AEBC-E6B9-0FA6D6152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553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3FD1-D9E2-5E00-15B9-7E2F5FD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444D4-3466-01BE-555D-09AAD3EF4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DFB59-8F3C-D74E-A404-31F2B7773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60165-CB71-0408-962E-8BFE810BD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331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9834-23C4-5953-992E-80268DE0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1E70D-EEB1-C425-9E73-0A4D9345C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AF30B-E646-223D-8665-30F9CFCCF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6F011-FA26-3624-C3AB-1B78549DB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74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1214-3F6F-691F-6520-3D51C42E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CCD0F-5D03-2E95-5A8A-6D40BF31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3E6CF-402E-ACB5-82C7-BF57A57EA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02E96-ACB8-DA29-D952-761F662CB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6661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f82e76871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5" name="Google Shape;1145;g3f82e768710_0_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6" name="Google Shape;1146;g3f82e768710_0_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8DF8C-4360-779D-DC93-67EE3DC9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94422-D161-4BC2-DC39-0230988B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5A1EC-37AC-70D1-DB46-A1A8ADFDD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3D975-FB59-4BDC-31FC-ABDC39F11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5641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f82e768710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2" name="Google Shape;1192;g3f82e768710_0_1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3" name="Google Shape;1193;g3f82e768710_0_1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f82e768710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3" name="Google Shape;1203;g3f82e768710_0_1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4" name="Google Shape;1204;g3f82e768710_0_1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f82e768710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4" name="Google Shape;1214;g3f82e768710_0_2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5" name="Google Shape;1215;g3f82e768710_0_2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f82e768710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9" name="Google Shape;1229;g3f82e768710_0_2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0" name="Google Shape;1230;g3f82e768710_0_2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f82e768710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4" name="Google Shape;1244;g3f82e768710_0_26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5" name="Google Shape;1245;g3f82e768710_0_26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f82e768710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4" name="Google Shape;1264;g3f82e768710_0_2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5" name="Google Shape;1265;g3f82e768710_0_2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f82e768710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4" name="Google Shape;1284;g3f82e768710_0_3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5" name="Google Shape;1285;g3f82e768710_0_3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f82e768710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6" name="Google Shape;1316;g3f82e768710_0_38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7" name="Google Shape;1317;g3f82e768710_0_3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f82e768710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8" name="Google Shape;1328;g3f82e768710_0_4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9" name="Google Shape;1329;g3f82e768710_0_4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1546-8483-CACB-4F18-DC574C4D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ADBFC-8F22-7E83-91F3-CC0FD6CB6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B395A-C059-F71F-CDD7-517682547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26B32-A871-639E-633D-2521FC6C45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1434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f83011a15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7" name="Google Shape;1347;g3f83011a15f_0_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8" name="Google Shape;1348;g3f83011a15f_0_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f83011a15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0" name="Google Shape;1360;g3f83011a15f_0_4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1" name="Google Shape;1361;g3f83011a15f_0_4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f83011a15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3" name="Google Shape;1373;g3f83011a15f_0_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4" name="Google Shape;1374;g3f83011a15f_0_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f83011a15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6" name="Google Shape;1386;g3f83011a15f_0_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7" name="Google Shape;1387;g3f83011a15f_0_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f83011a15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9" name="Google Shape;1399;g3f83011a15f_0_8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0" name="Google Shape;1400;g3f83011a15f_0_8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C389-6D90-9F4C-85FC-D4E67073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80697-FB2B-6B10-4323-990F8761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F42F3-7458-031C-F231-A47C4705C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D153F-B3D2-0510-C944-8BBCF6BF2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4948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5CA3C-DE46-C131-59B5-F378FE7B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ECF85-DF9F-74CD-5FA5-92408FDB5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88F57-EA9C-406E-9D74-5ABDD30E8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69287-F5B4-617D-01D5-BE3B68F9B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78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6EED-BA22-B709-C116-DD11E178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A05A1-EA8E-D552-7439-FAB8F1DCE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553DB-4316-DF36-457A-5C02FC3DC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76E21-07E7-4B3D-6789-D5CA7F9BC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6239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7221-1915-C839-74CD-6282CC5E9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F9F9A-2866-6786-276D-566A7E52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B1930-E175-E94A-DF8A-B6868884B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50F87-91FB-2460-7905-EA6E81A72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124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079F-4624-616E-BFBD-398848FA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6BB9B-2651-F730-EEC1-3B8121C69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CB312-DD3E-DABF-C256-327A4CD2A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01A7F-A66A-B9A6-24F5-5402EEE73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032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F385-A0ED-5806-A93D-DC8E2D8D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C1DB6-8CE1-C895-D88B-4FE94043A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17A4A-A80E-2599-7596-D132F5206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5D61B-8B47-5D02-E19E-52F7524D2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8770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C808-E045-88D6-1648-4912CF45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C8888-F402-6CD6-96C4-4ED2B74F9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C99AB-3088-5FCB-63FF-5AEFC9156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E0890-BC2B-A4A4-0F18-FCE87ADD9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6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orient="horz" pos="572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448700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2422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341313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8805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210" userDrawn="1">
          <p15:clr>
            <a:srgbClr val="FBAE40"/>
          </p15:clr>
        </p15:guide>
        <p15:guide id="6" orient="horz" pos="5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ith_summa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5837C8-A634-463F-8402-E4EF2F987E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341313"/>
            <a:ext cx="10944225" cy="458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프리젠테이션 6 SemiBold" pitchFamily="2" charset="-127"/>
                <a:ea typeface="프리젠테이션 6 SemiBold" pitchFamily="2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내용 개체 틀 6">
            <a:extLst>
              <a:ext uri="{FF2B5EF4-FFF2-40B4-BE49-F238E27FC236}">
                <a16:creationId xmlns:a16="http://schemas.microsoft.com/office/drawing/2014/main" id="{68906FBF-DA87-1C5D-400A-E2B1869412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908050"/>
            <a:ext cx="10944225" cy="54237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1300">
                <a:latin typeface="프리젠테이션 5 Medium" pitchFamily="2" charset="-127"/>
                <a:ea typeface="프리젠테이션 5 Medium" pitchFamily="2" charset="-127"/>
              </a:defRPr>
            </a:lvl1pPr>
          </a:lstStyle>
          <a:p>
            <a:pPr lvl="0"/>
            <a:r>
              <a:rPr lang="en-US" altLang="ko-KR" dirty="0"/>
              <a:t> </a:t>
            </a:r>
            <a:r>
              <a:rPr lang="ko-KR" altLang="en-US" dirty="0"/>
              <a:t>요약</a:t>
            </a:r>
            <a:endParaRPr lang="en-US" altLang="ko-KR" dirty="0"/>
          </a:p>
          <a:p>
            <a:pPr lvl="0"/>
            <a:r>
              <a:rPr lang="ko-KR" altLang="en-US" dirty="0"/>
              <a:t> 요약</a:t>
            </a:r>
          </a:p>
        </p:txBody>
      </p:sp>
    </p:spTree>
    <p:extLst>
      <p:ext uri="{BB962C8B-B14F-4D97-AF65-F5344CB8AC3E}">
        <p14:creationId xmlns:p14="http://schemas.microsoft.com/office/powerpoint/2010/main" val="47243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210" userDrawn="1">
          <p15:clr>
            <a:srgbClr val="FBAE40"/>
          </p15:clr>
        </p15:guide>
        <p15:guide id="6" orient="horz" pos="504" userDrawn="1">
          <p15:clr>
            <a:srgbClr val="FBAE40"/>
          </p15:clr>
        </p15:guide>
        <p15:guide id="7" orient="horz" pos="913" userDrawn="1">
          <p15:clr>
            <a:srgbClr val="FBAE40"/>
          </p15:clr>
        </p15:guide>
        <p15:guide id="8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3_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225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9646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ntigravity.google/cli/install.ps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ntigravity.google/cli/install.ps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hyperlink" Target="https://antigravity.google/cli/install.ps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6400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183880" y="868680"/>
            <a:ext cx="146304" cy="14630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412480" y="868680"/>
            <a:ext cx="146304" cy="146304"/>
          </a:xfrm>
          <a:prstGeom prst="ellipse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41080" y="868680"/>
            <a:ext cx="146304" cy="146304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1234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$ cd &lt;생성폴더&gt; &amp;&amp; </a:t>
            </a:r>
            <a:r>
              <a:rPr lang="en-US" sz="10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
</a:t>
            </a:r>
            <a:r>
              <a:rPr 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&gt; 새 작업 만들어줘. 목표는…
</a:t>
            </a:r>
            <a:r>
              <a:rPr lang="en-US" sz="10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├─ claude-main  produce
</a:t>
            </a:r>
            <a:r>
              <a:rPr lang="en-US" sz="1050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└─ agy / gemini review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multi-agent-starter + MAT</a:t>
            </a:r>
            <a:endParaRPr lang="en-US" sz="40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설치·운영 핸드북</a:t>
            </a:r>
            <a:endParaRPr lang="en-US" sz="2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Windows 11 / macOS · CLI 익숙한 개발자용 · 따라하기 문서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4663440"/>
            <a:ext cx="1363615" cy="457200"/>
          </a:xfrm>
          <a:prstGeom prst="roundRect">
            <a:avLst>
              <a:gd name="adj" fmla="val 50000"/>
            </a:avLst>
          </a:prstGeom>
          <a:solidFill>
            <a:srgbClr val="1B3149"/>
          </a:solidFill>
          <a:ln w="12700">
            <a:solidFill>
              <a:srgbClr val="D97757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플러그인</a:t>
            </a:r>
          </a:p>
        </p:txBody>
      </p:sp>
      <p:sp>
        <p:nvSpPr>
          <p:cNvPr id="12" name="Shape 10"/>
          <p:cNvSpPr/>
          <p:nvPr/>
        </p:nvSpPr>
        <p:spPr>
          <a:xfrm>
            <a:off x="2572512" y="4663440"/>
            <a:ext cx="4166616" cy="457200"/>
          </a:xfrm>
          <a:prstGeom prst="roundRect">
            <a:avLst>
              <a:gd name="adj" fmla="val 50000"/>
            </a:avLst>
          </a:prstGeom>
          <a:solidFill>
            <a:srgbClr val="1B3149"/>
          </a:solidFill>
          <a:ln w="12700">
            <a:solidFill>
              <a:srgbClr val="4285F4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생산 → 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· </a:t>
            </a:r>
            <a:r>
              <a:rPr lang="en-US" altLang="ko-KR" sz="12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리뷰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agy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· </a:t>
            </a:r>
            <a:r>
              <a:rPr lang="ko-KR" altLang="en-US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비평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Codex · </a:t>
            </a:r>
            <a:r>
              <a:rPr lang="ko-KR" altLang="en-US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종합 → </a:t>
            </a:r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Cursor</a:t>
            </a:r>
            <a:r>
              <a:rPr lang="ko-KR" altLang="en-US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endParaRPr lang="ko-KR" alt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67728" y="46634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B3149"/>
          </a:solidFill>
          <a:ln w="12700">
            <a:solidFill>
              <a:srgbClr val="12A59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2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diff-first </a:t>
            </a:r>
            <a:r>
              <a:rPr lang="en-US" altLang="ko-KR" sz="12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안전적용</a:t>
            </a:r>
            <a:endParaRPr lang="en-US" altLang="ko-KR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FEBAAC-07EA-14F1-0895-A92387BA1866}"/>
              </a:ext>
            </a:extLst>
          </p:cNvPr>
          <p:cNvGrpSpPr/>
          <p:nvPr/>
        </p:nvGrpSpPr>
        <p:grpSpPr>
          <a:xfrm>
            <a:off x="623888" y="1558378"/>
            <a:ext cx="10944224" cy="1371600"/>
            <a:chOff x="623888" y="1558378"/>
            <a:chExt cx="10944224" cy="1371600"/>
          </a:xfrm>
        </p:grpSpPr>
        <p:sp>
          <p:nvSpPr>
            <p:cNvPr id="4" name="Shape 2"/>
            <p:cNvSpPr/>
            <p:nvPr/>
          </p:nvSpPr>
          <p:spPr>
            <a:xfrm>
              <a:off x="623888" y="1558378"/>
              <a:ext cx="10944224" cy="13716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898208" y="1969858"/>
              <a:ext cx="548640" cy="548640"/>
            </a:xfrm>
            <a:prstGeom prst="ellipse">
              <a:avLst/>
            </a:prstGeom>
            <a:solidFill>
              <a:srgbClr val="D9775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5368" y="2107018"/>
              <a:ext cx="274320" cy="27432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675448" y="1814410"/>
              <a:ext cx="89611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오케스트레이터 (orchestartor) ≠ 워커 (worker)</a:t>
              </a:r>
              <a:endParaRPr lang="en-US" sz="17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675448" y="2244178"/>
              <a:ext cx="9144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ko-KR" alt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실행한 </a:t>
              </a:r>
              <a:r>
                <a:rPr lang="ko-KR" altLang="en-US" sz="125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오케스트레이터</a:t>
              </a:r>
              <a:r>
                <a:rPr lang="en-US" altLang="ko-KR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(</a:t>
              </a:r>
              <a:r>
                <a:rPr lang="en-US" sz="125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claude</a:t>
              </a: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)는 지휘자. </a:t>
              </a:r>
            </a:p>
            <a:p>
              <a:pPr>
                <a:lnSpc>
                  <a:spcPct val="105000"/>
                </a:lnSpc>
              </a:pPr>
              <a:r>
                <a:rPr lang="en-US" sz="125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실제</a:t>
              </a: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코딩·리뷰는 </a:t>
              </a:r>
              <a:r>
                <a:rPr lang="en-US" sz="1200" dirty="0" err="1">
                  <a:solidFill>
                    <a:srgbClr val="64748B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claude-main·codex·agy</a:t>
              </a:r>
              <a:r>
                <a:rPr lang="en-US" altLang="ko-KR" sz="1200" dirty="0">
                  <a:solidFill>
                    <a:srgbClr val="64748B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 ·cursor</a:t>
              </a:r>
              <a:r>
                <a:rPr lang="en-US" sz="1200" dirty="0">
                  <a:solidFill>
                    <a:srgbClr val="64748B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 워커를 별도 호출</a:t>
              </a: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모든 워커 호출은 비용·승인 대상.</a:t>
              </a:r>
              <a:endParaRPr lang="en-US" sz="125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7246E5-EBA8-672A-63D5-CFCB1548CECD}"/>
              </a:ext>
            </a:extLst>
          </p:cNvPr>
          <p:cNvGrpSpPr/>
          <p:nvPr/>
        </p:nvGrpSpPr>
        <p:grpSpPr>
          <a:xfrm>
            <a:off x="623888" y="3243497"/>
            <a:ext cx="10944224" cy="1371600"/>
            <a:chOff x="623888" y="3182112"/>
            <a:chExt cx="10944224" cy="1371600"/>
          </a:xfrm>
        </p:grpSpPr>
        <p:sp>
          <p:nvSpPr>
            <p:cNvPr id="9" name="Shape 6"/>
            <p:cNvSpPr/>
            <p:nvPr/>
          </p:nvSpPr>
          <p:spPr>
            <a:xfrm>
              <a:off x="623888" y="3182112"/>
              <a:ext cx="10944224" cy="13716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898208" y="3593592"/>
              <a:ext cx="548640" cy="548640"/>
            </a:xfrm>
            <a:prstGeom prst="ellipse">
              <a:avLst/>
            </a:prstGeom>
            <a:solidFill>
              <a:srgbClr val="4285F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5368" y="3730752"/>
              <a:ext cx="274320" cy="27432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1675448" y="3438144"/>
              <a:ext cx="89611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관제탑 ≠ 작업 대상</a:t>
              </a:r>
              <a:endParaRPr lang="en-US" sz="17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1675448" y="3867912"/>
              <a:ext cx="9144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생성된 스타터 폴더(관제탑)와 개발 프로젝트(target_repo)는 분리. 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 err="1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기존</a:t>
              </a:r>
              <a:r>
                <a:rPr lang="en-US" sz="1250" dirty="0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프로젝트 안에 </a:t>
              </a:r>
              <a:r>
                <a:rPr lang="en-US" sz="1250" dirty="0" err="1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설치</a:t>
              </a:r>
              <a:r>
                <a:rPr lang="en-US" sz="1250" dirty="0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</a:t>
              </a:r>
              <a:r>
                <a:rPr lang="en-US" sz="1250" dirty="0" err="1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금지</a:t>
              </a:r>
              <a:r>
                <a:rPr lang="en-US" sz="1250" dirty="0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— </a:t>
              </a:r>
              <a:r>
                <a:rPr lang="en-US" sz="1250" dirty="0" err="1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파일</a:t>
              </a:r>
              <a:r>
                <a:rPr lang="en-US" sz="1250" dirty="0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</a:t>
              </a:r>
              <a:r>
                <a:rPr lang="en-US" sz="1250" dirty="0" err="1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섞임</a:t>
              </a:r>
              <a:r>
                <a:rPr lang="en-US" sz="1250" dirty="0">
                  <a:solidFill>
                    <a:srgbClr val="FF0000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endParaRPr lang="en-US" sz="125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49C4B24-0981-EC55-A5CC-2541B9C66631}"/>
              </a:ext>
            </a:extLst>
          </p:cNvPr>
          <p:cNvGrpSpPr/>
          <p:nvPr/>
        </p:nvGrpSpPr>
        <p:grpSpPr>
          <a:xfrm>
            <a:off x="623888" y="4928616"/>
            <a:ext cx="10944224" cy="1371600"/>
            <a:chOff x="623888" y="4928616"/>
            <a:chExt cx="10944224" cy="1371600"/>
          </a:xfrm>
        </p:grpSpPr>
        <p:sp>
          <p:nvSpPr>
            <p:cNvPr id="14" name="Shape 10"/>
            <p:cNvSpPr/>
            <p:nvPr/>
          </p:nvSpPr>
          <p:spPr>
            <a:xfrm>
              <a:off x="623888" y="4928616"/>
              <a:ext cx="10944224" cy="13716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1"/>
            <p:cNvSpPr/>
            <p:nvPr/>
          </p:nvSpPr>
          <p:spPr>
            <a:xfrm>
              <a:off x="898208" y="5340096"/>
              <a:ext cx="548640" cy="548640"/>
            </a:xfrm>
            <a:prstGeom prst="ellipse">
              <a:avLst/>
            </a:prstGeom>
            <a:solidFill>
              <a:srgbClr val="12A59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5368" y="5477256"/>
              <a:ext cx="274320" cy="274320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1675448" y="5184648"/>
              <a:ext cx="89611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워커=역할, 모델=설정</a:t>
              </a:r>
              <a:endParaRPr lang="en-US" sz="17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18" name="Text 13"/>
            <p:cNvSpPr/>
            <p:nvPr/>
          </p:nvSpPr>
          <p:spPr>
            <a:xfrm>
              <a:off x="1675448" y="5614416"/>
              <a:ext cx="9144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_shared/</a:t>
              </a:r>
              <a:r>
                <a:rPr lang="en-US" sz="125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backends.json</a:t>
              </a: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</a:t>
              </a:r>
              <a:r>
                <a:rPr lang="ko-KR" alt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에</a:t>
              </a: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역할→모델→연결방식 매핑. </a:t>
              </a:r>
              <a:b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</a:br>
              <a:r>
                <a:rPr lang="en-US" sz="125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벤더·모델</a:t>
              </a:r>
              <a:r>
                <a:rPr lang="en-US" sz="125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바꿔도 시스템 규칙은 그대로(vendor/model-free).</a:t>
              </a:r>
              <a:endParaRPr lang="en-US" sz="125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9D50309-0C4A-495B-8AE0-CD7BECBBA2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핵심 개념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8F80AE34-6811-4487-6C07-53B76E63EF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1200" dirty="0">
                <a:solidFill>
                  <a:srgbClr val="64748B"/>
                </a:solidFill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64748B"/>
                </a:solidFill>
                <a:cs typeface="Calibri" pitchFamily="34" charset="-120"/>
              </a:rPr>
              <a:t>이것만</a:t>
            </a:r>
            <a:r>
              <a:rPr lang="en-US" altLang="ko-KR" sz="1200" dirty="0">
                <a:solidFill>
                  <a:srgbClr val="64748B"/>
                </a:solidFill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64748B"/>
                </a:solidFill>
                <a:cs typeface="Calibri" pitchFamily="34" charset="-120"/>
              </a:rPr>
              <a:t>잡으면</a:t>
            </a:r>
            <a:r>
              <a:rPr lang="en-US" altLang="ko-KR" sz="1200" dirty="0">
                <a:solidFill>
                  <a:srgbClr val="64748B"/>
                </a:solidFill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64748B"/>
                </a:solidFill>
                <a:cs typeface="Calibri" pitchFamily="34" charset="-120"/>
              </a:rPr>
              <a:t>나머지는</a:t>
            </a:r>
            <a:r>
              <a:rPr lang="en-US" altLang="ko-KR" sz="1200" dirty="0">
                <a:solidFill>
                  <a:srgbClr val="64748B"/>
                </a:solidFill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64748B"/>
                </a:solidFill>
                <a:cs typeface="Calibri" pitchFamily="34" charset="-120"/>
              </a:rPr>
              <a:t>따라온다</a:t>
            </a:r>
            <a:r>
              <a:rPr lang="en-US" altLang="ko-KR" sz="1200" dirty="0">
                <a:solidFill>
                  <a:srgbClr val="64748B"/>
                </a:solidFill>
                <a:cs typeface="Calibri" pitchFamily="34" charset="-120"/>
              </a:rPr>
              <a:t>.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557338"/>
            <a:ext cx="1830143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654550" y="1557338"/>
            <a:ext cx="3456432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111681" y="1557338"/>
            <a:ext cx="3456432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23888" y="1557338"/>
            <a:ext cx="18301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도구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11712" y="1557338"/>
            <a:ext cx="37902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Windows (PowerShell)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01953" y="155733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macOS (</a:t>
            </a:r>
            <a:r>
              <a:rPr lang="en-US" sz="1200" dirty="0" err="1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zsh</a:t>
            </a:r>
            <a:r>
              <a:rPr 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888" y="2014538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54550" y="2014538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111681" y="2014538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1048" y="2014538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Node.js 22+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63579" y="2014538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OpenJS.NodeJS.LTS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6899" y="2014538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node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3888" y="2581466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54550" y="2581466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11681" y="2581466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1048" y="2581466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git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3579" y="2581466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Git.Git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16899" y="2581466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git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3888" y="3148394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54550" y="3148394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111681" y="3148394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1048" y="3148394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Python 3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63579" y="3148394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Python.Python.3.12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16899" y="3148394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python@3.12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888" y="3715322"/>
            <a:ext cx="1830143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654550" y="3715322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11681" y="3715322"/>
            <a:ext cx="3456432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61048" y="3715322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jq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63579" y="3715322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jqlang.jq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16899" y="3715322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jq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3888" y="4282250"/>
            <a:ext cx="1830143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54550" y="4282250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111681" y="4282250"/>
            <a:ext cx="3456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1048" y="4282250"/>
            <a:ext cx="16929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</a:rPr>
              <a:t>Go 1.22+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63579" y="4282250"/>
            <a:ext cx="334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GoLang.Go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16899" y="4282250"/>
            <a:ext cx="32780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go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3888" y="5074920"/>
            <a:ext cx="10944224" cy="777240"/>
          </a:xfrm>
          <a:prstGeom prst="roundRect">
            <a:avLst>
              <a:gd name="adj" fmla="val 9412"/>
            </a:avLst>
          </a:prstGeom>
          <a:solidFill>
            <a:srgbClr val="16232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488" y="5276088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355408" y="5074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설치 후 반드시 터미널을 새로 열 것</a:t>
            </a:r>
            <a:r>
              <a:rPr lang="en-US" sz="1200" b="1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. </a:t>
            </a:r>
            <a:r>
              <a:rPr lang="en-US" sz="12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winget/brew는 PATH를 갱신하는데 열린 세션은 옛 PATH를 든다. IntelliJ는 완전 재시작(File→Exit)이 가장 확실.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B1DCFA61-42E2-40A7-BAB5-CC159B7D10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사전 준비 </a:t>
            </a:r>
            <a:r>
              <a:rPr lang="en-US" altLang="ko-KR" dirty="0"/>
              <a:t>– </a:t>
            </a:r>
            <a:r>
              <a:rPr lang="ko-KR" altLang="en-US" dirty="0"/>
              <a:t>공통 도구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0FB5A8E-9993-C96C-C55F-6116645277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7200"/>
            <a:ext cx="10944225" cy="542378"/>
          </a:xfrm>
        </p:spPr>
        <p:txBody>
          <a:bodyPr/>
          <a:lstStyle/>
          <a:p>
            <a:r>
              <a:rPr lang="ko-KR" altLang="en-US" dirty="0"/>
              <a:t> 이미 설치가 되었다면</a:t>
            </a:r>
            <a:r>
              <a:rPr lang="en-US" altLang="ko-KR" dirty="0"/>
              <a:t>, </a:t>
            </a:r>
            <a:r>
              <a:rPr lang="ko-KR" altLang="en-US" dirty="0"/>
              <a:t>따로 설치할 필요 없다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 아래 도구가 없으면 대부분 명확한 에러와 함께 멈춘다</a:t>
            </a:r>
            <a:r>
              <a:rPr lang="en-US" altLang="ko-KR" dirty="0"/>
              <a:t>.</a:t>
            </a: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40687BDF-63E2-E2BC-6CF9-5F0B7B12470D}"/>
              </a:ext>
            </a:extLst>
          </p:cNvPr>
          <p:cNvSpPr/>
          <p:nvPr/>
        </p:nvSpPr>
        <p:spPr>
          <a:xfrm>
            <a:off x="2454031" y="1557338"/>
            <a:ext cx="2200519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DCC1E2D-EC59-33AC-377C-56E48BF078A5}"/>
              </a:ext>
            </a:extLst>
          </p:cNvPr>
          <p:cNvSpPr/>
          <p:nvPr/>
        </p:nvSpPr>
        <p:spPr>
          <a:xfrm>
            <a:off x="2454031" y="1557338"/>
            <a:ext cx="2199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용도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CD7D978E-4F74-9F4D-D1C0-7144E48BE0D7}"/>
              </a:ext>
            </a:extLst>
          </p:cNvPr>
          <p:cNvSpPr/>
          <p:nvPr/>
        </p:nvSpPr>
        <p:spPr>
          <a:xfrm>
            <a:off x="2454030" y="2018983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Claude Code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CLI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의 런타임</a:t>
            </a:r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2A20ED63-B744-D5F7-26BC-EE43EC0D1EF8}"/>
              </a:ext>
            </a:extLst>
          </p:cNvPr>
          <p:cNvSpPr/>
          <p:nvPr/>
        </p:nvSpPr>
        <p:spPr>
          <a:xfrm>
            <a:off x="2454030" y="3148394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워커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도구  실행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+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스크립트</a:t>
            </a:r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C39EAA07-22F7-E5CE-AE9D-211552A0EEB2}"/>
              </a:ext>
            </a:extLst>
          </p:cNvPr>
          <p:cNvSpPr/>
          <p:nvPr/>
        </p:nvSpPr>
        <p:spPr>
          <a:xfrm>
            <a:off x="2454030" y="4282250"/>
            <a:ext cx="220051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빌드 및 실행</a:t>
            </a:r>
            <a:endParaRPr lang="en-US" altLang="ko-KR" sz="10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(mac) MAT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를 직접 설치시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, go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설치 불필요</a:t>
            </a:r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D9AD35B1-3FF0-B9EE-B6A6-88C6A2F1C4E7}"/>
              </a:ext>
            </a:extLst>
          </p:cNvPr>
          <p:cNvSpPr/>
          <p:nvPr/>
        </p:nvSpPr>
        <p:spPr>
          <a:xfrm>
            <a:off x="2453340" y="3715322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의 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json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응답 파싱</a:t>
            </a:r>
            <a:endParaRPr lang="en-US" altLang="ko-KR" sz="10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00" dirty="0" err="1"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사용 </a:t>
            </a:r>
            <a:r>
              <a:rPr lang="ko-KR" altLang="en-US" sz="1000" dirty="0" err="1">
                <a:latin typeface="프리젠테이션 5 Medium" pitchFamily="2" charset="-127"/>
                <a:ea typeface="프리젠테이션 5 Medium" pitchFamily="2" charset="-127"/>
              </a:rPr>
              <a:t>안하는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 경우 설치 불필요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B0DD2C92-1DD1-D128-E57C-2183D6B65CA4}"/>
              </a:ext>
            </a:extLst>
          </p:cNvPr>
          <p:cNvSpPr/>
          <p:nvPr/>
        </p:nvSpPr>
        <p:spPr>
          <a:xfrm>
            <a:off x="2454030" y="2581466"/>
            <a:ext cx="2200519" cy="566928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 anchor="ctr"/>
          <a:lstStyle/>
          <a:p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대상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repo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작업 </a:t>
            </a:r>
            <a:r>
              <a:rPr lang="en-US" altLang="ko-KR" sz="1000" dirty="0">
                <a:latin typeface="프리젠테이션 5 Medium" pitchFamily="2" charset="-127"/>
                <a:ea typeface="프리젠테이션 5 Medium" pitchFamily="2" charset="-127"/>
              </a:rPr>
              <a:t>+ </a:t>
            </a:r>
            <a:r>
              <a:rPr lang="ko-KR" altLang="en-US" sz="1000" dirty="0">
                <a:latin typeface="프리젠테이션 5 Medium" pitchFamily="2" charset="-127"/>
                <a:ea typeface="프리젠테이션 5 Medium" pitchFamily="2" charset="-127"/>
              </a:rPr>
              <a:t>산출물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그룹 79">
            <a:extLst>
              <a:ext uri="{FF2B5EF4-FFF2-40B4-BE49-F238E27FC236}">
                <a16:creationId xmlns:a16="http://schemas.microsoft.com/office/drawing/2014/main" id="{32F11E5A-5D6F-C024-8DDC-F0864903AC06}"/>
              </a:ext>
            </a:extLst>
          </p:cNvPr>
          <p:cNvGrpSpPr/>
          <p:nvPr/>
        </p:nvGrpSpPr>
        <p:grpSpPr>
          <a:xfrm>
            <a:off x="623887" y="5135966"/>
            <a:ext cx="10944225" cy="1178095"/>
            <a:chOff x="623888" y="5135966"/>
            <a:chExt cx="10944225" cy="1178095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D17A65E2-11CB-F9CB-DD11-3FA82CD845EF}"/>
                </a:ext>
              </a:extLst>
            </p:cNvPr>
            <p:cNvSpPr/>
            <p:nvPr/>
          </p:nvSpPr>
          <p:spPr>
            <a:xfrm>
              <a:off x="623888" y="5135966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A5525A5B-D834-1195-3353-A67146B5389E}"/>
                </a:ext>
              </a:extLst>
            </p:cNvPr>
            <p:cNvSpPr/>
            <p:nvPr/>
          </p:nvSpPr>
          <p:spPr>
            <a:xfrm>
              <a:off x="1446849" y="5318846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Cursor CLI</a:t>
              </a:r>
            </a:p>
          </p:txBody>
        </p:sp>
        <p:sp>
          <p:nvSpPr>
            <p:cNvPr id="49" name="Text 13">
              <a:extLst>
                <a:ext uri="{FF2B5EF4-FFF2-40B4-BE49-F238E27FC236}">
                  <a16:creationId xmlns:a16="http://schemas.microsoft.com/office/drawing/2014/main" id="{F0C6AD0F-858B-256F-CD42-BA73878E35B7}"/>
                </a:ext>
              </a:extLst>
            </p:cNvPr>
            <p:cNvSpPr/>
            <p:nvPr/>
          </p:nvSpPr>
          <p:spPr>
            <a:xfrm>
              <a:off x="1446849" y="5664323"/>
              <a:ext cx="3022360" cy="607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가장 큰 특징은 모델을 골라서 실행할 수 있다는 점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"cursor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gemini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", "cursor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gpt-5.5"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처럼 원하는 모델을 지정해 기획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분석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리뷰를 시킬 수 있어 유연함</a:t>
              </a:r>
              <a:endParaRPr lang="en-US" altLang="ko-KR" sz="10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AF532411-15A4-DD7E-0861-C60BFC9071F5}"/>
                </a:ext>
              </a:extLst>
            </p:cNvPr>
            <p:cNvSpPr/>
            <p:nvPr/>
          </p:nvSpPr>
          <p:spPr>
            <a:xfrm>
              <a:off x="4555809" y="5238310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F46DF249-504A-ACA6-A1C4-7EC80CB96F5C}"/>
                </a:ext>
              </a:extLst>
            </p:cNvPr>
            <p:cNvSpPr/>
            <p:nvPr/>
          </p:nvSpPr>
          <p:spPr>
            <a:xfrm>
              <a:off x="5389808" y="5240199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'https://cursor.com/install?win32=true'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B0666B71-B428-3333-EF07-243D1F03D84B}"/>
                </a:ext>
              </a:extLst>
            </p:cNvPr>
            <p:cNvSpPr/>
            <p:nvPr/>
          </p:nvSpPr>
          <p:spPr>
            <a:xfrm>
              <a:off x="4555808" y="5768662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53" name="Text 17">
              <a:extLst>
                <a:ext uri="{FF2B5EF4-FFF2-40B4-BE49-F238E27FC236}">
                  <a16:creationId xmlns:a16="http://schemas.microsoft.com/office/drawing/2014/main" id="{4BE921C6-E274-8998-21D1-31482E3A0E5D}"/>
                </a:ext>
              </a:extLst>
            </p:cNvPr>
            <p:cNvSpPr/>
            <p:nvPr/>
          </p:nvSpPr>
          <p:spPr>
            <a:xfrm>
              <a:off x="5389810" y="5766773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https://cursor.com/install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fsS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| bash</a:t>
              </a:r>
            </a:p>
          </p:txBody>
        </p:sp>
        <p:sp>
          <p:nvSpPr>
            <p:cNvPr id="54" name="Shape 19">
              <a:extLst>
                <a:ext uri="{FF2B5EF4-FFF2-40B4-BE49-F238E27FC236}">
                  <a16:creationId xmlns:a16="http://schemas.microsoft.com/office/drawing/2014/main" id="{8798CA9B-B8AE-0D54-8931-8FD1AA96065E}"/>
                </a:ext>
              </a:extLst>
            </p:cNvPr>
            <p:cNvSpPr/>
            <p:nvPr/>
          </p:nvSpPr>
          <p:spPr>
            <a:xfrm>
              <a:off x="847492" y="5364115"/>
              <a:ext cx="457200" cy="45720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B58F5F8D-F746-B0EB-6223-ACB7CDFAE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9335" y="5482915"/>
              <a:ext cx="219600" cy="219600"/>
            </a:xfrm>
            <a:prstGeom prst="rect">
              <a:avLst/>
            </a:prstGeom>
          </p:spPr>
        </p:pic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5F9708B-2AC7-A61A-69DE-67BF50016E75}"/>
              </a:ext>
            </a:extLst>
          </p:cNvPr>
          <p:cNvGrpSpPr/>
          <p:nvPr/>
        </p:nvGrpSpPr>
        <p:grpSpPr>
          <a:xfrm>
            <a:off x="623887" y="3879654"/>
            <a:ext cx="10944225" cy="1178095"/>
            <a:chOff x="623888" y="3921059"/>
            <a:chExt cx="10944225" cy="1178095"/>
          </a:xfrm>
        </p:grpSpPr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9989639A-6DC9-C557-50D0-2C6760BBE7B6}"/>
                </a:ext>
              </a:extLst>
            </p:cNvPr>
            <p:cNvSpPr/>
            <p:nvPr/>
          </p:nvSpPr>
          <p:spPr>
            <a:xfrm>
              <a:off x="623888" y="3921059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 12">
              <a:extLst>
                <a:ext uri="{FF2B5EF4-FFF2-40B4-BE49-F238E27FC236}">
                  <a16:creationId xmlns:a16="http://schemas.microsoft.com/office/drawing/2014/main" id="{5BB63F55-C108-9B1A-E5BB-39E66E92E714}"/>
                </a:ext>
              </a:extLst>
            </p:cNvPr>
            <p:cNvSpPr/>
            <p:nvPr/>
          </p:nvSpPr>
          <p:spPr>
            <a:xfrm>
              <a:off x="1446849" y="4103939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Codex CLI </a:t>
              </a:r>
            </a:p>
          </p:txBody>
        </p:sp>
        <p:sp>
          <p:nvSpPr>
            <p:cNvPr id="40" name="Text 13">
              <a:extLst>
                <a:ext uri="{FF2B5EF4-FFF2-40B4-BE49-F238E27FC236}">
                  <a16:creationId xmlns:a16="http://schemas.microsoft.com/office/drawing/2014/main" id="{54E37409-059E-9E32-BA6B-9E9A36E42742}"/>
                </a:ext>
              </a:extLst>
            </p:cNvPr>
            <p:cNvSpPr/>
            <p:nvPr/>
          </p:nvSpPr>
          <p:spPr>
            <a:xfrm>
              <a:off x="1446849" y="4469699"/>
              <a:ext cx="3022360" cy="5854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GPT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계열 코딩 워커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보조 구현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테스트 작성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이미지 생성 등에 활용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b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</a:b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정상 경로는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MCP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를 통해 붙고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, ChatGPT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유료 구독 또는 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OPENAI_API_KEY(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종량과금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)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중 하나로 인증</a:t>
              </a:r>
              <a:endParaRPr lang="en-US" altLang="ko-KR" sz="10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6C566630-2762-7746-051C-1FF82C5DCDC7}"/>
                </a:ext>
              </a:extLst>
            </p:cNvPr>
            <p:cNvSpPr/>
            <p:nvPr/>
          </p:nvSpPr>
          <p:spPr>
            <a:xfrm>
              <a:off x="4555809" y="4023403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2" name="Text 15">
              <a:extLst>
                <a:ext uri="{FF2B5EF4-FFF2-40B4-BE49-F238E27FC236}">
                  <a16:creationId xmlns:a16="http://schemas.microsoft.com/office/drawing/2014/main" id="{BC513CDC-6E67-E636-F883-8920A1CFF376}"/>
                </a:ext>
              </a:extLst>
            </p:cNvPr>
            <p:cNvSpPr/>
            <p:nvPr/>
          </p:nvSpPr>
          <p:spPr>
            <a:xfrm>
              <a:off x="5389808" y="4025292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https://chatgpt.com/codex/install.ps1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0B650D36-A8E1-AC0A-BD10-5E9B6597BA5C}"/>
                </a:ext>
              </a:extLst>
            </p:cNvPr>
            <p:cNvSpPr/>
            <p:nvPr/>
          </p:nvSpPr>
          <p:spPr>
            <a:xfrm>
              <a:off x="4555808" y="4553755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C0C27703-2208-4F9E-5CAA-7664F4A7DEE0}"/>
                </a:ext>
              </a:extLst>
            </p:cNvPr>
            <p:cNvSpPr/>
            <p:nvPr/>
          </p:nvSpPr>
          <p:spPr>
            <a:xfrm>
              <a:off x="5389810" y="4551866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fsSL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https://chatgpt.com/codex/install.sh | </a:t>
              </a: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sh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endParaRP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3A42B519-2E44-16F2-CD26-0F56E50E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7492" y="4174859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683841D-54C8-7A02-56AF-434FA7DA8470}"/>
              </a:ext>
            </a:extLst>
          </p:cNvPr>
          <p:cNvGrpSpPr/>
          <p:nvPr/>
        </p:nvGrpSpPr>
        <p:grpSpPr>
          <a:xfrm>
            <a:off x="623887" y="2623341"/>
            <a:ext cx="10944225" cy="1178095"/>
            <a:chOff x="623887" y="2618275"/>
            <a:chExt cx="10944225" cy="1178095"/>
          </a:xfrm>
        </p:grpSpPr>
        <p:sp>
          <p:nvSpPr>
            <p:cNvPr id="13" name="Shape 10"/>
            <p:cNvSpPr/>
            <p:nvPr/>
          </p:nvSpPr>
          <p:spPr>
            <a:xfrm>
              <a:off x="623887" y="2618275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852488" y="2846875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2"/>
            <p:cNvSpPr/>
            <p:nvPr/>
          </p:nvSpPr>
          <p:spPr>
            <a:xfrm>
              <a:off x="1446848" y="280115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Antigravity (</a:t>
              </a:r>
              <a:r>
                <a:rPr lang="en-US" sz="1400" dirty="0" err="1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agy</a:t>
              </a:r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)</a:t>
              </a:r>
            </a:p>
          </p:txBody>
        </p:sp>
        <p:sp>
          <p:nvSpPr>
            <p:cNvPr id="17" name="Text 13"/>
            <p:cNvSpPr/>
            <p:nvPr/>
          </p:nvSpPr>
          <p:spPr>
            <a:xfrm>
              <a:off x="1446847" y="3166915"/>
              <a:ext cx="3022362" cy="541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Gemini 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백엔드를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쓰는 워커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 </a:t>
              </a:r>
              <a:b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</a:b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강점은 대용량 문서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이미지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멀티모달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처리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및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넓은 컨텍스트에 유리 </a:t>
              </a:r>
              <a:endParaRPr lang="en-US" altLang="ko-KR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>
                <a:lnSpc>
                  <a:spcPct val="105000"/>
                </a:lnSpc>
              </a:pP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agy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 → OAuth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로그인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무료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=</a:t>
              </a:r>
              <a:r>
                <a:rPr lang="en-US" altLang="ko-KR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주간쿼터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</a:t>
              </a:r>
              <a:endPara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ECA444C2-3014-9457-F27D-270FEF9AA24B}"/>
                </a:ext>
              </a:extLst>
            </p:cNvPr>
            <p:cNvSpPr/>
            <p:nvPr/>
          </p:nvSpPr>
          <p:spPr>
            <a:xfrm>
              <a:off x="4555808" y="2720619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9" name="Text 15"/>
            <p:cNvSpPr/>
            <p:nvPr/>
          </p:nvSpPr>
          <p:spPr>
            <a:xfrm>
              <a:off x="5389807" y="2722508"/>
              <a:ext cx="60917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irm</a:t>
              </a: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https://antigravity.google/cli/install.ps1 | iex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4301ED1D-23B6-9609-4114-D91E1984ADDF}"/>
                </a:ext>
              </a:extLst>
            </p:cNvPr>
            <p:cNvSpPr/>
            <p:nvPr/>
          </p:nvSpPr>
          <p:spPr>
            <a:xfrm>
              <a:off x="4555807" y="3250971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5389809" y="3249082"/>
              <a:ext cx="60917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-fsSL https://antigravity.google/cli/install.sh | bash</a:t>
              </a:r>
              <a:endPara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pic>
          <p:nvPicPr>
            <p:cNvPr id="72" name="그래픽 71">
              <a:extLst>
                <a:ext uri="{FF2B5EF4-FFF2-40B4-BE49-F238E27FC236}">
                  <a16:creationId xmlns:a16="http://schemas.microsoft.com/office/drawing/2014/main" id="{67C9AEE4-35EF-75B0-3F8F-7120E96CAE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352" y="2965675"/>
              <a:ext cx="219600" cy="219600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E470E62-177D-55ED-27CE-E5E9BC1660B1}"/>
              </a:ext>
            </a:extLst>
          </p:cNvPr>
          <p:cNvGrpSpPr/>
          <p:nvPr/>
        </p:nvGrpSpPr>
        <p:grpSpPr>
          <a:xfrm>
            <a:off x="623887" y="1367028"/>
            <a:ext cx="10944225" cy="1178095"/>
            <a:chOff x="623887" y="1367028"/>
            <a:chExt cx="10944225" cy="1178095"/>
          </a:xfrm>
        </p:grpSpPr>
        <p:sp>
          <p:nvSpPr>
            <p:cNvPr id="4" name="Shape 2"/>
            <p:cNvSpPr/>
            <p:nvPr/>
          </p:nvSpPr>
          <p:spPr>
            <a:xfrm>
              <a:off x="623887" y="1367028"/>
              <a:ext cx="10944225" cy="1178095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851344" y="1630723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1446848" y="1566715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6232F"/>
                  </a:solidFill>
                  <a:latin typeface="프리젠테이션 6 SemiBold" pitchFamily="2" charset="-127"/>
                  <a:ea typeface="프리젠테이션 6 SemiBold" pitchFamily="2" charset="-127"/>
                  <a:cs typeface="Calibri" pitchFamily="34" charset="-120"/>
                </a:rPr>
                <a:t>Claude Code</a:t>
              </a:r>
              <a:endParaRPr lang="en-US" sz="1400" dirty="0"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446846" y="1915668"/>
              <a:ext cx="3022363" cy="6144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ko-KR" altLang="en-US" sz="1000" dirty="0" err="1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오케스트레이터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및 중심 워커로 활용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복잡한 코딩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 등 전반에서 안정적이고 추론이 깊다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.</a:t>
              </a:r>
            </a:p>
            <a:p>
              <a:pPr>
                <a:lnSpc>
                  <a:spcPct val="105000"/>
                </a:lnSpc>
              </a:pP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Claude Pro/Max </a:t>
              </a:r>
              <a:r>
                <a:rPr lang="ko-KR" altLang="en-US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구독으로 로그인</a:t>
              </a:r>
              <a:r>
                <a:rPr lang="en-US" altLang="ko-KR" sz="1000" dirty="0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Calibri" pitchFamily="34" charset="-120"/>
                </a:rPr>
                <a:t>. </a:t>
              </a:r>
              <a:endPara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4555807" y="1459949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E8A13A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PowerShell</a:t>
              </a:r>
              <a:endParaRPr lang="ko-KR" altLang="en-US" sz="100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389807" y="1459949"/>
              <a:ext cx="280115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 err="1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irm</a:t>
              </a:r>
              <a:r>
                <a:rPr lang="en-US" sz="10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 https://claude.ai/install.ps1 | iex</a:t>
              </a:r>
              <a:endParaRPr 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4555807" y="1990301"/>
              <a:ext cx="6925707" cy="457200"/>
            </a:xfrm>
            <a:prstGeom prst="roundRect">
              <a:avLst>
                <a:gd name="adj" fmla="val 10000"/>
              </a:avLst>
            </a:prstGeom>
            <a:solidFill>
              <a:srgbClr val="0F1E2E"/>
            </a:solidFill>
            <a:ln/>
          </p:spPr>
          <p:txBody>
            <a:bodyPr anchor="ctr"/>
            <a:lstStyle/>
            <a:p>
              <a:r>
                <a:rPr lang="en-US" altLang="ko-KR" sz="1000" dirty="0">
                  <a:solidFill>
                    <a:srgbClr val="4285F4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Linux / WSL</a:t>
              </a:r>
              <a:endParaRPr lang="ko-KR" altLang="en-US" sz="1000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5389808" y="1990301"/>
              <a:ext cx="549364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  <a:cs typeface="Courier New" pitchFamily="34" charset="-120"/>
                </a:rPr>
                <a:t>curl -fsSL https://claude.ai/install.sh | bash</a:t>
              </a:r>
              <a:endParaRPr 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D3EE8B9E-0F06-8AA4-737E-5C12C529B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6352" y="1749595"/>
              <a:ext cx="219380" cy="219600"/>
            </a:xfrm>
            <a:prstGeom prst="rect">
              <a:avLst/>
            </a:prstGeom>
          </p:spPr>
        </p:pic>
      </p:grpSp>
      <p:sp>
        <p:nvSpPr>
          <p:cNvPr id="75" name="내용 개체 틀 74">
            <a:extLst>
              <a:ext uri="{FF2B5EF4-FFF2-40B4-BE49-F238E27FC236}">
                <a16:creationId xmlns:a16="http://schemas.microsoft.com/office/drawing/2014/main" id="{575B5C5B-9F1A-8E2C-691B-347F82E261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워커 </a:t>
            </a:r>
            <a:r>
              <a:rPr lang="ko-KR" altLang="en-US" dirty="0" err="1"/>
              <a:t>백엔드</a:t>
            </a:r>
            <a:r>
              <a:rPr lang="ko-KR" altLang="en-US" dirty="0"/>
              <a:t> </a:t>
            </a:r>
            <a:r>
              <a:rPr lang="en-US" altLang="ko-KR" dirty="0"/>
              <a:t>CLI </a:t>
            </a:r>
            <a:r>
              <a:rPr lang="ko-KR" altLang="en-US" dirty="0"/>
              <a:t>설치</a:t>
            </a:r>
          </a:p>
        </p:txBody>
      </p:sp>
      <p:sp>
        <p:nvSpPr>
          <p:cNvPr id="76" name="내용 개체 틀 75">
            <a:extLst>
              <a:ext uri="{FF2B5EF4-FFF2-40B4-BE49-F238E27FC236}">
                <a16:creationId xmlns:a16="http://schemas.microsoft.com/office/drawing/2014/main" id="{24702F6D-E89E-A2AD-BBE2-D50BD7B02C9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45897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모든 </a:t>
            </a:r>
            <a:r>
              <a:rPr lang="en-US" altLang="ko-KR" dirty="0"/>
              <a:t>CLI</a:t>
            </a:r>
            <a:r>
              <a:rPr lang="ko-KR" altLang="en-US" dirty="0"/>
              <a:t>는 </a:t>
            </a:r>
            <a:r>
              <a:rPr lang="ko-KR" altLang="en-US" dirty="0" err="1"/>
              <a:t>오케스트레이터가</a:t>
            </a:r>
            <a:r>
              <a:rPr lang="ko-KR" altLang="en-US" dirty="0"/>
              <a:t> 도는 것과 같은 쉘</a:t>
            </a:r>
            <a:r>
              <a:rPr lang="en-US" altLang="ko-KR" dirty="0"/>
              <a:t>(Shell)</a:t>
            </a:r>
            <a:r>
              <a:rPr lang="ko-KR" altLang="en-US" dirty="0"/>
              <a:t>에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59" y="1556214"/>
            <a:ext cx="4772677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1784814"/>
            <a:ext cx="502920" cy="5029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17848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A</a:t>
            </a:r>
            <a:endParaRPr lang="en-US" sz="1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91640" y="183053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플러그인 (권장)</a:t>
            </a:r>
            <a:endParaRPr lang="en-US" sz="1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56205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/plugins 실행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97353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Add Marketplace → netwaif/multi-agent-starter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338501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목록에서 설치·활성화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79649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'멀티 에이전트 시스템 구성해줘'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6000" y="1556214"/>
            <a:ext cx="4772677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376086" y="1784814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76086" y="178481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B</a:t>
            </a:r>
            <a:endParaRPr lang="en-US" sz="1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16166" y="183053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ZIP (최소 기술)</a:t>
            </a:r>
            <a:endParaRPr lang="en-US" sz="1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1806" y="256205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Releases에서 zip 다운로드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21806" y="297353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run.bat / run.command 실행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21806" y="338501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flavor·대상 폴더 선택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21806" y="379649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›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(또는 python3 init.py)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2960" y="4405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960" y="5045280"/>
            <a:ext cx="10045717" cy="777240"/>
          </a:xfrm>
          <a:prstGeom prst="roundRect">
            <a:avLst>
              <a:gd name="adj" fmla="val 9412"/>
            </a:avLst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" y="5246448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54480" y="5045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관제탑(mulit-agent-starter)은 개발 프로젝트와 분리된 폴더에 생성. </a:t>
            </a:r>
            <a:br>
              <a:rPr lang="en-US" sz="1150" dirty="0">
                <a:solidFill>
                  <a:srgbClr val="E8A13A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</a:br>
            <a:r>
              <a:rPr lang="en-US" sz="11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기존 프로젝트 안에 생성하면 파일이 섞인다. v1 clone 사용자는 같은 폴더에 생성기 재실행(update 모드, tasks/ 보존).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1A9DA49A-ADF9-4055-CD63-CD9CFEEF44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스타터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생성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— v2 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플러그인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/ zip </a:t>
            </a:r>
            <a:r>
              <a:rPr lang="ko-KR" altLang="en-US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다운로드</a:t>
            </a:r>
            <a:endParaRPr lang="en-US" altLang="ko-KR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ko-KR" altLang="en-US" dirty="0"/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CEA9F4C5-FAED-73DE-25F6-5B0704DBA4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sz="1200" dirty="0">
                <a:cs typeface="Calibri" pitchFamily="34" charset="-120"/>
              </a:rPr>
              <a:t> "</a:t>
            </a:r>
            <a:r>
              <a:rPr lang="en-US" altLang="ko-KR" sz="1200" dirty="0" err="1">
                <a:cs typeface="Calibri" pitchFamily="34" charset="-120"/>
              </a:rPr>
              <a:t>멀티</a:t>
            </a:r>
            <a:r>
              <a:rPr lang="en-US" altLang="ko-KR" sz="1200" dirty="0">
                <a:cs typeface="Calibri" pitchFamily="34" charset="-120"/>
              </a:rPr>
              <a:t> </a:t>
            </a:r>
            <a:r>
              <a:rPr lang="en-US" altLang="ko-KR" sz="1200" dirty="0" err="1">
                <a:cs typeface="Calibri" pitchFamily="34" charset="-120"/>
              </a:rPr>
              <a:t>에이전트</a:t>
            </a:r>
            <a:r>
              <a:rPr lang="en-US" altLang="ko-KR" sz="1200" dirty="0">
                <a:cs typeface="Calibri" pitchFamily="34" charset="-120"/>
              </a:rPr>
              <a:t> </a:t>
            </a:r>
            <a:r>
              <a:rPr lang="en-US" altLang="ko-KR" sz="1200" dirty="0" err="1">
                <a:cs typeface="Calibri" pitchFamily="34" charset="-120"/>
              </a:rPr>
              <a:t>시스템</a:t>
            </a:r>
            <a:r>
              <a:rPr lang="en-US" altLang="ko-KR" sz="1200" dirty="0">
                <a:cs typeface="Calibri" pitchFamily="34" charset="-120"/>
              </a:rPr>
              <a:t> </a:t>
            </a:r>
            <a:r>
              <a:rPr lang="en-US" altLang="ko-KR" sz="1200" dirty="0" err="1">
                <a:cs typeface="Calibri" pitchFamily="34" charset="-120"/>
              </a:rPr>
              <a:t>구성해줘</a:t>
            </a:r>
            <a:r>
              <a:rPr lang="en-US" altLang="ko-KR" sz="1200" dirty="0">
                <a:cs typeface="Calibri" pitchFamily="34" charset="-120"/>
              </a:rPr>
              <a:t>" 한 </a:t>
            </a:r>
            <a:r>
              <a:rPr lang="en-US" altLang="ko-KR" sz="1200" dirty="0" err="1">
                <a:cs typeface="Calibri" pitchFamily="34" charset="-120"/>
              </a:rPr>
              <a:t>마디로</a:t>
            </a:r>
            <a:r>
              <a:rPr lang="en-US" altLang="ko-KR" sz="1200" dirty="0">
                <a:cs typeface="Calibri" pitchFamily="34" charset="-120"/>
              </a:rPr>
              <a:t> </a:t>
            </a:r>
            <a:r>
              <a:rPr lang="en-US" altLang="ko-KR" sz="1200" dirty="0" err="1">
                <a:cs typeface="Calibri" pitchFamily="34" charset="-120"/>
              </a:rPr>
              <a:t>대상</a:t>
            </a:r>
            <a:r>
              <a:rPr lang="en-US" altLang="ko-KR" sz="1200" dirty="0">
                <a:cs typeface="Calibri" pitchFamily="34" charset="-120"/>
              </a:rPr>
              <a:t> </a:t>
            </a:r>
            <a:r>
              <a:rPr lang="en-US" altLang="ko-KR" sz="1200" dirty="0" err="1">
                <a:cs typeface="Calibri" pitchFamily="34" charset="-120"/>
              </a:rPr>
              <a:t>폴더에</a:t>
            </a:r>
            <a:r>
              <a:rPr lang="en-US" altLang="ko-KR" sz="1200" dirty="0">
                <a:cs typeface="Calibri" pitchFamily="34" charset="-120"/>
              </a:rPr>
              <a:t> </a:t>
            </a:r>
            <a:r>
              <a:rPr lang="en-US" altLang="ko-KR" sz="1200" dirty="0" err="1">
                <a:cs typeface="Calibri" pitchFamily="34" charset="-120"/>
              </a:rPr>
              <a:t>생성</a:t>
            </a:r>
            <a:r>
              <a:rPr lang="en-US" altLang="ko-KR" sz="1200" dirty="0">
                <a:cs typeface="Calibri" pitchFamily="34" charset="-120"/>
              </a:rPr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71937-7248-5E4F-EF29-0A9869FE6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ECD0AE-924E-3F8A-2C09-5B76AB170EEB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jq</a:t>
            </a: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및 </a:t>
            </a:r>
            <a:r>
              <a:rPr lang="en-US" altLang="ko-KR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Antigravity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설치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261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C22A6-94C1-ACA1-5B26-D46AF2AE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2BD1746-A63F-88F2-99F7-05A06DBCA37A}"/>
              </a:ext>
            </a:extLst>
          </p:cNvPr>
          <p:cNvSpPr/>
          <p:nvPr/>
        </p:nvSpPr>
        <p:spPr>
          <a:xfrm>
            <a:off x="623888" y="1371599"/>
            <a:ext cx="8297443" cy="4937125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9915FFD-5F0B-E30E-3B44-4CBA99692ACA}"/>
              </a:ext>
            </a:extLst>
          </p:cNvPr>
          <p:cNvSpPr/>
          <p:nvPr/>
        </p:nvSpPr>
        <p:spPr>
          <a:xfrm>
            <a:off x="8992125" y="1371598"/>
            <a:ext cx="2575987" cy="493712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명령어 실행</a:t>
            </a:r>
            <a:b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brew install –cask antigravity-cli </a:t>
            </a:r>
            <a:endParaRPr lang="ko-KR" alt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BCD33E97-0C3A-F26F-B2E7-9E91E682DB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jq </a:t>
            </a:r>
            <a:r>
              <a:rPr lang="ko-KR" altLang="en-US" dirty="0"/>
              <a:t>및 </a:t>
            </a:r>
            <a:r>
              <a:rPr lang="en-US" altLang="ko-KR" dirty="0"/>
              <a:t>agy(Antigravity)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</a:t>
            </a:r>
            <a:r>
              <a:rPr lang="en-US" altLang="ko-KR" dirty="0"/>
              <a:t>(MAC)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B01F5B-BC33-1ABC-1635-79D8A73EA9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3734" y="1610440"/>
            <a:ext cx="7397750" cy="42862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0E640F6-9956-AF93-9C78-238E0C721847}"/>
              </a:ext>
            </a:extLst>
          </p:cNvPr>
          <p:cNvSpPr/>
          <p:nvPr/>
        </p:nvSpPr>
        <p:spPr>
          <a:xfrm>
            <a:off x="3340100" y="2073275"/>
            <a:ext cx="2527300" cy="2667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E94832-3D4F-C98A-C287-DC18E04B27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B53C38A-2A2A-5C61-3092-2F14ED99519B}"/>
              </a:ext>
            </a:extLst>
          </p:cNvPr>
          <p:cNvSpPr/>
          <p:nvPr/>
        </p:nvSpPr>
        <p:spPr>
          <a:xfrm>
            <a:off x="3204875" y="191326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6479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358721"/>
            <a:ext cx="8297443" cy="495000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459961"/>
            <a:ext cx="8155855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64694" y="1789225"/>
            <a:ext cx="8017356" cy="23588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745644" y="4283051"/>
            <a:ext cx="8017356" cy="15684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8" y="165422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610644" y="4148051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554F44C-D06A-4250-AD97-FFF2CF5DD56C}"/>
              </a:ext>
            </a:extLst>
          </p:cNvPr>
          <p:cNvSpPr/>
          <p:nvPr/>
        </p:nvSpPr>
        <p:spPr>
          <a:xfrm>
            <a:off x="8992125" y="1358719"/>
            <a:ext cx="2575987" cy="495000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 정보 확인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(agy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–version,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jq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jq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jqlang.jq)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Antigravity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☞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irm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hlinkClick r:id="rId4"/>
              </a:rPr>
              <a:t>https://antigravity.google/cli/install.ps1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| iex)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Anitgravity CLI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로그인 및 인증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☞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(CLI) </a:t>
            </a:r>
            <a:r>
              <a:rPr lang="en-US" altLang="ko-KR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9DDFE01A-C5E9-41F7-9251-068B289EF5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jq </a:t>
            </a:r>
            <a:r>
              <a:rPr lang="ko-KR" altLang="en-US" dirty="0"/>
              <a:t>및 </a:t>
            </a:r>
            <a:r>
              <a:rPr lang="en-US" altLang="ko-KR" dirty="0"/>
              <a:t>agy(Antigravity)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</a:t>
            </a:r>
            <a:r>
              <a:rPr lang="en-US" altLang="ko-KR" sz="2000" dirty="0"/>
              <a:t>(Windows)</a:t>
            </a:r>
            <a:r>
              <a:rPr lang="ko-KR" altLang="en-US" dirty="0"/>
              <a:t> ①②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8E8C025-EF59-1304-892B-0D0DFB2EC7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</p:spTree>
    <p:extLst>
      <p:ext uri="{BB962C8B-B14F-4D97-AF65-F5344CB8AC3E}">
        <p14:creationId xmlns:p14="http://schemas.microsoft.com/office/powerpoint/2010/main" val="226629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390918"/>
            <a:ext cx="8297443" cy="490723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557338"/>
            <a:ext cx="8155855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64694" y="2843752"/>
            <a:ext cx="8017356" cy="21621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2708752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554F44C-D06A-4250-AD97-FFF2CF5DD56C}"/>
              </a:ext>
            </a:extLst>
          </p:cNvPr>
          <p:cNvSpPr/>
          <p:nvPr/>
        </p:nvSpPr>
        <p:spPr>
          <a:xfrm>
            <a:off x="8992125" y="1390916"/>
            <a:ext cx="2575987" cy="490723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 정보 확인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(agy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–version,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jq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jq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jqlang.jq)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Antigravity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☞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irm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hlinkClick r:id="rId4"/>
              </a:rPr>
              <a:t>https://antigravity.google/cli/install.ps1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| iex)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Anitgravity CLI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로그인 및 인증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☞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(CLI) </a:t>
            </a:r>
            <a:r>
              <a:rPr lang="en-US" altLang="ko-KR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9DDFE01A-C5E9-41F7-9251-068B289EF5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jq </a:t>
            </a:r>
            <a:r>
              <a:rPr lang="ko-KR" altLang="en-US" dirty="0"/>
              <a:t>및 </a:t>
            </a:r>
            <a:r>
              <a:rPr lang="en-US" altLang="ko-KR" dirty="0"/>
              <a:t>agy(Antigravity)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　</a:t>
            </a:r>
            <a:r>
              <a:rPr lang="en-US" altLang="ko-KR" sz="2000" dirty="0"/>
              <a:t>(Windows) </a:t>
            </a:r>
            <a:r>
              <a:rPr lang="ko-KR" altLang="en-US" dirty="0"/>
              <a:t>③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5C728-22E6-30B0-02E2-89B3552EE9E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</p:spTree>
    <p:extLst>
      <p:ext uri="{BB962C8B-B14F-4D97-AF65-F5344CB8AC3E}">
        <p14:creationId xmlns:p14="http://schemas.microsoft.com/office/powerpoint/2010/main" val="321794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403797"/>
            <a:ext cx="8297443" cy="4904928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2" y="1459961"/>
            <a:ext cx="8155853" cy="236273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64694" y="3035209"/>
            <a:ext cx="8017356" cy="3302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36107" y="28813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554F44C-D06A-4250-AD97-FFF2CF5DD56C}"/>
              </a:ext>
            </a:extLst>
          </p:cNvPr>
          <p:cNvSpPr/>
          <p:nvPr/>
        </p:nvSpPr>
        <p:spPr>
          <a:xfrm>
            <a:off x="8992125" y="1403795"/>
            <a:ext cx="2575987" cy="4904928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 정보 확인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(agy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–version,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jq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jq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jqlang.jq)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Antigravity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☞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irm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hlinkClick r:id="rId4"/>
              </a:rPr>
              <a:t>https://antigravity.google/cli/install.ps1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| iex)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Anitgravity CLI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로그인 및 인증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☞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(CLI) </a:t>
            </a:r>
            <a:r>
              <a:rPr lang="en-US" altLang="ko-KR" sz="14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9DDFE01A-C5E9-41F7-9251-068B289EF5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jq </a:t>
            </a:r>
            <a:r>
              <a:rPr lang="ko-KR" altLang="en-US" dirty="0"/>
              <a:t>및 </a:t>
            </a:r>
            <a:r>
              <a:rPr lang="en-US" altLang="ko-KR" dirty="0"/>
              <a:t>agy(Antigravity)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</a:t>
            </a:r>
            <a:r>
              <a:rPr lang="en-US" altLang="ko-KR" sz="2000" dirty="0"/>
              <a:t>(Windows) </a:t>
            </a:r>
            <a:r>
              <a:rPr lang="ko-KR" altLang="en-US" dirty="0"/>
              <a:t>④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D8716-CB8F-BD53-8032-AB16E368D4F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3AEE0F-872F-4DD8-A11C-C56C6EE5B5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2" y="3872659"/>
            <a:ext cx="8155853" cy="238610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0725221-0B86-4B4E-9D88-94EB157C7676}"/>
              </a:ext>
            </a:extLst>
          </p:cNvPr>
          <p:cNvSpPr/>
          <p:nvPr/>
        </p:nvSpPr>
        <p:spPr>
          <a:xfrm>
            <a:off x="771332" y="5065712"/>
            <a:ext cx="8017356" cy="10810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0DA636B-E8B6-4272-859D-68423B0BBA19}"/>
              </a:ext>
            </a:extLst>
          </p:cNvPr>
          <p:cNvSpPr/>
          <p:nvPr/>
        </p:nvSpPr>
        <p:spPr>
          <a:xfrm>
            <a:off x="636107" y="490573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834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DB1AD-78FF-CC8C-BE90-77838A42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165407-77FD-187B-923C-021389CA7092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Multi-agent-starter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설치와 구성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CF9CDE3-CE29-6BF9-732F-31CF3E88096C}"/>
              </a:ext>
            </a:extLst>
          </p:cNvPr>
          <p:cNvSpPr/>
          <p:nvPr/>
        </p:nvSpPr>
        <p:spPr>
          <a:xfrm>
            <a:off x="1325880" y="1355597"/>
            <a:ext cx="10242233" cy="261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Font typeface="+mj-lt"/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Multi-agent-starter (</a:t>
            </a:r>
            <a:r>
              <a:rPr lang="ko-KR" altLang="en-US" sz="2800" dirty="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스타터</a:t>
            </a: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설치</a:t>
            </a:r>
            <a:endParaRPr lang="en-US" altLang="ko-KR" sz="2800" dirty="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Multi-agent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System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구성</a:t>
            </a:r>
            <a:endParaRPr lang="en-US"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978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0" y="1323436"/>
            <a:ext cx="8155857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2717319" y="2319450"/>
            <a:ext cx="1354347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3480758" y="2612308"/>
            <a:ext cx="677174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2511300" y="2096691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4093724" y="2427280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554F44C-D06A-4250-AD97-FFF2CF5DD56C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9DDFE01A-C5E9-41F7-9251-068B289EF5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449263"/>
            <a:ext cx="10944225" cy="458787"/>
          </a:xfrm>
        </p:spPr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①②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936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③④⑤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323436"/>
            <a:ext cx="8155855" cy="45872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54935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3945DB-322F-46D4-8E80-BCC440728498}"/>
              </a:ext>
            </a:extLst>
          </p:cNvPr>
          <p:cNvSpPr/>
          <p:nvPr/>
        </p:nvSpPr>
        <p:spPr>
          <a:xfrm>
            <a:off x="2926135" y="4007866"/>
            <a:ext cx="955752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37875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D53630B-8EF9-4BE3-A13E-B33C6A457904}"/>
              </a:ext>
            </a:extLst>
          </p:cNvPr>
          <p:cNvSpPr>
            <a:spLocks noChangeAspect="1"/>
          </p:cNvSpPr>
          <p:nvPr/>
        </p:nvSpPr>
        <p:spPr>
          <a:xfrm>
            <a:off x="2791135" y="3817878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813CC6-723F-42CB-8380-855DB25349DC}"/>
              </a:ext>
            </a:extLst>
          </p:cNvPr>
          <p:cNvSpPr/>
          <p:nvPr/>
        </p:nvSpPr>
        <p:spPr>
          <a:xfrm>
            <a:off x="741562" y="4563971"/>
            <a:ext cx="1509932" cy="2156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A9D1BDE-56EB-431F-B72B-5C1A7DB0541A}"/>
              </a:ext>
            </a:extLst>
          </p:cNvPr>
          <p:cNvSpPr>
            <a:spLocks noChangeAspect="1"/>
          </p:cNvSpPr>
          <p:nvPr/>
        </p:nvSpPr>
        <p:spPr>
          <a:xfrm>
            <a:off x="624336" y="4430353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BCC0D627-4E2A-4851-934D-B946F9FF73A9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2551042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1" y="1323436"/>
            <a:ext cx="8155855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0CB3539-1604-41F7-86F7-19FD485D529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4156729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⑦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3" cy="458721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B14EC29-0100-40F0-905B-5E36E415F0C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D971FA-2D5A-FAAE-70CE-93058AFFA447}"/>
              </a:ext>
            </a:extLst>
          </p:cNvPr>
          <p:cNvSpPr/>
          <p:nvPr/>
        </p:nvSpPr>
        <p:spPr>
          <a:xfrm>
            <a:off x="1894907" y="5490024"/>
            <a:ext cx="1165927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064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3" cy="458720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5093472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92287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D2D5766-9E24-48B0-A7EB-BA62B046864C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</p:spTree>
    <p:extLst>
      <p:ext uri="{BB962C8B-B14F-4D97-AF65-F5344CB8AC3E}">
        <p14:creationId xmlns:p14="http://schemas.microsoft.com/office/powerpoint/2010/main" val="299182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플러그인 설치 ⑨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2" cy="4587209"/>
          </a:xfrm>
          <a:prstGeom prst="rect">
            <a:avLst/>
          </a:prstGeom>
        </p:spPr>
      </p:pic>
      <p:sp>
        <p:nvSpPr>
          <p:cNvPr id="35" name="Shape 6">
            <a:extLst>
              <a:ext uri="{FF2B5EF4-FFF2-40B4-BE49-F238E27FC236}">
                <a16:creationId xmlns:a16="http://schemas.microsoft.com/office/drawing/2014/main" id="{C0596C7C-7ABE-4399-AEB6-6602BB68A4A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설치할 디렉토리 생성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orchestrator)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/plugins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Marketplaces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+Add Marketplace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netwaif/multi-agent-starter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Install for you, in this repo only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</a:t>
            </a:r>
            <a: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/reload-plugins</a:t>
            </a:r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입력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281933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11133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9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562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9712F-AD2A-2039-93B7-2547051F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6AC850-4D7B-2B91-F52B-A47DBAD9798F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Multi-agent-starter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설치와 구성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18E26B4-A99A-17A1-5CE3-115C934A4678}"/>
              </a:ext>
            </a:extLst>
          </p:cNvPr>
          <p:cNvSpPr/>
          <p:nvPr/>
        </p:nvSpPr>
        <p:spPr>
          <a:xfrm>
            <a:off x="1325880" y="1355597"/>
            <a:ext cx="10242233" cy="261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Font typeface="+mj-lt"/>
              <a:buAutoNum type="arabicPeriod"/>
            </a:pP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Multi-agent-starter (</a:t>
            </a:r>
            <a:r>
              <a:rPr lang="ko-KR" alt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Multi-agent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System 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구성</a:t>
            </a:r>
            <a:endParaRPr lang="en-US" sz="2800" dirty="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6505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①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2" y="1323436"/>
            <a:ext cx="8155852" cy="45872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4386107"/>
            <a:ext cx="7988461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421551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B9B90E5-2904-4EB1-84ED-4396A699ED6A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693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②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5309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270E4AC-3434-4975-AA3C-6874FB1AA9DD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88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③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4466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7B72A6E-1CB5-4BC1-B7C1-700F9F674606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79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④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3436"/>
            <a:ext cx="8155848" cy="458720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963408"/>
            <a:ext cx="8057473" cy="1503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79281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6372ED8F-C555-4950-A408-35707F944218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728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3436"/>
            <a:ext cx="8155848" cy="45872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562350"/>
            <a:ext cx="8057473" cy="12287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23886" y="334514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FC2494-33EE-473D-B3C5-C8ED22B71D6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280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⑤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4" y="1327550"/>
            <a:ext cx="8155848" cy="457897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3533775" y="2552700"/>
            <a:ext cx="4895850" cy="30765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3398550" y="24177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23CF54B-FDBF-4936-9E45-43F051E2537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47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23436"/>
            <a:ext cx="8155846" cy="45872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581275"/>
            <a:ext cx="8057473" cy="27622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604926" y="244475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4A6965-0496-483B-BED2-4D1649226AA1}"/>
              </a:ext>
            </a:extLst>
          </p:cNvPr>
          <p:cNvCxnSpPr/>
          <p:nvPr/>
        </p:nvCxnSpPr>
        <p:spPr>
          <a:xfrm>
            <a:off x="5419725" y="2809875"/>
            <a:ext cx="154305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6">
            <a:extLst>
              <a:ext uri="{FF2B5EF4-FFF2-40B4-BE49-F238E27FC236}">
                <a16:creationId xmlns:a16="http://schemas.microsoft.com/office/drawing/2014/main" id="{89C83319-B8FB-438C-85C1-CDFCB6B82A8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0325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23436"/>
            <a:ext cx="8155846" cy="458720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976302"/>
            <a:ext cx="8057473" cy="127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83977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A4A6965-0496-483B-BED2-4D1649226AA1}"/>
              </a:ext>
            </a:extLst>
          </p:cNvPr>
          <p:cNvCxnSpPr>
            <a:cxnSpLocks/>
          </p:cNvCxnSpPr>
          <p:nvPr/>
        </p:nvCxnSpPr>
        <p:spPr>
          <a:xfrm>
            <a:off x="4010025" y="4181475"/>
            <a:ext cx="23526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490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⑦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5" y="1341911"/>
            <a:ext cx="8155846" cy="455025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2590800" y="1657349"/>
            <a:ext cx="6190891" cy="3190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2455575" y="1520824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D17AF32-DBC2-41F8-B31D-5419EC2330D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B61E27-22DD-46B4-860A-EF1FC11CED9D}"/>
              </a:ext>
            </a:extLst>
          </p:cNvPr>
          <p:cNvSpPr/>
          <p:nvPr/>
        </p:nvSpPr>
        <p:spPr>
          <a:xfrm>
            <a:off x="3467100" y="1772825"/>
            <a:ext cx="270450" cy="9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11478C-046E-4393-9F20-76A333263BDE}"/>
              </a:ext>
            </a:extLst>
          </p:cNvPr>
          <p:cNvSpPr/>
          <p:nvPr/>
        </p:nvSpPr>
        <p:spPr>
          <a:xfrm>
            <a:off x="1019175" y="3944525"/>
            <a:ext cx="270450" cy="9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957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976301"/>
            <a:ext cx="8057473" cy="19113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83977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8A8D72-19C4-43F3-AEF3-F4FCE5EB8E0B}"/>
              </a:ext>
            </a:extLst>
          </p:cNvPr>
          <p:cNvSpPr/>
          <p:nvPr/>
        </p:nvSpPr>
        <p:spPr>
          <a:xfrm>
            <a:off x="724218" y="1614043"/>
            <a:ext cx="8057473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59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1647825"/>
            <a:ext cx="8057473" cy="30194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151282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</p:spTree>
    <p:extLst>
      <p:ext uri="{BB962C8B-B14F-4D97-AF65-F5344CB8AC3E}">
        <p14:creationId xmlns:p14="http://schemas.microsoft.com/office/powerpoint/2010/main" val="30458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스타터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– </a:t>
            </a:r>
            <a:r>
              <a:rPr lang="ko-KR" altLang="en-US" dirty="0"/>
              <a:t>멀티 에이전트 시스템 구성 ⑧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4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2219325"/>
            <a:ext cx="8057473" cy="25622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20828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8E49602-913F-4B2F-9D81-B53C3C43FD00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멀티 에이전트 시스템 구성해줘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“claude”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설치 경로 선택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현재 작업 폴더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Flavor 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설치경로 제출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(submit)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(Python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없는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생성기 실행 및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 디렉토리에 스타터 설치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사용법 확인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(1, 2, 3)</a:t>
            </a:r>
          </a:p>
        </p:txBody>
      </p:sp>
    </p:spTree>
    <p:extLst>
      <p:ext uri="{BB962C8B-B14F-4D97-AF65-F5344CB8AC3E}">
        <p14:creationId xmlns:p14="http://schemas.microsoft.com/office/powerpoint/2010/main" val="85238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BF8D5-5D42-CB96-BFBB-0A89D365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D6A2AF-1BB0-16AF-61C2-8AAA54E8A3E2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Muti-agent-tracker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설치와 구성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123C495-BB2F-747E-12DA-58C68EDD0F33}"/>
              </a:ext>
            </a:extLst>
          </p:cNvPr>
          <p:cNvSpPr/>
          <p:nvPr/>
        </p:nvSpPr>
        <p:spPr>
          <a:xfrm>
            <a:off x="1325880" y="1355598"/>
            <a:ext cx="102422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TUI 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모니터링 툴 설치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839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en-US" altLang="ko-KR" sz="2000" dirty="0"/>
              <a:t>(MAC)</a:t>
            </a:r>
            <a:r>
              <a:rPr lang="ko-KR" altLang="en-US" sz="2000" dirty="0"/>
              <a:t> </a:t>
            </a:r>
            <a:r>
              <a:rPr lang="ko-KR" altLang="en-US" dirty="0"/>
              <a:t>①</a:t>
            </a:r>
            <a:endParaRPr lang="en-US" altLang="ko-KR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C0596C7C-7ABE-4399-AEB6-6602BB68A4A7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명령어 실행</a:t>
            </a:r>
            <a:br>
              <a:rPr lang="en-US" altLang="ko-KR" sz="14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brew install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netwaif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/tab/mat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실행 ⑤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   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 할 디렉토리 설정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모니터링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실행 ⑥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    (mat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ko-KR" alt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BE377A-8B74-BE06-02DE-66FFAC2243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6909" y="1417482"/>
            <a:ext cx="7391400" cy="43991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76D8283-90CF-4DBA-B3FD-BF600B82B445}"/>
              </a:ext>
            </a:extLst>
          </p:cNvPr>
          <p:cNvSpPr/>
          <p:nvPr/>
        </p:nvSpPr>
        <p:spPr>
          <a:xfrm>
            <a:off x="1141340" y="1932033"/>
            <a:ext cx="4249810" cy="170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1006115" y="1775019"/>
            <a:ext cx="374784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227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4912-9452-E591-4BFB-A1120DFE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DC58EA2-7DA6-D222-4DDA-1918F7DAF643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6A52A466-0828-4F9B-275E-2C32E868CD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①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73D92C6-005D-D625-C00D-19692DFC3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3" y="1323436"/>
            <a:ext cx="8155850" cy="4587207"/>
          </a:xfrm>
          <a:prstGeom prst="rect">
            <a:avLst/>
          </a:prstGeom>
        </p:spPr>
      </p:pic>
      <p:sp>
        <p:nvSpPr>
          <p:cNvPr id="35" name="Shape 6">
            <a:extLst>
              <a:ext uri="{FF2B5EF4-FFF2-40B4-BE49-F238E27FC236}">
                <a16:creationId xmlns:a16="http://schemas.microsoft.com/office/drawing/2014/main" id="{EA5DB426-305D-1B32-46BA-7E27312C2F9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mat.exe)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AD8F58-F7BB-5F2E-04CD-74E6F382DE70}"/>
              </a:ext>
            </a:extLst>
          </p:cNvPr>
          <p:cNvSpPr/>
          <p:nvPr/>
        </p:nvSpPr>
        <p:spPr>
          <a:xfrm>
            <a:off x="1866901" y="3876675"/>
            <a:ext cx="2914650" cy="11620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6F630A74-80F3-5837-CADE-398534FEE6E8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43F1C6-29D9-C00B-28DD-7A138C5F4782}"/>
              </a:ext>
            </a:extLst>
          </p:cNvPr>
          <p:cNvSpPr/>
          <p:nvPr/>
        </p:nvSpPr>
        <p:spPr>
          <a:xfrm>
            <a:off x="724219" y="2376533"/>
            <a:ext cx="3066732" cy="170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84EBEC8-6CEB-CB5E-4FE7-6212A20DB61D}"/>
              </a:ext>
            </a:extLst>
          </p:cNvPr>
          <p:cNvSpPr/>
          <p:nvPr/>
        </p:nvSpPr>
        <p:spPr>
          <a:xfrm>
            <a:off x="588994" y="221951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9785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②③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3" cy="45872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1628775"/>
            <a:ext cx="8057473" cy="24860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14937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54D258-C716-4834-98D3-E8955A32C8D4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mat.exe)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E8B8F52-026F-46B8-AB60-00086A9EF2B2}"/>
              </a:ext>
            </a:extLst>
          </p:cNvPr>
          <p:cNvSpPr/>
          <p:nvPr/>
        </p:nvSpPr>
        <p:spPr>
          <a:xfrm>
            <a:off x="588993" y="175955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7076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DC639D1-DB5D-4675-A26A-0A6D8170C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</a:t>
            </a:r>
            <a:r>
              <a:rPr lang="en-US" altLang="ko-KR" sz="2000" dirty="0"/>
              <a:t>(Windows) </a:t>
            </a:r>
            <a:r>
              <a:rPr lang="ko-KR" altLang="en-US" dirty="0"/>
              <a:t>④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901B002-EE8C-4162-8369-EB3FD966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6" y="1323436"/>
            <a:ext cx="8155843" cy="458720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C6DE4F-32DC-4A9D-BBB5-459B486437AC}"/>
              </a:ext>
            </a:extLst>
          </p:cNvPr>
          <p:cNvSpPr/>
          <p:nvPr/>
        </p:nvSpPr>
        <p:spPr>
          <a:xfrm>
            <a:off x="724218" y="3200400"/>
            <a:ext cx="8057473" cy="2514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9748317-1984-45F3-8922-6DD9634C7C01}"/>
              </a:ext>
            </a:extLst>
          </p:cNvPr>
          <p:cNvSpPr/>
          <p:nvPr/>
        </p:nvSpPr>
        <p:spPr>
          <a:xfrm>
            <a:off x="588993" y="30654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D5881D1C-2D5F-4723-A8BF-DE003C3AF499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F54D258-C716-4834-98D3-E8955A32C8D4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mat.exe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　．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</p:spTree>
    <p:extLst>
      <p:ext uri="{BB962C8B-B14F-4D97-AF65-F5344CB8AC3E}">
        <p14:creationId xmlns:p14="http://schemas.microsoft.com/office/powerpoint/2010/main" val="3861143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6162-9444-F117-A44A-EAF9C6BA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07C0E31-AD18-C975-A19F-E24C4A8CD4BE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09FB3C09-086A-215B-60EE-CCDB68D350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MAT(</a:t>
            </a:r>
            <a:r>
              <a:rPr lang="ko-KR" altLang="en-US" dirty="0"/>
              <a:t>모니터링</a:t>
            </a:r>
            <a:r>
              <a:rPr lang="en-US" altLang="ko-KR" dirty="0"/>
              <a:t>) </a:t>
            </a:r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및 실행 ⑤⑥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70CD82A-EDB5-12FA-424D-81B0714CEA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1323436"/>
            <a:ext cx="8155842" cy="80158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DB331B2-6FAE-3485-E4E0-3762BE522FA3}"/>
              </a:ext>
            </a:extLst>
          </p:cNvPr>
          <p:cNvSpPr/>
          <p:nvPr/>
        </p:nvSpPr>
        <p:spPr>
          <a:xfrm>
            <a:off x="724218" y="1628777"/>
            <a:ext cx="8057473" cy="3053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2D5D406-00C0-2DA9-26AA-3851BC921CA0}"/>
              </a:ext>
            </a:extLst>
          </p:cNvPr>
          <p:cNvSpPr/>
          <p:nvPr/>
        </p:nvSpPr>
        <p:spPr>
          <a:xfrm>
            <a:off x="588993" y="149377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CCE460F5-6055-61DF-C5A0-5AEC032BA555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A842F97-31A7-34A1-3A13-7B9C679994E3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GoLang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설치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(winget install GoLang.Go)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repository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이동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폴더로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git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클론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git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clone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https://github.com/netwaif/mat.git)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빌드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go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build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–o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mat.exe)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 env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설정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 화면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50B77D-0CA0-3F27-17EF-72E31A1835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2214120"/>
            <a:ext cx="8155842" cy="80158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4DE1A3-AA59-9144-1506-67F489D32D09}"/>
              </a:ext>
            </a:extLst>
          </p:cNvPr>
          <p:cNvSpPr/>
          <p:nvPr/>
        </p:nvSpPr>
        <p:spPr>
          <a:xfrm>
            <a:off x="724218" y="2710363"/>
            <a:ext cx="8057473" cy="3053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C50066C-BF70-FECD-0F05-A73E4EEC6EEC}"/>
              </a:ext>
            </a:extLst>
          </p:cNvPr>
          <p:cNvSpPr/>
          <p:nvPr/>
        </p:nvSpPr>
        <p:spPr>
          <a:xfrm>
            <a:off x="571546" y="2584541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A9B1D59-B72E-9245-84BE-C71F090A3C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687" y="3104803"/>
            <a:ext cx="8155842" cy="288818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1AF637-8B61-4BC0-5730-226D51FCE4E9}"/>
              </a:ext>
            </a:extLst>
          </p:cNvPr>
          <p:cNvSpPr/>
          <p:nvPr/>
        </p:nvSpPr>
        <p:spPr>
          <a:xfrm>
            <a:off x="724218" y="3475223"/>
            <a:ext cx="8057473" cy="25177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0EEDC69-4EA9-C3CE-2367-683C2DE8C58E}"/>
              </a:ext>
            </a:extLst>
          </p:cNvPr>
          <p:cNvSpPr/>
          <p:nvPr/>
        </p:nvSpPr>
        <p:spPr>
          <a:xfrm>
            <a:off x="571546" y="3349402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0D1007-5A0E-9815-7AAE-1DC8871E4FE8}"/>
              </a:ext>
            </a:extLst>
          </p:cNvPr>
          <p:cNvSpPr/>
          <p:nvPr/>
        </p:nvSpPr>
        <p:spPr>
          <a:xfrm>
            <a:off x="6329966" y="225380"/>
            <a:ext cx="4919730" cy="566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mat</a:t>
            </a:r>
            <a:r>
              <a:rPr lang="ko-KR" altLang="en-US" dirty="0"/>
              <a:t> </a:t>
            </a:r>
            <a:r>
              <a:rPr lang="en-US" altLang="ko-KR" dirty="0"/>
              <a:t>env </a:t>
            </a:r>
            <a:r>
              <a:rPr lang="ko-KR" altLang="en-US"/>
              <a:t>설정 명령어 복사할 수 있도록 처리</a:t>
            </a:r>
          </a:p>
        </p:txBody>
      </p:sp>
    </p:spTree>
    <p:extLst>
      <p:ext uri="{BB962C8B-B14F-4D97-AF65-F5344CB8AC3E}">
        <p14:creationId xmlns:p14="http://schemas.microsoft.com/office/powerpoint/2010/main" val="359916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43523-DA4A-CEE9-DC1E-FF6A5322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292710-2607-03FB-27A8-A1C134D77412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Muti-agent-starter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실습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158C649-3530-5801-CB51-97B3B57ECACB}"/>
              </a:ext>
            </a:extLst>
          </p:cNvPr>
          <p:cNvSpPr/>
          <p:nvPr/>
        </p:nvSpPr>
        <p:spPr>
          <a:xfrm>
            <a:off x="1325880" y="1355597"/>
            <a:ext cx="10242233" cy="261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첫 번째 작업 </a:t>
            </a: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– 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워커 </a:t>
            </a:r>
            <a:r>
              <a:rPr lang="ko-KR" altLang="en-US" sz="2800" dirty="0" err="1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스모크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테스트</a:t>
            </a: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(smoke test)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두 번째 작업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– MSA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모듈 분석</a:t>
            </a:r>
            <a:endParaRPr lang="en-US" altLang="ko-KR"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세 번째 작업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– API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구현</a:t>
            </a:r>
            <a:endParaRPr lang="en-US"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89489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목표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, </a:t>
            </a: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성격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, </a:t>
            </a:r>
            <a:r>
              <a:rPr lang="en-US" altLang="ko-KR" sz="135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target_repo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, </a:t>
            </a: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워커 및 역할은 필수 작성 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4</a:t>
            </a: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요소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3888" y="1530350"/>
            <a:ext cx="2103120" cy="45720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27008" y="1530350"/>
            <a:ext cx="4206240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933248" y="1530350"/>
            <a:ext cx="4206240" cy="4572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23888" y="153035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요소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27008" y="153035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왜 필요한가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33248" y="153035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예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888" y="1987550"/>
            <a:ext cx="2103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27008" y="1987550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933248" y="1987550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1048" y="198755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＊ </a:t>
            </a:r>
            <a:r>
              <a:rPr lang="en-US" sz="1200" b="1" dirty="0" err="1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목표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64168" y="1987550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</a:rPr>
              <a:t>task.md Goal / brief 핵심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70408" y="1987550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XxxEntity</a:t>
            </a:r>
            <a:r>
              <a:rPr lang="ko-KR" alt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의 매개변수 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C_ID</a:t>
            </a:r>
            <a:r>
              <a:rPr lang="ko-KR" alt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를 활용하여 </a:t>
            </a:r>
            <a:r>
              <a:rPr lang="en-US" sz="100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조회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API 추가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3888" y="2563622"/>
            <a:ext cx="210312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15"/>
          <p:cNvSpPr/>
          <p:nvPr/>
        </p:nvSpPr>
        <p:spPr>
          <a:xfrm>
            <a:off x="2727008" y="2563622"/>
            <a:ext cx="420624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933248" y="2563622"/>
            <a:ext cx="420624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1048" y="256362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＊ </a:t>
            </a:r>
            <a:r>
              <a:rPr lang="en-US" sz="1200" b="1" dirty="0" err="1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성격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64168" y="2563622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</a:rPr>
              <a:t>워커선택·target_repo 질문 여부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070408" y="2563622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분석·요약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or  </a:t>
            </a:r>
            <a:r>
              <a:rPr lang="en-US" sz="1000" dirty="0">
                <a:solidFill>
                  <a:srgbClr val="64748B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코드 구현</a:t>
            </a:r>
            <a:endParaRPr lang="en-US" sz="10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3888" y="3139694"/>
            <a:ext cx="2103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27008" y="3139694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933248" y="3139694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1048" y="3139694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＊ </a:t>
            </a:r>
            <a:r>
              <a:rPr lang="en-US" sz="1200" b="1" dirty="0" err="1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target_repo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864168" y="3139694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</a:rPr>
              <a:t>외부 작업이면 절대경로 필수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70408" y="3139694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C:\...\Backend-Core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888" y="3715766"/>
            <a:ext cx="210312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27008" y="3715766"/>
            <a:ext cx="420624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933248" y="3715766"/>
            <a:ext cx="420624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61048" y="3715766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write_scope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64168" y="371576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</a:rPr>
              <a:t>쓰기범위·4조건 판단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70408" y="3715766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none(diff-first)   or  /&lt;</a:t>
            </a:r>
            <a:r>
              <a:rPr lang="ko-KR" alt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경로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&gt;/</a:t>
            </a:r>
            <a:r>
              <a:rPr lang="en-US" sz="100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src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/**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3888" y="4291838"/>
            <a:ext cx="2103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727008" y="4291838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933248" y="4291838"/>
            <a:ext cx="4206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1048" y="4291838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＊ </a:t>
            </a:r>
            <a:r>
              <a:rPr lang="en-US" sz="1200" b="1" dirty="0" err="1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워커+역할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864168" y="4291838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</a:rPr>
              <a:t>최소 워커셋·비용 통제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70408" y="4291838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생산 claude-main, 리뷰 gemini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3888" y="4867910"/>
            <a:ext cx="210312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727008" y="4867910"/>
            <a:ext cx="420624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933248" y="4867910"/>
            <a:ext cx="4206240" cy="57607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61048" y="486791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285F4"/>
                </a:solidFill>
                <a:latin typeface="프리젠테이션 6 SemiBold" pitchFamily="2" charset="-127"/>
                <a:ea typeface="프리젠테이션 6 SemiBold" pitchFamily="2" charset="-127"/>
                <a:cs typeface="Courier New" pitchFamily="34" charset="-120"/>
              </a:rPr>
              <a:t>제약</a:t>
            </a:r>
            <a:endParaRPr 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864168" y="4867910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</a:rPr>
              <a:t>Do NOT 항목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70408" y="4867910"/>
            <a:ext cx="4023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기존코드 수정금지, agy 파일순회 금지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8368" y="547141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승인 게이트: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요청 후 워커 승인을 물으면(비용 직전) 어떤 워커를·어떤 스코프로 부르는지 확인하고 승인. 외부 repo 쓰기는 별도 [APPROVAL] 요구.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7" name="내용 개체 틀 46">
            <a:extLst>
              <a:ext uri="{FF2B5EF4-FFF2-40B4-BE49-F238E27FC236}">
                <a16:creationId xmlns:a16="http://schemas.microsoft.com/office/drawing/2014/main" id="{123385A8-B9EE-FDAC-CF5A-81759792A82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16232F"/>
                </a:solidFill>
                <a:cs typeface="Calibri" pitchFamily="34" charset="-120"/>
              </a:rPr>
              <a:t>요청문</a:t>
            </a:r>
            <a:r>
              <a:rPr lang="en-US" altLang="ko-KR" dirty="0">
                <a:solidFill>
                  <a:srgbClr val="16232F"/>
                </a:solidFill>
                <a:cs typeface="Calibri" pitchFamily="34" charset="-120"/>
              </a:rPr>
              <a:t> 작</a:t>
            </a:r>
            <a:r>
              <a:rPr lang="ko-KR" altLang="en-US" dirty="0" err="1">
                <a:solidFill>
                  <a:srgbClr val="16232F"/>
                </a:solidFill>
                <a:cs typeface="Calibri" pitchFamily="34" charset="-120"/>
              </a:rPr>
              <a:t>성법</a:t>
            </a:r>
            <a:r>
              <a:rPr lang="ko-KR" altLang="en-US" dirty="0">
                <a:solidFill>
                  <a:srgbClr val="16232F"/>
                </a:solidFill>
                <a:cs typeface="Calibri" pitchFamily="34" charset="-120"/>
              </a:rPr>
              <a:t> ①</a:t>
            </a:r>
            <a:endParaRPr lang="ko-KR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모든 워커를 기본 호출하지 말 것. 작업 성격에 맞는 최소 조합만.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19"/>
            <a:ext cx="5120640" cy="344227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최소 워커 세트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문서/기획·코드 구현  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claude-main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7066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설계 후 구현  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claude-main (일괄)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1272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구현</a:t>
            </a:r>
            <a:r>
              <a:rPr lang="ko-KR" alt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리뷰</a:t>
            </a: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</a:t>
            </a:r>
            <a:r>
              <a:rPr lang="en-US" sz="1100" b="1" dirty="0" err="1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-main → </a:t>
            </a:r>
            <a:r>
              <a:rPr lang="en-US" altLang="ko-KR" sz="1100" b="1" dirty="0" err="1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gemini</a:t>
            </a:r>
            <a:r>
              <a:rPr lang="en-US" altLang="ko-KR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</a:t>
            </a:r>
            <a:r>
              <a:rPr lang="en-US" altLang="ko-KR" sz="1100" b="1" dirty="0" err="1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agy</a:t>
            </a:r>
            <a:r>
              <a:rPr lang="en-US" altLang="ko-KR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→반영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5478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보조구현·이미지  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codex-main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39684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대용량 문서  </a:t>
            </a:r>
            <a:r>
              <a:rPr lang="en-US" sz="1100" b="1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gemini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4434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권장 토폴로지 Producer-Reviewer</a:t>
            </a:r>
            <a:r>
              <a:rPr lang="en-US" sz="10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: </a:t>
            </a:r>
            <a:r>
              <a:rPr lang="en-US" sz="10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claude-main 생산 → codex-critic 게이트. codex 미인증이면 gemini로 대체(얕은 검증).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120640" cy="3442274"/>
          </a:xfrm>
          <a:prstGeom prst="roundRect">
            <a:avLst>
              <a:gd name="adj" fmla="val 3226"/>
            </a:avLst>
          </a:prstGeom>
          <a:solidFill>
            <a:srgbClr val="16232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codex-main 외부 repo 쓰기 4조건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(모두 충족해야 외부 직접 쓰기)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2560320"/>
            <a:ext cx="4754880" cy="164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① brief.md에 target_repo 절대경로
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② brief.md에 write_scope 경로 패턴
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③ task.md workers_approved에 승인
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④ log.md에 [APPROVAL] 기록
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하나라도 빠지면 → diff·patch만 산출,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사람이 직접 적용. claude-main은 어떤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경우에도 외부 직접쓰기 불가.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30455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agy 인라인 필수: 디렉토리·다수 파일 순회 시키면 300s 타임아웃. 대상을 brief에 인라인하고 '파일 열지 말 것' 명시. (단일 이미지/PDF 경로는 예외)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5FC2B1-397E-D7CA-AB15-75871D482C60}"/>
              </a:ext>
            </a:extLst>
          </p:cNvPr>
          <p:cNvSpPr txBox="1"/>
          <p:nvPr/>
        </p:nvSpPr>
        <p:spPr>
          <a:xfrm>
            <a:off x="3048000" y="32905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→</a:t>
            </a:r>
            <a:endParaRPr lang="ko-KR" altLang="en-US" dirty="0"/>
          </a:p>
        </p:txBody>
      </p:sp>
      <p:sp>
        <p:nvSpPr>
          <p:cNvPr id="22" name="내용 개체 틀 21">
            <a:extLst>
              <a:ext uri="{FF2B5EF4-FFF2-40B4-BE49-F238E27FC236}">
                <a16:creationId xmlns:a16="http://schemas.microsoft.com/office/drawing/2014/main" id="{70DBD312-AB54-217D-082A-4C18F38FFD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16232F"/>
                </a:solidFill>
                <a:cs typeface="Calibri" pitchFamily="34" charset="-120"/>
              </a:rPr>
              <a:t>요청문</a:t>
            </a:r>
            <a:r>
              <a:rPr lang="en-US" altLang="ko-KR" dirty="0">
                <a:solidFill>
                  <a:srgbClr val="16232F"/>
                </a:solidFill>
                <a:cs typeface="Calibri" pitchFamily="34" charset="-120"/>
              </a:rPr>
              <a:t> </a:t>
            </a:r>
            <a:r>
              <a:rPr lang="ko-KR" altLang="en-US" dirty="0">
                <a:solidFill>
                  <a:srgbClr val="16232F"/>
                </a:solidFill>
                <a:cs typeface="Calibri" pitchFamily="34" charset="-120"/>
              </a:rPr>
              <a:t>작성법 ②</a:t>
            </a:r>
            <a:r>
              <a:rPr lang="en-US" altLang="ko-KR" dirty="0">
                <a:solidFill>
                  <a:srgbClr val="16232F"/>
                </a:solidFill>
                <a:cs typeface="Calibri" pitchFamily="34" charset="-120"/>
              </a:rPr>
              <a:t> — </a:t>
            </a:r>
            <a:r>
              <a:rPr lang="en-US" altLang="ko-KR" dirty="0" err="1">
                <a:solidFill>
                  <a:srgbClr val="16232F"/>
                </a:solidFill>
                <a:cs typeface="Calibri" pitchFamily="34" charset="-120"/>
              </a:rPr>
              <a:t>워커셋</a:t>
            </a:r>
            <a:r>
              <a:rPr lang="en-US" altLang="ko-KR" dirty="0">
                <a:solidFill>
                  <a:srgbClr val="16232F"/>
                </a:solidFill>
                <a:cs typeface="Calibri" pitchFamily="34" charset="-120"/>
              </a:rPr>
              <a:t> &amp; </a:t>
            </a:r>
            <a:r>
              <a:rPr lang="en-US" altLang="ko-KR" dirty="0" err="1">
                <a:solidFill>
                  <a:srgbClr val="16232F"/>
                </a:solidFill>
                <a:cs typeface="Calibri" pitchFamily="34" charset="-120"/>
              </a:rPr>
              <a:t>외부</a:t>
            </a:r>
            <a:r>
              <a:rPr lang="en-US" altLang="ko-KR" dirty="0">
                <a:solidFill>
                  <a:srgbClr val="16232F"/>
                </a:solidFill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6232F"/>
                </a:solidFill>
                <a:cs typeface="Calibri" pitchFamily="34" charset="-120"/>
              </a:rPr>
              <a:t>쓰기</a:t>
            </a:r>
            <a:r>
              <a:rPr lang="en-US" altLang="ko-KR" dirty="0">
                <a:solidFill>
                  <a:srgbClr val="16232F"/>
                </a:solidFill>
                <a:cs typeface="Calibri" pitchFamily="34" charset="-120"/>
              </a:rPr>
              <a:t> 4조건</a:t>
            </a:r>
            <a:endParaRPr lang="en-US" altLang="ko-K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23888" y="1373886"/>
            <a:ext cx="512921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67790" y="1486353"/>
            <a:ext cx="471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사용자의 작성</a:t>
            </a:r>
            <a:r>
              <a:rPr lang="en-US" altLang="ko-KR" sz="140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 (</a:t>
            </a:r>
            <a:r>
              <a:rPr lang="ko-KR" altLang="en-US" sz="1400" b="1" dirty="0" err="1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요청문</a:t>
            </a:r>
            <a:r>
              <a:rPr lang="en-US" altLang="ko-KR" sz="140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)</a:t>
            </a:r>
            <a:endParaRPr lang="en-US" sz="1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77240" y="1981962"/>
            <a:ext cx="82296" cy="36576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0120" y="1936242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목표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91840" y="1936242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ko-KR" alt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자세히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, 검증 가능하게 ("무엇이 완료 상태인지")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7240" y="2430018"/>
            <a:ext cx="82296" cy="36576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60120" y="2384298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경로 </a:t>
            </a:r>
            <a:r>
              <a:rPr lang="en-US" altLang="ko-KR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( </a:t>
            </a:r>
            <a:r>
              <a:rPr lang="en-US" sz="1050" b="1" dirty="0" err="1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target_repo</a:t>
            </a:r>
            <a:r>
              <a:rPr 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, </a:t>
            </a:r>
            <a:r>
              <a:rPr lang="en-US" sz="1050" b="1" dirty="0" err="1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write_scope</a:t>
            </a:r>
            <a:r>
              <a:rPr 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 )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91840" y="2384298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대상 경로 + src/**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or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4748B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none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or</a:t>
            </a: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4748B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tasks-only</a:t>
            </a:r>
            <a:endParaRPr lang="en-US" sz="10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77240" y="2878074"/>
            <a:ext cx="82296" cy="365760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0120" y="2832354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워커 + 모델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291840" y="2832354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"구현은 claude", "기획은 cursor로 gemini"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77240" y="3326130"/>
            <a:ext cx="82296" cy="365760"/>
          </a:xfrm>
          <a:prstGeom prst="rect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60120" y="3280410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산출물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91840" y="3280410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위치·형식 (diff로 artifacts에 / srs.md에)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7240" y="3774186"/>
            <a:ext cx="82296" cy="36576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0120" y="3728466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제약 / Do NOT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291840" y="3728466"/>
            <a:ext cx="216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"직접 커밋 금지", "테스트 포함", "스타일 유지"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367790" y="172593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빠진</a:t>
            </a:r>
            <a:r>
              <a:rPr lang="en-US" sz="900" i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(</a:t>
            </a:r>
            <a:r>
              <a:rPr lang="ko-KR" altLang="en-US" sz="900" i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필수</a:t>
            </a:r>
            <a:r>
              <a:rPr lang="en-US" altLang="ko-KR" sz="900" i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 </a:t>
            </a:r>
            <a:r>
              <a:rPr lang="en-US" sz="900" i="1" dirty="0" err="1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필드는</a:t>
            </a:r>
            <a:r>
              <a:rPr lang="en-US" sz="900" i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착수 전 되묻는다. 많이 줄수록 되묻기가 준다.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279706" y="1373886"/>
            <a:ext cx="5129212" cy="2880360"/>
          </a:xfrm>
          <a:prstGeom prst="roundRect">
            <a:avLst>
              <a:gd name="adj" fmla="val 2540"/>
            </a:avLst>
          </a:prstGeom>
          <a:solidFill>
            <a:srgbClr val="16232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6268" y="151561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13740" y="1479042"/>
            <a:ext cx="38034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2A594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오케스트레이터</a:t>
            </a:r>
            <a:r>
              <a:rPr lang="ko-KR" altLang="en-US" sz="1300" b="1" dirty="0">
                <a:solidFill>
                  <a:srgbClr val="12A594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 스스로 작성</a:t>
            </a:r>
            <a:endParaRPr lang="en-US" sz="13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8450061" y="1538478"/>
            <a:ext cx="2416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 </a:t>
            </a:r>
            <a:r>
              <a:rPr lang="ko-KR" altLang="en-US" sz="1000" i="1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사용자가 작성 </a:t>
            </a:r>
            <a:r>
              <a:rPr lang="en-US" altLang="ko-KR" sz="1000" i="1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X )</a:t>
            </a:r>
            <a:endParaRPr lang="en-US" sz="1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603428" y="1881378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• 토폴로지 선택 (pipeline / producer-reviewer)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• 승인 게이트 · task.md 생성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• 워커별 brief.md 작성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• log 기록 · Verification 검증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• 단계 간 파일(입력·산출) 확정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1204155" y="4323216"/>
            <a:ext cx="284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워커</a:t>
            </a:r>
            <a:r>
              <a:rPr lang="en-US" sz="14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고르기 (요약 — 정본은 routing.md)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623888" y="4780806"/>
            <a:ext cx="4846320" cy="2880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715328" y="4780806"/>
            <a:ext cx="470916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하고 싶은 것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5470208" y="4780806"/>
            <a:ext cx="2743200" cy="2880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561648" y="4780806"/>
            <a:ext cx="260604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워커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8213408" y="4780806"/>
            <a:ext cx="3354704" cy="28800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304848" y="4780806"/>
            <a:ext cx="338328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비고</a:t>
            </a:r>
            <a:endParaRPr lang="en-US" sz="105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623888" y="5063490"/>
            <a:ext cx="4846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5470208" y="5063490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8213408" y="5063490"/>
            <a:ext cx="33547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715328" y="506349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메인 코딩·구현·디버깅·설계·기획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5561648" y="506349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</a:t>
            </a:r>
            <a:r>
              <a:rPr lang="en-US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-main (</a:t>
            </a:r>
            <a:r>
              <a:rPr lang="ko-KR" altLang="en-US" sz="950" b="1" dirty="0" err="1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클로드</a:t>
            </a:r>
            <a:r>
              <a:rPr lang="en-US" altLang="ko-KR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8304848" y="506349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Opus 고정 (모델 생략 가능)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623888" y="5319522"/>
            <a:ext cx="4846320" cy="25603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3" name="Shape 38"/>
          <p:cNvSpPr/>
          <p:nvPr/>
        </p:nvSpPr>
        <p:spPr>
          <a:xfrm>
            <a:off x="5470208" y="5319522"/>
            <a:ext cx="2743200" cy="25603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8213408" y="5319522"/>
            <a:ext cx="3354704" cy="25603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715328" y="531952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특정 모델 골라 실행 (기획·분석·리뷰)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5561648" y="531952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cursor-main (</a:t>
            </a:r>
            <a:r>
              <a:rPr lang="ko-KR" altLang="en-US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커서</a:t>
            </a:r>
            <a:r>
              <a:rPr lang="en-US" altLang="ko-KR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8304848" y="531952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★ 모델 명시 필수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623888" y="5575554"/>
            <a:ext cx="4846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5470208" y="5575554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Shape 45"/>
          <p:cNvSpPr/>
          <p:nvPr/>
        </p:nvSpPr>
        <p:spPr>
          <a:xfrm>
            <a:off x="8213408" y="5575554"/>
            <a:ext cx="33547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715328" y="557555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보조 구현·테스트·이미지 생성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5561648" y="557555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codex-main (</a:t>
            </a:r>
            <a:r>
              <a:rPr lang="ko-KR" altLang="en-US" sz="950" b="1" dirty="0" err="1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코덱스</a:t>
            </a:r>
            <a:r>
              <a:rPr lang="en-US" altLang="ko-KR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8304848" y="557555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4" name="Shape 49"/>
          <p:cNvSpPr/>
          <p:nvPr/>
        </p:nvSpPr>
        <p:spPr>
          <a:xfrm>
            <a:off x="623888" y="5831586"/>
            <a:ext cx="4846320" cy="25603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5" name="Shape 50"/>
          <p:cNvSpPr/>
          <p:nvPr/>
        </p:nvSpPr>
        <p:spPr>
          <a:xfrm>
            <a:off x="5470208" y="5831586"/>
            <a:ext cx="2743200" cy="25603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6" name="Shape 51"/>
          <p:cNvSpPr/>
          <p:nvPr/>
        </p:nvSpPr>
        <p:spPr>
          <a:xfrm>
            <a:off x="8213408" y="5831586"/>
            <a:ext cx="3354704" cy="256032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7" name="Text 52"/>
          <p:cNvSpPr/>
          <p:nvPr/>
        </p:nvSpPr>
        <p:spPr>
          <a:xfrm>
            <a:off x="715328" y="583158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산출물 비평·리뷰 (adversarial 게이트)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8" name="Text 53"/>
          <p:cNvSpPr/>
          <p:nvPr/>
        </p:nvSpPr>
        <p:spPr>
          <a:xfrm>
            <a:off x="5561648" y="583158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codex-critic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9" name="Text 54"/>
          <p:cNvSpPr/>
          <p:nvPr/>
        </p:nvSpPr>
        <p:spPr>
          <a:xfrm>
            <a:off x="8304848" y="583158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0" name="Shape 55"/>
          <p:cNvSpPr/>
          <p:nvPr/>
        </p:nvSpPr>
        <p:spPr>
          <a:xfrm>
            <a:off x="623888" y="6087618"/>
            <a:ext cx="4846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1" name="Shape 56"/>
          <p:cNvSpPr/>
          <p:nvPr/>
        </p:nvSpPr>
        <p:spPr>
          <a:xfrm>
            <a:off x="5470208" y="608761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2" name="Shape 57"/>
          <p:cNvSpPr/>
          <p:nvPr/>
        </p:nvSpPr>
        <p:spPr>
          <a:xfrm>
            <a:off x="8213408" y="6087618"/>
            <a:ext cx="33547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65C4F93F-7FCE-9A69-F7B0-68C1933F688F}"/>
              </a:ext>
            </a:extLst>
          </p:cNvPr>
          <p:cNvSpPr>
            <a:spLocks noChangeAspect="1"/>
          </p:cNvSpPr>
          <p:nvPr/>
        </p:nvSpPr>
        <p:spPr>
          <a:xfrm>
            <a:off x="823533" y="1466460"/>
            <a:ext cx="414918" cy="41491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8"/>
          <p:cNvSpPr/>
          <p:nvPr/>
        </p:nvSpPr>
        <p:spPr>
          <a:xfrm>
            <a:off x="715328" y="608761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이미지·대용량 문서·제3자 검토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4" name="Text 59"/>
          <p:cNvSpPr/>
          <p:nvPr/>
        </p:nvSpPr>
        <p:spPr>
          <a:xfrm>
            <a:off x="5561648" y="608761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gemini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5" name="Text 60"/>
          <p:cNvSpPr/>
          <p:nvPr/>
        </p:nvSpPr>
        <p:spPr>
          <a:xfrm>
            <a:off x="8304848" y="608761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6" name="Text 61"/>
          <p:cNvSpPr/>
          <p:nvPr/>
        </p:nvSpPr>
        <p:spPr>
          <a:xfrm>
            <a:off x="623888" y="641758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여러 워커를 파이프라인으로 엮을 수 있다 — 예: cursor 기획 → claude 구현 → codex-critic 리뷰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8" name="내용 개체 틀 67">
            <a:extLst>
              <a:ext uri="{FF2B5EF4-FFF2-40B4-BE49-F238E27FC236}">
                <a16:creationId xmlns:a16="http://schemas.microsoft.com/office/drawing/2014/main" id="{384C1412-69FF-0FE4-5ACB-3DFAF958BD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err="1"/>
              <a:t>요청문</a:t>
            </a:r>
            <a:r>
              <a:rPr lang="ko-KR" altLang="en-US" dirty="0"/>
              <a:t> 작성법 ③ </a:t>
            </a:r>
            <a:r>
              <a:rPr lang="en-US" altLang="ko-KR" dirty="0"/>
              <a:t>— </a:t>
            </a:r>
            <a:r>
              <a:rPr lang="ko-KR" altLang="en-US" dirty="0"/>
              <a:t>작성 영역</a:t>
            </a:r>
          </a:p>
        </p:txBody>
      </p:sp>
      <p:sp>
        <p:nvSpPr>
          <p:cNvPr id="70" name="Text 1">
            <a:extLst>
              <a:ext uri="{FF2B5EF4-FFF2-40B4-BE49-F238E27FC236}">
                <a16:creationId xmlns:a16="http://schemas.microsoft.com/office/drawing/2014/main" id="{5F0C631D-BDCD-5702-F78B-429E6C1B81CC}"/>
              </a:ext>
            </a:extLst>
          </p:cNvPr>
          <p:cNvSpPr/>
          <p:nvPr/>
        </p:nvSpPr>
        <p:spPr>
          <a:xfrm>
            <a:off x="623888" y="916631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오케스트레이터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(Claude Code </a:t>
            </a: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세션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에게 작업을 요청할 때 담을 것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. </a:t>
            </a:r>
            <a:r>
              <a:rPr lang="ko-KR" alt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정본</a:t>
            </a:r>
            <a:r>
              <a:rPr lang="en-US" altLang="ko-KR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: CLAUDE.md · routing.md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409" y="1515618"/>
            <a:ext cx="274320" cy="274320"/>
          </a:xfrm>
          <a:prstGeom prst="rect">
            <a:avLst/>
          </a:prstGeom>
          <a:noFill/>
        </p:spPr>
      </p:pic>
      <p:sp>
        <p:nvSpPr>
          <p:cNvPr id="73" name="Shape 3">
            <a:extLst>
              <a:ext uri="{FF2B5EF4-FFF2-40B4-BE49-F238E27FC236}">
                <a16:creationId xmlns:a16="http://schemas.microsoft.com/office/drawing/2014/main" id="{CFA66821-0C41-C0A8-8115-F62C9F3B33B7}"/>
              </a:ext>
            </a:extLst>
          </p:cNvPr>
          <p:cNvSpPr>
            <a:spLocks noChangeAspect="1"/>
          </p:cNvSpPr>
          <p:nvPr/>
        </p:nvSpPr>
        <p:spPr>
          <a:xfrm>
            <a:off x="777240" y="4296918"/>
            <a:ext cx="414918" cy="41491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839" y="4350648"/>
            <a:ext cx="292608" cy="2926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BA8D5-5413-05CE-D60D-37EB9C0B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EFA2294-79DD-3EBE-DAEA-27EB028A2BF6}"/>
              </a:ext>
            </a:extLst>
          </p:cNvPr>
          <p:cNvSpPr/>
          <p:nvPr/>
        </p:nvSpPr>
        <p:spPr>
          <a:xfrm>
            <a:off x="626936" y="9052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file-as-memory: 런타임 상태 0, 모든 결정·승인·검증이 아래 파일로 남는다.  경로: tasks/&lt;task&gt;/</a:t>
            </a:r>
            <a:endParaRPr lang="en-US" sz="12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E24749C-4BAE-2E9B-AD67-6D98F0752FAB}"/>
              </a:ext>
            </a:extLst>
          </p:cNvPr>
          <p:cNvSpPr/>
          <p:nvPr/>
        </p:nvSpPr>
        <p:spPr>
          <a:xfrm>
            <a:off x="623888" y="5359399"/>
            <a:ext cx="10927080" cy="949325"/>
          </a:xfrm>
          <a:prstGeom prst="roundRect">
            <a:avLst>
              <a:gd name="adj" fmla="val 7273"/>
            </a:avLst>
          </a:prstGeom>
          <a:solidFill>
            <a:srgbClr val="0F1E2E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840FF755-3D22-9DB1-EF49-963AD8B89D44}"/>
              </a:ext>
            </a:extLst>
          </p:cNvPr>
          <p:cNvSpPr/>
          <p:nvPr/>
        </p:nvSpPr>
        <p:spPr>
          <a:xfrm>
            <a:off x="852488" y="543090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흐름</a:t>
            </a:r>
            <a:endParaRPr lang="en-US" sz="12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26B9DF4-8DDA-FDBC-CCED-38F0C3B66823}"/>
              </a:ext>
            </a:extLst>
          </p:cNvPr>
          <p:cNvSpPr/>
          <p:nvPr/>
        </p:nvSpPr>
        <p:spPr>
          <a:xfrm>
            <a:off x="852488" y="571988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task.md 생성(pending) </a:t>
            </a: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routing으로 워커 결정 → workers_approved 승인 → </a:t>
            </a:r>
            <a:r>
              <a:rPr lang="en-US" sz="1100" b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brief.md </a:t>
            </a: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작성 → 워커 실행 → </a:t>
            </a:r>
            <a:r>
              <a:rPr lang="en-US" sz="110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result.md </a:t>
            </a: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저장 → Verification → </a:t>
            </a:r>
            <a:r>
              <a:rPr lang="en-US" sz="1100" b="1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log.md </a:t>
            </a: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에 기록 → </a:t>
            </a:r>
            <a:r>
              <a:rPr lang="en-US" sz="1100" b="1" dirty="0">
                <a:solidFill>
                  <a:srgbClr val="D97757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task.md status=done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98A5FF0-EE2D-B599-4392-F1402DF4C77B}"/>
              </a:ext>
            </a:extLst>
          </p:cNvPr>
          <p:cNvSpPr/>
          <p:nvPr/>
        </p:nvSpPr>
        <p:spPr>
          <a:xfrm>
            <a:off x="521208" y="67482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context.md = '지금'(스냅샷) · log.md = '지나온 길'(히스토리) — 이 둘의 역할 분리가 핵심.  brief/result는 워커별 폴더, task/context/log는 작업 루트.</a:t>
            </a:r>
            <a:endParaRPr lang="en-US" sz="1000" dirty="0"/>
          </a:p>
        </p:txBody>
      </p:sp>
      <p:sp>
        <p:nvSpPr>
          <p:cNvPr id="62" name="내용 개체 틀 61">
            <a:extLst>
              <a:ext uri="{FF2B5EF4-FFF2-40B4-BE49-F238E27FC236}">
                <a16:creationId xmlns:a16="http://schemas.microsoft.com/office/drawing/2014/main" id="{791A1FA0-5C38-1E2D-767C-7B16799116B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b="1" dirty="0" err="1">
                <a:solidFill>
                  <a:srgbClr val="16232F"/>
                </a:solidFill>
                <a:cs typeface="Calibri" pitchFamily="34" charset="-120"/>
              </a:rPr>
              <a:t>파일</a:t>
            </a:r>
            <a:r>
              <a:rPr lang="en-US" altLang="ko-KR" b="1" dirty="0">
                <a:solidFill>
                  <a:srgbClr val="16232F"/>
                </a:solidFill>
                <a:cs typeface="Calibri" pitchFamily="34" charset="-120"/>
              </a:rPr>
              <a:t> </a:t>
            </a:r>
            <a:r>
              <a:rPr lang="en-US" altLang="ko-KR" b="1" dirty="0" err="1">
                <a:solidFill>
                  <a:srgbClr val="16232F"/>
                </a:solidFill>
                <a:cs typeface="Calibri" pitchFamily="34" charset="-120"/>
              </a:rPr>
              <a:t>구조</a:t>
            </a:r>
            <a:r>
              <a:rPr lang="en-US" altLang="ko-KR" b="1" dirty="0">
                <a:solidFill>
                  <a:srgbClr val="16232F"/>
                </a:solidFill>
                <a:cs typeface="Calibri" pitchFamily="34" charset="-120"/>
              </a:rPr>
              <a:t> </a:t>
            </a:r>
            <a:r>
              <a:rPr lang="en-US" altLang="ko-KR" b="1" dirty="0" err="1">
                <a:solidFill>
                  <a:srgbClr val="16232F"/>
                </a:solidFill>
                <a:cs typeface="Calibri" pitchFamily="34" charset="-120"/>
              </a:rPr>
              <a:t>요약</a:t>
            </a:r>
            <a:r>
              <a:rPr lang="en-US" altLang="ko-KR" b="1" dirty="0">
                <a:solidFill>
                  <a:srgbClr val="16232F"/>
                </a:solidFill>
                <a:cs typeface="Calibri" pitchFamily="34" charset="-120"/>
              </a:rPr>
              <a:t> </a:t>
            </a:r>
            <a:r>
              <a:rPr lang="ko-KR" altLang="en-US" b="1" dirty="0">
                <a:solidFill>
                  <a:srgbClr val="16232F"/>
                </a:solidFill>
                <a:cs typeface="Calibri" pitchFamily="34" charset="-120"/>
              </a:rPr>
              <a:t>및 작업 흐름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E8C4A20-097D-5238-7D6C-06EF5A3F1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291819"/>
              </p:ext>
            </p:extLst>
          </p:nvPr>
        </p:nvGraphicFramePr>
        <p:xfrm>
          <a:off x="626936" y="1271016"/>
          <a:ext cx="10938128" cy="398234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93964">
                  <a:extLst>
                    <a:ext uri="{9D8B030D-6E8A-4147-A177-3AD203B41FA5}">
                      <a16:colId xmlns:a16="http://schemas.microsoft.com/office/drawing/2014/main" val="261597883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3438603349"/>
                    </a:ext>
                  </a:extLst>
                </a:gridCol>
                <a:gridCol w="2734532">
                  <a:extLst>
                    <a:ext uri="{9D8B030D-6E8A-4147-A177-3AD203B41FA5}">
                      <a16:colId xmlns:a16="http://schemas.microsoft.com/office/drawing/2014/main" val="3402992884"/>
                    </a:ext>
                  </a:extLst>
                </a:gridCol>
                <a:gridCol w="2734532">
                  <a:extLst>
                    <a:ext uri="{9D8B030D-6E8A-4147-A177-3AD203B41FA5}">
                      <a16:colId xmlns:a16="http://schemas.microsoft.com/office/drawing/2014/main" val="3675646365"/>
                    </a:ext>
                  </a:extLst>
                </a:gridCol>
              </a:tblGrid>
              <a:tr h="456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제약 및 형식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86358"/>
                  </a:ext>
                </a:extLst>
              </a:tr>
              <a:tr h="705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task.md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rgbClr val="16232F"/>
                          </a:solidFill>
                        </a:rPr>
                        <a:t>사용자 요청에 대한 </a:t>
                      </a:r>
                      <a:r>
                        <a:rPr lang="en-US" altLang="ko-KR" sz="1200" dirty="0" err="1">
                          <a:solidFill>
                            <a:srgbClr val="16232F"/>
                          </a:solidFill>
                        </a:rPr>
                        <a:t>작업</a:t>
                      </a:r>
                      <a:r>
                        <a:rPr lang="en-US" altLang="ko-KR" sz="1200" dirty="0">
                          <a:solidFill>
                            <a:srgbClr val="16232F"/>
                          </a:solidFill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16232F"/>
                          </a:solidFill>
                        </a:rPr>
                        <a:t>정의서</a:t>
                      </a:r>
                      <a:endParaRPr lang="en-US" altLang="ko-KR" sz="1200" dirty="0">
                        <a:solidFill>
                          <a:srgbClr val="16232F"/>
                        </a:solidFill>
                      </a:endParaRPr>
                    </a:p>
                    <a:p>
                      <a:pPr latinLnBrk="1"/>
                      <a:r>
                        <a:rPr lang="en-US" altLang="ko-KR" sz="1200" dirty="0">
                          <a:solidFill>
                            <a:srgbClr val="16232F"/>
                          </a:solidFill>
                        </a:rPr>
                        <a:t>Status(pending/done) · goal · </a:t>
                      </a:r>
                    </a:p>
                    <a:p>
                      <a:pPr latinLnBrk="1"/>
                      <a:r>
                        <a:rPr lang="en-US" altLang="ko-KR" sz="1200" dirty="0" err="1">
                          <a:solidFill>
                            <a:srgbClr val="16232F"/>
                          </a:solidFill>
                        </a:rPr>
                        <a:t>workers_approved</a:t>
                      </a:r>
                      <a:r>
                        <a:rPr lang="en-US" altLang="ko-KR" sz="1200" dirty="0">
                          <a:solidFill>
                            <a:srgbClr val="16232F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rgbClr val="16232F"/>
                          </a:solidFill>
                        </a:rPr>
                        <a:t>승인된</a:t>
                      </a:r>
                      <a:r>
                        <a:rPr lang="en-US" altLang="ko-KR" sz="1200" dirty="0">
                          <a:solidFill>
                            <a:srgbClr val="16232F"/>
                          </a:solidFill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16232F"/>
                          </a:solidFill>
                        </a:rPr>
                        <a:t>워커</a:t>
                      </a:r>
                      <a:r>
                        <a:rPr lang="en-US" altLang="ko-KR" sz="1200" dirty="0">
                          <a:solidFill>
                            <a:srgbClr val="16232F"/>
                          </a:solidFill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16232F"/>
                          </a:solidFill>
                        </a:rPr>
                        <a:t>목록</a:t>
                      </a:r>
                      <a:r>
                        <a:rPr lang="en-US" altLang="ko-KR" sz="1200" dirty="0">
                          <a:solidFill>
                            <a:srgbClr val="16232F"/>
                          </a:solidFill>
                        </a:rPr>
                        <a:t>) </a:t>
                      </a:r>
                      <a:r>
                        <a:rPr lang="ko-KR" altLang="en-US" sz="1200" dirty="0">
                          <a:solidFill>
                            <a:srgbClr val="16232F"/>
                          </a:solidFill>
                        </a:rPr>
                        <a:t>등이 기록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tasks/&lt;task&gt;/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형식 고정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(##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메타 </a:t>
                      </a:r>
                      <a:r>
                        <a:rPr lang="en-US" altLang="ko-KR" sz="105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yaml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+ ## Goal). </a:t>
                      </a:r>
                    </a:p>
                    <a:p>
                      <a:pPr latinLnBrk="1"/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mat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모니터가 파싱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작업 내내 갱신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(status)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553035"/>
                  </a:ext>
                </a:extLst>
              </a:tr>
              <a:tr h="705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context.md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현재 스냅샷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지금 상태의 핵심만 적용</a:t>
                      </a:r>
                      <a:r>
                        <a:rPr lang="en-US" altLang="ko-KR" sz="1200" dirty="0"/>
                        <a:t>. </a:t>
                      </a:r>
                    </a:p>
                    <a:p>
                      <a:pPr latinLnBrk="1"/>
                      <a:r>
                        <a:rPr lang="ko-KR" altLang="en-US" sz="1200" dirty="0"/>
                        <a:t>세션 중지 등에 대해 이어서 작업하는 용도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tasks/&lt;task&gt;/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≤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1500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자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한글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).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초과 시 핵심만 남기고 나머지는 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log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로 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append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후 초기화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002462"/>
                  </a:ext>
                </a:extLst>
              </a:tr>
              <a:tr h="705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brief.md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워커의 지시서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워커가 실행에 필요한 것만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목표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target_sope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write_scope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제약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작성됨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tasks/&lt;task&gt;/workers/&lt;role&gt;/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≤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1200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자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한글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).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파일 내용 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inline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금지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—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경로만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워커별 폴더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(&lt;role&gt;/brief.md).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512460"/>
                  </a:ext>
                </a:extLst>
              </a:tr>
              <a:tr h="705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result.md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워커의 산출물 원문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latinLnBrk="1"/>
                      <a:r>
                        <a:rPr lang="ko-KR" altLang="en-US" sz="1200" dirty="0"/>
                        <a:t>워커의 응답 </a:t>
                      </a:r>
                      <a:r>
                        <a:rPr lang="en-US" altLang="ko-KR" sz="1200" dirty="0"/>
                        <a:t>+ Verification Checklist </a:t>
                      </a:r>
                      <a:r>
                        <a:rPr lang="ko-KR" altLang="en-US" sz="1200" dirty="0"/>
                        <a:t>등 표시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tasks/&lt;task&gt;/workers/&lt;role&gt;/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원문 보존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워커별 폴더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(&lt;role&gt;/result.md)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065376"/>
                  </a:ext>
                </a:extLst>
              </a:tr>
              <a:tr h="705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log.md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작업 일지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워커 호출 및 주요 결정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검증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승인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에러 목록 작성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tasks/&lt;task&gt;/</a:t>
                      </a:r>
                      <a:endParaRPr lang="ko-KR" altLang="en-US" sz="12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append-only.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수정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·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삭제 금지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형식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: [YYYY-MM-DD HH:MM] [ACTION] </a:t>
                      </a:r>
                      <a:r>
                        <a:rPr lang="ko-KR" altLang="en-US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내용</a:t>
                      </a:r>
                      <a:r>
                        <a:rPr lang="en-US" altLang="ko-KR" sz="105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52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328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0AF17074-B772-7F2C-DD7C-EBDCA316A8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개요</a:t>
            </a: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생성된 폴더 안에서 켜야 CLAUDE.md 규칙이 적용된다.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1) 오케스트레이터 켜기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51560" y="2286000"/>
            <a:ext cx="4663440" cy="594360"/>
          </a:xfrm>
          <a:prstGeom prst="roundRect">
            <a:avLst>
              <a:gd name="adj" fmla="val 9231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52728" y="2423160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cd &lt;생성폴더&gt; &amp;&amp; claude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codex MCP 프롬프트 → </a:t>
            </a:r>
            <a:r>
              <a:rPr lang="en-US" sz="11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미인증이면 3. Continue without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465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2) Claude &amp; </a:t>
            </a:r>
            <a:r>
              <a:rPr lang="en-US" sz="1500" b="1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agy</a:t>
            </a:r>
            <a:r>
              <a:rPr lang="en-US" sz="15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워커 스모크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2240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cladue</a:t>
            </a: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-main </a:t>
            </a:r>
            <a:r>
              <a:rPr lang="ko-KR" alt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과 </a:t>
            </a:r>
            <a:r>
              <a:rPr lang="en-US" sz="1100" dirty="0" err="1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gemini</a:t>
            </a:r>
            <a:r>
              <a:rPr lang="en-US" sz="11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(agy) 디스패처 경로가 도는지 확인. </a:t>
            </a:r>
          </a:p>
        </p:txBody>
      </p:sp>
      <p:sp>
        <p:nvSpPr>
          <p:cNvPr id="12" name="Text 10"/>
          <p:cNvSpPr/>
          <p:nvPr/>
        </p:nvSpPr>
        <p:spPr>
          <a:xfrm>
            <a:off x="644652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 -p </a:t>
            </a: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"say hello in one word"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10515600" cy="2331720"/>
          </a:xfrm>
          <a:prstGeom prst="roundRect">
            <a:avLst>
              <a:gd name="adj" fmla="val 3922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93266" y="3840480"/>
            <a:ext cx="961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스모크 테스트 요청문 (오케스트레이터에 붙여넣기)</a:t>
            </a:r>
            <a:endParaRPr lang="en-US" sz="13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4251960"/>
            <a:ext cx="100584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새 작업 만들어줘.
- </a:t>
            </a: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목표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이 스타터가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cluade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과 </a:t>
            </a: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두 </a:t>
            </a: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워커가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정상 호출되는지 확인하는 스모크 </a:t>
            </a: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테스트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 </a:t>
            </a:r>
          </a:p>
          <a:p>
            <a:pPr marL="62865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에게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“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한 단어로 인사해줘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를 요청해 응답 받는다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 marL="628650"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Gemini(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에게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“SMOKE-OK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를 그대로 한번 출력해줘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”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를 요청해 응답을 확인한다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워커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-main,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둘 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 Codex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는 미인증으로 제외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 Gemini(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파일 순회 금지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요청 내용을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brief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본문에 인라인하고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는 그것만 처리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write_scope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none. 결과는 작업 폴더 artifacts/</a:t>
            </a:r>
            <a:r>
              <a:rPr 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에만</a:t>
            </a:r>
            <a:r>
              <a:rPr 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확인 기준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두 워커 모두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exit 0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으로 응답 오고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는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SMOKE-OK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응답이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result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 남을 것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  <a:endParaRPr lang="en-US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3784741-22E7-0131-8D0B-A307F2157630}"/>
              </a:ext>
            </a:extLst>
          </p:cNvPr>
          <p:cNvGrpSpPr/>
          <p:nvPr/>
        </p:nvGrpSpPr>
        <p:grpSpPr>
          <a:xfrm>
            <a:off x="999490" y="3968496"/>
            <a:ext cx="438912" cy="109728"/>
            <a:chOff x="1005840" y="1764792"/>
            <a:chExt cx="438912" cy="109728"/>
          </a:xfrm>
        </p:grpSpPr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CF61D0FA-2115-0215-BD19-4D1D99241E14}"/>
                </a:ext>
              </a:extLst>
            </p:cNvPr>
            <p:cNvSpPr/>
            <p:nvPr/>
          </p:nvSpPr>
          <p:spPr>
            <a:xfrm>
              <a:off x="1005840" y="1764792"/>
              <a:ext cx="109728" cy="109728"/>
            </a:xfrm>
            <a:prstGeom prst="ellipse">
              <a:avLst/>
            </a:prstGeom>
            <a:solidFill>
              <a:srgbClr val="D9775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93F122CD-463D-7C91-8D16-74087794C02D}"/>
                </a:ext>
              </a:extLst>
            </p:cNvPr>
            <p:cNvSpPr/>
            <p:nvPr/>
          </p:nvSpPr>
          <p:spPr>
            <a:xfrm>
              <a:off x="1170432" y="1764792"/>
              <a:ext cx="109728" cy="109728"/>
            </a:xfrm>
            <a:prstGeom prst="ellipse">
              <a:avLst/>
            </a:prstGeom>
            <a:solidFill>
              <a:srgbClr val="E8A13A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CBADEC86-8B98-396B-4F82-BEF0AC6FC071}"/>
                </a:ext>
              </a:extLst>
            </p:cNvPr>
            <p:cNvSpPr/>
            <p:nvPr/>
          </p:nvSpPr>
          <p:spPr>
            <a:xfrm>
              <a:off x="1335024" y="1764792"/>
              <a:ext cx="109728" cy="109728"/>
            </a:xfrm>
            <a:prstGeom prst="ellipse">
              <a:avLst/>
            </a:prstGeom>
            <a:solidFill>
              <a:srgbClr val="12A59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F4208-DE81-007A-BB89-07A50482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320C1C97-D68C-21D4-B767-6A18350184EE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7DC896-7F03-D90D-8503-DE12253C90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687" y="1323436"/>
            <a:ext cx="8155841" cy="4587203"/>
          </a:xfrm>
          <a:prstGeom prst="rect">
            <a:avLst/>
          </a:prstGeom>
        </p:spPr>
      </p:pic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D8566BD7-A487-5F3C-5563-9E80FA9B37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①②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8FD60251-E8E1-B485-163A-A496C377571E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5B697FB-588F-5312-1513-13736A943B81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경로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2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워커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제약조건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확인기준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write_scope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등 </a:t>
            </a:r>
            <a:r>
              <a:rPr lang="ko-KR" altLang="en-US" sz="11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생성 부터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 콘솔과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진행 상황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최종 결과 확인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 및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C7BAA7-17F3-37F2-C096-6EFF829E8119}"/>
              </a:ext>
            </a:extLst>
          </p:cNvPr>
          <p:cNvSpPr/>
          <p:nvPr/>
        </p:nvSpPr>
        <p:spPr>
          <a:xfrm>
            <a:off x="724219" y="3349403"/>
            <a:ext cx="7943532" cy="13940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A9F6059-79C1-DDCD-31F1-6E7129E50153}"/>
              </a:ext>
            </a:extLst>
          </p:cNvPr>
          <p:cNvSpPr/>
          <p:nvPr/>
        </p:nvSpPr>
        <p:spPr>
          <a:xfrm>
            <a:off x="574228" y="3159000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A5154E-BA41-4A9E-B694-DEEBF8B6E077}"/>
              </a:ext>
            </a:extLst>
          </p:cNvPr>
          <p:cNvSpPr/>
          <p:nvPr/>
        </p:nvSpPr>
        <p:spPr>
          <a:xfrm>
            <a:off x="724219" y="1825499"/>
            <a:ext cx="3352482" cy="27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29BCA9C-15CB-AB9A-44EB-D72596EBF225}"/>
              </a:ext>
            </a:extLst>
          </p:cNvPr>
          <p:cNvSpPr/>
          <p:nvPr/>
        </p:nvSpPr>
        <p:spPr>
          <a:xfrm>
            <a:off x="588994" y="169049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236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7F49-7D98-46E6-A7AE-180DCA15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3EFB34F-05E1-024C-735E-FC7E84EC8D07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C6275B-DB75-D19B-C711-34EC8A168BD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687" y="1323436"/>
            <a:ext cx="8155841" cy="4587203"/>
          </a:xfrm>
          <a:prstGeom prst="rect">
            <a:avLst/>
          </a:prstGeom>
        </p:spPr>
      </p:pic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673EA745-5015-53C0-D8F4-6F9F78DA27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③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3C715FF9-397F-DAA3-1DFB-E1FAED1E007C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8AD7D83-7888-1C61-1637-1B37DC19E9F3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경로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  </a:t>
            </a: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3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생성 부터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Task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확인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smoke-worker-call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Goal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Workers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목록 확인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 콘솔과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진행 상황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최종 결과 확인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 및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4260F7-DA82-7AC1-5972-204163CCDBD4}"/>
              </a:ext>
            </a:extLst>
          </p:cNvPr>
          <p:cNvSpPr/>
          <p:nvPr/>
        </p:nvSpPr>
        <p:spPr>
          <a:xfrm>
            <a:off x="724219" y="2743511"/>
            <a:ext cx="7943532" cy="28762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342AAC7-DE3E-AD45-C3C5-257CCC184C39}"/>
              </a:ext>
            </a:extLst>
          </p:cNvPr>
          <p:cNvSpPr/>
          <p:nvPr/>
        </p:nvSpPr>
        <p:spPr>
          <a:xfrm>
            <a:off x="588994" y="2606986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051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FA4C3-DDAC-4D8E-D540-884C7D25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9F04E4E-6C79-08A0-C80E-7F916B81F00D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369BFDC5-6814-CEAA-46FD-8A072259C0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④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BAAE15C8-DF0B-D6CC-0B95-29375292A7A2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00986C0-FEA8-ED3D-E99B-382433E3647A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경로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 </a:t>
            </a: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생성 부터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4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진행 상황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status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업데이트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</a:t>
            </a:r>
            <a:r>
              <a:rPr lang="en-US" altLang="ko-KR" sz="11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in_progress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Workers :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 업데이트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- Recent log :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로그 업데이트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최종 결과 확인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 및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003E40-8F60-565B-3C51-ABD4D69196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800" y="1324800"/>
            <a:ext cx="8157600" cy="400900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6E3E32-0171-7D57-C8B9-C16BF8850781}"/>
              </a:ext>
            </a:extLst>
          </p:cNvPr>
          <p:cNvSpPr/>
          <p:nvPr/>
        </p:nvSpPr>
        <p:spPr>
          <a:xfrm>
            <a:off x="768350" y="2876986"/>
            <a:ext cx="7766050" cy="12505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FC2EAB-3627-3FBA-0211-D4EFED21A278}"/>
              </a:ext>
            </a:extLst>
          </p:cNvPr>
          <p:cNvSpPr/>
          <p:nvPr/>
        </p:nvSpPr>
        <p:spPr>
          <a:xfrm>
            <a:off x="768350" y="1732771"/>
            <a:ext cx="2817813" cy="4341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F0AF455-2537-EC1A-FD80-B2D661076FE1}"/>
              </a:ext>
            </a:extLst>
          </p:cNvPr>
          <p:cNvSpPr/>
          <p:nvPr/>
        </p:nvSpPr>
        <p:spPr>
          <a:xfrm>
            <a:off x="633183" y="1596246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3F71B3-B997-0E31-B34E-653D854627DF}"/>
              </a:ext>
            </a:extLst>
          </p:cNvPr>
          <p:cNvSpPr/>
          <p:nvPr/>
        </p:nvSpPr>
        <p:spPr>
          <a:xfrm>
            <a:off x="768350" y="4264025"/>
            <a:ext cx="7766050" cy="841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2074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29D2-7C75-DDB2-B6FD-614BFBB1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04E04C2-F1B5-0027-AA84-439A8FBBC44D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E6289B51-4F93-6FC5-F085-380C1E0830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⑤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90DAC7FD-A16E-56C9-3E80-16F1C32A92BD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7549942-FAFC-2E05-BF8D-38375443E4C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경로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 </a:t>
            </a: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생성 부터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4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진행 상황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5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최종 결과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MAT :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산출물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(smoke-result.md)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실제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MD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파일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EC6284-BD83-CBBE-16EE-769D0E08B67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800" y="1324800"/>
            <a:ext cx="8157600" cy="460087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D39ADD5-83E2-90C1-EA1A-76E937AB3B41}"/>
              </a:ext>
            </a:extLst>
          </p:cNvPr>
          <p:cNvSpPr/>
          <p:nvPr/>
        </p:nvSpPr>
        <p:spPr>
          <a:xfrm>
            <a:off x="768350" y="2711450"/>
            <a:ext cx="7766050" cy="12534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04DC50-E94B-E2A1-1E9B-8CC493948E8F}"/>
              </a:ext>
            </a:extLst>
          </p:cNvPr>
          <p:cNvSpPr/>
          <p:nvPr/>
        </p:nvSpPr>
        <p:spPr>
          <a:xfrm>
            <a:off x="768350" y="1589117"/>
            <a:ext cx="2817813" cy="4341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34E9392-2621-9685-EC67-5DFC9E310D7D}"/>
              </a:ext>
            </a:extLst>
          </p:cNvPr>
          <p:cNvSpPr/>
          <p:nvPr/>
        </p:nvSpPr>
        <p:spPr>
          <a:xfrm>
            <a:off x="633183" y="1454117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41E4D1-FF48-63D0-7817-CE24EE6DF7D4}"/>
              </a:ext>
            </a:extLst>
          </p:cNvPr>
          <p:cNvSpPr/>
          <p:nvPr/>
        </p:nvSpPr>
        <p:spPr>
          <a:xfrm>
            <a:off x="768350" y="4119255"/>
            <a:ext cx="7766050" cy="4019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5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43FE-91F7-2FDB-1E94-968263DA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05A0496-EF27-8D1E-35C1-111EF0342C8A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69A0DE30-49D5-79CB-39FB-D1D724ABBB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⑤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FD3E619F-3131-8740-0C70-CAD60333D8C0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1FB44F-8449-E375-41BD-02DD0339F3D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800" y="1324800"/>
            <a:ext cx="8158586" cy="453625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940AED-2D26-D719-DD58-EB77CAC25FA5}"/>
              </a:ext>
            </a:extLst>
          </p:cNvPr>
          <p:cNvSpPr/>
          <p:nvPr/>
        </p:nvSpPr>
        <p:spPr>
          <a:xfrm>
            <a:off x="768350" y="1732771"/>
            <a:ext cx="7994650" cy="40633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F214FBC-D0D1-AC75-037A-F5F83315F4BD}"/>
              </a:ext>
            </a:extLst>
          </p:cNvPr>
          <p:cNvSpPr/>
          <p:nvPr/>
        </p:nvSpPr>
        <p:spPr>
          <a:xfrm>
            <a:off x="633183" y="1596246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C763436E-EFA7-8208-AC9C-D6EB38F0E395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경로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 </a:t>
            </a: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생성 부터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4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진행 상황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5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최종 결과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MAT :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산출물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(smoke-result.md)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실제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MD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파일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14673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BDA85-5FB9-A1B3-1E53-93B0321AF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73076C7-FB49-4BB0-B25A-DF3A7BD7320B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909DB45B-5CFA-CB9A-2A98-046A74BB41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첫 번째 작업 </a:t>
            </a:r>
            <a:r>
              <a:rPr lang="en-US" altLang="ko-KR" dirty="0"/>
              <a:t>– </a:t>
            </a:r>
            <a:r>
              <a:rPr lang="ko-KR" altLang="en-US" dirty="0" err="1"/>
              <a:t>스모크</a:t>
            </a:r>
            <a:r>
              <a:rPr lang="ko-KR" altLang="en-US" dirty="0"/>
              <a:t> 테스트 ⑤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672B9DF6-ABED-3DBF-0FAF-D4181F52D324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E9986943-8C2D-4609-DC42-B6628EE4E219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스타터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경로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시작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 </a:t>
            </a: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전송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생성 부터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연결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4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진행 상황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 startAt="5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최종 결과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MAT :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산출물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(smoke-result.md)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콘솔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-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실제 </a:t>
            </a:r>
            <a:r>
              <a:rPr lang="en-US" altLang="ko-KR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MD </a:t>
            </a:r>
            <a:r>
              <a: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파일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A3CD6D7-9E6E-D339-1D06-A2D9F038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43" y="1127355"/>
            <a:ext cx="8111707" cy="467608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D1D462-AF9D-067B-4587-4893E02C4FD2}"/>
              </a:ext>
            </a:extLst>
          </p:cNvPr>
          <p:cNvSpPr/>
          <p:nvPr/>
        </p:nvSpPr>
        <p:spPr>
          <a:xfrm>
            <a:off x="1289050" y="3022600"/>
            <a:ext cx="920750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6568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A66A7-F88F-3090-F1CE-C14E69D6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CC017F-0BE4-FFF6-123B-ECCA7494C7C1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Muti-agent-starter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실습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32A2CE-45D4-134E-2E3F-E5C14BAF780D}"/>
              </a:ext>
            </a:extLst>
          </p:cNvPr>
          <p:cNvSpPr/>
          <p:nvPr/>
        </p:nvSpPr>
        <p:spPr>
          <a:xfrm>
            <a:off x="1325880" y="1355597"/>
            <a:ext cx="10242233" cy="261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첫 번째 작업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워커 </a:t>
            </a:r>
            <a:r>
              <a:rPr lang="ko-KR" alt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스모크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테스트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(smoke test)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두 번째 작업 </a:t>
            </a: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– MSA 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모듈 분석</a:t>
            </a:r>
            <a:endParaRPr lang="en-US" altLang="ko-KR" sz="2800" dirty="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세 번째 작업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– API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구현</a:t>
            </a:r>
            <a:endParaRPr lang="en-US"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4101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EFD8727B-6FA2-0CA0-7C49-EFBCF3E2A8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두 번째 작업 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— MSA </a:t>
            </a:r>
            <a:r>
              <a:rPr lang="ko-KR" altLang="en-US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모듈 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분석·요약</a:t>
            </a:r>
            <a:endParaRPr lang="en-US" altLang="ko-KR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분석·리뷰·요약·기획은 target_repo를 묻지 않고 artifacts/에 산출. 안전한 첫 작업.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3383280"/>
          </a:xfrm>
          <a:prstGeom prst="roundRect">
            <a:avLst>
              <a:gd name="adj" fmla="val 1622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764792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70432" y="1764792"/>
            <a:ext cx="109728" cy="109728"/>
          </a:xfrm>
          <a:prstGeom prst="ellipse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5024" y="1764792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54480" y="17007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분석작업 </a:t>
            </a:r>
            <a:r>
              <a:rPr lang="ko-KR" altLang="en-US" sz="9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요청문</a:t>
            </a:r>
            <a:r>
              <a:rPr lang="ko-KR" alt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en-US" altLang="ko-KR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analysis-request)</a:t>
            </a:r>
            <a:endParaRPr lang="en-US" sz="9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2057400"/>
            <a:ext cx="10113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새로운 작업 시작                                                                                                                                     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목표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"C:\Users\gudtj\IdeaProjects\arms\Backend-Core"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모듈의 구조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기술스택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핵심 </a:t>
            </a:r>
            <a:r>
              <a:rPr lang="ko-KR" altLang="en-US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진입점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그리고 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작성 컨벤션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패키지 구조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네이밍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조회 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등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을  파악해 요약해줘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                                                                                                                                    </a:t>
            </a: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성격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분석 및 요약</a:t>
            </a: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en-US" altLang="ko-KR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write_scope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none,                                                                                                                                   </a:t>
            </a: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worker: </a:t>
            </a:r>
            <a:r>
              <a:rPr lang="en-US" altLang="ko-KR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-main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 구조 파악 문서 작성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en-US" altLang="ko-KR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en-US" altLang="ko-KR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가 요약 검토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lang="en-US" altLang="ko-KR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는 파일 순회 금지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인라인된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내용만 검토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                                     </a:t>
            </a: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결과물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tasks/&lt;task&gt;/artifacts/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에 작성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다음 작업으로 조회 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를 만들어볼 예정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  <a:endParaRPr lang="en-US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2A594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" y="539496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5166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포인트</a:t>
            </a:r>
            <a:r>
              <a:rPr lang="en-US" sz="1200" b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생산(구조 파악·문서화)은 claude-main, 검토만 agy. agy '파일 순회 금지 + 인라인만'을 반드시 명시 — 안 그러면 대용량 순회로 300초 타임아웃. 읽을 대상 경로는 목표에 적어둔다.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7067-B1B6-6394-26E2-A925BBAE8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561A37F-A046-9815-D018-4D412D884189}"/>
              </a:ext>
            </a:extLst>
          </p:cNvPr>
          <p:cNvSpPr/>
          <p:nvPr/>
        </p:nvSpPr>
        <p:spPr>
          <a:xfrm>
            <a:off x="623888" y="1061884"/>
            <a:ext cx="7446962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6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패키지 구조 변화</a:t>
            </a:r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5D49A2C2-6E95-3454-2BDB-A5000A29A3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두 번째 작업 </a:t>
            </a:r>
            <a:r>
              <a:rPr lang="en-US" altLang="ko-KR" dirty="0"/>
              <a:t>– MSA</a:t>
            </a:r>
            <a:r>
              <a:rPr lang="ko-KR" altLang="en-US" dirty="0"/>
              <a:t> 모듈 분석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CCC78284-5133-25D2-8DEA-477C1F5C148F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88F3B327-94CC-53A5-1829-AEB2683EE455}"/>
              </a:ext>
            </a:extLst>
          </p:cNvPr>
          <p:cNvSpPr/>
          <p:nvPr/>
        </p:nvSpPr>
        <p:spPr>
          <a:xfrm>
            <a:off x="8159431" y="1061883"/>
            <a:ext cx="3408681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순서 확인 및 문서별 내용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정의서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</a:p>
          <a:p>
            <a:pPr lvl="1"/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오케스트레이터가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사용자 요청을 받아 정의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 값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(status)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만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갱신됨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log.md</a:t>
            </a: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전체 이력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승인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(approve),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에러 등의 작업 내내 시간순으로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append</a:t>
            </a:r>
          </a:p>
          <a:p>
            <a:pPr lvl="1"/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brief.md</a:t>
            </a: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워커의 지시서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result.md</a:t>
            </a: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워커의 응답 원문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brief.md</a:t>
            </a:r>
            <a:r>
              <a:rPr lang="ko-KR" altLang="en-US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와 </a:t>
            </a:r>
            <a:r>
              <a:rPr lang="en-US" altLang="ko-KR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result.md</a:t>
            </a:r>
            <a:r>
              <a:rPr lang="ko-KR" altLang="en-US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는 워커의 수 만큼 쌍으로 생성</a:t>
            </a:r>
            <a:endParaRPr lang="en-US" altLang="ko-KR" sz="1200" i="1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5) artifacts/</a:t>
            </a: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워커 산출물의 원본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생성된 코드 파일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이미지 등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</a:t>
            </a:r>
          </a:p>
          <a:p>
            <a:pPr lvl="1"/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번외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 context.md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무엇이 끝났고 무엇이 진행중인지 판단에 필요한 </a:t>
            </a:r>
            <a:r>
              <a:rPr lang="ko-KR" altLang="en-US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핵심 사실 </a:t>
            </a:r>
            <a:r>
              <a:rPr lang="en-US" altLang="ko-KR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· </a:t>
            </a:r>
            <a:r>
              <a:rPr lang="ko-KR" altLang="en-US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미해결 이슈 </a:t>
            </a:r>
            <a:r>
              <a:rPr lang="en-US" altLang="ko-KR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· </a:t>
            </a:r>
            <a:r>
              <a:rPr lang="ko-KR" altLang="en-US" sz="1200" i="1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참조경로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만 적는다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 lvl="1"/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상태가 단순하면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생략 가능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 marL="228600" indent="-228600">
              <a:buFont typeface="+mj-lt"/>
              <a:buAutoNum type="arabicParenR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Font typeface="+mj-lt"/>
              <a:buAutoNum type="arabicParenR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A70193-826F-7250-C10D-61115BFAE4B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4387" y="1473200"/>
            <a:ext cx="2074456" cy="15062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EF62CD-1037-9E83-BA3C-B07BD77584B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95057" y="1472934"/>
            <a:ext cx="2074456" cy="15062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25486C6-C348-A144-22A0-4CB5582B399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25728" y="1472934"/>
            <a:ext cx="2074485" cy="150594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8B340DC-34A1-4867-356C-726C6E334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33709"/>
              </p:ext>
            </p:extLst>
          </p:nvPr>
        </p:nvGraphicFramePr>
        <p:xfrm>
          <a:off x="763987" y="3073400"/>
          <a:ext cx="7166763" cy="294195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39731">
                  <a:extLst>
                    <a:ext uri="{9D8B030D-6E8A-4147-A177-3AD203B41FA5}">
                      <a16:colId xmlns:a16="http://schemas.microsoft.com/office/drawing/2014/main" val="2376681129"/>
                    </a:ext>
                  </a:extLst>
                </a:gridCol>
                <a:gridCol w="3572707">
                  <a:extLst>
                    <a:ext uri="{9D8B030D-6E8A-4147-A177-3AD203B41FA5}">
                      <a16:colId xmlns:a16="http://schemas.microsoft.com/office/drawing/2014/main" val="3697903934"/>
                    </a:ext>
                  </a:extLst>
                </a:gridCol>
                <a:gridCol w="2954325">
                  <a:extLst>
                    <a:ext uri="{9D8B030D-6E8A-4147-A177-3AD203B41FA5}">
                      <a16:colId xmlns:a16="http://schemas.microsoft.com/office/drawing/2014/main" val="2113294468"/>
                    </a:ext>
                  </a:extLst>
                </a:gridCol>
              </a:tblGrid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순서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추가</a:t>
                      </a:r>
                      <a:r>
                        <a:rPr lang="en-US" altLang="ko-KR" sz="140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/</a:t>
                      </a:r>
                      <a:r>
                        <a:rPr lang="ko-KR" altLang="en-US" sz="140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업데이트 파일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일어나는 일</a:t>
                      </a:r>
                      <a:endParaRPr lang="ko-KR" altLang="en-US" sz="1400" dirty="0"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30224859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1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task.md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 (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status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: 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pending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`)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작업의 정의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 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목표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·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제약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·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수락기준 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63260255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2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task.md`의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 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workers_approved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워커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(worker)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사용 </a:t>
                      </a:r>
                      <a:r>
                        <a:rPr lang="ko-KR" altLang="en-US" sz="1400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승인시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4468932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3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log.md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 `[APPROVAL]` / `[WORKER_CALL]`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승인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·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호출이 시간순으로 작성됨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06436118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4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workers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/&lt;역할&gt;/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brief.md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워커에게 준 지시 사항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.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26683726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workers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/&lt;역할&gt;/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result.md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워커의 응답 원문 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결과 문서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2248285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6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log.md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 `[VERIFICATION]`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Result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의 체크리스트 검증 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805906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7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task.md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 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status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 → `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done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400">
                          <a:latin typeface="프리젠테이션 5 Medium" pitchFamily="2" charset="-127"/>
                          <a:ea typeface="프리젠테이션 5 Medium" pitchFamily="2" charset="-127"/>
                        </a:rPr>
                        <a:t>완료 시 상태 갱신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51602176"/>
                  </a:ext>
                </a:extLst>
              </a:tr>
              <a:tr h="326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8</a:t>
                      </a:r>
                      <a:endParaRPr lang="ko-KR" altLang="en-US" sz="1400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`_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shared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/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learnings.md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effectLst/>
                          <a:latin typeface="프리젠테이션 5 Medium" pitchFamily="2" charset="-127"/>
                          <a:ea typeface="프리젠테이션 5 Medium" pitchFamily="2" charset="-127"/>
                        </a:rPr>
                        <a:t>` 등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effectLst/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해상 시</a:t>
                      </a:r>
                      <a:r>
                        <a:rPr lang="en-US" altLang="ko-KR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) </a:t>
                      </a:r>
                      <a:r>
                        <a:rPr lang="ko-KR" altLang="en-US" sz="1400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교훈 추가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8444654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DF15E50-EDB6-F47C-70CD-B466AFB35DCF}"/>
              </a:ext>
            </a:extLst>
          </p:cNvPr>
          <p:cNvSpPr txBox="1"/>
          <p:nvPr/>
        </p:nvSpPr>
        <p:spPr>
          <a:xfrm>
            <a:off x="2859201" y="20412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프리젠테이션 6 SemiBold" pitchFamily="2" charset="-127"/>
                <a:ea typeface="프리젠테이션 6 SemiBold" pitchFamily="2" charset="-127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76C3A-5D29-4E53-5B1A-8934632E5E85}"/>
              </a:ext>
            </a:extLst>
          </p:cNvPr>
          <p:cNvSpPr txBox="1"/>
          <p:nvPr/>
        </p:nvSpPr>
        <p:spPr>
          <a:xfrm>
            <a:off x="5389871" y="20324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프리젠테이션 6 SemiBold" pitchFamily="2" charset="-127"/>
                <a:ea typeface="프리젠테이션 6 SemiBold" pitchFamily="2" charset="-127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751924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A5D7-EFBE-B094-CFA4-A550A5B8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CAE5586-725E-25B6-F8A5-328047C3047E}"/>
              </a:ext>
            </a:extLst>
          </p:cNvPr>
          <p:cNvSpPr/>
          <p:nvPr/>
        </p:nvSpPr>
        <p:spPr>
          <a:xfrm>
            <a:off x="623888" y="1061884"/>
            <a:ext cx="7446962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96FD57F5-3C6D-EE4F-89A5-C9B6C6065B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두 번째 작업 </a:t>
            </a:r>
            <a:r>
              <a:rPr lang="en-US" altLang="ko-KR" dirty="0"/>
              <a:t>– MSA</a:t>
            </a:r>
            <a:r>
              <a:rPr lang="ko-KR" altLang="en-US" dirty="0"/>
              <a:t> 모듈 분석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376B6C2E-B6A0-5CB9-5EB4-DD9846D9A27D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238CF9E6-526A-0E60-576A-A228D9F24A09}"/>
              </a:ext>
            </a:extLst>
          </p:cNvPr>
          <p:cNvSpPr/>
          <p:nvPr/>
        </p:nvSpPr>
        <p:spPr>
          <a:xfrm>
            <a:off x="8159431" y="1061883"/>
            <a:ext cx="3408681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모니터링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명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</a:p>
          <a:p>
            <a:pPr lvl="1"/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backend-core-structure-analysis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goal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기록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</a:p>
          <a:p>
            <a:pPr lvl="1"/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Backend-Core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모듈 분석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Workers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1"/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-main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완료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결과문서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gemini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상태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완료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결과문서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Artifacts (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산출물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 lvl="1"/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backend-core-summary.md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로그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lvl="1"/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기록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7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 추가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Font typeface="+mj-lt"/>
              <a:buAutoNum type="arabicParenR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9152E2-7097-B23C-5E29-AB994811AD0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987" y="1455848"/>
            <a:ext cx="7168252" cy="354891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10025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D5BE-87A8-BEE5-42A3-0B6C8539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8A46E5F-003B-4F99-2738-1FDF89223EC0}"/>
              </a:ext>
            </a:extLst>
          </p:cNvPr>
          <p:cNvSpPr/>
          <p:nvPr/>
        </p:nvSpPr>
        <p:spPr>
          <a:xfrm>
            <a:off x="623888" y="1061884"/>
            <a:ext cx="7446962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5D34C5C-3906-C53E-653D-0F371A559B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두 번째 작업 </a:t>
            </a:r>
            <a:r>
              <a:rPr lang="en-US" altLang="ko-KR" dirty="0"/>
              <a:t>– MSA</a:t>
            </a:r>
            <a:r>
              <a:rPr lang="ko-KR" altLang="en-US" dirty="0"/>
              <a:t> 모듈 분석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067A9F44-E373-5A42-0E7C-56218CE8C3CF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6F1A0E35-F0C6-E531-775F-C06D347FA425}"/>
              </a:ext>
            </a:extLst>
          </p:cNvPr>
          <p:cNvSpPr/>
          <p:nvPr/>
        </p:nvSpPr>
        <p:spPr>
          <a:xfrm>
            <a:off x="8159431" y="1061883"/>
            <a:ext cx="3408681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산출물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지시서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task.md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기록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log.md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개의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worker (</a:t>
            </a:r>
            <a:r>
              <a:rPr lang="en-US" altLang="ko-KR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–main, antigravity)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쌍의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brief.md, result.md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작업 결과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backend-core-summary.md</a:t>
            </a:r>
          </a:p>
          <a:p>
            <a:pPr marL="228600" indent="-228600">
              <a:buAutoNum type="circleNumDbPlain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Font typeface="+mj-lt"/>
              <a:buAutoNum type="arabicParenR"/>
            </a:pP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531614-FB1E-2FE5-CA03-E5E1D5C172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987" y="1455848"/>
            <a:ext cx="7166763" cy="39463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442579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F7B24-7DFB-589A-C484-920716AE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E76AB6-6105-B4B1-4F24-420830F39921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Muti-agent-starter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실습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C205219-59FE-F80F-5BDF-78D04969748C}"/>
              </a:ext>
            </a:extLst>
          </p:cNvPr>
          <p:cNvSpPr/>
          <p:nvPr/>
        </p:nvSpPr>
        <p:spPr>
          <a:xfrm>
            <a:off x="1325880" y="1355597"/>
            <a:ext cx="10242233" cy="261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첫 번째 작업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워커 </a:t>
            </a:r>
            <a:r>
              <a:rPr lang="ko-KR" alt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스모크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테스트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(smoke test)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두 번째 작업 </a:t>
            </a:r>
            <a:r>
              <a:rPr lang="en-US" altLang="ko-KR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– MSA </a:t>
            </a:r>
            <a:r>
              <a:rPr lang="ko-KR" alt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모듈 분석</a:t>
            </a:r>
            <a:endParaRPr lang="en-US" altLang="ko-KR"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세 번째 작업 </a:t>
            </a:r>
            <a:r>
              <a:rPr lang="en-US" altLang="ko-KR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– API </a:t>
            </a:r>
            <a:r>
              <a:rPr lang="ko-KR" altLang="en-US" sz="2800" dirty="0"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구현</a:t>
            </a:r>
            <a:endParaRPr lang="en-US" sz="2800" dirty="0"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21857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1370457"/>
            <a:ext cx="10515600" cy="4611370"/>
          </a:xfrm>
          <a:prstGeom prst="roundRect">
            <a:avLst>
              <a:gd name="adj" fmla="val 1364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535049"/>
            <a:ext cx="109728" cy="109728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70432" y="1535049"/>
            <a:ext cx="109728" cy="109728"/>
          </a:xfrm>
          <a:prstGeom prst="ellipse">
            <a:avLst/>
          </a:prstGeom>
          <a:solidFill>
            <a:srgbClr val="E8A1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5024" y="1535049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54480" y="1471041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구현작업 </a:t>
            </a:r>
            <a:r>
              <a:rPr lang="ko-KR" altLang="en-US" sz="9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요청문</a:t>
            </a:r>
            <a:r>
              <a:rPr lang="ko-KR" alt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en-US" altLang="ko-KR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en-US" sz="9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implement-request)</a:t>
            </a:r>
            <a:endParaRPr lang="en-US" sz="9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1780667"/>
            <a:ext cx="507187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새 작업 만들어줘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목표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]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Backend-Core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모듈의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com/arms/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api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jiraserver_pure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패키지에 조회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API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를 추가한다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기능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"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서버 타입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"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을 파라미터로 받아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해당 타입에 맞는 서버 목록을 조회해 반환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서버 타입 값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온프레미스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 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레드마인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_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온프레미스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클라우드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(3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가지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반드시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jiraserver_pure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패키지의 기존 스펙을 먼저 파악하고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그 관례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컨트롤러 매핑 방식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서비스 구조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엔티티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/DTO/VO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네이밍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조회 쿼리 패턴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응답 포맷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등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을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따라 설계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·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구현할 것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대상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]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target_repo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C:\Users\gudtj\IdeaProjects\arms\Backend-Core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작업 패키지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com/arms/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api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jiraserver_pure</a:t>
            </a:r>
            <a:endParaRPr lang="en-US" altLang="ko-KR" sz="105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워커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]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설계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·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구현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·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문서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리뷰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·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검토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agy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 —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코드 생성 금지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산출물을 인라인해 검토만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파일 순회 금지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(300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초 타임아웃 방지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codex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계열 제외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미인증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).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253209C-EA69-AB46-31D8-05A1FC990A59}"/>
              </a:ext>
            </a:extLst>
          </p:cNvPr>
          <p:cNvSpPr/>
          <p:nvPr/>
        </p:nvSpPr>
        <p:spPr>
          <a:xfrm>
            <a:off x="6181344" y="1780666"/>
            <a:ext cx="5071872" cy="4156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쓰기 방식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—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외부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repo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직접 적용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]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write_scope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 "com/arms/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api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jiraserver_pure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/**" (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이 패키지 범위만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외부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repo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쓰기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4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조건을 충족시켜 진행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: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1. brief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target_repo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절대경로 명시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2. brief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write_scope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명시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3. task.md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workers_approved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 승인 기록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4. log.md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[APPROVAL]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태그로 외부 쓰기 승인 기록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은 직접 쓰기 불가이므로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claude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-main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이 생산한 코드를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오케스트레이터가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target_repo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의 해당 패키지에 적용한다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단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적용 전에 무엇을 어디에 쓸지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파일 목록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·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변경 요약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를 먼저 보여주고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내 승인을 받은 뒤 적용할 것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제약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]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jiraserver_pure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패키지 밖은 건드리지 말 것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기존 코드 스타일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·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관례를 그대로 따를 것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임의 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리팩터링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금지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).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"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서버 타입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"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파라미터가 기존에 이미 정의된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enum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/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상수가 있으면 재사용하고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없으면 기존 네이밍 관례에 맞춰 새로 정의하되 그 근거를 남길 것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altLang="ko-KR" sz="1050" dirty="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  <a:cs typeface="Courier New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[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산출물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]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적용된 파일 목록과 각 변경 요약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설계 결정 요약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(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서버 타입 표현 방식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엔드포인트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형태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,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쿼리 방식 등 근거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)</a:t>
            </a:r>
          </a:p>
          <a:p>
            <a:pPr>
              <a:lnSpc>
                <a:spcPct val="112000"/>
              </a:lnSpc>
            </a:pP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- </a:t>
            </a:r>
            <a:r>
              <a:rPr lang="en-US" altLang="ko-KR" sz="105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리뷰 결과</a:t>
            </a:r>
          </a:p>
          <a:p>
            <a:pPr>
              <a:lnSpc>
                <a:spcPct val="112000"/>
              </a:lnSpc>
            </a:pP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모두 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tasks/&lt;task&gt;/artifacts/</a:t>
            </a:r>
            <a:r>
              <a:rPr lang="ko-KR" altLang="en-US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에 기록</a:t>
            </a:r>
            <a:r>
              <a:rPr lang="en-US" altLang="ko-KR" sz="105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.</a:t>
            </a:r>
            <a:endParaRPr lang="en-US" sz="10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D585EB8-CAB8-7F1C-808C-CDCFB59834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세 번째 작업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— API</a:t>
            </a:r>
            <a:r>
              <a:rPr lang="ko-KR" altLang="en-US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코드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구현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(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생산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=Claude, 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리뷰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=</a:t>
            </a:r>
            <a:r>
              <a:rPr lang="en-US" altLang="ko-KR" dirty="0" err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agy</a:t>
            </a:r>
            <a:r>
              <a:rPr lang="en-US" altLang="ko-KR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endParaRPr lang="ko-KR" altLang="en-US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8DE8E6C0-58F8-B6E7-55D6-E991CE4D82C5}"/>
              </a:ext>
            </a:extLst>
          </p:cNvPr>
          <p:cNvSpPr/>
          <p:nvPr/>
        </p:nvSpPr>
        <p:spPr>
          <a:xfrm>
            <a:off x="822960" y="1024128"/>
            <a:ext cx="11338560" cy="37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간단한 조회 </a:t>
            </a:r>
            <a:r>
              <a:rPr lang="en-US" altLang="ko-KR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구현하기 </a:t>
            </a:r>
            <a:r>
              <a:rPr lang="en-US" altLang="ko-KR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- </a:t>
            </a:r>
            <a:r>
              <a:rPr lang="ko-KR" altLang="en-US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주제 </a:t>
            </a:r>
            <a:r>
              <a:rPr lang="en-US" altLang="ko-KR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: ALM Server </a:t>
            </a:r>
            <a:r>
              <a:rPr lang="ko-KR" altLang="en-US" sz="140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조회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1F044-3428-7CA0-3765-18484AB2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1271A589-8694-1DC0-2636-32FF5F0C2025}"/>
              </a:ext>
            </a:extLst>
          </p:cNvPr>
          <p:cNvSpPr/>
          <p:nvPr/>
        </p:nvSpPr>
        <p:spPr>
          <a:xfrm>
            <a:off x="623888" y="1061884"/>
            <a:ext cx="10829924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6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패키지 구조 변화</a:t>
            </a:r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8DFC53EE-0235-6029-33FC-B391CA9E45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세 번째 작업 </a:t>
            </a:r>
            <a:r>
              <a:rPr lang="en-US" altLang="ko-KR" dirty="0"/>
              <a:t>– API </a:t>
            </a:r>
            <a:r>
              <a:rPr lang="ko-KR" altLang="en-US" dirty="0"/>
              <a:t>구현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5A8DCAD1-A406-687D-B195-9E96CBC5B4F2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E6298D-3E6D-E056-DB5B-FE9F052B1498}"/>
              </a:ext>
            </a:extLst>
          </p:cNvPr>
          <p:cNvSpPr txBox="1"/>
          <p:nvPr/>
        </p:nvSpPr>
        <p:spPr>
          <a:xfrm>
            <a:off x="5830984" y="2534400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프리젠테이션 6 SemiBold" pitchFamily="2" charset="-127"/>
                <a:ea typeface="프리젠테이션 6 SemiBold" pitchFamily="2" charset="-127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0CFA4-61F8-1B60-0F15-2EA35015EA4A}"/>
              </a:ext>
            </a:extLst>
          </p:cNvPr>
          <p:cNvSpPr txBox="1"/>
          <p:nvPr/>
        </p:nvSpPr>
        <p:spPr>
          <a:xfrm>
            <a:off x="8592205" y="2534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프리젠테이션 6 SemiBold" pitchFamily="2" charset="-127"/>
                <a:ea typeface="프리젠테이션 6 SemiBold" pitchFamily="2" charset="-127"/>
              </a:rPr>
              <a:t>→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390FDB-1D07-FD06-270F-71C45DDE4C6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2168" y="1425352"/>
            <a:ext cx="2276794" cy="295413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165B1E-6F17-6B77-D7E0-7CA8BCB6689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507" y="1425353"/>
            <a:ext cx="2276793" cy="295413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F754CE6-DFC2-C5F0-2061-6326216D5C7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80947" y="1425353"/>
            <a:ext cx="2276793" cy="295413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F15A9CC-ED1D-BE8C-7AAE-D8E09C750BF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9727" y="1425353"/>
            <a:ext cx="2276793" cy="295413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0BB1F6-5BAD-C759-B5B6-B8AE11556124}"/>
              </a:ext>
            </a:extLst>
          </p:cNvPr>
          <p:cNvSpPr txBox="1"/>
          <p:nvPr/>
        </p:nvSpPr>
        <p:spPr>
          <a:xfrm>
            <a:off x="3069764" y="2528520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프리젠테이션 6 SemiBold" pitchFamily="2" charset="-127"/>
                <a:ea typeface="프리젠테이션 6 SemiBold" pitchFamily="2" charset="-127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0095352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917C6-6697-7EE6-B091-6BF97D20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F106D71-40F5-BF90-11C7-8DF35A64E166}"/>
              </a:ext>
            </a:extLst>
          </p:cNvPr>
          <p:cNvSpPr/>
          <p:nvPr/>
        </p:nvSpPr>
        <p:spPr>
          <a:xfrm>
            <a:off x="623888" y="1061884"/>
            <a:ext cx="10829924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sz="16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A03E5ABC-788A-95D4-68D2-A62D68C642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세 번째 작업 </a:t>
            </a:r>
            <a:r>
              <a:rPr lang="en-US" altLang="ko-KR" dirty="0"/>
              <a:t>– API </a:t>
            </a:r>
            <a:r>
              <a:rPr lang="ko-KR" altLang="en-US" dirty="0"/>
              <a:t>구현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62C18C2B-4D42-6E59-E8C7-0E919B285F6C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AD530B-274E-7A26-95BD-375471BEF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62" y="1207053"/>
            <a:ext cx="5343138" cy="4847431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CA89BD-4FEA-9EB0-0A47-22B6CB5E5F2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08453" y="1193326"/>
            <a:ext cx="4332906" cy="4847431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14970605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0B7C2-5116-31D8-D39F-86C721A37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69F834D-41AF-28D9-4792-2D6A19DD351D}"/>
              </a:ext>
            </a:extLst>
          </p:cNvPr>
          <p:cNvSpPr/>
          <p:nvPr/>
        </p:nvSpPr>
        <p:spPr>
          <a:xfrm>
            <a:off x="623888" y="1061884"/>
            <a:ext cx="8297443" cy="5110316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내용 개체 틀 31">
            <a:extLst>
              <a:ext uri="{FF2B5EF4-FFF2-40B4-BE49-F238E27FC236}">
                <a16:creationId xmlns:a16="http://schemas.microsoft.com/office/drawing/2014/main" id="{28601A42-0C0D-7DE8-9CA1-BBAB47EB54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세 번째 작업 </a:t>
            </a:r>
            <a:r>
              <a:rPr lang="en-US" altLang="ko-KR" dirty="0"/>
              <a:t>– API </a:t>
            </a:r>
            <a:r>
              <a:rPr lang="ko-KR" altLang="en-US" dirty="0"/>
              <a:t>구현</a:t>
            </a:r>
            <a:endParaRPr lang="en-US" altLang="ko-KR" dirty="0"/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0055B368-385B-5CB6-1CC2-B48728590DBF}"/>
              </a:ext>
            </a:extLst>
          </p:cNvPr>
          <p:cNvSpPr/>
          <p:nvPr/>
        </p:nvSpPr>
        <p:spPr>
          <a:xfrm>
            <a:off x="633183" y="6308725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flavor: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claude (claude-main·codex-main·codex-critic·gemini) / codex / antigravity  ·  생성 직후 validate.py가 불변식 PASS/FAIL 검증 → PASS 확인 후 사용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7E80F00-E94D-84D1-A5A0-4A3CD7A675BF}"/>
              </a:ext>
            </a:extLst>
          </p:cNvPr>
          <p:cNvSpPr/>
          <p:nvPr/>
        </p:nvSpPr>
        <p:spPr>
          <a:xfrm>
            <a:off x="8992125" y="1061883"/>
            <a:ext cx="2575987" cy="5110315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pPr marL="228600" indent="-228600">
              <a:buAutoNum type="circleNumDbPlain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컨트롤러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(JiraServerPureController.java)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서비스 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(JiraServerPure.java)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28600" indent="-228600">
              <a:buAutoNum type="circleNumDbPlain"/>
            </a:pP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구현 </a:t>
            </a:r>
            <a:b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(JiraServerPureImpl.java)</a:t>
            </a:r>
            <a:endParaRPr lang="en-US" altLang="ko-KR" sz="11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291780-6376-FC06-6236-F9B0D54EB764}"/>
              </a:ext>
            </a:extLst>
          </p:cNvPr>
          <p:cNvSpPr/>
          <p:nvPr/>
        </p:nvSpPr>
        <p:spPr>
          <a:xfrm>
            <a:off x="1289050" y="3022600"/>
            <a:ext cx="920750" cy="228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15F85C-7E71-7BE8-ABB1-A51ECE875A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6755" y="1363821"/>
            <a:ext cx="8122513" cy="435117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162F681-D5E7-D521-A9BD-666984DEA148}"/>
              </a:ext>
            </a:extLst>
          </p:cNvPr>
          <p:cNvSpPr/>
          <p:nvPr/>
        </p:nvSpPr>
        <p:spPr>
          <a:xfrm>
            <a:off x="1174750" y="4376579"/>
            <a:ext cx="3581400" cy="11366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6559F1-16E4-68C1-E3A6-44B864B5E1D2}"/>
              </a:ext>
            </a:extLst>
          </p:cNvPr>
          <p:cNvSpPr/>
          <p:nvPr/>
        </p:nvSpPr>
        <p:spPr>
          <a:xfrm>
            <a:off x="5178965" y="2300130"/>
            <a:ext cx="3660303" cy="1802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487601-FC12-C9A9-9C7B-0E75102C643C}"/>
              </a:ext>
            </a:extLst>
          </p:cNvPr>
          <p:cNvSpPr/>
          <p:nvPr/>
        </p:nvSpPr>
        <p:spPr>
          <a:xfrm>
            <a:off x="5225631" y="3687088"/>
            <a:ext cx="3613637" cy="15580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B18C84-2F9B-D672-D2E2-259F6B1957A8}"/>
              </a:ext>
            </a:extLst>
          </p:cNvPr>
          <p:cNvSpPr/>
          <p:nvPr/>
        </p:nvSpPr>
        <p:spPr>
          <a:xfrm>
            <a:off x="1039525" y="424157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65B070E-CC95-BFA6-FA3C-D0C60D481D73}"/>
              </a:ext>
            </a:extLst>
          </p:cNvPr>
          <p:cNvSpPr/>
          <p:nvPr/>
        </p:nvSpPr>
        <p:spPr>
          <a:xfrm>
            <a:off x="5043740" y="2163605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742F5D1-241E-89BE-B479-89314842EDF2}"/>
              </a:ext>
            </a:extLst>
          </p:cNvPr>
          <p:cNvSpPr/>
          <p:nvPr/>
        </p:nvSpPr>
        <p:spPr>
          <a:xfrm>
            <a:off x="5090406" y="3552088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67800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6232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MAT — 진행 모니터 (선택)</a:t>
            </a:r>
            <a:endParaRPr lang="en-US" sz="28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읽기 전용 TUI. 켜두거나 꺼도 작업에 영향 없음. Go 100% → Windows는 소스 빌드.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Windows — 소스 빌드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winget install GoLang.Go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# 새 터미널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git clone https://github.com/netwaif/mat.git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cd mat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go build -o mat.exe .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12243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macOS — brew / 실행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brew install netwaif/tap/mat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# 실행 (스타터 폴더 가리킴)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MAT_ROOT=&lt;스타터&gt; mat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285F4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# Win: $env:MAT_ROOT=...; .\mat.exe
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키: r 새로고침 · t 전환 · L 로그 · q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51560" y="4343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안 되면 대안</a:t>
            </a:r>
            <a:r>
              <a:rPr lang="en-US" sz="115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: </a:t>
            </a: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MAT는 개인도구라 Windows 경로 미검증 가능. IntelliJ에서 tasks/&lt;작업&gt;/log.md·result.md 열어두기, 또는 PowerShell  Get-Content log.md -Wait -Tail 20  (macOS는 tail -f).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요청문 안티패턴</a:t>
            </a:r>
            <a:endParaRPr lang="en-US" sz="28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2C6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이렇게 쓰면 되묻거나 실패한다.</a:t>
            </a:r>
            <a:endParaRPr lang="en-US" sz="13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B314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" y="192938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"API 하나 만들어줘"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4924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</a:rPr>
              <a:t>목표·경로·워커 전부 불명 → 되물음 폭탄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67700" y="1856232"/>
            <a:ext cx="2887980" cy="548640"/>
          </a:xfrm>
          <a:prstGeom prst="roundRect">
            <a:avLst>
              <a:gd name="adj" fmla="val 10000"/>
            </a:avLst>
          </a:prstGeom>
          <a:solidFill>
            <a:srgbClr val="0F1E2E"/>
          </a:solidFill>
          <a:ln/>
        </p:spPr>
        <p:txBody>
          <a:bodyPr/>
          <a:lstStyle/>
          <a:p>
            <a:endParaRPr lang="ko-KR" altLang="en-US" sz="14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8366760" y="1856232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</a:t>
            </a:r>
            <a:r>
              <a:rPr lang="ko-KR" altLang="en-US" sz="14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세　번째　작업</a:t>
            </a:r>
            <a:r>
              <a:rPr lang="en-US" sz="1400" dirty="0" err="1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처럼</a:t>
            </a:r>
            <a:r>
              <a:rPr lang="en-US" sz="14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2A594"/>
                </a:solidFill>
                <a:latin typeface="프리젠테이션 6 SemiBold" pitchFamily="2" charset="-127"/>
                <a:ea typeface="프리젠테이션 6 SemiBold" pitchFamily="2" charset="-127"/>
                <a:cs typeface="Calibri" pitchFamily="34" charset="-120"/>
              </a:rPr>
              <a:t>목표·경로·스코프</a:t>
            </a:r>
            <a:r>
              <a:rPr lang="en-US" sz="14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명시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2770632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B314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" y="30998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077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"agy로 이 프로젝트 리뷰해줘"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49240" y="29077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</a:rPr>
              <a:t>agy 파일순회 → 300s 타임아웃(exit 124)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67700" y="3026664"/>
            <a:ext cx="2887980" cy="548640"/>
          </a:xfrm>
          <a:prstGeom prst="roundRect">
            <a:avLst>
              <a:gd name="adj" fmla="val 10000"/>
            </a:avLst>
          </a:prstGeom>
          <a:solidFill>
            <a:srgbClr val="0F1E2E"/>
          </a:solidFill>
          <a:ln/>
        </p:spPr>
        <p:txBody>
          <a:bodyPr/>
          <a:lstStyle/>
          <a:p>
            <a:endParaRPr lang="ko-KR" altLang="en-US" sz="14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366760" y="302666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산출물을 인라인해 agy가 검토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2960" y="3941064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B314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" y="42702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782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"코드 짜서 바로 적용해"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349240" y="407822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</a:rPr>
              <a:t>4조건 미충족·claude-main 직접쓰기 불가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8267700" y="4197096"/>
            <a:ext cx="2887980" cy="548640"/>
          </a:xfrm>
          <a:prstGeom prst="roundRect">
            <a:avLst>
              <a:gd name="adj" fmla="val 10000"/>
            </a:avLst>
          </a:prstGeom>
          <a:solidFill>
            <a:srgbClr val="0F1E2E"/>
          </a:solidFill>
          <a:ln/>
        </p:spPr>
        <p:txBody>
          <a:bodyPr/>
          <a:lstStyle/>
          <a:p>
            <a:endParaRPr lang="ko-KR" altLang="en-US" sz="14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66760" y="4197096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diff-first, patch 산출 후 내가 적용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22960" y="5111496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B314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" y="54406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524865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"모든 워커로 완벽하게"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349240" y="52486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A13A"/>
                </a:solidFill>
                <a:latin typeface="프리젠테이션 5 Medium" pitchFamily="2" charset="-127"/>
                <a:ea typeface="프리젠테이션 5 Medium" pitchFamily="2" charset="-127"/>
              </a:rPr>
              <a:t>최소 워커셋 위반, 쿼터 낭비</a:t>
            </a:r>
            <a:endParaRPr 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267700" y="5367528"/>
            <a:ext cx="2887980" cy="548640"/>
          </a:xfrm>
          <a:prstGeom prst="roundRect">
            <a:avLst>
              <a:gd name="adj" fmla="val 10000"/>
            </a:avLst>
          </a:prstGeom>
          <a:solidFill>
            <a:srgbClr val="0F1E2E"/>
          </a:solidFill>
          <a:ln/>
        </p:spPr>
        <p:txBody>
          <a:bodyPr/>
          <a:lstStyle/>
          <a:p>
            <a:endParaRPr lang="ko-KR" altLang="en-US" sz="14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366760" y="5367528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12A59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작업 성격에 맞는 워커만 지정</a:t>
            </a:r>
            <a:endParaRPr 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트러블슈팅 표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실패 시 대부분 call_worker: … 메시지로 원인 도구를 가리키며 멈춘다.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291840" cy="411480"/>
          </a:xfrm>
          <a:prstGeom prst="rect">
            <a:avLst/>
          </a:prstGeom>
          <a:solidFill>
            <a:srgbClr val="1623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114800" y="1554480"/>
            <a:ext cx="2743200" cy="41148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0" y="1554480"/>
            <a:ext cx="4480560" cy="411480"/>
          </a:xfrm>
          <a:prstGeom prst="rect">
            <a:avLst/>
          </a:prstGeom>
          <a:solidFill>
            <a:srgbClr val="1B31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증상</a:t>
            </a:r>
            <a:endParaRPr lang="en-US" sz="11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0624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원인</a:t>
            </a:r>
            <a:endParaRPr lang="en-US" sz="11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49440" y="1554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프리젠테이션 6 SemiBold" pitchFamily="2" charset="-127"/>
                <a:ea typeface="프리젠테이션 6 SemiBold" pitchFamily="2" charset="-127"/>
              </a:rPr>
              <a:t>해결</a:t>
            </a:r>
            <a:endParaRPr lang="en-US" sz="11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19659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96596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npm.ps1 UnauthorizedAccess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0624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PowerShell 실행 정책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4944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Set-ExecutionPolicy CurrentUser RemoteSigned / npm.cmd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2514600"/>
            <a:ext cx="329184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114800" y="2514600"/>
            <a:ext cx="274320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58000" y="2514600"/>
            <a:ext cx="448056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'agy'/'jq'/'go' 인식 안 됨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0624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PATH 미반영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2514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IntelliJ 완전 재시작 / 재로그인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306324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114800" y="30632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58000" y="306324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1440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@google/antigravity-cli 404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0624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agy는 npm 아님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9440" y="3063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공식 install.ps1 스크립트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2960" y="3611880"/>
            <a:ext cx="329184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114800" y="3611880"/>
            <a:ext cx="274320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858000" y="3611880"/>
            <a:ext cx="448056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1440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line 49 invalid variable name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0624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Windows jq CRLF 출력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4944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call_worker.sh에 ${var%$'\r'} (최신본 반영)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" y="416052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114800" y="41605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858000" y="416052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1440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gemini 300s 타임아웃(124)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0624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agy에 파일순회 시킴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4944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대상 인라인 + '파일 열지마' 명시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" y="4709160"/>
            <a:ext cx="329184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114800" y="4709160"/>
            <a:ext cx="274320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858000" y="4709160"/>
            <a:ext cx="448056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1440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codex 워커는 git 필요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20624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codex CLI 폴백 git 요구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49440" y="4709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git init / MULTIAGENT_CODEX_SKIP_GIT=1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2960" y="5257800"/>
            <a:ext cx="3291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114800" y="525780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858000" y="525780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1440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patch에 1개 파일만 보임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206240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IDE diff 표시 함정</a:t>
            </a:r>
            <a:endParaRPr lang="en-US" sz="9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949440" y="5257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3149"/>
                </a:solidFill>
                <a:latin typeface="프리젠테이션 5 Medium" pitchFamily="2" charset="-127"/>
                <a:ea typeface="프리젠테이션 5 Medium" pitchFamily="2" charset="-127"/>
                <a:cs typeface="Courier New" pitchFamily="34" charset="-120"/>
              </a:rPr>
              <a:t>git apply --stat으로 raw 교차 확인</a:t>
            </a:r>
            <a:endParaRPr lang="en-US" sz="9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한계 &amp; 운영 주의</a:t>
            </a:r>
            <a:endParaRPr lang="en-US" sz="28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멀티에이전트는 초안·스캐폴딩을 빠르게 만들지만 완성품은 아니다.</a:t>
            </a:r>
            <a:endParaRPr lang="en-US" sz="13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502920" cy="502920"/>
          </a:xfrm>
          <a:prstGeom prst="ellipse">
            <a:avLst/>
          </a:prstGeom>
          <a:noFill/>
          <a:ln w="28575">
            <a:solidFill>
              <a:srgbClr val="4285F4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6152" y="2130552"/>
            <a:ext cx="265176" cy="26517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Text 4"/>
          <p:cNvSpPr/>
          <p:nvPr/>
        </p:nvSpPr>
        <p:spPr>
          <a:xfrm>
            <a:off x="17830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IDE diff 표시 함정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15568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patch에 파일 다 있어도 IDE 미리보기엔 일부만 보일 수 있음. git apply --stat / raw로 교차 확인.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5392" y="21305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무료 agy 리뷰 깊이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64808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Flash 기본은 문법·구조엔 충분, 아키텍처 리뷰는 얕음. /model 상향 시 쿼터 소모.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960" y="36118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097280" y="3886200"/>
            <a:ext cx="502920" cy="502920"/>
          </a:xfrm>
          <a:prstGeom prst="ellipse">
            <a:avLst/>
          </a:prstGeom>
          <a:noFill/>
          <a:ln w="19050">
            <a:solidFill>
              <a:srgbClr val="E8A13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178308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Windows gemini 미검증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115568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README상 실험적. POSIX/WSL이 정식 경로에 가까움.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72200" y="361188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446520" y="3886200"/>
            <a:ext cx="502920" cy="502920"/>
          </a:xfrm>
          <a:prstGeom prst="ellipse">
            <a:avLst/>
          </a:prstGeom>
          <a:noFill/>
          <a:ln w="19050">
            <a:solidFill>
              <a:srgbClr val="E8A13A"/>
            </a:solidFill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5392" y="400507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886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회사 코드 외부 반출</a:t>
            </a:r>
            <a:endParaRPr lang="en-US" sz="15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464808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agy 리뷰에 소스가 인라인돼 Google로 나감. 사내 정책 확인 필수.</a:t>
            </a:r>
            <a:endParaRPr lang="en-US" sz="115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운영 원칙(CLAUDE.md): 가정 명시 · 단순함 우선 · 외과수술식 변경 · 목표 기반 검증. 워커는 one-shot이라 불확실은 result.md Issues/Caveats에 표면화.</a:t>
            </a:r>
            <a:endParaRPr lang="en-US" sz="11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6152" y="4005072"/>
            <a:ext cx="26517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D7FEE-BD2C-304E-A91A-91604D1FB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141;p70">
            <a:extLst>
              <a:ext uri="{FF2B5EF4-FFF2-40B4-BE49-F238E27FC236}">
                <a16:creationId xmlns:a16="http://schemas.microsoft.com/office/drawing/2014/main" id="{8F8D1E57-8ED8-0F28-D5FC-FCD26986C4D3}"/>
              </a:ext>
            </a:extLst>
          </p:cNvPr>
          <p:cNvSpPr/>
          <p:nvPr/>
        </p:nvSpPr>
        <p:spPr>
          <a:xfrm>
            <a:off x="64008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Codex 설치·인증 및 멀티에이전트 활용 핸드북</a:t>
            </a:r>
            <a:endParaRPr sz="2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31" name="Google Shape;1142;p70">
            <a:extLst>
              <a:ext uri="{FF2B5EF4-FFF2-40B4-BE49-F238E27FC236}">
                <a16:creationId xmlns:a16="http://schemas.microsoft.com/office/drawing/2014/main" id="{C8670B1E-97A5-9FA5-8AF2-78FC6A62A559}"/>
              </a:ext>
            </a:extLst>
          </p:cNvPr>
          <p:cNvSpPr/>
          <p:nvPr/>
        </p:nvSpPr>
        <p:spPr>
          <a:xfrm>
            <a:off x="1325875" y="1355603"/>
            <a:ext cx="10242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arabicPeriod"/>
            </a:pPr>
            <a:r>
              <a:rPr lang="en-US" sz="28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이 장의 목적</a:t>
            </a:r>
            <a:endParaRPr sz="2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Codex 설치·인증</a:t>
            </a:r>
            <a:endParaRPr sz="280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Codex 활용 실습 — detail_dashboard 정렬 검증</a:t>
            </a:r>
            <a:endParaRPr sz="320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3335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71"/>
          <p:cNvSpPr/>
          <p:nvPr/>
        </p:nvSpPr>
        <p:spPr>
          <a:xfrm>
            <a:off x="685800" y="5029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이 장의 </a:t>
            </a:r>
            <a:r>
              <a:rPr lang="en-US" sz="3000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목적</a:t>
            </a:r>
            <a:endParaRPr sz="30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49" name="Google Shape;1149;p71"/>
          <p:cNvSpPr/>
          <p:nvPr/>
        </p:nvSpPr>
        <p:spPr>
          <a:xfrm>
            <a:off x="685800" y="1170432"/>
            <a:ext cx="795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758B"/>
              </a:buClr>
              <a:buSzPts val="1450"/>
              <a:buFont typeface="Noto Sans"/>
              <a:buNone/>
            </a:pPr>
            <a:r>
              <a:rPr lang="en-US" sz="1450" b="0" i="0" u="none" strike="noStrike" cap="none">
                <a:solidFill>
                  <a:srgbClr val="66758B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Codex를 처음 사용하는 사람을 위한 설치·인증·검증 흐름</a:t>
            </a:r>
            <a:endParaRPr sz="14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50" name="Google Shape;1150;p71"/>
          <p:cNvSpPr/>
          <p:nvPr/>
        </p:nvSpPr>
        <p:spPr>
          <a:xfrm>
            <a:off x="864147" y="1654853"/>
            <a:ext cx="10652700" cy="1024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50800" dir="2700000" algn="bl" rotWithShape="0">
              <a:srgbClr val="9EABB8">
                <a:alpha val="180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51" name="Google Shape;1151;p71"/>
          <p:cNvSpPr/>
          <p:nvPr/>
        </p:nvSpPr>
        <p:spPr>
          <a:xfrm>
            <a:off x="1074467" y="1883528"/>
            <a:ext cx="530400" cy="530400"/>
          </a:xfrm>
          <a:prstGeom prst="ellipse">
            <a:avLst/>
          </a:prstGeom>
          <a:solidFill>
            <a:srgbClr val="E97854"/>
          </a:solidFill>
          <a:ln w="12700" cap="flat" cmpd="sng">
            <a:solidFill>
              <a:srgbClr val="E978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52" name="Google Shape;1152;p71"/>
          <p:cNvSpPr/>
          <p:nvPr/>
        </p:nvSpPr>
        <p:spPr>
          <a:xfrm>
            <a:off x="1847088" y="1920240"/>
            <a:ext cx="8915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750"/>
              <a:buFont typeface="Noto Sans"/>
              <a:buNone/>
            </a:pPr>
            <a:r>
              <a:rPr lang="en-US" sz="17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앞선 멀티에이전트 실습에서는 Codex 인증을 건너뛰고 claude-main과 gemini(agy)를 중심으로 작업했다.</a:t>
            </a:r>
            <a:endParaRPr sz="17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53" name="Google Shape;1153;p71"/>
          <p:cNvSpPr/>
          <p:nvPr/>
        </p:nvSpPr>
        <p:spPr>
          <a:xfrm>
            <a:off x="1847088" y="2267712"/>
            <a:ext cx="8686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758B"/>
              </a:buClr>
              <a:buSzPts val="1450"/>
              <a:buFont typeface="Noto Sans"/>
              <a:buNone/>
            </a:pPr>
            <a:r>
              <a:rPr lang="en-US" sz="1450" b="0" i="0" u="none" strike="noStrike" cap="none">
                <a:solidFill>
                  <a:srgbClr val="66758B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이번 장에서는 Codex 신규 사용자를 기준으로 설치부터 기존 코드 검증까지의 전체 흐름을 다룬다.</a:t>
            </a:r>
            <a:endParaRPr sz="14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54" name="Google Shape;1154;p71"/>
          <p:cNvSpPr/>
          <p:nvPr/>
        </p:nvSpPr>
        <p:spPr>
          <a:xfrm>
            <a:off x="896112" y="3127248"/>
            <a:ext cx="2743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750"/>
              <a:buFont typeface="Noto Sans"/>
              <a:buNone/>
            </a:pPr>
            <a:r>
              <a:rPr lang="en-US" sz="17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이번 장에서 다룰 과정</a:t>
            </a:r>
            <a:endParaRPr sz="17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55" name="Google Shape;1155;p71"/>
          <p:cNvSpPr/>
          <p:nvPr/>
        </p:nvSpPr>
        <p:spPr>
          <a:xfrm>
            <a:off x="896112" y="3493008"/>
            <a:ext cx="5139000" cy="5028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25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9EABB8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56" name="Google Shape;1156;p71"/>
          <p:cNvSpPr/>
          <p:nvPr/>
        </p:nvSpPr>
        <p:spPr>
          <a:xfrm>
            <a:off x="1060704" y="3589020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2700" cap="flat" cmpd="sng">
            <a:solidFill>
              <a:srgbClr val="EAF2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57" name="Google Shape;1157;p71"/>
          <p:cNvSpPr/>
          <p:nvPr/>
        </p:nvSpPr>
        <p:spPr>
          <a:xfrm>
            <a:off x="1060704" y="3657600"/>
            <a:ext cx="5028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83F8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3F83F8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01</a:t>
            </a:r>
            <a:endParaRPr sz="9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58" name="Google Shape;1158;p71"/>
          <p:cNvSpPr/>
          <p:nvPr/>
        </p:nvSpPr>
        <p:spPr>
          <a:xfrm>
            <a:off x="1719072" y="3643884"/>
            <a:ext cx="41331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Codex CLI 설치</a:t>
            </a:r>
            <a:endParaRPr sz="13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59" name="Google Shape;1159;p71"/>
          <p:cNvSpPr/>
          <p:nvPr/>
        </p:nvSpPr>
        <p:spPr>
          <a:xfrm>
            <a:off x="6382512" y="3493008"/>
            <a:ext cx="5139000" cy="5028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25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9EABB8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60" name="Google Shape;1160;p71"/>
          <p:cNvSpPr/>
          <p:nvPr/>
        </p:nvSpPr>
        <p:spPr>
          <a:xfrm>
            <a:off x="6547104" y="3589020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FFF0E9"/>
          </a:solidFill>
          <a:ln w="12700" cap="flat" cmpd="sng">
            <a:solidFill>
              <a:srgbClr val="FFF0E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61" name="Google Shape;1161;p71"/>
          <p:cNvSpPr/>
          <p:nvPr/>
        </p:nvSpPr>
        <p:spPr>
          <a:xfrm>
            <a:off x="6547104" y="3657600"/>
            <a:ext cx="5028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7854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E97854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02</a:t>
            </a:r>
            <a:endParaRPr sz="9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62" name="Google Shape;1162;p71"/>
          <p:cNvSpPr/>
          <p:nvPr/>
        </p:nvSpPr>
        <p:spPr>
          <a:xfrm>
            <a:off x="7205472" y="3643884"/>
            <a:ext cx="41331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Codex 로그인 및 인증</a:t>
            </a:r>
            <a:endParaRPr sz="13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63" name="Google Shape;1163;p71"/>
          <p:cNvSpPr/>
          <p:nvPr/>
        </p:nvSpPr>
        <p:spPr>
          <a:xfrm>
            <a:off x="896112" y="4151376"/>
            <a:ext cx="5139000" cy="5028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25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9EABB8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64" name="Google Shape;1164;p71"/>
          <p:cNvSpPr/>
          <p:nvPr/>
        </p:nvSpPr>
        <p:spPr>
          <a:xfrm>
            <a:off x="1060704" y="4247388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E9FBF8"/>
          </a:solidFill>
          <a:ln w="12700" cap="flat" cmpd="sng">
            <a:solidFill>
              <a:srgbClr val="E9FBF8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65" name="Google Shape;1165;p71"/>
          <p:cNvSpPr/>
          <p:nvPr/>
        </p:nvSpPr>
        <p:spPr>
          <a:xfrm>
            <a:off x="1060704" y="4315968"/>
            <a:ext cx="5028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B5A5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13B5A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03</a:t>
            </a:r>
            <a:endParaRPr sz="9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66" name="Google Shape;1166;p71"/>
          <p:cNvSpPr/>
          <p:nvPr/>
        </p:nvSpPr>
        <p:spPr>
          <a:xfrm>
            <a:off x="1719072" y="4302252"/>
            <a:ext cx="41331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인증 상태 확인</a:t>
            </a:r>
            <a:endParaRPr sz="13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67" name="Google Shape;1167;p71"/>
          <p:cNvSpPr/>
          <p:nvPr/>
        </p:nvSpPr>
        <p:spPr>
          <a:xfrm>
            <a:off x="6547104" y="4247388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2700" cap="flat" cmpd="sng">
            <a:solidFill>
              <a:srgbClr val="EAF2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68" name="Google Shape;1168;p71"/>
          <p:cNvSpPr/>
          <p:nvPr/>
        </p:nvSpPr>
        <p:spPr>
          <a:xfrm>
            <a:off x="6382512" y="4151369"/>
            <a:ext cx="5139000" cy="5028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25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9EABB8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69" name="Google Shape;1169;p71"/>
          <p:cNvSpPr/>
          <p:nvPr/>
        </p:nvSpPr>
        <p:spPr>
          <a:xfrm>
            <a:off x="6547104" y="4247381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FFF0E9"/>
          </a:solidFill>
          <a:ln w="12700" cap="flat" cmpd="sng">
            <a:solidFill>
              <a:srgbClr val="FFF0E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0" name="Google Shape;1170;p71"/>
          <p:cNvSpPr/>
          <p:nvPr/>
        </p:nvSpPr>
        <p:spPr>
          <a:xfrm>
            <a:off x="6547104" y="4315961"/>
            <a:ext cx="5028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7854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E97854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0</a:t>
            </a:r>
            <a:r>
              <a:rPr lang="en-US" sz="950" b="1">
                <a:solidFill>
                  <a:srgbClr val="E97854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4</a:t>
            </a:r>
            <a:endParaRPr sz="9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71" name="Google Shape;1171;p71"/>
          <p:cNvSpPr/>
          <p:nvPr/>
        </p:nvSpPr>
        <p:spPr>
          <a:xfrm>
            <a:off x="7205472" y="4302245"/>
            <a:ext cx="41331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Claude Code와 Codex 연결</a:t>
            </a:r>
            <a:endParaRPr sz="13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72" name="Google Shape;1172;p71"/>
          <p:cNvSpPr/>
          <p:nvPr/>
        </p:nvSpPr>
        <p:spPr>
          <a:xfrm>
            <a:off x="896112" y="4857744"/>
            <a:ext cx="5139000" cy="5028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25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9EABB8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5" name="Google Shape;1175;p71"/>
          <p:cNvSpPr/>
          <p:nvPr/>
        </p:nvSpPr>
        <p:spPr>
          <a:xfrm>
            <a:off x="1719072" y="5008620"/>
            <a:ext cx="41331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멀티에이전트 시스템의 Codex 워커 확인</a:t>
            </a:r>
            <a:endParaRPr sz="13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76" name="Google Shape;1176;p71"/>
          <p:cNvSpPr/>
          <p:nvPr/>
        </p:nvSpPr>
        <p:spPr>
          <a:xfrm>
            <a:off x="1088267" y="4956120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2700" cap="flat" cmpd="sng">
            <a:solidFill>
              <a:srgbClr val="EAF2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Google Shape;1180;p71"/>
          <p:cNvSpPr/>
          <p:nvPr/>
        </p:nvSpPr>
        <p:spPr>
          <a:xfrm>
            <a:off x="822960" y="6327648"/>
            <a:ext cx="10625400" cy="237600"/>
          </a:xfrm>
          <a:prstGeom prst="roundRect">
            <a:avLst>
              <a:gd name="adj" fmla="val 19231"/>
            </a:avLst>
          </a:prstGeom>
          <a:solidFill>
            <a:srgbClr val="182838"/>
          </a:solidFill>
          <a:ln w="12700" cap="flat" cmpd="sng">
            <a:solidFill>
              <a:srgbClr val="182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1" name="Google Shape;1181;p71"/>
          <p:cNvSpPr/>
          <p:nvPr/>
        </p:nvSpPr>
        <p:spPr>
          <a:xfrm>
            <a:off x="1051560" y="6382512"/>
            <a:ext cx="10149900" cy="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2EC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D8E2EC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핵심: Codex를 구현 워커(codex-main)와 검증 워커(codex-critic)로 구분해 안전하게 활용한다.</a:t>
            </a:r>
            <a:endParaRPr sz="9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pic>
        <p:nvPicPr>
          <p:cNvPr id="1182" name="Google Shape;1182;p71" descr="preencoded.png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2515" y="20435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71"/>
          <p:cNvSpPr/>
          <p:nvPr/>
        </p:nvSpPr>
        <p:spPr>
          <a:xfrm>
            <a:off x="1046900" y="4990351"/>
            <a:ext cx="530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B5A5"/>
              </a:buClr>
              <a:buSzPts val="950"/>
              <a:buFont typeface="Noto Sans"/>
              <a:buNone/>
            </a:pPr>
            <a:r>
              <a:rPr lang="en-US" sz="950" b="1" i="0" u="none" strike="noStrike" cap="none" dirty="0">
                <a:solidFill>
                  <a:srgbClr val="13B5A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0</a:t>
            </a:r>
            <a:r>
              <a:rPr lang="en-US" sz="950" b="1" dirty="0">
                <a:solidFill>
                  <a:srgbClr val="13B5A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5</a:t>
            </a:r>
            <a:endParaRPr sz="950" b="0" i="0" u="none" strike="noStrike" cap="none" dirty="0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3" name="Google Shape;1172;p71">
            <a:extLst>
              <a:ext uri="{FF2B5EF4-FFF2-40B4-BE49-F238E27FC236}">
                <a16:creationId xmlns:a16="http://schemas.microsoft.com/office/drawing/2014/main" id="{E96775FB-67A8-BE9C-1976-9D7D8D265351}"/>
              </a:ext>
            </a:extLst>
          </p:cNvPr>
          <p:cNvSpPr/>
          <p:nvPr/>
        </p:nvSpPr>
        <p:spPr>
          <a:xfrm>
            <a:off x="6377847" y="4853220"/>
            <a:ext cx="5139000" cy="5028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25" cap="flat" cmpd="sng">
            <a:solidFill>
              <a:srgbClr val="D6DE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9EABB8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Google Shape;1177;p71"/>
          <p:cNvSpPr/>
          <p:nvPr/>
        </p:nvSpPr>
        <p:spPr>
          <a:xfrm>
            <a:off x="6547104" y="4958362"/>
            <a:ext cx="502800" cy="310800"/>
          </a:xfrm>
          <a:prstGeom prst="roundRect">
            <a:avLst>
              <a:gd name="adj" fmla="val 14706"/>
            </a:avLst>
          </a:prstGeom>
          <a:solidFill>
            <a:srgbClr val="FFF0E9"/>
          </a:solidFill>
          <a:ln w="12700" cap="flat" cmpd="sng">
            <a:solidFill>
              <a:srgbClr val="FFF0E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Google Shape;1178;p71"/>
          <p:cNvSpPr/>
          <p:nvPr/>
        </p:nvSpPr>
        <p:spPr>
          <a:xfrm>
            <a:off x="6598099" y="5003934"/>
            <a:ext cx="400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7854"/>
              </a:buClr>
              <a:buSzPts val="950"/>
              <a:buFont typeface="Noto Sans"/>
              <a:buNone/>
            </a:pPr>
            <a:r>
              <a:rPr lang="en-US" sz="950" b="1" i="0" u="none" strike="noStrike" cap="none" dirty="0">
                <a:solidFill>
                  <a:srgbClr val="E97854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0</a:t>
            </a:r>
            <a:r>
              <a:rPr lang="en-US" sz="950" b="1" dirty="0">
                <a:solidFill>
                  <a:srgbClr val="E97854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6</a:t>
            </a:r>
            <a:endParaRPr sz="950" b="0" i="0" u="none" strike="noStrike" cap="none" dirty="0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  <p:sp>
        <p:nvSpPr>
          <p:cNvPr id="1179" name="Google Shape;1179;p71"/>
          <p:cNvSpPr/>
          <p:nvPr/>
        </p:nvSpPr>
        <p:spPr>
          <a:xfrm>
            <a:off x="7205472" y="5013226"/>
            <a:ext cx="41331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435"/>
              </a:buClr>
              <a:buSzPts val="1350"/>
              <a:buFont typeface="Noto Sans"/>
              <a:buNone/>
            </a:pPr>
            <a:r>
              <a:rPr lang="en-US" sz="1350" b="1" i="0" u="none" strike="noStrike" cap="none" dirty="0" err="1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Codex를</a:t>
            </a:r>
            <a:r>
              <a:rPr lang="en-US" sz="1350" b="1" i="0" u="none" strike="noStrike" cap="none" dirty="0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 </a:t>
            </a:r>
            <a:r>
              <a:rPr lang="en-US" sz="1350" b="1" i="0" u="none" strike="noStrike" cap="none" dirty="0" err="1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이용한</a:t>
            </a:r>
            <a:r>
              <a:rPr lang="en-US" sz="1350" b="1" i="0" u="none" strike="noStrike" cap="none" dirty="0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 </a:t>
            </a:r>
            <a:r>
              <a:rPr lang="en-US" sz="1350" b="1" i="0" u="none" strike="noStrike" cap="none" dirty="0" err="1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기존</a:t>
            </a:r>
            <a:r>
              <a:rPr lang="en-US" sz="1350" b="1" i="0" u="none" strike="noStrike" cap="none" dirty="0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 </a:t>
            </a:r>
            <a:r>
              <a:rPr lang="en-US" sz="1350" b="1" i="0" u="none" strike="noStrike" cap="none" dirty="0" err="1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코드</a:t>
            </a:r>
            <a:r>
              <a:rPr lang="en-US" sz="1350" b="1" i="0" u="none" strike="noStrike" cap="none" dirty="0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 </a:t>
            </a:r>
            <a:r>
              <a:rPr lang="en-US" sz="1350" b="1" i="0" u="none" strike="noStrike" cap="none" dirty="0" err="1">
                <a:solidFill>
                  <a:srgbClr val="132435"/>
                </a:solidFill>
                <a:latin typeface="프리젠테이션 5 Medium" pitchFamily="2" charset="-127"/>
                <a:ea typeface="프리젠테이션 5 Medium" pitchFamily="2" charset="-127"/>
                <a:cs typeface="Noto Sans"/>
                <a:sym typeface="Noto Sans"/>
              </a:rPr>
              <a:t>검증</a:t>
            </a:r>
            <a:endParaRPr sz="1350" b="0" i="0" u="none" strike="noStrike" cap="none" dirty="0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326FA-CE99-B30E-9E81-3210D7D4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88;p72">
            <a:extLst>
              <a:ext uri="{FF2B5EF4-FFF2-40B4-BE49-F238E27FC236}">
                <a16:creationId xmlns:a16="http://schemas.microsoft.com/office/drawing/2014/main" id="{A093EBB5-2F4E-6F0D-3E70-99F51D666B49}"/>
              </a:ext>
            </a:extLst>
          </p:cNvPr>
          <p:cNvSpPr/>
          <p:nvPr/>
        </p:nvSpPr>
        <p:spPr>
          <a:xfrm>
            <a:off x="64008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Codex </a:t>
            </a: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및 </a:t>
            </a: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멀티에이전트</a:t>
            </a: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활용</a:t>
            </a: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핸드북</a:t>
            </a:r>
            <a:endParaRPr sz="28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5" name="Google Shape;1189;p72">
            <a:extLst>
              <a:ext uri="{FF2B5EF4-FFF2-40B4-BE49-F238E27FC236}">
                <a16:creationId xmlns:a16="http://schemas.microsoft.com/office/drawing/2014/main" id="{E67FAAC8-31C9-4EF0-0640-7AF481D2C3CE}"/>
              </a:ext>
            </a:extLst>
          </p:cNvPr>
          <p:cNvSpPr/>
          <p:nvPr/>
        </p:nvSpPr>
        <p:spPr>
          <a:xfrm>
            <a:off x="1325875" y="1355603"/>
            <a:ext cx="10242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Calibri"/>
              <a:buAutoNum type="arabicPeriod"/>
            </a:pP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이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장의</a:t>
            </a: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목적</a:t>
            </a:r>
            <a:endParaRPr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arabicPeriod"/>
            </a:pPr>
            <a:r>
              <a:rPr lang="en-US" sz="2800" dirty="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Codex </a:t>
            </a:r>
            <a:r>
              <a:rPr lang="en-US" sz="2800" dirty="0" err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endParaRPr sz="2800" dirty="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Codex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활용</a:t>
            </a: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실습</a:t>
            </a: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detail_dashboard</a:t>
            </a: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정렬</a:t>
            </a: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endParaRPr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2122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73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196" name="Google Shape;1196;p73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프리젠테이션 5 Medium" pitchFamily="2" charset="-127"/>
                <a:ea typeface="프리젠테이션 5 Medium" pitchFamily="2" charset="-127"/>
              </a:rPr>
              <a:t>Codex </a:t>
            </a:r>
            <a:r>
              <a:rPr lang="en-US" dirty="0" err="1"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r>
              <a:rPr lang="en-US" dirty="0">
                <a:latin typeface="프리젠테이션 5 Medium" pitchFamily="2" charset="-127"/>
                <a:ea typeface="프리젠테이션 5 Medium" pitchFamily="2" charset="-127"/>
              </a:rPr>
              <a:t> –①</a:t>
            </a:r>
            <a:r>
              <a:rPr lang="en-US" dirty="0" err="1">
                <a:latin typeface="프리젠테이션 5 Medium" pitchFamily="2" charset="-127"/>
                <a:ea typeface="프리젠테이션 5 Medium" pitchFamily="2" charset="-127"/>
              </a:rPr>
              <a:t>Node.js와</a:t>
            </a:r>
            <a:r>
              <a:rPr lang="en-US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dirty="0" err="1">
                <a:latin typeface="프리젠테이션 5 Medium" pitchFamily="2" charset="-127"/>
                <a:ea typeface="프리젠테이션 5 Medium" pitchFamily="2" charset="-127"/>
              </a:rPr>
              <a:t>npm</a:t>
            </a:r>
            <a:r>
              <a:rPr lang="en-US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dirty="0" err="1">
                <a:latin typeface="프리젠테이션 5 Medium" pitchFamily="2" charset="-127"/>
                <a:ea typeface="프리젠테이션 5 Medium" pitchFamily="2" charset="-127"/>
              </a:rPr>
              <a:t>설치</a:t>
            </a:r>
            <a:r>
              <a:rPr lang="en-US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dirty="0" err="1">
                <a:latin typeface="프리젠테이션 5 Medium" pitchFamily="2" charset="-127"/>
                <a:ea typeface="프리젠테이션 5 Medium" pitchFamily="2" charset="-127"/>
              </a:rPr>
              <a:t>확인</a:t>
            </a:r>
            <a:endParaRPr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97" name="Google Shape;1197;p73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claude (claude-main·codex-main·codex-critic·gemini) / codex / antigravity  ·  생성 직후 validate.py가 불변식 PASS/FAIL 검증 → PASS 확인 후 사용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pic>
        <p:nvPicPr>
          <p:cNvPr id="1198" name="Google Shape;119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25" y="1214600"/>
            <a:ext cx="8086549" cy="478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73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 b="1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00" name="Google Shape;1200;p73"/>
          <p:cNvSpPr/>
          <p:nvPr/>
        </p:nvSpPr>
        <p:spPr>
          <a:xfrm>
            <a:off x="778400" y="2014366"/>
            <a:ext cx="7988400" cy="61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74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07" name="Google Shape;1207;p74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②Codex 설치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08" name="Google Shape;1208;p74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npm install -g @openai/codex@0.144.1 또는 npm install -g @openai/codex@latest 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09" name="Google Shape;1209;p74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 b="1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210" name="Google Shape;121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88" y="1409725"/>
            <a:ext cx="8124825" cy="45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74"/>
          <p:cNvSpPr/>
          <p:nvPr/>
        </p:nvSpPr>
        <p:spPr>
          <a:xfrm>
            <a:off x="710200" y="1714500"/>
            <a:ext cx="8081400" cy="276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75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18" name="Google Shape;1218;p75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③Codex 인증 1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19" name="Google Shape;1219;p75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ChatGPT 구독 계정을 사용하는 경우 해당 요금제에서 제공하는 Codex 사용 범위 안에서 이용할 수 있다. 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20" name="Google Shape;1220;p75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 b="1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221" name="Google Shape;122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085" y="1690697"/>
            <a:ext cx="8133026" cy="119537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pic>
        <p:nvPicPr>
          <p:cNvPr id="1222" name="Google Shape;122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85" y="2962272"/>
            <a:ext cx="8133026" cy="277945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sp>
        <p:nvSpPr>
          <p:cNvPr id="1223" name="Google Shape;1223;p75"/>
          <p:cNvSpPr/>
          <p:nvPr/>
        </p:nvSpPr>
        <p:spPr>
          <a:xfrm>
            <a:off x="731888" y="2347850"/>
            <a:ext cx="8081400" cy="276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24" name="Google Shape;1224;p75"/>
          <p:cNvSpPr/>
          <p:nvPr/>
        </p:nvSpPr>
        <p:spPr>
          <a:xfrm>
            <a:off x="731900" y="3957575"/>
            <a:ext cx="8081400" cy="385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25" name="Google Shape;1225;p75"/>
          <p:cNvSpPr/>
          <p:nvPr/>
        </p:nvSpPr>
        <p:spPr>
          <a:xfrm>
            <a:off x="488740" y="2351005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26" name="Google Shape;1226;p75"/>
          <p:cNvSpPr/>
          <p:nvPr/>
        </p:nvSpPr>
        <p:spPr>
          <a:xfrm>
            <a:off x="435765" y="3957580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2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6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33" name="Google Shape;1233;p76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③Codex 인증 2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34" name="Google Shape;1234;p76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ChatGPT 구독 계정을 사용하는 경우 해당 요금제에서 제공하는 Codex 사용 범위 안에서 이용할 수 있다. 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35" name="Google Shape;1235;p76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 b="1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236" name="Google Shape;123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100" y="1159075"/>
            <a:ext cx="8062475" cy="26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363" y="2021200"/>
            <a:ext cx="8062474" cy="39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76"/>
          <p:cNvSpPr/>
          <p:nvPr/>
        </p:nvSpPr>
        <p:spPr>
          <a:xfrm>
            <a:off x="719625" y="1681100"/>
            <a:ext cx="8081400" cy="276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39" name="Google Shape;1239;p76"/>
          <p:cNvSpPr/>
          <p:nvPr/>
        </p:nvSpPr>
        <p:spPr>
          <a:xfrm>
            <a:off x="731900" y="2343150"/>
            <a:ext cx="8081400" cy="3589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40" name="Google Shape;1240;p76"/>
          <p:cNvSpPr/>
          <p:nvPr/>
        </p:nvSpPr>
        <p:spPr>
          <a:xfrm>
            <a:off x="449315" y="1684255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41" name="Google Shape;1241;p76"/>
          <p:cNvSpPr/>
          <p:nvPr/>
        </p:nvSpPr>
        <p:spPr>
          <a:xfrm>
            <a:off x="449315" y="2356905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77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48" name="Google Shape;1248;p77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④인증 상태 확인 및 사용자 유형별 흐름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49" name="Google Shape;1249;p77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codex login status 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50" name="Google Shape;1250;p77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 b="1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251" name="Google Shape;125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75" y="1548050"/>
            <a:ext cx="8062450" cy="1374192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77"/>
          <p:cNvSpPr/>
          <p:nvPr/>
        </p:nvSpPr>
        <p:spPr>
          <a:xfrm>
            <a:off x="898017" y="3761232"/>
            <a:ext cx="271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nsolas"/>
                <a:sym typeface="Consolas"/>
              </a:rPr>
              <a:t>codex login status</a:t>
            </a:r>
            <a:endParaRPr sz="15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53" name="Google Shape;1253;p77"/>
          <p:cNvSpPr/>
          <p:nvPr/>
        </p:nvSpPr>
        <p:spPr>
          <a:xfrm>
            <a:off x="741331" y="311319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0</a:t>
            </a:r>
            <a:r>
              <a:rPr lang="en-US" sz="1250" b="1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2</a:t>
            </a:r>
            <a:r>
              <a:rPr lang="en-US" sz="1250" b="1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 사용자 유형별 흐름</a:t>
            </a:r>
            <a:endParaRPr sz="12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54" name="Google Shape;1254;p77"/>
          <p:cNvSpPr/>
          <p:nvPr/>
        </p:nvSpPr>
        <p:spPr>
          <a:xfrm>
            <a:off x="741338" y="3467563"/>
            <a:ext cx="8062500" cy="12006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55" name="Google Shape;1255;p77"/>
          <p:cNvSpPr/>
          <p:nvPr/>
        </p:nvSpPr>
        <p:spPr>
          <a:xfrm>
            <a:off x="897990" y="3695588"/>
            <a:ext cx="1607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Malgun Gothic"/>
              <a:buNone/>
            </a:pPr>
            <a:r>
              <a:rPr lang="en-US" sz="1200" b="1">
                <a:solidFill>
                  <a:srgbClr val="2563EB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Codes </a:t>
            </a:r>
            <a:r>
              <a:rPr lang="en-US" sz="1200" b="1" i="0" u="none" strike="noStrike" cap="none">
                <a:solidFill>
                  <a:srgbClr val="2563EB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기존 사용자</a:t>
            </a:r>
            <a:endParaRPr sz="12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56" name="Google Shape;1256;p77"/>
          <p:cNvSpPr/>
          <p:nvPr/>
        </p:nvSpPr>
        <p:spPr>
          <a:xfrm>
            <a:off x="897997" y="4028088"/>
            <a:ext cx="7836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Malgun Gothic"/>
              <a:buNone/>
            </a:pPr>
            <a:r>
              <a:rPr lang="en-US" sz="1020" b="0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기존 로그인 정보 확인  →</a:t>
            </a:r>
            <a:r>
              <a:rPr lang="en-US" sz="1020"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 </a:t>
            </a:r>
            <a:r>
              <a:rPr lang="en-US" sz="1020" b="0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Claude Code 또는 스타터가 기존 설정 재사용  →</a:t>
            </a:r>
            <a:r>
              <a:rPr lang="en-US" sz="1020"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 </a:t>
            </a:r>
            <a:r>
              <a:rPr lang="en-US" sz="1020" b="0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별도 인증 없이 연결</a:t>
            </a:r>
            <a:endParaRPr sz="102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57" name="Google Shape;1257;p77"/>
          <p:cNvSpPr/>
          <p:nvPr/>
        </p:nvSpPr>
        <p:spPr>
          <a:xfrm>
            <a:off x="741275" y="4879888"/>
            <a:ext cx="8062500" cy="1112400"/>
          </a:xfrm>
          <a:prstGeom prst="roundRect">
            <a:avLst>
              <a:gd name="adj" fmla="val 5854"/>
            </a:avLst>
          </a:prstGeom>
          <a:solidFill>
            <a:srgbClr val="ECFDF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58" name="Google Shape;1258;p77"/>
          <p:cNvSpPr/>
          <p:nvPr/>
        </p:nvSpPr>
        <p:spPr>
          <a:xfrm>
            <a:off x="897951" y="5053638"/>
            <a:ext cx="1492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Malgun Gothic"/>
              <a:buNone/>
            </a:pPr>
            <a:r>
              <a:rPr lang="en-US" sz="1200" b="1">
                <a:solidFill>
                  <a:srgbClr val="04785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Codex </a:t>
            </a:r>
            <a:r>
              <a:rPr lang="en-US" sz="1200" b="1" i="0" u="none" strike="noStrike" cap="none">
                <a:solidFill>
                  <a:srgbClr val="04785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신규 사용자</a:t>
            </a:r>
            <a:endParaRPr sz="12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59" name="Google Shape;1259;p77"/>
          <p:cNvSpPr/>
          <p:nvPr/>
        </p:nvSpPr>
        <p:spPr>
          <a:xfrm>
            <a:off x="897960" y="5354838"/>
            <a:ext cx="7905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Malgun Gothic"/>
              <a:buNone/>
            </a:pPr>
            <a:r>
              <a:rPr lang="en-US" sz="1020" b="0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Codex CLI 설치  →  Codex 로그인  →</a:t>
            </a:r>
            <a:r>
              <a:rPr lang="en-US" sz="1020"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 </a:t>
            </a:r>
            <a:r>
              <a:rPr lang="en-US" sz="1020" b="0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인증 상태 확인  →  Codex 단독 테스트  →</a:t>
            </a:r>
            <a:r>
              <a:rPr lang="en-US" sz="1020"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 </a:t>
            </a:r>
            <a:r>
              <a:rPr lang="en-US" sz="1020" b="0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Claude Code 재실행  →  Codex 연결 승인</a:t>
            </a:r>
            <a:endParaRPr sz="102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60" name="Google Shape;1260;p77"/>
          <p:cNvSpPr/>
          <p:nvPr/>
        </p:nvSpPr>
        <p:spPr>
          <a:xfrm>
            <a:off x="741331" y="121432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0</a:t>
            </a:r>
            <a:r>
              <a:rPr lang="en-US" sz="1250" b="1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1</a:t>
            </a:r>
            <a:r>
              <a:rPr lang="en-US" sz="1250" b="1" i="0" u="none" strike="noStrike" cap="none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 </a:t>
            </a:r>
            <a:r>
              <a:rPr lang="en-US" sz="1250" b="1">
                <a:solidFill>
                  <a:srgbClr val="111827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  <a:sym typeface="Malgun Gothic"/>
              </a:rPr>
              <a:t>인증 상태 확인</a:t>
            </a:r>
            <a:endParaRPr sz="125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sp>
        <p:nvSpPr>
          <p:cNvPr id="1261" name="Google Shape;1261;p77"/>
          <p:cNvSpPr/>
          <p:nvPr/>
        </p:nvSpPr>
        <p:spPr>
          <a:xfrm>
            <a:off x="722375" y="2196163"/>
            <a:ext cx="8081400" cy="276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8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68" name="Google Shape;1268;p78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⑤Claude Code 와 Codex 연결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69" name="Google Shape;1269;p78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codex login status &amp; Claude Code 실행중에는 ! codex logsin status 로 확인이 가능하다. 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70" name="Google Shape;1270;p78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 b="1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71" name="Google Shape;1271;p78"/>
          <p:cNvSpPr/>
          <p:nvPr/>
        </p:nvSpPr>
        <p:spPr>
          <a:xfrm>
            <a:off x="898017" y="3761232"/>
            <a:ext cx="271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nsolas"/>
                <a:sym typeface="Consolas"/>
              </a:rPr>
              <a:t>codex login status</a:t>
            </a:r>
            <a:endParaRPr sz="15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pic>
        <p:nvPicPr>
          <p:cNvPr id="1272" name="Google Shape;127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88" y="1315875"/>
            <a:ext cx="7957426" cy="448551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sp>
        <p:nvSpPr>
          <p:cNvPr id="1273" name="Google Shape;1273;p78"/>
          <p:cNvSpPr/>
          <p:nvPr/>
        </p:nvSpPr>
        <p:spPr>
          <a:xfrm>
            <a:off x="751250" y="2838450"/>
            <a:ext cx="8042700" cy="458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pic>
        <p:nvPicPr>
          <p:cNvPr id="1274" name="Google Shape;127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900" y="3704375"/>
            <a:ext cx="7957426" cy="329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888" y="4199650"/>
            <a:ext cx="7957424" cy="22519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78"/>
          <p:cNvSpPr/>
          <p:nvPr/>
        </p:nvSpPr>
        <p:spPr>
          <a:xfrm>
            <a:off x="751250" y="3641663"/>
            <a:ext cx="8042700" cy="458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77" name="Google Shape;1277;p78"/>
          <p:cNvSpPr/>
          <p:nvPr/>
        </p:nvSpPr>
        <p:spPr>
          <a:xfrm>
            <a:off x="488740" y="2932805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78" name="Google Shape;1278;p78"/>
          <p:cNvSpPr/>
          <p:nvPr/>
        </p:nvSpPr>
        <p:spPr>
          <a:xfrm>
            <a:off x="488740" y="3736030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79" name="Google Shape;1279;p78"/>
          <p:cNvSpPr/>
          <p:nvPr/>
        </p:nvSpPr>
        <p:spPr>
          <a:xfrm>
            <a:off x="751263" y="5927663"/>
            <a:ext cx="8042700" cy="458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80" name="Google Shape;1280;p78"/>
          <p:cNvSpPr/>
          <p:nvPr/>
        </p:nvSpPr>
        <p:spPr>
          <a:xfrm>
            <a:off x="751275" y="1552575"/>
            <a:ext cx="8042700" cy="458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81" name="Google Shape;1281;p78"/>
          <p:cNvSpPr/>
          <p:nvPr/>
        </p:nvSpPr>
        <p:spPr>
          <a:xfrm>
            <a:off x="523590" y="1665955"/>
            <a:ext cx="270300" cy="270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sz="14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79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288" name="Google Shape;1288;p79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⑤Claude Code 와 Codex 연결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89" name="Google Shape;1289;p79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Codex CLI 설치만으로 자동 연결되는 것은 아니다. 프로젝트의 MCP 설정과 Claude Code의 사용 승인이 필요하다.</a:t>
            </a:r>
            <a:endParaRPr sz="115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290" name="Google Shape;1290;p79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 b="1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91" name="Google Shape;1291;p79"/>
          <p:cNvSpPr/>
          <p:nvPr/>
        </p:nvSpPr>
        <p:spPr>
          <a:xfrm>
            <a:off x="898017" y="3761232"/>
            <a:ext cx="271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nsolas"/>
                <a:sym typeface="Consolas"/>
              </a:rPr>
              <a:t>codex login status</a:t>
            </a:r>
            <a:endParaRPr sz="15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grpSp>
        <p:nvGrpSpPr>
          <p:cNvPr id="1292" name="Google Shape;1292;p79"/>
          <p:cNvGrpSpPr/>
          <p:nvPr/>
        </p:nvGrpSpPr>
        <p:grpSpPr>
          <a:xfrm>
            <a:off x="678275" y="1288917"/>
            <a:ext cx="8188647" cy="4478718"/>
            <a:chOff x="621799" y="384050"/>
            <a:chExt cx="9173927" cy="5017609"/>
          </a:xfrm>
        </p:grpSpPr>
        <p:sp>
          <p:nvSpPr>
            <p:cNvPr id="1293" name="Google Shape;1293;p79"/>
            <p:cNvSpPr/>
            <p:nvPr/>
          </p:nvSpPr>
          <p:spPr>
            <a:xfrm>
              <a:off x="621799" y="384050"/>
              <a:ext cx="90681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6232F"/>
                </a:buClr>
                <a:buSzPts val="1918"/>
                <a:buFont typeface="Arial"/>
                <a:buNone/>
              </a:pPr>
              <a:endParaRPr sz="1918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294" name="Google Shape;1294;p79"/>
            <p:cNvSpPr/>
            <p:nvPr/>
          </p:nvSpPr>
          <p:spPr>
            <a:xfrm>
              <a:off x="652026" y="882794"/>
              <a:ext cx="9143700" cy="25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96"/>
                <a:buFont typeface="Arial"/>
                <a:buNone/>
              </a:pPr>
              <a:r>
                <a:rPr lang="en-US" sz="996" b="1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Codex CLI 설치·인증 후, 프로젝트의 MCP 설정을 Claude Code에서 로드하고 승인하는 단계</a:t>
              </a:r>
              <a:endParaRPr sz="996" b="1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1295" name="Google Shape;1295;p79"/>
            <p:cNvSpPr/>
            <p:nvPr/>
          </p:nvSpPr>
          <p:spPr>
            <a:xfrm>
              <a:off x="652026" y="1336199"/>
              <a:ext cx="944700" cy="340200"/>
            </a:xfrm>
            <a:prstGeom prst="rect">
              <a:avLst/>
            </a:prstGeom>
            <a:solidFill>
              <a:srgbClr val="1B3149"/>
            </a:solidFill>
            <a:ln w="7025" cap="flat" cmpd="sng">
              <a:solidFill>
                <a:srgbClr val="1B31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85"/>
                <a:buFont typeface="Arial"/>
                <a:buNone/>
              </a:pPr>
              <a:r>
                <a:rPr lang="en-US" sz="885" b="1" i="0" u="none" strike="noStrike" cap="none">
                  <a:solidFill>
                    <a:srgbClr val="FFFFF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단계</a:t>
              </a:r>
              <a:endParaRPr sz="885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296" name="Google Shape;1296;p79"/>
            <p:cNvSpPr/>
            <p:nvPr/>
          </p:nvSpPr>
          <p:spPr>
            <a:xfrm>
              <a:off x="1596617" y="1336199"/>
              <a:ext cx="3211500" cy="340200"/>
            </a:xfrm>
            <a:prstGeom prst="rect">
              <a:avLst/>
            </a:prstGeom>
            <a:solidFill>
              <a:srgbClr val="1B3149"/>
            </a:solidFill>
            <a:ln w="7025" cap="flat" cmpd="sng">
              <a:solidFill>
                <a:srgbClr val="1B31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85"/>
                <a:buFont typeface="Arial"/>
                <a:buNone/>
              </a:pPr>
              <a:r>
                <a:rPr lang="en-US" sz="885" b="1" i="0" u="none" strike="noStrike" cap="none">
                  <a:solidFill>
                    <a:srgbClr val="FFFFF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확인 내용</a:t>
              </a:r>
              <a:endParaRPr sz="885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297" name="Google Shape;1297;p79"/>
            <p:cNvSpPr/>
            <p:nvPr/>
          </p:nvSpPr>
          <p:spPr>
            <a:xfrm>
              <a:off x="4808229" y="1336199"/>
              <a:ext cx="4798500" cy="340200"/>
            </a:xfrm>
            <a:prstGeom prst="rect">
              <a:avLst/>
            </a:prstGeom>
            <a:solidFill>
              <a:srgbClr val="1B3149"/>
            </a:solidFill>
            <a:ln w="7025" cap="flat" cmpd="sng">
              <a:solidFill>
                <a:srgbClr val="1B31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85"/>
                <a:buFont typeface="Arial"/>
                <a:buNone/>
              </a:pPr>
              <a:r>
                <a:rPr lang="en-US" sz="885" b="1" i="0" u="none" strike="noStrike" cap="none">
                  <a:solidFill>
                    <a:srgbClr val="FFFFF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실행 또는 선택</a:t>
              </a:r>
              <a:endParaRPr sz="885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298" name="Google Shape;1298;p79"/>
            <p:cNvSpPr/>
            <p:nvPr/>
          </p:nvSpPr>
          <p:spPr>
            <a:xfrm>
              <a:off x="652026" y="1676252"/>
              <a:ext cx="9447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4285F4"/>
                </a:buClr>
                <a:buSzPts val="1033"/>
                <a:buFont typeface="Arial"/>
                <a:buNone/>
              </a:pPr>
              <a:r>
                <a:rPr lang="en-US" sz="1033" b="1" i="0" u="none" strike="noStrike" cap="none">
                  <a:solidFill>
                    <a:srgbClr val="4285F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①</a:t>
              </a:r>
              <a:endParaRPr sz="1033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299" name="Google Shape;1299;p79"/>
            <p:cNvSpPr/>
            <p:nvPr/>
          </p:nvSpPr>
          <p:spPr>
            <a:xfrm>
              <a:off x="1596617" y="1676252"/>
              <a:ext cx="32115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6232F"/>
                </a:buClr>
                <a:buSzPts val="848"/>
                <a:buFont typeface="Arial"/>
                <a:buNone/>
              </a:pPr>
              <a:r>
                <a:rPr lang="en-US" sz="848" b="1" i="0" u="none" strike="noStrike" cap="none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오케스트레이터 폴더에서 실행</a:t>
              </a:r>
              <a:endParaRPr sz="848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0" name="Google Shape;1300;p79"/>
            <p:cNvSpPr/>
            <p:nvPr/>
          </p:nvSpPr>
          <p:spPr>
            <a:xfrm>
              <a:off x="4808229" y="1676252"/>
              <a:ext cx="47985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cd C:\Users\&lt;사용자&gt;\IdeaProjects\orchestrator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claude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1" name="Google Shape;1301;p79"/>
            <p:cNvSpPr/>
            <p:nvPr/>
          </p:nvSpPr>
          <p:spPr>
            <a:xfrm>
              <a:off x="652026" y="2220337"/>
              <a:ext cx="944700" cy="544200"/>
            </a:xfrm>
            <a:prstGeom prst="rect">
              <a:avLst/>
            </a:prstGeom>
            <a:solidFill>
              <a:srgbClr val="F3F6F9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4285F4"/>
                </a:buClr>
                <a:buSzPts val="1033"/>
                <a:buFont typeface="Arial"/>
                <a:buNone/>
              </a:pPr>
              <a:r>
                <a:rPr lang="en-US" sz="1033" b="1" i="0" u="none" strike="noStrike" cap="none">
                  <a:solidFill>
                    <a:srgbClr val="4285F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②</a:t>
              </a:r>
              <a:endParaRPr sz="1033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2" name="Google Shape;1302;p79"/>
            <p:cNvSpPr/>
            <p:nvPr/>
          </p:nvSpPr>
          <p:spPr>
            <a:xfrm>
              <a:off x="1596617" y="2220337"/>
              <a:ext cx="3211500" cy="544200"/>
            </a:xfrm>
            <a:prstGeom prst="rect">
              <a:avLst/>
            </a:prstGeom>
            <a:solidFill>
              <a:srgbClr val="F3F6F9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6232F"/>
                </a:buClr>
                <a:buSzPts val="848"/>
                <a:buFont typeface="Arial"/>
                <a:buNone/>
              </a:pPr>
              <a:r>
                <a:rPr lang="en-US" sz="848" b="1" i="0" u="none" strike="noStrike" cap="none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프로젝트 MCP 설정 확인</a:t>
              </a:r>
              <a:endParaRPr sz="848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3" name="Google Shape;1303;p79"/>
            <p:cNvSpPr/>
            <p:nvPr/>
          </p:nvSpPr>
          <p:spPr>
            <a:xfrm>
              <a:off x="4808229" y="2220337"/>
              <a:ext cx="4798500" cy="544200"/>
            </a:xfrm>
            <a:prstGeom prst="rect">
              <a:avLst/>
            </a:prstGeom>
            <a:solidFill>
              <a:srgbClr val="F3F6F9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.mcp.json 또는 스타터 설정에 codex MCP 서버가 포함되어 있어야 함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4" name="Google Shape;1304;p79"/>
            <p:cNvSpPr/>
            <p:nvPr/>
          </p:nvSpPr>
          <p:spPr>
            <a:xfrm>
              <a:off x="652026" y="2764423"/>
              <a:ext cx="9447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4285F4"/>
                </a:buClr>
                <a:buSzPts val="1033"/>
                <a:buFont typeface="Arial"/>
                <a:buNone/>
              </a:pPr>
              <a:r>
                <a:rPr lang="en-US" sz="1033" b="1" i="0" u="none" strike="noStrike" cap="none">
                  <a:solidFill>
                    <a:srgbClr val="4285F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③</a:t>
              </a:r>
              <a:endParaRPr sz="1033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5" name="Google Shape;1305;p79"/>
            <p:cNvSpPr/>
            <p:nvPr/>
          </p:nvSpPr>
          <p:spPr>
            <a:xfrm>
              <a:off x="1596617" y="2764423"/>
              <a:ext cx="32115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6232F"/>
                </a:buClr>
                <a:buSzPts val="848"/>
                <a:buFont typeface="Arial"/>
                <a:buNone/>
              </a:pPr>
              <a:r>
                <a:rPr lang="en-US" sz="848" b="1" i="0" u="none" strike="noStrike" cap="none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최초 연결 승인 화면</a:t>
              </a:r>
              <a:endParaRPr sz="848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6" name="Google Shape;1306;p79"/>
            <p:cNvSpPr/>
            <p:nvPr/>
          </p:nvSpPr>
          <p:spPr>
            <a:xfrm>
              <a:off x="4808229" y="2764423"/>
              <a:ext cx="47985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2A594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12A59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New MCP server found in this project: codex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2A594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12A59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→ 현재 세션 또는 이 프로젝트에서 사용 승인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7" name="Google Shape;1307;p79"/>
            <p:cNvSpPr/>
            <p:nvPr/>
          </p:nvSpPr>
          <p:spPr>
            <a:xfrm>
              <a:off x="652026" y="3308508"/>
              <a:ext cx="944700" cy="544200"/>
            </a:xfrm>
            <a:prstGeom prst="rect">
              <a:avLst/>
            </a:prstGeom>
            <a:solidFill>
              <a:srgbClr val="F3F6F9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4285F4"/>
                </a:buClr>
                <a:buSzPts val="1033"/>
                <a:buFont typeface="Arial"/>
                <a:buNone/>
              </a:pPr>
              <a:r>
                <a:rPr lang="en-US" sz="1033" b="1" i="0" u="none" strike="noStrike" cap="none">
                  <a:solidFill>
                    <a:srgbClr val="4285F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④</a:t>
              </a:r>
              <a:endParaRPr sz="1033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8" name="Google Shape;1308;p79"/>
            <p:cNvSpPr/>
            <p:nvPr/>
          </p:nvSpPr>
          <p:spPr>
            <a:xfrm>
              <a:off x="1596617" y="3308508"/>
              <a:ext cx="3211500" cy="544200"/>
            </a:xfrm>
            <a:prstGeom prst="rect">
              <a:avLst/>
            </a:prstGeom>
            <a:solidFill>
              <a:srgbClr val="F3F6F9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6232F"/>
                </a:buClr>
                <a:buSzPts val="848"/>
                <a:buFont typeface="Arial"/>
                <a:buNone/>
              </a:pPr>
              <a:r>
                <a:rPr lang="en-US" sz="848" b="1" i="0" u="none" strike="noStrike" cap="none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건너뛰면 제외됨</a:t>
              </a:r>
              <a:endParaRPr sz="848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09" name="Google Shape;1309;p79"/>
            <p:cNvSpPr/>
            <p:nvPr/>
          </p:nvSpPr>
          <p:spPr>
            <a:xfrm>
              <a:off x="4808229" y="3308508"/>
              <a:ext cx="4798500" cy="544200"/>
            </a:xfrm>
            <a:prstGeom prst="rect">
              <a:avLst/>
            </a:prstGeom>
            <a:solidFill>
              <a:srgbClr val="F3F6F9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Continue without using this MCP server 선택 시 해당 세션에서 Codex 워커 제외 가능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10" name="Google Shape;1310;p79"/>
            <p:cNvSpPr/>
            <p:nvPr/>
          </p:nvSpPr>
          <p:spPr>
            <a:xfrm>
              <a:off x="652026" y="3852593"/>
              <a:ext cx="9447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75" tIns="475" rIns="475" bIns="4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4285F4"/>
                </a:buClr>
                <a:buSzPts val="1033"/>
                <a:buFont typeface="Arial"/>
                <a:buNone/>
              </a:pPr>
              <a:r>
                <a:rPr lang="en-US" sz="1033" b="1" i="0" u="none" strike="noStrike" cap="none">
                  <a:solidFill>
                    <a:srgbClr val="4285F4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⑤</a:t>
              </a:r>
              <a:endParaRPr sz="1033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11" name="Google Shape;1311;p79"/>
            <p:cNvSpPr/>
            <p:nvPr/>
          </p:nvSpPr>
          <p:spPr>
            <a:xfrm>
              <a:off x="1596617" y="3852593"/>
              <a:ext cx="32115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6232F"/>
                </a:buClr>
                <a:buSzPts val="848"/>
                <a:buFont typeface="Arial"/>
                <a:buNone/>
              </a:pPr>
              <a:r>
                <a:rPr lang="en-US" sz="848" b="1" i="0" u="none" strike="noStrike" cap="none">
                  <a:solidFill>
                    <a:srgbClr val="16232F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아무것도 안 뜨는 경우</a:t>
              </a:r>
              <a:endParaRPr sz="848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12" name="Google Shape;1312;p79"/>
            <p:cNvSpPr/>
            <p:nvPr/>
          </p:nvSpPr>
          <p:spPr>
            <a:xfrm>
              <a:off x="4808229" y="3852593"/>
              <a:ext cx="4798500" cy="544200"/>
            </a:xfrm>
            <a:prstGeom prst="rect">
              <a:avLst/>
            </a:prstGeom>
            <a:solidFill>
              <a:srgbClr val="FFFFFF"/>
            </a:solidFill>
            <a:ln w="7025" cap="flat" cmpd="sng">
              <a:solidFill>
                <a:srgbClr val="D5DD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0" tIns="1000" rIns="1000" bIns="10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797"/>
                <a:buFont typeface="Arial"/>
                <a:buNone/>
              </a:pPr>
              <a:r>
                <a:rPr lang="en-US" sz="797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이미 승인된 상태일 수 있음 → claude mcp list 또는 /mcp로 연결 상태 확인</a:t>
              </a:r>
              <a:endParaRPr sz="797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  <p:sp>
          <p:nvSpPr>
            <p:cNvPr id="1313" name="Google Shape;1313;p79"/>
            <p:cNvSpPr/>
            <p:nvPr/>
          </p:nvSpPr>
          <p:spPr>
            <a:xfrm>
              <a:off x="652019" y="4986159"/>
              <a:ext cx="90681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752"/>
                <a:buFont typeface="Arial"/>
                <a:buNone/>
              </a:pPr>
              <a:r>
                <a:rPr lang="en-US" sz="1052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미표시 시 확인</a:t>
              </a:r>
              <a:r>
                <a:rPr lang="en-US" sz="1052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 사항 : </a:t>
              </a:r>
              <a:r>
                <a:rPr lang="en-US" sz="1052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오케스트레이터 폴더 </a:t>
              </a:r>
              <a:r>
                <a:rPr lang="en-US" sz="1052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en-US" sz="1052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MCP 설정 파일 </a:t>
              </a:r>
              <a:r>
                <a:rPr lang="en-US" sz="1052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en-US" sz="1052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codex 단독 실행 </a:t>
              </a:r>
              <a:r>
                <a:rPr lang="en-US" sz="1052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en-US" sz="1052" b="0" i="0" u="none" strike="noStrike" cap="none">
                  <a:solidFill>
                    <a:srgbClr val="64748B"/>
                  </a:solidFill>
                  <a:latin typeface="프리젠테이션 5 Medium" pitchFamily="2" charset="-127"/>
                  <a:ea typeface="프리젠테이션 5 Medium" pitchFamily="2" charset="-127"/>
                  <a:cs typeface="Arial"/>
                  <a:sym typeface="Arial"/>
                </a:rPr>
                <a:t>Claude Code 재실행</a:t>
              </a:r>
              <a:endParaRPr sz="1052" b="0" i="0" u="none" strike="noStrike" cap="none">
                <a:solidFill>
                  <a:srgbClr val="000000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80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20" name="Google Shape;1320;p80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⑥Codex 워커 연결 확인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21" name="Google Shape;1321;p80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현재 Codex 워커를 사용할 수 있는지 확인해줘. 코드 수정이나 실제 개발 작업은 수행하지 말고연결 상태와 사용 가능한 Codex 워커만 확인해줘.</a:t>
            </a:r>
            <a:endParaRPr sz="1150">
              <a:solidFill>
                <a:srgbClr val="64748B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endParaRPr sz="1150">
              <a:solidFill>
                <a:srgbClr val="64748B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22" name="Google Shape;1322;p80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23" name="Google Shape;1323;p80"/>
          <p:cNvSpPr/>
          <p:nvPr/>
        </p:nvSpPr>
        <p:spPr>
          <a:xfrm>
            <a:off x="898017" y="3761232"/>
            <a:ext cx="271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nsolas"/>
                <a:sym typeface="Consolas"/>
              </a:rPr>
              <a:t>codex login status</a:t>
            </a:r>
            <a:endParaRPr sz="15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pic>
        <p:nvPicPr>
          <p:cNvPr id="1324" name="Google Shape;132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50" y="1114425"/>
            <a:ext cx="8122100" cy="194912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pic>
        <p:nvPicPr>
          <p:cNvPr id="1325" name="Google Shape;132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550" y="3063550"/>
            <a:ext cx="8122099" cy="30324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81"/>
          <p:cNvSpPr/>
          <p:nvPr/>
        </p:nvSpPr>
        <p:spPr>
          <a:xfrm>
            <a:off x="623888" y="1061884"/>
            <a:ext cx="8297400" cy="51102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32" name="Google Shape;1332;p81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설치·인증 – ⑥Codex 워커 연결 확인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33" name="Google Shape;1333;p81"/>
          <p:cNvSpPr/>
          <p:nvPr/>
        </p:nvSpPr>
        <p:spPr>
          <a:xfrm>
            <a:off x="633183" y="6308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16232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flavor: </a:t>
            </a:r>
            <a:r>
              <a:rPr lang="en-US" sz="1150">
                <a:solidFill>
                  <a:srgbClr val="64748B"/>
                </a:solidFill>
                <a:latin typeface="프리젠테이션 5 Medium" pitchFamily="2" charset="-127"/>
                <a:ea typeface="프리젠테이션 5 Medium" pitchFamily="2" charset="-127"/>
              </a:rPr>
              <a:t>현재 Codex 워커를 사용할 수 있는지 확인해줘. 코드 수정이나 실제 개발 작업은 수행하지 말고연결 상태와 사용 가능한 Codex 워커만 확인해줘.</a:t>
            </a:r>
            <a:endParaRPr sz="1150">
              <a:solidFill>
                <a:srgbClr val="64748B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endParaRPr sz="1150">
              <a:solidFill>
                <a:srgbClr val="64748B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34" name="Google Shape;1334;p81"/>
          <p:cNvSpPr/>
          <p:nvPr/>
        </p:nvSpPr>
        <p:spPr>
          <a:xfrm>
            <a:off x="8992125" y="1061883"/>
            <a:ext cx="2576100" cy="5110200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① Node.js 와 npm 설치 확인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② Codex 설치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③ Codex 인증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④ 인증 상태 확인 및 사용자 유형별 흐름</a:t>
            </a:r>
            <a:endParaRPr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⑤ Claude Code와 Codex 연결</a:t>
            </a: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⑥  Codex 워커 연결 확인</a:t>
            </a:r>
            <a:endParaRPr sz="1200" b="1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35" name="Google Shape;1335;p81"/>
          <p:cNvSpPr/>
          <p:nvPr/>
        </p:nvSpPr>
        <p:spPr>
          <a:xfrm>
            <a:off x="898017" y="3761232"/>
            <a:ext cx="2715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Consolas"/>
                <a:sym typeface="Consolas"/>
              </a:rPr>
              <a:t>codex login status</a:t>
            </a:r>
            <a:endParaRPr sz="1500" b="0" i="0" u="none" strike="noStrike" cap="none">
              <a:solidFill>
                <a:srgbClr val="000000"/>
              </a:solidFill>
              <a:latin typeface="프리젠테이션 5 Medium" pitchFamily="2" charset="-127"/>
              <a:ea typeface="프리젠테이션 5 Medium" pitchFamily="2" charset="-127"/>
              <a:cs typeface="Malgun Gothic"/>
              <a:sym typeface="Malgun Gothic"/>
            </a:endParaRPr>
          </a:p>
        </p:txBody>
      </p:sp>
      <p:pic>
        <p:nvPicPr>
          <p:cNvPr id="1336" name="Google Shape;133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50" y="1114425"/>
            <a:ext cx="8122100" cy="194912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pic>
        <p:nvPicPr>
          <p:cNvPr id="1337" name="Google Shape;133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550" y="3063550"/>
            <a:ext cx="8122099" cy="30324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947EC-F60C-59CF-EC11-20022F1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43;p82">
            <a:extLst>
              <a:ext uri="{FF2B5EF4-FFF2-40B4-BE49-F238E27FC236}">
                <a16:creationId xmlns:a16="http://schemas.microsoft.com/office/drawing/2014/main" id="{1460CB59-B94E-BD6A-2E03-6CC39C5DBDBE}"/>
              </a:ext>
            </a:extLst>
          </p:cNvPr>
          <p:cNvSpPr/>
          <p:nvPr/>
        </p:nvSpPr>
        <p:spPr>
          <a:xfrm>
            <a:off x="64008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Codex 설치·인증 및 멀티에이전트 활용 핸드북</a:t>
            </a:r>
            <a:endParaRPr sz="2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7" name="Google Shape;1344;p82">
            <a:extLst>
              <a:ext uri="{FF2B5EF4-FFF2-40B4-BE49-F238E27FC236}">
                <a16:creationId xmlns:a16="http://schemas.microsoft.com/office/drawing/2014/main" id="{B0127E19-462B-FF1D-1067-4ED4EFBDDBAA}"/>
              </a:ext>
            </a:extLst>
          </p:cNvPr>
          <p:cNvSpPr/>
          <p:nvPr/>
        </p:nvSpPr>
        <p:spPr>
          <a:xfrm>
            <a:off x="1325875" y="1355603"/>
            <a:ext cx="10242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Calibri"/>
              <a:buAutoNum type="arabicPeriod"/>
            </a:pP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이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장의</a:t>
            </a: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목적</a:t>
            </a:r>
            <a:endParaRPr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Codex </a:t>
            </a:r>
            <a:r>
              <a:rPr lang="en-US" sz="2800" dirty="0" err="1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endParaRPr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arabicPeriod"/>
            </a:pPr>
            <a:r>
              <a:rPr lang="en-US" sz="2800" dirty="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Codex </a:t>
            </a:r>
            <a:r>
              <a:rPr lang="en-US" sz="2800" dirty="0" err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활용</a:t>
            </a:r>
            <a:r>
              <a:rPr lang="en-US" sz="2800" dirty="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실습</a:t>
            </a:r>
            <a:r>
              <a:rPr lang="en-US" sz="2800" dirty="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lang="en-US" sz="2800" dirty="0" err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detail_dashboard</a:t>
            </a:r>
            <a:r>
              <a:rPr lang="en-US" sz="2800" dirty="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정렬</a:t>
            </a:r>
            <a:r>
              <a:rPr lang="en-US" sz="2800" dirty="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검증</a:t>
            </a:r>
            <a:endParaRPr sz="2800" dirty="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62641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3"/>
          <p:cNvSpPr/>
          <p:nvPr/>
        </p:nvSpPr>
        <p:spPr>
          <a:xfrm>
            <a:off x="623900" y="908050"/>
            <a:ext cx="10515600" cy="5881200"/>
          </a:xfrm>
          <a:prstGeom prst="roundRect">
            <a:avLst>
              <a:gd name="adj" fmla="val 1364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51" name="Google Shape;1351;p83"/>
          <p:cNvSpPr/>
          <p:nvPr/>
        </p:nvSpPr>
        <p:spPr>
          <a:xfrm>
            <a:off x="806790" y="1072649"/>
            <a:ext cx="109800" cy="109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52" name="Google Shape;1352;p83"/>
          <p:cNvSpPr/>
          <p:nvPr/>
        </p:nvSpPr>
        <p:spPr>
          <a:xfrm>
            <a:off x="971382" y="1072649"/>
            <a:ext cx="109800" cy="10980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53" name="Google Shape;1353;p83"/>
          <p:cNvSpPr/>
          <p:nvPr/>
        </p:nvSpPr>
        <p:spPr>
          <a:xfrm>
            <a:off x="1135974" y="1072649"/>
            <a:ext cx="109800" cy="1098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54" name="Google Shape;1354;p83"/>
          <p:cNvSpPr/>
          <p:nvPr/>
        </p:nvSpPr>
        <p:spPr>
          <a:xfrm>
            <a:off x="1355430" y="1008641"/>
            <a:ext cx="9601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lang="en-US" sz="9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구현작업 요청문 (implement-request)</a:t>
            </a:r>
            <a:endParaRPr sz="9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355" name="Google Shape;1355;p83"/>
          <p:cNvSpPr/>
          <p:nvPr/>
        </p:nvSpPr>
        <p:spPr>
          <a:xfrm>
            <a:off x="825075" y="1318279"/>
            <a:ext cx="5071800" cy="5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새 작업 만들어줘.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rial"/>
                <a:sym typeface="Arial"/>
              </a:rPr>
              <a:t>[목표]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Backend-Core와 Engine-Fire의 </a:t>
            </a: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  <a:cs typeface="Roboto Mono"/>
                <a:sym typeface="Roboto Mono"/>
              </a:rPr>
              <a:t>detail_dashboard</a:t>
            </a: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 데이터 흐름과 정렬 방식을 분석하고, Backend-Core에서 반환하는 버전 및 요구사항 목록을 시작일 기준 최근순으로 변경한다. 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[성격]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기존 기능 분석 및 코드 수정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[target_repo]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`C:\Users\boseo\IdeaProjects\Java-Service-Tree-Framework-Backend-Core`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분석 대상: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`C:\Users\boseo\IdeaProjects\Java-Service-Tree-Framework-Engine-Fire`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[write_scope]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`src/main/java/com/arms/api/detail_dashboard/**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[워커]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`claude-main`: 구조와 현재 정렬 방식 분석, 변경 계획 작성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`codex-critic`: 변경된 코드를 읽기 전용으로 검증`</a:t>
            </a:r>
            <a:endParaRPr sz="2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56" name="Google Shape;1356;p83"/>
          <p:cNvSpPr/>
          <p:nvPr/>
        </p:nvSpPr>
        <p:spPr>
          <a:xfrm>
            <a:off x="5982294" y="1318266"/>
            <a:ext cx="5071800" cy="4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[요구사항]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프로젝트 버전 목록을 시작일 내림차순으로 정렬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일정 준수 요구사항 목록을 시작일 내림차순으로 정렬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요구사항 개요 목록을 시작일 내림차순으로 정렬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시작일이 없는 데이터는 마지막에 배치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동일 날짜에는 기존 고유 식별자를 보조 정렬 기준으로 사용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기존 API, DTO, 집계, 요약 및 상태 계산은 변경하지 않음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작업 전 두 레포의 `docs/ai` 하네스와 현재 구현 코드를 확인한다.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[제약]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Engine-Fire는 수정하지 않음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`detail_dashboard` 밖의 Backend-Core 패키지는 수정하지 않음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* 불필요한 리팩터링 금지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코드 변경 전에 수정할 파일, 메서드, 변경 방식과 영향 범위를 먼저 보여주고 승인을 요청한다.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변경 후 `codex-critic`으로 최신순 정렬, null 처리, 타입 호환성, 기존 계산 로직에 대한 사이드이펙트와 컴파일 오류 가능성을 검증한다.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[산출물]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분석 결과, 변경 파일 목록, 변경 내용, Codex 검증 결과를 `tasks/&lt;task&gt;/artifacts/`에 저장한다.</a:t>
            </a:r>
            <a:endParaRPr sz="110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FFFFFF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57" name="Google Shape;1357;p83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활용 실습 — detail_dashboard 정렬 검증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84"/>
          <p:cNvSpPr/>
          <p:nvPr/>
        </p:nvSpPr>
        <p:spPr>
          <a:xfrm>
            <a:off x="623900" y="908050"/>
            <a:ext cx="10515600" cy="5881200"/>
          </a:xfrm>
          <a:prstGeom prst="roundRect">
            <a:avLst>
              <a:gd name="adj" fmla="val 1364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64" name="Google Shape;1364;p84"/>
          <p:cNvSpPr/>
          <p:nvPr/>
        </p:nvSpPr>
        <p:spPr>
          <a:xfrm>
            <a:off x="806790" y="1072649"/>
            <a:ext cx="109800" cy="109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65" name="Google Shape;1365;p84"/>
          <p:cNvSpPr/>
          <p:nvPr/>
        </p:nvSpPr>
        <p:spPr>
          <a:xfrm>
            <a:off x="971382" y="1072649"/>
            <a:ext cx="109800" cy="10980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66" name="Google Shape;1366;p84"/>
          <p:cNvSpPr/>
          <p:nvPr/>
        </p:nvSpPr>
        <p:spPr>
          <a:xfrm>
            <a:off x="1135974" y="1072649"/>
            <a:ext cx="109800" cy="1098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67" name="Google Shape;1367;p84"/>
          <p:cNvSpPr/>
          <p:nvPr/>
        </p:nvSpPr>
        <p:spPr>
          <a:xfrm>
            <a:off x="1355430" y="1008641"/>
            <a:ext cx="9601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lang="en-US" sz="11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분석 및 Codex 워커 승인</a:t>
            </a:r>
            <a:endParaRPr sz="12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368" name="Google Shape;1368;p84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활용 실습 — detail_dashboard 정렬 검증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369" name="Google Shape;136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00" y="1724646"/>
            <a:ext cx="10515599" cy="3275204"/>
          </a:xfrm>
          <a:prstGeom prst="rect">
            <a:avLst/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sp>
        <p:nvSpPr>
          <p:cNvPr id="1370" name="Google Shape;1370;p84"/>
          <p:cNvSpPr/>
          <p:nvPr/>
        </p:nvSpPr>
        <p:spPr>
          <a:xfrm>
            <a:off x="838208" y="554205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4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flavor: Codex 워커 호출, 120초를 넘겨 백그라운드로 전환하여 실행한다.</a:t>
            </a:r>
            <a:endParaRPr sz="16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85"/>
          <p:cNvSpPr/>
          <p:nvPr/>
        </p:nvSpPr>
        <p:spPr>
          <a:xfrm>
            <a:off x="623900" y="908050"/>
            <a:ext cx="10515600" cy="5881200"/>
          </a:xfrm>
          <a:prstGeom prst="roundRect">
            <a:avLst>
              <a:gd name="adj" fmla="val 1364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77" name="Google Shape;1377;p85"/>
          <p:cNvSpPr/>
          <p:nvPr/>
        </p:nvSpPr>
        <p:spPr>
          <a:xfrm>
            <a:off x="806790" y="1072649"/>
            <a:ext cx="109800" cy="109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78" name="Google Shape;1378;p85"/>
          <p:cNvSpPr/>
          <p:nvPr/>
        </p:nvSpPr>
        <p:spPr>
          <a:xfrm>
            <a:off x="971382" y="1072649"/>
            <a:ext cx="109800" cy="10980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79" name="Google Shape;1379;p85"/>
          <p:cNvSpPr/>
          <p:nvPr/>
        </p:nvSpPr>
        <p:spPr>
          <a:xfrm>
            <a:off x="1135974" y="1072649"/>
            <a:ext cx="109800" cy="1098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80" name="Google Shape;1380;p85"/>
          <p:cNvSpPr/>
          <p:nvPr/>
        </p:nvSpPr>
        <p:spPr>
          <a:xfrm>
            <a:off x="1355430" y="1008641"/>
            <a:ext cx="9601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lang="en-US" sz="11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Codex-critic 읽기 전용 검증</a:t>
            </a:r>
            <a:endParaRPr sz="11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381" name="Google Shape;1381;p85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활용 실습 — detail_dashboard 정렬 검증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382" name="Google Shape;138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00" y="1426401"/>
            <a:ext cx="10515600" cy="4390384"/>
          </a:xfrm>
          <a:prstGeom prst="rect">
            <a:avLst/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</p:pic>
      <p:sp>
        <p:nvSpPr>
          <p:cNvPr id="1383" name="Google Shape;1383;p85"/>
          <p:cNvSpPr/>
          <p:nvPr/>
        </p:nvSpPr>
        <p:spPr>
          <a:xfrm>
            <a:off x="838208" y="557535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4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flavor: Codex 검증 결과 6개 항목 중 5개는 정상으로 확인되었으며, 동일 날짜 데이터의 보조 정렬 기준은 추가 확인 필요.</a:t>
            </a:r>
            <a:endParaRPr sz="14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86"/>
          <p:cNvSpPr/>
          <p:nvPr/>
        </p:nvSpPr>
        <p:spPr>
          <a:xfrm>
            <a:off x="623900" y="908050"/>
            <a:ext cx="10515600" cy="5881200"/>
          </a:xfrm>
          <a:prstGeom prst="roundRect">
            <a:avLst>
              <a:gd name="adj" fmla="val 1364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90" name="Google Shape;1390;p86"/>
          <p:cNvSpPr/>
          <p:nvPr/>
        </p:nvSpPr>
        <p:spPr>
          <a:xfrm>
            <a:off x="806790" y="1072649"/>
            <a:ext cx="109800" cy="109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91" name="Google Shape;1391;p86"/>
          <p:cNvSpPr/>
          <p:nvPr/>
        </p:nvSpPr>
        <p:spPr>
          <a:xfrm>
            <a:off x="971382" y="1072649"/>
            <a:ext cx="109800" cy="10980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92" name="Google Shape;1392;p86"/>
          <p:cNvSpPr/>
          <p:nvPr/>
        </p:nvSpPr>
        <p:spPr>
          <a:xfrm>
            <a:off x="1135974" y="1072649"/>
            <a:ext cx="109800" cy="1098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393" name="Google Shape;1393;p86"/>
          <p:cNvSpPr/>
          <p:nvPr/>
        </p:nvSpPr>
        <p:spPr>
          <a:xfrm>
            <a:off x="1355430" y="1008641"/>
            <a:ext cx="9601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lang="en-US" sz="11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Codex-critic의 의심 항목 확인</a:t>
            </a:r>
            <a:endParaRPr sz="11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394" name="Google Shape;1394;p86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활용 실습 — detail_dashboard 정렬 검증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395" name="Google Shape;139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00" y="2059988"/>
            <a:ext cx="10515599" cy="2630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86"/>
          <p:cNvSpPr/>
          <p:nvPr/>
        </p:nvSpPr>
        <p:spPr>
          <a:xfrm>
            <a:off x="838208" y="554205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4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flavor: Codex 검증에서 의심 항목 발견.</a:t>
            </a:r>
            <a:endParaRPr sz="14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4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두 항목 모두 코드 결함보다는 설계 의도와 요구사항 해석 확인이 필요한 사항으로 판단해 코드는 변경하지 않았다. </a:t>
            </a:r>
            <a:endParaRPr sz="14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87"/>
          <p:cNvSpPr/>
          <p:nvPr/>
        </p:nvSpPr>
        <p:spPr>
          <a:xfrm>
            <a:off x="623900" y="908050"/>
            <a:ext cx="10515600" cy="5881200"/>
          </a:xfrm>
          <a:prstGeom prst="roundRect">
            <a:avLst>
              <a:gd name="adj" fmla="val 1364"/>
            </a:avLst>
          </a:prstGeom>
          <a:solidFill>
            <a:srgbClr val="0F1E2E"/>
          </a:solidFill>
          <a:ln>
            <a:noFill/>
          </a:ln>
          <a:effectLst>
            <a:outerShdw blurRad="88900" dist="38100" dir="5400000" algn="bl" rotWithShape="0">
              <a:srgbClr val="000000">
                <a:alpha val="1608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403" name="Google Shape;1403;p87"/>
          <p:cNvSpPr/>
          <p:nvPr/>
        </p:nvSpPr>
        <p:spPr>
          <a:xfrm>
            <a:off x="806790" y="1072649"/>
            <a:ext cx="109800" cy="1098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404" name="Google Shape;1404;p87"/>
          <p:cNvSpPr/>
          <p:nvPr/>
        </p:nvSpPr>
        <p:spPr>
          <a:xfrm>
            <a:off x="971382" y="1072649"/>
            <a:ext cx="109800" cy="10980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405" name="Google Shape;1405;p87"/>
          <p:cNvSpPr/>
          <p:nvPr/>
        </p:nvSpPr>
        <p:spPr>
          <a:xfrm>
            <a:off x="1135974" y="1072649"/>
            <a:ext cx="109800" cy="1098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Calibri"/>
              <a:sym typeface="Calibri"/>
            </a:endParaRPr>
          </a:p>
        </p:txBody>
      </p:sp>
      <p:sp>
        <p:nvSpPr>
          <p:cNvPr id="1406" name="Google Shape;1406;p87"/>
          <p:cNvSpPr/>
          <p:nvPr/>
        </p:nvSpPr>
        <p:spPr>
          <a:xfrm>
            <a:off x="1355430" y="1008641"/>
            <a:ext cx="9601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Arial"/>
              <a:buNone/>
            </a:pPr>
            <a:r>
              <a:rPr lang="en-US" sz="11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산출물 확인</a:t>
            </a:r>
            <a:endParaRPr sz="11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1407" name="Google Shape;1407;p87"/>
          <p:cNvSpPr txBox="1">
            <a:spLocks noGrp="1"/>
          </p:cNvSpPr>
          <p:nvPr>
            <p:ph type="body" idx="1"/>
          </p:nvPr>
        </p:nvSpPr>
        <p:spPr>
          <a:xfrm>
            <a:off x="623888" y="448700"/>
            <a:ext cx="109443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프리젠테이션 5 Medium" pitchFamily="2" charset="-127"/>
                <a:ea typeface="프리젠테이션 5 Medium" pitchFamily="2" charset="-127"/>
              </a:rPr>
              <a:t>Codex 활용 실습 — detail_dashboard 정렬 검증</a:t>
            </a:r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408" name="Google Shape;140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850" y="2220263"/>
            <a:ext cx="10435700" cy="24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87"/>
          <p:cNvSpPr/>
          <p:nvPr/>
        </p:nvSpPr>
        <p:spPr>
          <a:xfrm>
            <a:off x="838208" y="554205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2F"/>
              </a:buClr>
              <a:buSzPts val="1150"/>
              <a:buFont typeface="Arial"/>
              <a:buNone/>
            </a:pPr>
            <a:r>
              <a:rPr lang="en-US" sz="1450">
                <a:solidFill>
                  <a:schemeClr val="lt1"/>
                </a:solidFill>
                <a:latin typeface="프리젠테이션 5 Medium" pitchFamily="2" charset="-127"/>
                <a:ea typeface="프리젠테이션 5 Medium" pitchFamily="2" charset="-127"/>
              </a:rPr>
              <a:t>flavor: 분석·검증 결과와 Codex 응답 원문을 작업 산출물로 저장</a:t>
            </a:r>
            <a:endParaRPr sz="1650">
              <a:solidFill>
                <a:schemeClr val="lt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FBFB0-A874-E939-4B5A-B1228ECC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43;p82">
            <a:extLst>
              <a:ext uri="{FF2B5EF4-FFF2-40B4-BE49-F238E27FC236}">
                <a16:creationId xmlns:a16="http://schemas.microsoft.com/office/drawing/2014/main" id="{C1C62B5C-D5CF-0962-BC49-AFD048D99293}"/>
              </a:ext>
            </a:extLst>
          </p:cNvPr>
          <p:cNvSpPr/>
          <p:nvPr/>
        </p:nvSpPr>
        <p:spPr>
          <a:xfrm>
            <a:off x="64008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및 테스트</a:t>
            </a:r>
            <a:endParaRPr sz="28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7" name="Google Shape;1344;p82">
            <a:extLst>
              <a:ext uri="{FF2B5EF4-FFF2-40B4-BE49-F238E27FC236}">
                <a16:creationId xmlns:a16="http://schemas.microsoft.com/office/drawing/2014/main" id="{321A8D00-C868-C208-D418-4EA4A514285D}"/>
              </a:ext>
            </a:extLst>
          </p:cNvPr>
          <p:cNvSpPr/>
          <p:nvPr/>
        </p:nvSpPr>
        <p:spPr>
          <a:xfrm>
            <a:off x="1325875" y="1355603"/>
            <a:ext cx="10242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en-US" sz="28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endParaRPr lang="en-US" sz="28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 dirty="0">
                <a:solidFill>
                  <a:srgbClr val="A5A5A5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ko-KR" altLang="en-US" sz="2800" dirty="0">
                <a:solidFill>
                  <a:srgbClr val="A5A5A5"/>
                </a:solidFill>
                <a:latin typeface="프리젠테이션 5 Medium" pitchFamily="2" charset="-127"/>
                <a:ea typeface="프리젠테이션 5 Medium" pitchFamily="2" charset="-127"/>
              </a:rPr>
              <a:t>워커 테스트</a:t>
            </a:r>
            <a:endParaRPr sz="2800" dirty="0">
              <a:solidFill>
                <a:srgbClr val="A5A5A5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6103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7CCC3-16D1-3480-83E5-2A9B986E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4C94E99-011A-53D0-4EBB-8C800F7E001F}"/>
              </a:ext>
            </a:extLst>
          </p:cNvPr>
          <p:cNvSpPr/>
          <p:nvPr/>
        </p:nvSpPr>
        <p:spPr>
          <a:xfrm>
            <a:off x="623888" y="1358721"/>
            <a:ext cx="8297443" cy="495000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B51F2B5-CE63-B7E3-BC71-52E7A5F8D3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6467"/>
          <a:stretch>
            <a:fillRect/>
          </a:stretch>
        </p:blipFill>
        <p:spPr>
          <a:xfrm>
            <a:off x="694681" y="1620881"/>
            <a:ext cx="8155855" cy="143031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4B72928-7B45-0387-B57E-6B619E3E40E9}"/>
              </a:ext>
            </a:extLst>
          </p:cNvPr>
          <p:cNvSpPr/>
          <p:nvPr/>
        </p:nvSpPr>
        <p:spPr>
          <a:xfrm>
            <a:off x="694680" y="1880437"/>
            <a:ext cx="8087370" cy="1704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85E4B2-9A8D-CDCB-3074-5CAEA7C728AA}"/>
              </a:ext>
            </a:extLst>
          </p:cNvPr>
          <p:cNvSpPr/>
          <p:nvPr/>
        </p:nvSpPr>
        <p:spPr>
          <a:xfrm>
            <a:off x="694680" y="2114369"/>
            <a:ext cx="8087370" cy="5955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B4FD84F-85EC-22D0-C1CD-39CC4BEA10EC}"/>
              </a:ext>
            </a:extLst>
          </p:cNvPr>
          <p:cNvSpPr/>
          <p:nvPr/>
        </p:nvSpPr>
        <p:spPr>
          <a:xfrm>
            <a:off x="410613" y="183066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2DC2FC-9AA1-581D-C3FA-9985F9F43CFF}"/>
              </a:ext>
            </a:extLst>
          </p:cNvPr>
          <p:cNvSpPr>
            <a:spLocks noChangeAspect="1"/>
          </p:cNvSpPr>
          <p:nvPr/>
        </p:nvSpPr>
        <p:spPr>
          <a:xfrm>
            <a:off x="435385" y="2245882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BD22478-06F6-0C69-39AE-A396F2DFFE44}"/>
              </a:ext>
            </a:extLst>
          </p:cNvPr>
          <p:cNvSpPr/>
          <p:nvPr/>
        </p:nvSpPr>
        <p:spPr>
          <a:xfrm>
            <a:off x="8992125" y="1358719"/>
            <a:ext cx="2575987" cy="495000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쉘에서 다음을 입력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 PowerShell</a:t>
            </a:r>
          </a:p>
          <a:p>
            <a:r>
              <a:rPr lang="en-US" altLang="ko-KR" sz="9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irm</a:t>
            </a:r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'https://cursor.com/install?win32=true' | </a:t>
            </a:r>
            <a:r>
              <a:rPr lang="en-US" altLang="ko-KR" sz="9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iex</a:t>
            </a:r>
            <a:endParaRPr lang="en-US" altLang="ko-KR" sz="9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 Linux / WSL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curl https://cursor.com/install -</a:t>
            </a:r>
            <a:r>
              <a:rPr lang="en-US" altLang="ko-KR" sz="9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fsS</a:t>
            </a:r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| bash</a:t>
            </a:r>
          </a:p>
          <a:p>
            <a:endParaRPr lang="en-US" altLang="ko-KR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 설치 진행중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agent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–version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설치 확인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및 버전 확인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F3929C77-73B5-82D4-B2E2-4757C6F56A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Cursor CLI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23CC7A2-AC9E-1F13-8335-0BC5CD6778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547C586-0442-5D35-3FD6-8796CD1598FC}"/>
              </a:ext>
            </a:extLst>
          </p:cNvPr>
          <p:cNvSpPr>
            <a:spLocks noChangeAspect="1"/>
          </p:cNvSpPr>
          <p:nvPr/>
        </p:nvSpPr>
        <p:spPr>
          <a:xfrm>
            <a:off x="435385" y="3366867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709FA03-F9D0-9C1D-EB59-F304BC5844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679" y="3114675"/>
            <a:ext cx="8155856" cy="172390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720F36-B932-39DC-797F-79F782708854}"/>
              </a:ext>
            </a:extLst>
          </p:cNvPr>
          <p:cNvSpPr/>
          <p:nvPr/>
        </p:nvSpPr>
        <p:spPr>
          <a:xfrm>
            <a:off x="694680" y="3506272"/>
            <a:ext cx="8087370" cy="10786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0162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3E48-298F-1F24-72B6-3A480B5DA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B4B2A97-D8D0-E82E-FED8-E152AF8A98DB}"/>
              </a:ext>
            </a:extLst>
          </p:cNvPr>
          <p:cNvSpPr/>
          <p:nvPr/>
        </p:nvSpPr>
        <p:spPr>
          <a:xfrm>
            <a:off x="623887" y="1300766"/>
            <a:ext cx="8297443" cy="495000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1BFA875-C1BD-A80C-9423-68CDC2161148}"/>
              </a:ext>
            </a:extLst>
          </p:cNvPr>
          <p:cNvSpPr/>
          <p:nvPr/>
        </p:nvSpPr>
        <p:spPr>
          <a:xfrm>
            <a:off x="410613" y="2287859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A331631-BA7A-D5E2-3799-FF42546D4BD0}"/>
              </a:ext>
            </a:extLst>
          </p:cNvPr>
          <p:cNvSpPr>
            <a:spLocks noChangeAspect="1"/>
          </p:cNvSpPr>
          <p:nvPr/>
        </p:nvSpPr>
        <p:spPr>
          <a:xfrm>
            <a:off x="435385" y="2915590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1BAD113-C526-A371-5623-8C09F8751DC7}"/>
              </a:ext>
            </a:extLst>
          </p:cNvPr>
          <p:cNvSpPr/>
          <p:nvPr/>
        </p:nvSpPr>
        <p:spPr>
          <a:xfrm>
            <a:off x="8992125" y="1358719"/>
            <a:ext cx="2575987" cy="495000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⑤ 자동 팝업이 뜨지만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뜨지 않을 경우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해당 링크를 복사하여 브라우저에 붙여넣기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⑥ 로그인 진행 및 승인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FB31A96B-1A4D-AFE1-3B02-2F2D9D907D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Cursor CLI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9365E59-D5D0-B684-32FE-E6453BF562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2405A9-C4BB-95E4-D4A5-37FC89BC7E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682" y="1432423"/>
            <a:ext cx="8155854" cy="216691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0B6FF2-26DA-85DD-B79A-582C671EFAD2}"/>
              </a:ext>
            </a:extLst>
          </p:cNvPr>
          <p:cNvSpPr/>
          <p:nvPr/>
        </p:nvSpPr>
        <p:spPr>
          <a:xfrm>
            <a:off x="694680" y="2337633"/>
            <a:ext cx="8087370" cy="1704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E774AD-2E1F-A8EC-719E-C2EBE5C6F8A5}"/>
              </a:ext>
            </a:extLst>
          </p:cNvPr>
          <p:cNvSpPr/>
          <p:nvPr/>
        </p:nvSpPr>
        <p:spPr>
          <a:xfrm>
            <a:off x="694680" y="2784077"/>
            <a:ext cx="8087370" cy="5955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4EF68E-8B6B-CB30-4005-9BFE6E477E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7871" y="3655649"/>
            <a:ext cx="4573149" cy="212907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0635DF-1C06-0C13-AB0F-5A72D3D324EC}"/>
              </a:ext>
            </a:extLst>
          </p:cNvPr>
          <p:cNvSpPr/>
          <p:nvPr/>
        </p:nvSpPr>
        <p:spPr>
          <a:xfrm>
            <a:off x="1217335" y="3800576"/>
            <a:ext cx="2878147" cy="3022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851110A-DC71-3A3A-3BD1-9B56BDCA1286}"/>
              </a:ext>
            </a:extLst>
          </p:cNvPr>
          <p:cNvSpPr>
            <a:spLocks noChangeAspect="1"/>
          </p:cNvSpPr>
          <p:nvPr/>
        </p:nvSpPr>
        <p:spPr>
          <a:xfrm>
            <a:off x="1078397" y="3637373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A1B1943-A0C1-F0A8-AAF8-B11EBE25EB5C}"/>
              </a:ext>
            </a:extLst>
          </p:cNvPr>
          <p:cNvCxnSpPr/>
          <p:nvPr/>
        </p:nvCxnSpPr>
        <p:spPr>
          <a:xfrm>
            <a:off x="3644721" y="3379657"/>
            <a:ext cx="0" cy="3927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93872C-0D97-4E06-7F56-9219E0FBA88A}"/>
              </a:ext>
            </a:extLst>
          </p:cNvPr>
          <p:cNvSpPr/>
          <p:nvPr/>
        </p:nvSpPr>
        <p:spPr>
          <a:xfrm>
            <a:off x="1918952" y="4848896"/>
            <a:ext cx="431442" cy="9659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80A202-4327-D198-AFBE-5ECE9A14B063}"/>
              </a:ext>
            </a:extLst>
          </p:cNvPr>
          <p:cNvSpPr/>
          <p:nvPr/>
        </p:nvSpPr>
        <p:spPr>
          <a:xfrm>
            <a:off x="2923785" y="5333162"/>
            <a:ext cx="1422835" cy="3022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2CA8EB1-CD2D-20F5-350D-714264783D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97989" y="4660598"/>
            <a:ext cx="3186372" cy="1133343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584A6EE-E29D-A1E6-9973-BB39752FC8FA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346620" y="5227270"/>
            <a:ext cx="1151369" cy="2570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EED74553-91B6-B21E-E323-2603FF94B8DA}"/>
              </a:ext>
            </a:extLst>
          </p:cNvPr>
          <p:cNvSpPr>
            <a:spLocks noChangeAspect="1"/>
          </p:cNvSpPr>
          <p:nvPr/>
        </p:nvSpPr>
        <p:spPr>
          <a:xfrm>
            <a:off x="2753388" y="5155577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1833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4EECE-673F-CA97-0C5D-B893344C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0BD0C0-D474-F441-E532-9B1F4E091765}"/>
              </a:ext>
            </a:extLst>
          </p:cNvPr>
          <p:cNvSpPr/>
          <p:nvPr/>
        </p:nvSpPr>
        <p:spPr>
          <a:xfrm>
            <a:off x="623887" y="1300766"/>
            <a:ext cx="8297443" cy="495000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2C600DB-68E4-6306-0A35-33D6AA739D52}"/>
              </a:ext>
            </a:extLst>
          </p:cNvPr>
          <p:cNvSpPr/>
          <p:nvPr/>
        </p:nvSpPr>
        <p:spPr>
          <a:xfrm>
            <a:off x="8992125" y="1358719"/>
            <a:ext cx="2575987" cy="495000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⑦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agent status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입력으로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정상 로그인 되었는지 확인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⑧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agent chat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명령어 입력 및 신뢰할 디렉토리로 승인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⑨ 원하는 작업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chat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가능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D7A7BC25-A8B3-EDCD-2C00-D2168E0AED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Cursor CLI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2BBDC18-9ACB-87E2-49C6-A1DC4BE292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629C431-4691-A2B7-AFA9-E97BD3F0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679" y="1358719"/>
            <a:ext cx="8155854" cy="3053873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766956A-13BA-2241-1659-94C25B45203F}"/>
              </a:ext>
            </a:extLst>
          </p:cNvPr>
          <p:cNvSpPr/>
          <p:nvPr/>
        </p:nvSpPr>
        <p:spPr>
          <a:xfrm>
            <a:off x="435385" y="1617973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7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E9039B3-C966-C7E7-D540-4B1A4CA3A53C}"/>
              </a:ext>
            </a:extLst>
          </p:cNvPr>
          <p:cNvSpPr>
            <a:spLocks noChangeAspect="1"/>
          </p:cNvSpPr>
          <p:nvPr/>
        </p:nvSpPr>
        <p:spPr>
          <a:xfrm>
            <a:off x="435835" y="1983639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69A4E1-81EC-DB05-83EA-6EFC897D21C9}"/>
              </a:ext>
            </a:extLst>
          </p:cNvPr>
          <p:cNvSpPr/>
          <p:nvPr/>
        </p:nvSpPr>
        <p:spPr>
          <a:xfrm>
            <a:off x="694680" y="1617973"/>
            <a:ext cx="3400802" cy="2687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4202DC-9B96-368B-A1DF-8B2EB0532470}"/>
              </a:ext>
            </a:extLst>
          </p:cNvPr>
          <p:cNvSpPr/>
          <p:nvPr/>
        </p:nvSpPr>
        <p:spPr>
          <a:xfrm>
            <a:off x="694680" y="1887972"/>
            <a:ext cx="7992120" cy="25230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65D205-8CA4-201B-A954-2213C773F840}"/>
              </a:ext>
            </a:extLst>
          </p:cNvPr>
          <p:cNvSpPr/>
          <p:nvPr/>
        </p:nvSpPr>
        <p:spPr>
          <a:xfrm>
            <a:off x="2134673" y="1778754"/>
            <a:ext cx="557012" cy="9659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3749A92B-3422-6222-5025-BC21305CD7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678" y="4433329"/>
            <a:ext cx="8155855" cy="1913107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766BE365-A8C3-ADC8-93BB-D06BF9A0B9BF}"/>
              </a:ext>
            </a:extLst>
          </p:cNvPr>
          <p:cNvSpPr>
            <a:spLocks noChangeAspect="1"/>
          </p:cNvSpPr>
          <p:nvPr/>
        </p:nvSpPr>
        <p:spPr>
          <a:xfrm>
            <a:off x="488881" y="6001507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9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56920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606DF-696A-D2B0-4C6D-B396D279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43;p82">
            <a:extLst>
              <a:ext uri="{FF2B5EF4-FFF2-40B4-BE49-F238E27FC236}">
                <a16:creationId xmlns:a16="http://schemas.microsoft.com/office/drawing/2014/main" id="{A42825C9-F9A8-6A46-F45F-147DDA8BBA00}"/>
              </a:ext>
            </a:extLst>
          </p:cNvPr>
          <p:cNvSpPr/>
          <p:nvPr/>
        </p:nvSpPr>
        <p:spPr>
          <a:xfrm>
            <a:off x="64008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en-US" sz="2800" dirty="0" err="1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r>
              <a:rPr 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2800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</a:rPr>
              <a:t>및 테스트</a:t>
            </a:r>
            <a:endParaRPr sz="28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rial"/>
              <a:sym typeface="Arial"/>
            </a:endParaRPr>
          </a:p>
        </p:txBody>
      </p:sp>
      <p:sp>
        <p:nvSpPr>
          <p:cNvPr id="7" name="Google Shape;1344;p82">
            <a:extLst>
              <a:ext uri="{FF2B5EF4-FFF2-40B4-BE49-F238E27FC236}">
                <a16:creationId xmlns:a16="http://schemas.microsoft.com/office/drawing/2014/main" id="{C0279FBF-27EB-3591-90FA-DADBDE9CC8F5}"/>
              </a:ext>
            </a:extLst>
          </p:cNvPr>
          <p:cNvSpPr/>
          <p:nvPr/>
        </p:nvSpPr>
        <p:spPr>
          <a:xfrm>
            <a:off x="1325875" y="1355603"/>
            <a:ext cx="10242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 dirty="0">
                <a:solidFill>
                  <a:srgbClr val="A5A5A5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en-US" sz="2800" dirty="0" err="1">
                <a:solidFill>
                  <a:srgbClr val="A5A5A5"/>
                </a:solidFill>
                <a:latin typeface="프리젠테이션 5 Medium" pitchFamily="2" charset="-127"/>
                <a:ea typeface="프리젠테이션 5 Medium" pitchFamily="2" charset="-127"/>
              </a:rPr>
              <a:t>설치·인증</a:t>
            </a:r>
            <a:endParaRPr lang="en-US" sz="2800" dirty="0">
              <a:solidFill>
                <a:srgbClr val="A5A5A5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AutoNum type="arabicPeriod"/>
            </a:pPr>
            <a:r>
              <a:rPr lang="en-US" sz="28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Cursor </a:t>
            </a:r>
            <a:r>
              <a:rPr lang="ko-KR" altLang="en-US" sz="28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워커 테스트</a:t>
            </a:r>
            <a:endParaRPr sz="28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5549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7486-083F-BA3A-4023-8E43BC68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B37C541-410B-8D38-2019-D96D85C7B37A}"/>
              </a:ext>
            </a:extLst>
          </p:cNvPr>
          <p:cNvSpPr/>
          <p:nvPr/>
        </p:nvSpPr>
        <p:spPr>
          <a:xfrm>
            <a:off x="623887" y="1300766"/>
            <a:ext cx="8297443" cy="495000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F63A446-8143-1ED2-0415-CC49460C925B}"/>
              </a:ext>
            </a:extLst>
          </p:cNvPr>
          <p:cNvSpPr/>
          <p:nvPr/>
        </p:nvSpPr>
        <p:spPr>
          <a:xfrm>
            <a:off x="8992125" y="1358719"/>
            <a:ext cx="2575987" cy="495000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 </a:t>
            </a:r>
            <a:r>
              <a:rPr lang="ko-KR" altLang="en-US" sz="12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스모크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테스트 진행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000" dirty="0" err="1">
                <a:highlight>
                  <a:srgbClr val="00FFFF"/>
                </a:highlight>
                <a:latin typeface="프리젠테이션 5 Medium" pitchFamily="2" charset="-127"/>
                <a:ea typeface="프리젠테이션 5 Medium" pitchFamily="2" charset="-127"/>
              </a:rPr>
              <a:t>요청문</a:t>
            </a:r>
            <a:r>
              <a:rPr lang="en-US" altLang="ko-KR" sz="1000" dirty="0">
                <a:highlight>
                  <a:srgbClr val="00FFFF"/>
                </a:highlight>
                <a:latin typeface="프리젠테이션 5 Medium" pitchFamily="2" charset="-127"/>
                <a:ea typeface="프리젠테이션 5 Medium" pitchFamily="2" charset="-127"/>
              </a:rPr>
              <a:t>:</a:t>
            </a:r>
          </a:p>
          <a:p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smoke test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진행해줘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en-US" altLang="ko-KR" sz="10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claude·agy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접속 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+ cursor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가용 모델 목록 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(26-07-15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기준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).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산출물은 </a:t>
            </a:r>
            <a:r>
              <a:rPr lang="en-US" altLang="ko-KR" sz="10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claude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결과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en-US" altLang="ko-KR" sz="10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agy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결과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,        </a:t>
            </a:r>
          </a:p>
          <a:p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cursor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은 조회 날짜와 함께 </a:t>
            </a:r>
            <a:r>
              <a:rPr lang="ko-KR" altLang="en-US" sz="10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벤더별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00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갯수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요약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. model-able-260715.txt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로 만들어줘</a:t>
            </a:r>
            <a:endParaRPr lang="en-US" altLang="ko-KR" sz="10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-1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새로운 </a:t>
            </a:r>
            <a:r>
              <a:rPr lang="ko-KR" altLang="en-US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파워쉘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열기 및 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MAT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 위치로 이동</a:t>
            </a: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-2 MAT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의 추적할 디렉토리 설정</a:t>
            </a:r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(Multi-agent-starter </a:t>
            </a:r>
            <a:r>
              <a:rPr lang="ko-KR" altLang="en-US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가 있는 디렉토리 주소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$</a:t>
            </a:r>
            <a:r>
              <a:rPr lang="en-US" altLang="ko-KR" sz="1050" dirty="0" err="1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env:MAT_ROOT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=“</a:t>
            </a:r>
            <a:r>
              <a:rPr lang="en-US" altLang="ko-KR" sz="1050" dirty="0">
                <a:highlight>
                  <a:srgbClr val="FFFF00"/>
                </a:highlight>
                <a:latin typeface="프리젠테이션 5 Medium" pitchFamily="2" charset="-127"/>
                <a:ea typeface="프리젠테이션 5 Medium" pitchFamily="2" charset="-127"/>
              </a:rPr>
              <a:t>multi-agent-starter</a:t>
            </a:r>
            <a:r>
              <a:rPr lang="ko-KR" altLang="en-US" sz="1050" dirty="0">
                <a:highlight>
                  <a:srgbClr val="FFFF00"/>
                </a:highlight>
                <a:latin typeface="프리젠테이션 5 Medium" pitchFamily="2" charset="-127"/>
                <a:ea typeface="프리젠테이션 5 Medium" pitchFamily="2" charset="-127"/>
              </a:rPr>
              <a:t>가 있는 디렉토리 주소</a:t>
            </a:r>
            <a:r>
              <a:rPr lang="en-US" altLang="ko-KR" sz="105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”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스크린샷 참고 </a:t>
            </a:r>
            <a:r>
              <a:rPr lang="en-US" altLang="ko-KR" sz="9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 C:/Users/gudtj/IdeaProjects/arms/YHS-MAS)</a:t>
            </a:r>
          </a:p>
          <a:p>
            <a:endParaRPr lang="en-US" altLang="ko-KR" sz="105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②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-3 MAT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endParaRPr lang="en-US" altLang="ko-KR" sz="10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 .\mat.exe 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③ </a:t>
            </a:r>
            <a:r>
              <a:rPr lang="en-US" altLang="ko-KR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 </a:t>
            </a:r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선택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①요청의 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task </a:t>
            </a:r>
            <a:r>
              <a:rPr lang="ko-KR" altLang="en-US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명 </a:t>
            </a:r>
            <a:r>
              <a:rPr lang="en-US" altLang="ko-KR" sz="1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= add-cursor-worker )</a:t>
            </a:r>
          </a:p>
          <a:p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0199C6A4-7608-FF7F-9147-92B2421189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Cursor CLI </a:t>
            </a:r>
            <a:r>
              <a:rPr lang="ko-KR" altLang="en-US" dirty="0"/>
              <a:t>워커 테스트 ①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5EC3BD8-0A67-BD80-4397-46846DA6482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08025E3-7EA1-4E7B-2A12-B73DBFD8E7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679" y="1358719"/>
            <a:ext cx="8155854" cy="1513269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C93D9DB-83B0-152E-3D59-34F664E4C449}"/>
              </a:ext>
            </a:extLst>
          </p:cNvPr>
          <p:cNvSpPr/>
          <p:nvPr/>
        </p:nvSpPr>
        <p:spPr>
          <a:xfrm>
            <a:off x="465427" y="1463306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42E6AD5-8199-30F0-5DC6-68068A45C5F2}"/>
              </a:ext>
            </a:extLst>
          </p:cNvPr>
          <p:cNvSpPr>
            <a:spLocks noChangeAspect="1"/>
          </p:cNvSpPr>
          <p:nvPr/>
        </p:nvSpPr>
        <p:spPr>
          <a:xfrm>
            <a:off x="424680" y="3065271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2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2D8754-0223-37C9-A92E-8F9CD282F99A}"/>
              </a:ext>
            </a:extLst>
          </p:cNvPr>
          <p:cNvSpPr/>
          <p:nvPr/>
        </p:nvSpPr>
        <p:spPr>
          <a:xfrm>
            <a:off x="694678" y="1546094"/>
            <a:ext cx="7464088" cy="4050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05DE038-F2E2-0267-3658-E321E9209C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61"/>
          <a:stretch>
            <a:fillRect/>
          </a:stretch>
        </p:blipFill>
        <p:spPr>
          <a:xfrm>
            <a:off x="696744" y="3833721"/>
            <a:ext cx="8153789" cy="174280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D2A092D-FF47-0FE4-D6D7-92A78E3F43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6744" y="2974928"/>
            <a:ext cx="8153789" cy="45068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E581677-5A5C-9728-E69B-E11DC70B7A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6744" y="3425613"/>
            <a:ext cx="8153789" cy="295794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424DE8-FA03-3159-171D-29A7F864E6ED}"/>
              </a:ext>
            </a:extLst>
          </p:cNvPr>
          <p:cNvSpPr/>
          <p:nvPr/>
        </p:nvSpPr>
        <p:spPr>
          <a:xfrm>
            <a:off x="696744" y="2967654"/>
            <a:ext cx="5575267" cy="7483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C9680C-1B6C-ED6D-7FB2-A06A01CA3678}"/>
              </a:ext>
            </a:extLst>
          </p:cNvPr>
          <p:cNvSpPr/>
          <p:nvPr/>
        </p:nvSpPr>
        <p:spPr>
          <a:xfrm>
            <a:off x="3464417" y="5042079"/>
            <a:ext cx="2479183" cy="26982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85DCF1C-5E0B-65E4-B188-9856EB9308C5}"/>
              </a:ext>
            </a:extLst>
          </p:cNvPr>
          <p:cNvSpPr>
            <a:spLocks noChangeAspect="1"/>
          </p:cNvSpPr>
          <p:nvPr/>
        </p:nvSpPr>
        <p:spPr>
          <a:xfrm>
            <a:off x="3157989" y="5041906"/>
            <a:ext cx="27000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2607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9EEC-D143-5318-DEEB-DFDCB2D4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15DFD50-14D2-E012-6E14-6F01A5F24D43}"/>
              </a:ext>
            </a:extLst>
          </p:cNvPr>
          <p:cNvSpPr/>
          <p:nvPr/>
        </p:nvSpPr>
        <p:spPr>
          <a:xfrm>
            <a:off x="623887" y="1300766"/>
            <a:ext cx="8297443" cy="495000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A447053-7752-CC03-82BF-97CADD859C91}"/>
              </a:ext>
            </a:extLst>
          </p:cNvPr>
          <p:cNvSpPr/>
          <p:nvPr/>
        </p:nvSpPr>
        <p:spPr>
          <a:xfrm>
            <a:off x="8992125" y="1358719"/>
            <a:ext cx="2575987" cy="4950004"/>
          </a:xfrm>
          <a:prstGeom prst="roundRect">
            <a:avLst>
              <a:gd name="adj" fmla="val 3658"/>
            </a:avLst>
          </a:prstGeom>
          <a:solidFill>
            <a:srgbClr val="0F1E2E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④ 커서가 워커로 작업이 이루어짐을 확인 </a:t>
            </a:r>
            <a:endParaRPr lang="en-US" altLang="ko-KR" sz="12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내용 개체 틀 31">
            <a:extLst>
              <a:ext uri="{FF2B5EF4-FFF2-40B4-BE49-F238E27FC236}">
                <a16:creationId xmlns:a16="http://schemas.microsoft.com/office/drawing/2014/main" id="{7AE93760-443B-60CC-48CE-9DDEED9135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Cursor CLI </a:t>
            </a:r>
            <a:r>
              <a:rPr lang="ko-KR" altLang="en-US" dirty="0"/>
              <a:t>워커 테스트 ②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04E709B-09D9-425B-558C-5FE8846FB6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888" y="908050"/>
            <a:ext cx="10944225" cy="54237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이미 설치한 상황이라면</a:t>
            </a:r>
            <a:r>
              <a:rPr lang="en-US" altLang="ko-KR" dirty="0"/>
              <a:t>, </a:t>
            </a:r>
            <a:r>
              <a:rPr lang="ko-KR" altLang="en-US" dirty="0"/>
              <a:t>다음 장으로 이동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896DF1-B3FD-D648-5DFA-B762277B7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54" y="1546094"/>
            <a:ext cx="8153108" cy="407655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AC370EE-402C-CFB5-9663-E4FFB49C62A6}"/>
              </a:ext>
            </a:extLst>
          </p:cNvPr>
          <p:cNvSpPr/>
          <p:nvPr/>
        </p:nvSpPr>
        <p:spPr>
          <a:xfrm>
            <a:off x="735877" y="3679267"/>
            <a:ext cx="7957362" cy="3656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ADEAD20-C2A7-87CD-0A01-1267003C678A}"/>
              </a:ext>
            </a:extLst>
          </p:cNvPr>
          <p:cNvSpPr/>
          <p:nvPr/>
        </p:nvSpPr>
        <p:spPr>
          <a:xfrm>
            <a:off x="579954" y="3679266"/>
            <a:ext cx="270450" cy="27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4</a:t>
            </a:r>
            <a:endParaRPr lang="ko-KR" altLang="en-US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4883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4862</TotalTime>
  <Words>8457</Words>
  <Application>Microsoft Office PowerPoint</Application>
  <PresentationFormat>와이드스크린</PresentationFormat>
  <Paragraphs>1427</Paragraphs>
  <Slides>87</Slides>
  <Notes>87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87</vt:i4>
      </vt:variant>
    </vt:vector>
  </HeadingPairs>
  <TitlesOfParts>
    <vt:vector size="95" baseType="lpstr">
      <vt:lpstr>Malgun Gothic</vt:lpstr>
      <vt:lpstr>프리젠테이션 5 Medium</vt:lpstr>
      <vt:lpstr>프리젠테이션 6 SemiBold</vt:lpstr>
      <vt:lpstr>Arial</vt:lpstr>
      <vt:lpstr>Calibri</vt:lpstr>
      <vt:lpstr>Consolas</vt:lpstr>
      <vt:lpstr>Noto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multi-agent-starter + MAT 핸드북</dc:title>
  <dc:subject>PptxGenJS Presentation</dc:subject>
  <dc:creator>PptxGenJS</dc:creator>
  <cp:lastModifiedBy>HyeongSeok Yang</cp:lastModifiedBy>
  <cp:revision>173</cp:revision>
  <dcterms:created xsi:type="dcterms:W3CDTF">2026-07-08T02:05:57Z</dcterms:created>
  <dcterms:modified xsi:type="dcterms:W3CDTF">2026-07-21T16:13:53Z</dcterms:modified>
</cp:coreProperties>
</file>