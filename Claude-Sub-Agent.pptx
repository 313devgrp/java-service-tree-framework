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35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4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hyper-mig.com/gitea/root/HyperMig/src/branch/main/claude-coding-agents-setup.tar.gz" TargetMode="External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01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822960"/>
            <a:ext cx="2286000" cy="566928"/>
          </a:xfrm>
          <a:prstGeom prst="roundRect">
            <a:avLst>
              <a:gd fmla="val 14516" name="adj"/>
            </a:avLst>
          </a:prstGeom>
          <a:solidFill>
            <a:srgbClr val="2C29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87552" y="1060704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188720" y="1060704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389888" y="1060704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600200" y="822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400" u="none" cap="none" strike="noStrik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00"/>
              <a:buFont typeface="Malgun Gothic"/>
              <a:buNone/>
            </a:pPr>
            <a:r>
              <a:rPr b="1" i="0" lang="en-US" sz="4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Code 설치 및 세팅 가이드</a:t>
            </a:r>
            <a:endParaRPr b="0" i="0" sz="4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41248" y="3520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2A7"/>
              </a:buClr>
              <a:buSzPts val="1700"/>
              <a:buFont typeface="Malgun Gothic"/>
              <a:buNone/>
            </a:pPr>
            <a:r>
              <a:rPr b="0" i="0" lang="en-US" sz="1700" u="none" cap="none" strike="noStrike">
                <a:solidFill>
                  <a:srgbClr val="B9B2A7"/>
                </a:solidFill>
                <a:latin typeface="Malgun Gothic"/>
                <a:ea typeface="Malgun Gothic"/>
                <a:cs typeface="Malgun Gothic"/>
                <a:sym typeface="Malgun Gothic"/>
              </a:rPr>
              <a:t>HyperMig 개발팀 온보딩  ·  처음 쓰는 분도 그대로 따라 하면 완료됩니다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41248" y="4023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378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8A83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소요 시간 약 20~30분  ·  명령어는 모두 복사해서 붙여넣으면 됩니다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960" y="5349240"/>
            <a:ext cx="1700784" cy="731520"/>
          </a:xfrm>
          <a:prstGeom prst="roundRect">
            <a:avLst>
              <a:gd fmla="val 10000" name="adj"/>
            </a:avLst>
          </a:prstGeom>
          <a:solidFill>
            <a:srgbClr val="2C2925"/>
          </a:solidFill>
          <a:ln cap="flat" cmpd="sng" w="9525">
            <a:solidFill>
              <a:srgbClr val="3A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69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651760" y="5349240"/>
            <a:ext cx="1700784" cy="731520"/>
          </a:xfrm>
          <a:prstGeom prst="roundRect">
            <a:avLst>
              <a:gd fmla="val 10000" name="adj"/>
            </a:avLst>
          </a:prstGeom>
          <a:solidFill>
            <a:srgbClr val="2C2925"/>
          </a:solidFill>
          <a:ln cap="flat" cmpd="sng" w="9525">
            <a:solidFill>
              <a:srgbClr val="3A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7980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실행·로그인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480560" y="5349240"/>
            <a:ext cx="1700784" cy="731520"/>
          </a:xfrm>
          <a:prstGeom prst="roundRect">
            <a:avLst>
              <a:gd fmla="val 10000" name="adj"/>
            </a:avLst>
          </a:prstGeom>
          <a:solidFill>
            <a:srgbClr val="2C2925"/>
          </a:solidFill>
          <a:ln cap="flat" cmpd="sng" w="9525">
            <a:solidFill>
              <a:srgbClr val="3A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6268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309360" y="5349240"/>
            <a:ext cx="1700784" cy="731520"/>
          </a:xfrm>
          <a:prstGeom prst="roundRect">
            <a:avLst>
              <a:gd fmla="val 10000" name="adj"/>
            </a:avLst>
          </a:prstGeom>
          <a:solidFill>
            <a:srgbClr val="2C2925"/>
          </a:solidFill>
          <a:ln cap="flat" cmpd="sng" w="9525">
            <a:solidFill>
              <a:srgbClr val="3A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4556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138160" y="5349240"/>
            <a:ext cx="1700784" cy="731520"/>
          </a:xfrm>
          <a:prstGeom prst="roundRect">
            <a:avLst>
              <a:gd fmla="val 10000" name="adj"/>
            </a:avLst>
          </a:prstGeom>
          <a:solidFill>
            <a:srgbClr val="2C2925"/>
          </a:solidFill>
          <a:ln cap="flat" cmpd="sng" w="9525">
            <a:solidFill>
              <a:srgbClr val="3A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82844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9966960" y="5349240"/>
            <a:ext cx="1700784" cy="731520"/>
          </a:xfrm>
          <a:prstGeom prst="roundRect">
            <a:avLst>
              <a:gd fmla="val 10000" name="adj"/>
            </a:avLst>
          </a:prstGeom>
          <a:solidFill>
            <a:srgbClr val="2C2925"/>
          </a:solidFill>
          <a:ln cap="flat" cmpd="sng" w="9525">
            <a:solidFill>
              <a:srgbClr val="3A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0113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502920" y="3840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시작하기 전에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 여는 방법부터 확인하세요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21208" y="11430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가이드의 모든 명령어는 “터미널”이라는 검은 입력 창에 입력합니다. 내 환경에 맞는 방법으로 터미널을 열어 두세요.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02920" y="1828800"/>
            <a:ext cx="3639312" cy="3017520"/>
          </a:xfrm>
          <a:prstGeom prst="roundRect">
            <a:avLst>
              <a:gd fmla="val 2727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77240" y="21031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56" y="22311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777240" y="2788920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b="1" i="0" lang="en-US" sz="16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77240" y="3200400"/>
            <a:ext cx="309067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 메뉴에서 </a:t>
            </a:r>
            <a:r>
              <a:rPr b="1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PowerShell</a:t>
            </a: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을 검색해 실행합니다.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또는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윈도우 키 + R</a:t>
            </a: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→ “powershell” 입력 → Enter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288536" y="1828800"/>
            <a:ext cx="3639312" cy="3017520"/>
          </a:xfrm>
          <a:prstGeom prst="roundRect">
            <a:avLst>
              <a:gd fmla="val 2727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562856" y="21031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0872" y="22311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4562856" y="2788920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b="1" i="0" lang="en-US" sz="16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macOS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62856" y="3200400"/>
            <a:ext cx="309067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⌘ + Space</a:t>
            </a: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로 Spotlight를 열고 </a:t>
            </a:r>
            <a:r>
              <a:rPr b="1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</a:t>
            </a: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을 검색해 실행합니다.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074152" y="1828800"/>
            <a:ext cx="3639312" cy="3017520"/>
          </a:xfrm>
          <a:prstGeom prst="roundRect">
            <a:avLst>
              <a:gd fmla="val 2727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8348472" y="21031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6488" y="22311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8348472" y="2788920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b="1" i="0" lang="en-US" sz="16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안에서 (권장)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348472" y="3200400"/>
            <a:ext cx="309067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하단의 </a:t>
            </a:r>
            <a:r>
              <a:rPr b="1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 탭</a:t>
            </a: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을 클릭합니다.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단축키: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Alt + F12</a:t>
            </a: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(macOS: ⌥ + F12)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폴더에서 바로 열려 편리합니다.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02920" y="5166360"/>
            <a:ext cx="11183112" cy="1097280"/>
          </a:xfrm>
          <a:prstGeom prst="roundRect">
            <a:avLst>
              <a:gd fmla="val 7500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777240" y="5166360"/>
            <a:ext cx="10607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복사 · 붙여넣기만 하면 됩니다  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가이드의 명령어를 드래그해 복사(Ctrl+C)한 뒤 터미널에 붙여넣고 Enter를 누르세요.  붙여넣기: Windows PowerShell은 </a:t>
            </a:r>
            <a:r>
              <a:rPr b="1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마우스 우클릭</a:t>
            </a: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또는 Ctrl+V,  macOS는 ⌘+V 입니다.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502920" y="3840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흐름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여섯 단계만 따라 하면 끝납니다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21208" y="11430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단계마다 “어떻게 하는지”와 “어떤 화면이 나오면 성공인지”를 함께 안내합니다.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02920" y="1783080"/>
            <a:ext cx="3611880" cy="2057400"/>
          </a:xfrm>
          <a:prstGeom prst="roundRect">
            <a:avLst>
              <a:gd fmla="val 4000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77240" y="205740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56" y="21854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3337560" y="202082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77240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77240" y="31363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터미널에 설치 명령어를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붙여넣고 Enter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315968" y="1783080"/>
            <a:ext cx="3611880" cy="2057400"/>
          </a:xfrm>
          <a:prstGeom prst="roundRect">
            <a:avLst>
              <a:gd fmla="val 4000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590288" y="205740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8304" y="21854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7150608" y="202082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90288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 · 로그인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90288" y="31363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입력 → 화면에서 1번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→ 브라우저에서 로그인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8129016" y="1783080"/>
            <a:ext cx="3611880" cy="2057400"/>
          </a:xfrm>
          <a:prstGeom prst="roundRect">
            <a:avLst>
              <a:gd fmla="val 4000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403336" y="205740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1352" y="21854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10963656" y="202082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8403336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403336" y="31363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플러그인 설치 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아이콘으로 실행 확인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02920" y="4114800"/>
            <a:ext cx="3611880" cy="2057400"/>
          </a:xfrm>
          <a:prstGeom prst="roundRect">
            <a:avLst>
              <a:gd fmla="val 4000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77240" y="438912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5256" y="45171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3337560" y="435254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77240" y="50749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77240" y="546811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세팅 파일 압축 해제 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 한 줄 입력하면 자동 진행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315968" y="4114800"/>
            <a:ext cx="3611880" cy="2057400"/>
          </a:xfrm>
          <a:prstGeom prst="roundRect">
            <a:avLst>
              <a:gd fmla="val 4000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90288" y="438912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8304" y="45171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7150608" y="435254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90288" y="50749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90288" y="546811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에이전트 목록이 표로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출력되는지 확인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129016" y="4114800"/>
            <a:ext cx="3611880" cy="2057400"/>
          </a:xfrm>
          <a:prstGeom prst="roundRect">
            <a:avLst>
              <a:gd fmla="val 4000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8403336" y="438912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1352" y="45171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10963656" y="435254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403336" y="50749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403336" y="546811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프롬프트를 입력해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동작을 최종 확인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Code 설치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환경에 맞는 카드 하나를 골라, 명령어를 통째로 복사해 터미널에 붙여넣고 Enter를 누르세요.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02920" y="1874520"/>
            <a:ext cx="3639312" cy="3611880"/>
          </a:xfrm>
          <a:prstGeom prst="roundRect">
            <a:avLst>
              <a:gd fmla="val 2278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777240" y="2130552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b="1" i="0" lang="en-US" sz="16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macOS · Linux · WSL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777240" y="2532888"/>
            <a:ext cx="3090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Mac이나 Linux를 쓴다면 이 명령어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777240" y="3246120"/>
            <a:ext cx="3090672" cy="1920240"/>
          </a:xfrm>
          <a:prstGeom prst="roundRect">
            <a:avLst>
              <a:gd fmla="val 4286" name="adj"/>
            </a:avLst>
          </a:prstGeom>
          <a:solidFill>
            <a:srgbClr val="2C2925"/>
          </a:solidFill>
          <a:ln>
            <a:noFill/>
          </a:ln>
          <a:effectLst>
            <a:outerShdw blurRad="1270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978408" y="3429000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1179576" y="3429000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1380744" y="3429000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1033272" y="3630168"/>
            <a:ext cx="25786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150" u="none" cap="none" strike="noStrik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curl -fsSL https://claude.ai/install.sh | bash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288536" y="1874520"/>
            <a:ext cx="3639312" cy="3611880"/>
          </a:xfrm>
          <a:prstGeom prst="roundRect">
            <a:avLst>
              <a:gd fmla="val 2278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562856" y="2130552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b="1" i="0" lang="en-US" sz="16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 PowerShell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562856" y="2532888"/>
            <a:ext cx="3090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Windows라면 이 명령어 (권장)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62856" y="3246120"/>
            <a:ext cx="3090672" cy="1920240"/>
          </a:xfrm>
          <a:prstGeom prst="roundRect">
            <a:avLst>
              <a:gd fmla="val 4286" name="adj"/>
            </a:avLst>
          </a:prstGeom>
          <a:solidFill>
            <a:srgbClr val="2C2925"/>
          </a:solidFill>
          <a:ln>
            <a:noFill/>
          </a:ln>
          <a:effectLst>
            <a:outerShdw blurRad="1270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764024" y="3429000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965192" y="3429000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166360" y="3429000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818888" y="3630168"/>
            <a:ext cx="25786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PS&gt; </a:t>
            </a:r>
            <a:r>
              <a:rPr b="0" i="0" lang="en-US" sz="1150" u="none" cap="none" strike="noStrik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irm https://claude.ai/install.ps1 | iex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074152" y="1874520"/>
            <a:ext cx="3639312" cy="3611880"/>
          </a:xfrm>
          <a:prstGeom prst="roundRect">
            <a:avLst>
              <a:gd fmla="val 2278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8348472" y="2130552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b="1" i="0" lang="en-US" sz="16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 CMD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8348472" y="2532888"/>
            <a:ext cx="3090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명령 프롬프트(cmd)를 쓸 때만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8348472" y="3246120"/>
            <a:ext cx="3090672" cy="1920240"/>
          </a:xfrm>
          <a:prstGeom prst="roundRect">
            <a:avLst>
              <a:gd fmla="val 4286" name="adj"/>
            </a:avLst>
          </a:prstGeom>
          <a:solidFill>
            <a:srgbClr val="2C2925"/>
          </a:solidFill>
          <a:ln>
            <a:noFill/>
          </a:ln>
          <a:effectLst>
            <a:outerShdw blurRad="1270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549640" y="3429000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8750808" y="3429000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8951976" y="3429000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604504" y="3630168"/>
            <a:ext cx="25786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en-US" sz="1150" u="none" cap="none" strike="noStrik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curl -fsSL https://claude.ai/install.cmd -o install.cmd &amp;&amp; install.cmd &amp;&amp; del install.cmd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02920" y="5715000"/>
            <a:ext cx="11183112" cy="777240"/>
          </a:xfrm>
          <a:prstGeom prst="roundRect">
            <a:avLst>
              <a:gd fmla="val 9412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59756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1069848" y="5715000"/>
            <a:ext cx="10433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설치가 끝나면 터미널을 완전히 닫았다가 새로 연 뒤  </a:t>
            </a:r>
            <a:r>
              <a:rPr b="1" i="0" lang="en-US" sz="11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claude --version</a:t>
            </a: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을 입력해 보세요. 버전 번호(예: 2.1.207)가 나오면 성공입니다. “명령을 찾을 수 없음”이 나오면 터미널을 다시 열어 재시도하세요.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Code 실행하기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설치가 끝났다면 이제 실행해 봅니다. 터미널에 딱 한 단어만 입력하면 됩니다.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02920" y="182880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02920" y="1828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78408" y="1837944"/>
            <a:ext cx="4736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폴더로 이동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78408" y="2157984"/>
            <a:ext cx="4736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하단 터미널을 쓰면 이미 프로젝트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폴더라서 이 단계는 건너뛰어도 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터미널이라면 cd 폴더경로 로 이동하세요.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02920" y="297180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502920" y="2971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978408" y="2980944"/>
            <a:ext cx="4736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입력 후 Enter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978408" y="3300984"/>
            <a:ext cx="47365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소문자로 claude 라고만 입력하면 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02920" y="365760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502920" y="3657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978408" y="3666744"/>
            <a:ext cx="4736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잠시 기다리기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978408" y="3986784"/>
            <a:ext cx="47365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몇 초 뒤 오른쪽과 같은 환영 화면이 나타나고,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처음 실행이라면 로그인 화면으로 이어집니다.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02920" y="4709160"/>
            <a:ext cx="5212080" cy="1371600"/>
          </a:xfrm>
          <a:prstGeom prst="roundRect">
            <a:avLst>
              <a:gd fmla="val 5333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5266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1069848" y="4709160"/>
            <a:ext cx="446227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Code 로고 배너와 버전 정보가 보이면 정상 실행된 것입니다. 종료하고 싶을 땐  </a:t>
            </a:r>
            <a:r>
              <a:rPr b="1" i="0" lang="en-US" sz="11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/exit</a:t>
            </a: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를 입력하거나 Ctrl+C를 두 번 누르면 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126480" y="1783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실행하면 이런 화면이 나옵니다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126480" y="22128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터미널에 claude 를 입력한 모습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080760" y="2496312"/>
            <a:ext cx="5650992" cy="402857"/>
          </a:xfrm>
          <a:prstGeom prst="roundRect">
            <a:avLst>
              <a:gd fmla="val 15889" name="adj"/>
            </a:avLst>
          </a:prstGeom>
          <a:solidFill>
            <a:srgbClr val="FFFFFF"/>
          </a:solidFill>
          <a:ln cap="flat" cmpd="sng" w="12700">
            <a:solidFill>
              <a:srgbClr val="E4E0D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run_prompt.png" id="166" name="Google Shape;1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2542032"/>
            <a:ext cx="5559552" cy="31141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6126480" y="33101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Enter를 누르면 잠시 후 환영 화면이 표시됩니다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080760" y="3593592"/>
            <a:ext cx="5650992" cy="1157756"/>
          </a:xfrm>
          <a:prstGeom prst="roundRect">
            <a:avLst>
              <a:gd fmla="val 5529" name="adj"/>
            </a:avLst>
          </a:prstGeom>
          <a:solidFill>
            <a:srgbClr val="FFFFFF"/>
          </a:solidFill>
          <a:ln cap="flat" cmpd="sng" w="12700">
            <a:solidFill>
              <a:srgbClr val="E4E0D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run_banner.png" id="169" name="Google Shape;16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0" y="3639312"/>
            <a:ext cx="5559552" cy="10663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6126480" y="4983480"/>
            <a:ext cx="5559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화면의 버전 · 모델 표기는 시점에 따라 다를 수 있습니다. </a:t>
            </a:r>
            <a:r>
              <a:rPr b="1" i="0" lang="en-US" sz="11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처음 실행이라면 곧바로 로그인 선택 화면이 이어집니다 → 다음 페이지에서 계속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화면 — 1번을 선택하세요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처음 실행하면 자동으로 나타나는 화면입니다. 마우스는 쓰지 않고 키보드로만 조작합니다.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45236" y="1965960"/>
            <a:ext cx="10698480" cy="2397318"/>
          </a:xfrm>
          <a:prstGeom prst="roundRect">
            <a:avLst>
              <a:gd fmla="val 2670" name="adj"/>
            </a:avLst>
          </a:prstGeom>
          <a:solidFill>
            <a:srgbClr val="FFFFFF"/>
          </a:solidFill>
          <a:ln cap="flat" cmpd="sng" w="12700">
            <a:solidFill>
              <a:srgbClr val="E4E0D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login1.png" id="181" name="Google Shape;1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6" y="2011680"/>
            <a:ext cx="10607040" cy="230587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/>
          <p:nvPr/>
        </p:nvSpPr>
        <p:spPr>
          <a:xfrm>
            <a:off x="502920" y="4709160"/>
            <a:ext cx="3611880" cy="1600200"/>
          </a:xfrm>
          <a:prstGeom prst="roundRect">
            <a:avLst>
              <a:gd fmla="val 5143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731520" y="4937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731520" y="4937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216152" y="4946904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확인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31520" y="5394960"/>
            <a:ext cx="3154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“Select login method” 라는 선택 화면이 보입니다. 세 가지 로그인 방법 중 하나를 고르는 단계입니다.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288536" y="4709160"/>
            <a:ext cx="3611880" cy="1600200"/>
          </a:xfrm>
          <a:prstGeom prst="roundRect">
            <a:avLst>
              <a:gd fmla="val 5143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4517136" y="4937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4517136" y="4937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001768" y="4946904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키보드 ↑ ↓ 로 이동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517136" y="5394960"/>
            <a:ext cx="3154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방향키로 항목을 이동할 수 있습니다. </a:t>
            </a:r>
            <a:r>
              <a:rPr b="1" i="0" lang="en-US" sz="11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❯ 표시가 1번에 있는지</a:t>
            </a:r>
            <a:r>
              <a:rPr b="0" i="0" lang="en-US" sz="11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확인하세요. (기본으로 1번에 있습니다)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074152" y="4709160"/>
            <a:ext cx="3611880" cy="1600200"/>
          </a:xfrm>
          <a:prstGeom prst="roundRect">
            <a:avLst>
              <a:gd fmla="val 5143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8302752" y="4937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8302752" y="4937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787384" y="4946904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 로 선택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302752" y="5394960"/>
            <a:ext cx="3154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1. Claude account with subscription</a:t>
            </a:r>
            <a:r>
              <a:rPr b="0" i="0" lang="en-US" sz="11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에서 Enter를 누릅니다. 우리 팀은 항상 1번만 사용합니다.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브라우저에서 로그인 완료하기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1번을 선택하면 브라우저가 자동으로 열립니다. 실제 화면과 함께 순서대로 진행해 보세요.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978408" y="1792224"/>
            <a:ext cx="31363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브라우저에서 [승인] 클릭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978408" y="2121408"/>
            <a:ext cx="31363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 요청 화면이 뜨면 팀 계정으로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로그인한 뒤 승인 버튼을 누릅니다.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1120140" y="2834640"/>
            <a:ext cx="2377440" cy="2836957"/>
          </a:xfrm>
          <a:prstGeom prst="roundRect">
            <a:avLst>
              <a:gd fmla="val 2692" name="adj"/>
            </a:avLst>
          </a:prstGeom>
          <a:solidFill>
            <a:srgbClr val="FFFFFF"/>
          </a:solidFill>
          <a:ln cap="flat" cmpd="sng" w="12700">
            <a:solidFill>
              <a:srgbClr val="E4E0D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login3.png" id="211" name="Google Shape;2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860" y="2880360"/>
            <a:ext cx="2286000" cy="274551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429768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29768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773168" y="1792224"/>
            <a:ext cx="31363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 화면이 뜨면 창 닫기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773168" y="2121408"/>
            <a:ext cx="31363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“Claude Code 설정이 완료되었습니다”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보이면 브라우저는 닫아도 됩니다.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572000" y="2834640"/>
            <a:ext cx="3063240" cy="2374463"/>
          </a:xfrm>
          <a:prstGeom prst="roundRect">
            <a:avLst>
              <a:gd fmla="val 2696" name="adj"/>
            </a:avLst>
          </a:prstGeom>
          <a:solidFill>
            <a:srgbClr val="FFFFFF"/>
          </a:solidFill>
          <a:ln cap="flat" cmpd="sng" w="12700">
            <a:solidFill>
              <a:srgbClr val="E4E0D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login4.png" id="217" name="Google Shape;21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2880360"/>
            <a:ext cx="2971800" cy="228302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809244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809244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567928" y="1792224"/>
            <a:ext cx="31181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터미널로 돌아와 Enter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8567928" y="2121408"/>
            <a:ext cx="31181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Logged in as 회사계정 · Login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successful 확인 후 Enter를 누릅니다.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8083296" y="2834640"/>
            <a:ext cx="3611880" cy="869829"/>
          </a:xfrm>
          <a:prstGeom prst="roundRect">
            <a:avLst>
              <a:gd fmla="val 7359" name="adj"/>
            </a:avLst>
          </a:prstGeom>
          <a:solidFill>
            <a:srgbClr val="FFFFFF"/>
          </a:solidFill>
          <a:ln cap="flat" cmpd="sng" w="12700">
            <a:solidFill>
              <a:srgbClr val="E4E0D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login5.png" id="223" name="Google Shape;22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9016" y="2880360"/>
            <a:ext cx="3520440" cy="77838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502920" y="5897880"/>
            <a:ext cx="11183112" cy="548640"/>
          </a:xfrm>
          <a:prstGeom prst="roundRect">
            <a:avLst>
              <a:gd fmla="val 13333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088" y="6044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"/>
          <p:cNvSpPr/>
          <p:nvPr/>
        </p:nvSpPr>
        <p:spPr>
          <a:xfrm>
            <a:off x="1069848" y="5897880"/>
            <a:ext cx="104333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번 로그인하면 자격 증명이 저장되어 </a:t>
            </a:r>
            <a:r>
              <a:rPr b="1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다시 로그인할 필요가 없습니다.</a:t>
            </a: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다음부터는 claude 만 입력하면 바로 시작됩니다.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막히면?  </a:t>
            </a:r>
            <a:r>
              <a:rPr b="0" i="0" lang="en-US" sz="11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브라우저가 안 열리면 터미널에 표시된 URL을 (c 키로 복사해) 주소창에 붙여넣으세요. 잘못 선택했다면 Esc를 누른 뒤 </a:t>
            </a:r>
            <a:r>
              <a:rPr b="1" i="0" lang="en-US" sz="1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/login</a:t>
            </a:r>
            <a:r>
              <a:rPr b="0" i="0" lang="en-US" sz="11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으로 언제든 다시 시작할 수 있습니다.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 — 플러그인 설치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978408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창 열기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978408" y="2112264"/>
            <a:ext cx="30906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메뉴에서 File → Settings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(macOS: IntelliJ IDEA → Settings)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02920" y="2651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502920" y="2651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978408" y="266090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Plugins 에서 검색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978408" y="2980944"/>
            <a:ext cx="30906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왼쪽 목록에서 “플러그인”을 누르고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검색창에 claude code 입력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02920" y="352044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502920" y="35204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978408" y="352958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 후 재시작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978408" y="384962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Anthropic PBC가 만든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Code [Beta] 의 “설치”를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누르고 IDE를 재시작합니다.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02920" y="4709160"/>
            <a:ext cx="3566160" cy="1188720"/>
          </a:xfrm>
          <a:prstGeom prst="roundRect">
            <a:avLst>
              <a:gd fmla="val 6154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51755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0"/>
          <p:cNvSpPr/>
          <p:nvPr/>
        </p:nvSpPr>
        <p:spPr>
          <a:xfrm>
            <a:off x="1069848" y="4709160"/>
            <a:ext cx="281635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비슷한 이름의 플러그인이 많습니다. 제작사가 </a:t>
            </a:r>
            <a:r>
              <a:rPr b="1" i="0" lang="en-US" sz="115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Anthropic PBC</a:t>
            </a: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인 것을 설치하세요.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434840" y="1554480"/>
            <a:ext cx="6765816" cy="4937760"/>
          </a:xfrm>
          <a:prstGeom prst="roundRect">
            <a:avLst>
              <a:gd fmla="val 1296" name="adj"/>
            </a:avLst>
          </a:prstGeom>
          <a:solidFill>
            <a:srgbClr val="FFFFFF"/>
          </a:solidFill>
          <a:ln cap="flat" cmpd="sng" w="12700">
            <a:solidFill>
              <a:srgbClr val="E4E0D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intellij1.png" id="252" name="Google Shape;25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0" y="1600200"/>
            <a:ext cx="6674376" cy="484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 — 실행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978408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아이콘 클릭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978408" y="2112264"/>
            <a:ext cx="30906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재시작 후 IDE 화면 상단(우측)에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생긴 Claude 아이콘을 누릅니다.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02920" y="2651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502920" y="2651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978408" y="266090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 탭 자동 실행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978408" y="298094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하단에 Claude Code 탭이 열리고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자동으로 실행됩니다. 앞에서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로그인했다면 바로 사용 가능합니다.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502920" y="3840480"/>
            <a:ext cx="3566160" cy="1143000"/>
          </a:xfrm>
          <a:prstGeom prst="roundRect">
            <a:avLst>
              <a:gd fmla="val 6400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42839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1"/>
          <p:cNvSpPr/>
          <p:nvPr/>
        </p:nvSpPr>
        <p:spPr>
          <a:xfrm>
            <a:off x="1069848" y="3840480"/>
            <a:ext cx="281635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오른쪽처럼 Claude Code 배너와 입력창이 보이면 연동 완료입니다. 이후 작업은 모두 이 창에서 진행합니다.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160520" y="1554480"/>
            <a:ext cx="7554044" cy="4937760"/>
          </a:xfrm>
          <a:prstGeom prst="roundRect">
            <a:avLst>
              <a:gd fmla="val 1296" name="adj"/>
            </a:avLst>
          </a:prstGeom>
          <a:solidFill>
            <a:srgbClr val="FFFFFF"/>
          </a:solidFill>
          <a:ln cap="flat" cmpd="sng" w="12700">
            <a:solidFill>
              <a:srgbClr val="E4E0D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intellij2.png" id="273" name="Google Shape;27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1600200"/>
            <a:ext cx="7462604" cy="484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 — 세팅 파일 적용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공용 세팅 파일 하나만 적용하면 범용 코딩 에이전트 8종 · 플러그인 · 안전 규칙이 자동으로 구성됩니다.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502920" y="187452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502920" y="18745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978408" y="1883664"/>
            <a:ext cx="106801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세팅 파일 다운로드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978408" y="2203704"/>
            <a:ext cx="10680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채널에서 공유된 </a:t>
            </a:r>
            <a:r>
              <a:rPr b="0" i="0" lang="en-US" sz="115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3"/>
              </a:rPr>
              <a:t>claude-coding-agents-setup.tar.gz</a:t>
            </a: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파일을 내려받습니다.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502920" y="260604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502920" y="26060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978408" y="2615184"/>
            <a:ext cx="106801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HyperMig 폴더에 그대로 두기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978408" y="2935224"/>
            <a:ext cx="10680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HyperMig 모듈들이 있는 프로젝트 최상위 폴더에 파일을 옮겨 둡니다. 압축은 직접 풀지 않아도 됩니다 — Claude가 대신 풀어 줍니다.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02920" y="33375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978408" y="3346704"/>
            <a:ext cx="106801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Code에 아래 문장을 입력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978408" y="3666744"/>
            <a:ext cx="10680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아래 프롬프트를 복사해 Claude Code 입력창에 붙여넣고 Enter를 누르세요. @ 뒤의 파일명까지 그대로 입력하면 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502920" y="4160520"/>
            <a:ext cx="11183112" cy="1234440"/>
          </a:xfrm>
          <a:prstGeom prst="roundRect">
            <a:avLst>
              <a:gd fmla="val 6667" name="adj"/>
            </a:avLst>
          </a:prstGeom>
          <a:solidFill>
            <a:srgbClr val="2C2925"/>
          </a:solidFill>
          <a:ln>
            <a:noFill/>
          </a:ln>
          <a:effectLst>
            <a:outerShdw blurRad="1270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704088" y="4343400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905256" y="4343400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1106424" y="4343400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758952" y="4544568"/>
            <a:ext cx="106710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en-US" sz="1300" u="none" cap="none" strike="noStrike">
                <a:solidFill>
                  <a:srgbClr val="8FBF6F"/>
                </a:solidFill>
                <a:latin typeface="Courier New"/>
                <a:ea typeface="Courier New"/>
                <a:cs typeface="Courier New"/>
                <a:sym typeface="Courier New"/>
              </a:rPr>
              <a:t>@claude-coding-agents-setup.tar.gz</a:t>
            </a:r>
            <a:r>
              <a:rPr b="0" i="0" lang="en-US" sz="1300" u="none" cap="none" strike="noStrik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를 압축 해제한 뒤, 그 안의 TEAM-SETUP.md 가이드에 따라 환경 설정을 진행해줘.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fmla="val 9412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088" y="58841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2"/>
          <p:cNvSpPr/>
          <p:nvPr/>
        </p:nvSpPr>
        <p:spPr>
          <a:xfrm>
            <a:off x="1069848" y="5623560"/>
            <a:ext cx="10433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입력창에 </a:t>
            </a:r>
            <a:r>
              <a:rPr b="1" i="0" lang="en-US" sz="11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를 입력하면 파일 목록이 떠서 클릭으로 선택할 수도 있습니다. Enter를 누르면 Claude가 스스로 압축을 풀고 세팅을 시작합니다.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 — 이렇게 입력합니다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978408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워크스페이스 루트에서 실행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978408" y="211226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tar.gz 파일을 프로젝트 최상위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폴더에 둔 상태에서 Claude Code를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엽니다.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502920" y="2926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502920" y="2926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978408" y="2935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하단 입력창에 붙여넣기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978408" y="325526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아래 &gt; 표시가 있는 입력창에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앞 페이지의 프롬프트를 붙여넣은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모습입니다. Enter로 시작하세요.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502920" y="4114800"/>
            <a:ext cx="3566160" cy="1143000"/>
          </a:xfrm>
          <a:prstGeom prst="roundRect">
            <a:avLst>
              <a:gd fmla="val 6400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0" name="Google Shape;3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45582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3"/>
          <p:cNvSpPr/>
          <p:nvPr/>
        </p:nvSpPr>
        <p:spPr>
          <a:xfrm>
            <a:off x="1069848" y="4114800"/>
            <a:ext cx="281635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Enter를 누르면 Claude가 스스로 압축을 풀고 세팅을 시작합니다. 다음 페이지처럼 진행 화면이 나타납니다.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160520" y="1554480"/>
            <a:ext cx="7554044" cy="4937760"/>
          </a:xfrm>
          <a:prstGeom prst="roundRect">
            <a:avLst>
              <a:gd fmla="val 1296" name="adj"/>
            </a:avLst>
          </a:prstGeom>
          <a:solidFill>
            <a:srgbClr val="FFFFFF"/>
          </a:solidFill>
          <a:ln cap="flat" cmpd="sng" w="12700">
            <a:solidFill>
              <a:srgbClr val="E4E0D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setup1.png" id="323" name="Google Shape;32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1600200"/>
            <a:ext cx="7462604" cy="484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 — 이런 화면이 나옵니다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978408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점검 · 파일 배치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978408" y="211226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Claude가 압축을 풀고 settings.json,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코딩 에이전트 8종, 모듈별 CLAUDE.md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·AGENTS.md를 루트에 배치합니다.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02920" y="2926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502920" y="2926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978408" y="2935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 로그 확인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978408" y="325526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루트 확인 → 단계 1 완료(에이전트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8종 · 모듈 문서 배치)가 순서대로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출력되는지 확인하세요.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502920" y="4069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502920" y="4069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978408" y="4078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안내 기다리기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978408" y="439826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 2가 되면 “아래 명령을 직접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입력해 주세요”라는 안내가 나옵니다.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다음 페이지에서 계속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502920" y="5212080"/>
            <a:ext cx="3566160" cy="960120"/>
          </a:xfrm>
          <a:prstGeom prst="roundRect">
            <a:avLst>
              <a:gd fmla="val 7619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5" name="Google Shape;34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55641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/>
          <p:nvPr/>
        </p:nvSpPr>
        <p:spPr>
          <a:xfrm>
            <a:off x="1069848" y="5212080"/>
            <a:ext cx="28163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1~2분 정도 걸립니다. 도중에 질문이 나오면 안내에 따라 Enter로 승인하면 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4160520" y="1554480"/>
            <a:ext cx="7554044" cy="4937760"/>
          </a:xfrm>
          <a:prstGeom prst="roundRect">
            <a:avLst>
              <a:gd fmla="val 1296" name="adj"/>
            </a:avLst>
          </a:prstGeom>
          <a:solidFill>
            <a:srgbClr val="FFFFFF"/>
          </a:solidFill>
          <a:ln cap="flat" cmpd="sng" w="12700">
            <a:solidFill>
              <a:srgbClr val="E4E0D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setup2.png" id="348" name="Google Shape;34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1600200"/>
            <a:ext cx="7462604" cy="484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 — 플러그인 8줄 입력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Claude의 안내(단계 2)가 나오면, 아래 8줄을 위에서부터 한 줄씩 입력합니다. 한 줄 붙여넣고 Enter → 완료되면 다음 줄!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502920" y="1920240"/>
            <a:ext cx="7863840" cy="3200400"/>
          </a:xfrm>
          <a:prstGeom prst="roundRect">
            <a:avLst>
              <a:gd fmla="val 2571" name="adj"/>
            </a:avLst>
          </a:prstGeom>
          <a:solidFill>
            <a:srgbClr val="2C2925"/>
          </a:solidFill>
          <a:ln>
            <a:noFill/>
          </a:ln>
          <a:effectLst>
            <a:outerShdw blurRad="1270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704088" y="2103120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905256" y="2103120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1106424" y="2103120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758952" y="2304288"/>
            <a:ext cx="7351776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en-US" sz="1250" u="none" cap="none" strike="noStrike">
                <a:solidFill>
                  <a:srgbClr val="8FBF6F"/>
                </a:solidFill>
                <a:latin typeface="Courier New"/>
                <a:ea typeface="Courier New"/>
                <a:cs typeface="Courier New"/>
                <a:sym typeface="Courier New"/>
              </a:rPr>
              <a:t>/plugin</a:t>
            </a:r>
            <a:r>
              <a:rPr b="0" i="0" lang="en-US" sz="1250" u="none" cap="none" strike="noStrik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 marketplace add anthropics/claude-plugins-official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en-US" sz="1250" u="none" cap="none" strike="noStrike">
                <a:solidFill>
                  <a:srgbClr val="8FBF6F"/>
                </a:solidFill>
                <a:latin typeface="Courier New"/>
                <a:ea typeface="Courier New"/>
                <a:cs typeface="Courier New"/>
                <a:sym typeface="Courier New"/>
              </a:rPr>
              <a:t>/plugin</a:t>
            </a:r>
            <a:r>
              <a:rPr b="0" i="0" lang="en-US" sz="1250" u="none" cap="none" strike="noStrik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 marketplace add jarrodwatts/claude-hud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en-US" sz="1250" u="none" cap="none" strike="noStrike">
                <a:solidFill>
                  <a:srgbClr val="8FBF6F"/>
                </a:solidFill>
                <a:latin typeface="Courier New"/>
                <a:ea typeface="Courier New"/>
                <a:cs typeface="Courier New"/>
                <a:sym typeface="Courier New"/>
              </a:rPr>
              <a:t>/plugin</a:t>
            </a:r>
            <a:r>
              <a:rPr b="0" i="0" lang="en-US" sz="1250" u="none" cap="none" strike="noStrik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 install superpowers@claude-plugins-official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en-US" sz="1250" u="none" cap="none" strike="noStrike">
                <a:solidFill>
                  <a:srgbClr val="8FBF6F"/>
                </a:solidFill>
                <a:latin typeface="Courier New"/>
                <a:ea typeface="Courier New"/>
                <a:cs typeface="Courier New"/>
                <a:sym typeface="Courier New"/>
              </a:rPr>
              <a:t>/plugin</a:t>
            </a:r>
            <a:r>
              <a:rPr b="0" i="0" lang="en-US" sz="1250" u="none" cap="none" strike="noStrik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 install frontend-design@claude-plugins-official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en-US" sz="1250" u="none" cap="none" strike="noStrike">
                <a:solidFill>
                  <a:srgbClr val="8FBF6F"/>
                </a:solidFill>
                <a:latin typeface="Courier New"/>
                <a:ea typeface="Courier New"/>
                <a:cs typeface="Courier New"/>
                <a:sym typeface="Courier New"/>
              </a:rPr>
              <a:t>/plugin</a:t>
            </a:r>
            <a:r>
              <a:rPr b="0" i="0" lang="en-US" sz="1250" u="none" cap="none" strike="noStrik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 install context7@claude-plugins-official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en-US" sz="1250" u="none" cap="none" strike="noStrike">
                <a:solidFill>
                  <a:srgbClr val="8FBF6F"/>
                </a:solidFill>
                <a:latin typeface="Courier New"/>
                <a:ea typeface="Courier New"/>
                <a:cs typeface="Courier New"/>
                <a:sym typeface="Courier New"/>
              </a:rPr>
              <a:t>/plugin</a:t>
            </a:r>
            <a:r>
              <a:rPr b="0" i="0" lang="en-US" sz="1250" u="none" cap="none" strike="noStrik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 install code-review@claude-plugins-official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en-US" sz="1250" u="none" cap="none" strike="noStrike">
                <a:solidFill>
                  <a:srgbClr val="8FBF6F"/>
                </a:solidFill>
                <a:latin typeface="Courier New"/>
                <a:ea typeface="Courier New"/>
                <a:cs typeface="Courier New"/>
                <a:sym typeface="Courier New"/>
              </a:rPr>
              <a:t>/plugin</a:t>
            </a:r>
            <a:r>
              <a:rPr b="0" i="0" lang="en-US" sz="1250" u="none" cap="none" strike="noStrik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 install claude-code-setup@claude-plugins-official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en-US" sz="1250" u="none" cap="none" strike="noStrike">
                <a:solidFill>
                  <a:srgbClr val="8FBF6F"/>
                </a:solidFill>
                <a:latin typeface="Courier New"/>
                <a:ea typeface="Courier New"/>
                <a:cs typeface="Courier New"/>
                <a:sym typeface="Courier New"/>
              </a:rPr>
              <a:t>/plugin</a:t>
            </a:r>
            <a:r>
              <a:rPr b="0" i="0" lang="en-US" sz="1250" u="none" cap="none" strike="noStrik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 install claude-hud@claude-hud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8641080" y="1920240"/>
            <a:ext cx="3044952" cy="3200400"/>
          </a:xfrm>
          <a:prstGeom prst="roundRect">
            <a:avLst>
              <a:gd fmla="val 2703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5"/>
          <p:cNvSpPr/>
          <p:nvPr/>
        </p:nvSpPr>
        <p:spPr>
          <a:xfrm>
            <a:off x="8915400" y="2697480"/>
            <a:ext cx="2542032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순서가 중요해요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위의 marketplace add 두 줄을 먼저 입력해야 아래 install 이 동작합니다.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줄씩 차례로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8줄을 한꺼번에 붙여넣지 말고, 한 줄 입력 → 완료 확인 → 다음 줄 순서로 진행하세요.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502920" y="5394960"/>
            <a:ext cx="11183112" cy="731520"/>
          </a:xfrm>
          <a:prstGeom prst="roundRect">
            <a:avLst>
              <a:gd fmla="val 10000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088" y="56327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5"/>
          <p:cNvSpPr/>
          <p:nvPr/>
        </p:nvSpPr>
        <p:spPr>
          <a:xfrm>
            <a:off x="1069848" y="5394960"/>
            <a:ext cx="104333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8줄을 모두 입력하고 Claude가 “완료”라고 답하면 이 단계는 끝입니다. 설치한 플러그인은 자동으로 활성화되므로 따로 켤 필요가 없습니다.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 — 이런 화면이 나옵니다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978408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 화면 표시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978408" y="211226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marketplace add 를 입력하면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오른쪽처럼 Add Marketplace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화면이 나올 수 있습니다.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502920" y="2926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502920" y="2926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978408" y="2935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Enter로 진행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978408" y="325526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입력값이 이미 채워져 있으므로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그대로 Enter만 누르면 GitHub에서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저장소를 내려받기 시작합니다.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502920" y="4114800"/>
            <a:ext cx="3566160" cy="1143000"/>
          </a:xfrm>
          <a:prstGeom prst="roundRect">
            <a:avLst>
              <a:gd fmla="val 6400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6" name="Google Shape;38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45582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6"/>
          <p:cNvSpPr/>
          <p:nvPr/>
        </p:nvSpPr>
        <p:spPr>
          <a:xfrm>
            <a:off x="1069848" y="4114800"/>
            <a:ext cx="281635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“Cloning repository...” 메시지 후 완료 표시가 나오면 정상입니다. 이어서 다음 install 줄을 입력하세요.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4160520" y="1554480"/>
            <a:ext cx="7554044" cy="4937760"/>
          </a:xfrm>
          <a:prstGeom prst="roundRect">
            <a:avLst>
              <a:gd fmla="val 1296" name="adj"/>
            </a:avLst>
          </a:prstGeom>
          <a:solidFill>
            <a:srgbClr val="FFFFFF"/>
          </a:solidFill>
          <a:ln cap="flat" cmpd="sng" w="12700">
            <a:solidFill>
              <a:srgbClr val="E4E0D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setup3.png" id="389" name="Google Shape;38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1600200"/>
            <a:ext cx="7462604" cy="484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 — 자동 검증과 재시작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7"/>
          <p:cNvSpPr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978408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결과표 확인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978408" y="2112264"/>
            <a:ext cx="309067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플러그인 설치가 끝나면 Claude가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검증(단계 3)을 실행합니다. 플러그인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6종 · 권한 규칙 · 모델 · 에이전트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8종이 모두 ✅ 이면 통과입니다.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502920" y="320040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502920" y="32004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978408" y="320954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세션 재시작 + 신뢰 승인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978408" y="352958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/exit 로 종료 후 claude 를 다시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실행합니다. 처음 열 때 설정 신뢰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프롬프트가 뜨면 승인해 주세요.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502920" y="434340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502920" y="43434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978408" y="435254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참고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978408" y="467258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모델이 claude-opus-4-6으로 지정돼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있습니다. 내 플랜에서 쓸 수 없다면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settings.json에서 바꿔 주세요.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502920" y="5486400"/>
            <a:ext cx="3566160" cy="960120"/>
          </a:xfrm>
          <a:prstGeom prst="roundRect">
            <a:avLst>
              <a:gd fmla="val 7619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1" name="Google Shape;4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58384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7"/>
          <p:cNvSpPr/>
          <p:nvPr/>
        </p:nvSpPr>
        <p:spPr>
          <a:xfrm>
            <a:off x="1069848" y="5486400"/>
            <a:ext cx="28163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재시작해야 권한 · 언어 · 상태줄 · 에이전트가 완전히 적용됩니다. 꼭 한 번 껐다 켜 주세요.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4160520" y="1554480"/>
            <a:ext cx="7554044" cy="4937760"/>
          </a:xfrm>
          <a:prstGeom prst="roundRect">
            <a:avLst>
              <a:gd fmla="val 1296" name="adj"/>
            </a:avLst>
          </a:prstGeom>
          <a:solidFill>
            <a:srgbClr val="FFFFFF"/>
          </a:solidFill>
          <a:ln cap="flat" cmpd="sng" w="12700">
            <a:solidFill>
              <a:srgbClr val="E4E0D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ts/setup_new.png" id="414" name="Google Shape;41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1600200"/>
            <a:ext cx="7462604" cy="484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8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 — 코딩 에이전트 8종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502920" y="17373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아래 명령을 입력해 보세요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502920" y="2103120"/>
            <a:ext cx="3566160" cy="1005840"/>
          </a:xfrm>
          <a:prstGeom prst="roundRect">
            <a:avLst>
              <a:gd fmla="val 8182" name="adj"/>
            </a:avLst>
          </a:prstGeom>
          <a:solidFill>
            <a:srgbClr val="2C2925"/>
          </a:solidFill>
          <a:ln>
            <a:noFill/>
          </a:ln>
          <a:effectLst>
            <a:outerShdw blurRad="1270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8"/>
          <p:cNvSpPr/>
          <p:nvPr/>
        </p:nvSpPr>
        <p:spPr>
          <a:xfrm>
            <a:off x="704088" y="2286000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8"/>
          <p:cNvSpPr/>
          <p:nvPr/>
        </p:nvSpPr>
        <p:spPr>
          <a:xfrm>
            <a:off x="905256" y="2286000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8"/>
          <p:cNvSpPr/>
          <p:nvPr/>
        </p:nvSpPr>
        <p:spPr>
          <a:xfrm>
            <a:off x="1106424" y="2286000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8"/>
          <p:cNvSpPr/>
          <p:nvPr/>
        </p:nvSpPr>
        <p:spPr>
          <a:xfrm>
            <a:off x="758952" y="2487168"/>
            <a:ext cx="30540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en-US" sz="1300" u="none" cap="none" strike="noStrike">
                <a:solidFill>
                  <a:srgbClr val="8FBF6F"/>
                </a:solidFill>
                <a:latin typeface="Courier New"/>
                <a:ea typeface="Courier New"/>
                <a:cs typeface="Courier New"/>
                <a:sym typeface="Courier New"/>
              </a:rPr>
              <a:t>/agents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502920" y="342900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8"/>
          <p:cNvSpPr/>
          <p:nvPr/>
        </p:nvSpPr>
        <p:spPr>
          <a:xfrm>
            <a:off x="502920" y="34290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978408" y="343814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8종이 표시되는지 확인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978408" y="3758184"/>
            <a:ext cx="30906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오른쪽 표의 에이전트 8종이 모두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목록에 보이면 세팅 성공입니다.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502920" y="42976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502920" y="42976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978408" y="43068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숫자가 다르면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978408" y="462686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8종보다 적게 나오면 STEP 4의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단계를 다시 실행해 달라고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Claude에게 요청하세요.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502920" y="5440680"/>
            <a:ext cx="3566160" cy="1188720"/>
          </a:xfrm>
          <a:prstGeom prst="roundRect">
            <a:avLst>
              <a:gd fmla="val 6154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8" name="Google Shape;4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59070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8"/>
          <p:cNvSpPr/>
          <p:nvPr/>
        </p:nvSpPr>
        <p:spPr>
          <a:xfrm>
            <a:off x="1069848" y="5440680"/>
            <a:ext cx="281635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에이전트는 기술 분야별 전문 도우미로, 특정 프로젝트에 묶여 있지 않아 다른 프로젝트에서도 재사용할 수 있습니다. 필요할 때 Claude가 알아서 호출합니다.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4480560" y="1737360"/>
            <a:ext cx="7205472" cy="466344"/>
          </a:xfrm>
          <a:prstGeom prst="roundRect">
            <a:avLst>
              <a:gd fmla="val 11765" name="adj"/>
            </a:avLst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4709160" y="1737360"/>
            <a:ext cx="19202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에이전트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6675120" y="1737360"/>
            <a:ext cx="32918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 도메인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10104120" y="1737360"/>
            <a:ext cx="14630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4480560" y="2249424"/>
            <a:ext cx="7205472" cy="466344"/>
          </a:xfrm>
          <a:prstGeom prst="roundRect">
            <a:avLst>
              <a:gd fmla="val 11765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4709160" y="2249424"/>
            <a:ext cx="201168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3302B"/>
                </a:solidFill>
                <a:latin typeface="Courier New"/>
                <a:ea typeface="Courier New"/>
                <a:cs typeface="Courier New"/>
                <a:sym typeface="Courier New"/>
              </a:rPr>
              <a:t>frontend-publisher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6675120" y="2249424"/>
            <a:ext cx="33375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JavaScript · jQuery · Bootstrap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10104120" y="2249424"/>
            <a:ext cx="15087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4480560" y="2761488"/>
            <a:ext cx="7205472" cy="466344"/>
          </a:xfrm>
          <a:prstGeom prst="roundRect">
            <a:avLst>
              <a:gd fmla="val 11765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4709160" y="2761488"/>
            <a:ext cx="201168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3302B"/>
                </a:solidFill>
                <a:latin typeface="Courier New"/>
                <a:ea typeface="Courier New"/>
                <a:cs typeface="Courier New"/>
                <a:sym typeface="Courier New"/>
              </a:rPr>
              <a:t>security-expert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6675120" y="2761488"/>
            <a:ext cx="33375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Spring Security · Keycloak · Redis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10104120" y="2761488"/>
            <a:ext cx="15087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4480560" y="3273552"/>
            <a:ext cx="7205472" cy="466344"/>
          </a:xfrm>
          <a:prstGeom prst="roundRect">
            <a:avLst>
              <a:gd fmla="val 11765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8"/>
          <p:cNvSpPr/>
          <p:nvPr/>
        </p:nvSpPr>
        <p:spPr>
          <a:xfrm>
            <a:off x="4709160" y="3273552"/>
            <a:ext cx="201168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3302B"/>
                </a:solidFill>
                <a:latin typeface="Courier New"/>
                <a:ea typeface="Courier New"/>
                <a:cs typeface="Courier New"/>
                <a:sym typeface="Courier New"/>
              </a:rPr>
              <a:t>backend-developer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6675120" y="3273552"/>
            <a:ext cx="33375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Spring Boot · MySQL · MyBatis/JPA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10104120" y="3273552"/>
            <a:ext cx="15087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4480560" y="3785616"/>
            <a:ext cx="7205472" cy="466344"/>
          </a:xfrm>
          <a:prstGeom prst="roundRect">
            <a:avLst>
              <a:gd fmla="val 11765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8"/>
          <p:cNvSpPr/>
          <p:nvPr/>
        </p:nvSpPr>
        <p:spPr>
          <a:xfrm>
            <a:off x="4709160" y="3785616"/>
            <a:ext cx="201168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3302B"/>
                </a:solidFill>
                <a:latin typeface="Courier New"/>
                <a:ea typeface="Courier New"/>
                <a:cs typeface="Courier New"/>
                <a:sym typeface="Courier New"/>
              </a:rPr>
              <a:t>search-engineer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6675120" y="3785616"/>
            <a:ext cx="33375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OpenSearch / Elasticsearch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10104120" y="3785616"/>
            <a:ext cx="15087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4480560" y="4297680"/>
            <a:ext cx="7205472" cy="466344"/>
          </a:xfrm>
          <a:prstGeom prst="roundRect">
            <a:avLst>
              <a:gd fmla="val 11765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4709160" y="4297680"/>
            <a:ext cx="201168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3302B"/>
                </a:solidFill>
                <a:latin typeface="Courier New"/>
                <a:ea typeface="Courier New"/>
                <a:cs typeface="Courier New"/>
                <a:sym typeface="Courier New"/>
              </a:rPr>
              <a:t>config-expert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6675120" y="4297680"/>
            <a:ext cx="33375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Spring Cloud Config · git/Gitea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10104120" y="4297680"/>
            <a:ext cx="15087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4480560" y="4809744"/>
            <a:ext cx="7205472" cy="466344"/>
          </a:xfrm>
          <a:prstGeom prst="roundRect">
            <a:avLst>
              <a:gd fmla="val 11765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4709160" y="4809744"/>
            <a:ext cx="201168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3302B"/>
                </a:solidFill>
                <a:latin typeface="Courier New"/>
                <a:ea typeface="Courier New"/>
                <a:cs typeface="Courier New"/>
                <a:sym typeface="Courier New"/>
              </a:rPr>
              <a:t>messaging-expert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6675120" y="4809744"/>
            <a:ext cx="33375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WebSocket(STOMP) · 알림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10104120" y="4809744"/>
            <a:ext cx="15087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4480560" y="5321808"/>
            <a:ext cx="7205472" cy="466344"/>
          </a:xfrm>
          <a:prstGeom prst="roundRect">
            <a:avLst>
              <a:gd fmla="val 11765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8"/>
          <p:cNvSpPr/>
          <p:nvPr/>
        </p:nvSpPr>
        <p:spPr>
          <a:xfrm>
            <a:off x="4709160" y="5321808"/>
            <a:ext cx="201168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3302B"/>
                </a:solidFill>
                <a:latin typeface="Courier New"/>
                <a:ea typeface="Courier New"/>
                <a:cs typeface="Courier New"/>
                <a:sym typeface="Courier New"/>
              </a:rPr>
              <a:t>ai-service-expert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6675120" y="5321808"/>
            <a:ext cx="33375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Spring 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10104120" y="5321808"/>
            <a:ext cx="15087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4480560" y="5833872"/>
            <a:ext cx="7205472" cy="466344"/>
          </a:xfrm>
          <a:prstGeom prst="roundRect">
            <a:avLst>
              <a:gd fmla="val 11765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8"/>
          <p:cNvSpPr/>
          <p:nvPr/>
        </p:nvSpPr>
        <p:spPr>
          <a:xfrm>
            <a:off x="4709160" y="5833872"/>
            <a:ext cx="201168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dba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6675120" y="5833872"/>
            <a:ext cx="33375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MySQL · OpenSearch · Redis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10104120" y="5833872"/>
            <a:ext cx="15087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자문형 (읽기 전용)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4498848" y="637336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자문형(dba)은 진단과 조언만 하고 코드를 직접 수정하지 않습니다.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9"/>
          <p:cNvSpPr/>
          <p:nvPr/>
        </p:nvSpPr>
        <p:spPr>
          <a:xfrm>
            <a:off x="502920" y="3840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참고 — 몰라도 사용에는 지장 없어요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세팅 파일이 만들어 주는 것들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521208" y="11430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버전과 달리 에이전트가 기술 도메인 기반 범용 8종으로 바뀌었고, 한국어 리뷰본 문서와 hypermig-pm 스킬은 더 이상 포함되지 않습니다.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502920" y="1874520"/>
            <a:ext cx="11183112" cy="658368"/>
          </a:xfrm>
          <a:prstGeom prst="roundRect">
            <a:avLst>
              <a:gd fmla="val 8333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9"/>
          <p:cNvSpPr/>
          <p:nvPr/>
        </p:nvSpPr>
        <p:spPr>
          <a:xfrm>
            <a:off x="777240" y="1874520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3302B"/>
                </a:solidFill>
                <a:latin typeface="Courier New"/>
                <a:ea typeface="Courier New"/>
                <a:cs typeface="Courier New"/>
                <a:sym typeface="Courier New"/>
              </a:rPr>
              <a:t>CLAUDE.md (루트)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4846320" y="1874520"/>
            <a:ext cx="6675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진입점 문서 — 루트에서 작업할 때 AGENTS.md를 먼저 읽도록 안내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502920" y="2615184"/>
            <a:ext cx="11183112" cy="658368"/>
          </a:xfrm>
          <a:prstGeom prst="roundRect">
            <a:avLst>
              <a:gd fmla="val 8333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777240" y="2615184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3302B"/>
                </a:solidFill>
                <a:latin typeface="Courier New"/>
                <a:ea typeface="Courier New"/>
                <a:cs typeface="Courier New"/>
                <a:sym typeface="Courier New"/>
              </a:rPr>
              <a:t>AGENTS.md (루트)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4846320" y="2615184"/>
            <a:ext cx="6675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워크스페이스 전체 가이드 — 모듈 맵 · 공통 규칙 · 커밋 정책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502920" y="3355848"/>
            <a:ext cx="11183112" cy="658368"/>
          </a:xfrm>
          <a:prstGeom prst="roundRect">
            <a:avLst>
              <a:gd fmla="val 8333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777240" y="3355848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3302B"/>
                </a:solidFill>
                <a:latin typeface="Courier New"/>
                <a:ea typeface="Courier New"/>
                <a:cs typeface="Courier New"/>
                <a:sym typeface="Courier New"/>
              </a:rPr>
              <a:t>.claude/settings.json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4846320" y="3355848"/>
            <a:ext cx="6675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권한(allow 45 · deny 31 · ask 9) · 언어 · 테마 · 모델 · 상태줄 — git commit · push 차단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502920" y="4096512"/>
            <a:ext cx="11183112" cy="658368"/>
          </a:xfrm>
          <a:prstGeom prst="roundRect">
            <a:avLst>
              <a:gd fmla="val 8333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777240" y="4096512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3302B"/>
                </a:solidFill>
                <a:latin typeface="Courier New"/>
                <a:ea typeface="Courier New"/>
                <a:cs typeface="Courier New"/>
                <a:sym typeface="Courier New"/>
              </a:rPr>
              <a:t>.claude/agents/*.md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4846320" y="4096512"/>
            <a:ext cx="6675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범용 코딩 에이전트 8종 정의 — 특정 프로젝트에 비종속, 다른 프로젝트에서도 재사용 가능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502920" y="4837176"/>
            <a:ext cx="11183112" cy="658368"/>
          </a:xfrm>
          <a:prstGeom prst="roundRect">
            <a:avLst>
              <a:gd fmla="val 8333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9"/>
          <p:cNvSpPr/>
          <p:nvPr/>
        </p:nvSpPr>
        <p:spPr>
          <a:xfrm>
            <a:off x="777240" y="4837176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3302B"/>
                </a:solidFill>
                <a:latin typeface="Courier New"/>
                <a:ea typeface="Courier New"/>
                <a:cs typeface="Courier New"/>
                <a:sym typeface="Courier New"/>
              </a:rPr>
              <a:t>{모듈}/CLAUDE.md · AGENTS.md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4846320" y="4837176"/>
            <a:ext cx="6675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10개 모듈 각각의 개별 컨벤션 — 모듈 안에서 작업할 때 에이전트가 먼저 읽는 문서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502920" y="5577840"/>
            <a:ext cx="11183112" cy="658368"/>
          </a:xfrm>
          <a:prstGeom prst="roundRect">
            <a:avLst>
              <a:gd fmla="val 8333" name="adj"/>
            </a:avLst>
          </a:prstGeom>
          <a:solidFill>
            <a:srgbClr val="F5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9"/>
          <p:cNvSpPr/>
          <p:nvPr/>
        </p:nvSpPr>
        <p:spPr>
          <a:xfrm>
            <a:off x="777240" y="5577840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3302B"/>
                </a:solidFill>
                <a:latin typeface="Courier New"/>
                <a:ea typeface="Courier New"/>
                <a:cs typeface="Courier New"/>
                <a:sym typeface="Courier New"/>
              </a:rPr>
              <a:t>TEAM-SETUP.md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4846320" y="5577840"/>
            <a:ext cx="6675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Claude가 읽고 수행하는 설치 지시서 (방금 세팅에 사용한 파일)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521208" y="637336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에이전트 파일은 영문 단일본이지만, 사용자에게 보이는 출력은 한국어로 지시되어 있습니다.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0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마지막 테스트 — 모듈 분석 요청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에이전트가 알아서 호출되고, 모듈 문서를 먼저 읽고 작업하는지 확인하는 테스트입니다.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502920" y="18288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아래 문장을 입력해 보세요 (다른 모듈 이름으로 바꿔도 됩니다)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502920" y="2240280"/>
            <a:ext cx="11183112" cy="1234440"/>
          </a:xfrm>
          <a:prstGeom prst="roundRect">
            <a:avLst>
              <a:gd fmla="val 6667" name="adj"/>
            </a:avLst>
          </a:prstGeom>
          <a:solidFill>
            <a:srgbClr val="2C2925"/>
          </a:solidFill>
          <a:ln>
            <a:noFill/>
          </a:ln>
          <a:effectLst>
            <a:outerShdw blurRad="1270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0"/>
          <p:cNvSpPr/>
          <p:nvPr/>
        </p:nvSpPr>
        <p:spPr>
          <a:xfrm>
            <a:off x="704088" y="2423160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0"/>
          <p:cNvSpPr/>
          <p:nvPr/>
        </p:nvSpPr>
        <p:spPr>
          <a:xfrm>
            <a:off x="905256" y="2423160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0"/>
          <p:cNvSpPr/>
          <p:nvPr/>
        </p:nvSpPr>
        <p:spPr>
          <a:xfrm>
            <a:off x="1106424" y="2423160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758952" y="2624328"/>
            <a:ext cx="106710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en-US" sz="1300" u="none" cap="none" strike="noStrike">
                <a:solidFill>
                  <a:srgbClr val="8FBF6F"/>
                </a:solidFill>
                <a:latin typeface="Courier New"/>
                <a:ea typeface="Courier New"/>
                <a:cs typeface="Courier New"/>
                <a:sym typeface="Courier New"/>
              </a:rPr>
              <a:t>server-backend-core</a:t>
            </a:r>
            <a:r>
              <a:rPr b="0" i="0" lang="en-US" sz="1300" u="none" cap="none" strike="noStrik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 모듈의 구조와 역할을 분석해서 설명해줘.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502920" y="3794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0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978408" y="3803904"/>
            <a:ext cx="106801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에이전트 자동 위임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978408" y="4123944"/>
            <a:ext cx="10680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backend-developer 등 해당 도메인의 에이전트가 자동으로 호출되어 분석을 시작합니다. Agent(...) 표시가 뜨면 정상입니다.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502920" y="45262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0"/>
          <p:cNvSpPr/>
          <p:nvPr/>
        </p:nvSpPr>
        <p:spPr>
          <a:xfrm>
            <a:off x="502920" y="45262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978408" y="4535424"/>
            <a:ext cx="106801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모듈 문서 우선 확인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978408" y="4855464"/>
            <a:ext cx="10680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에이전트가 그 모듈의 CLAUDE.md · AGENTS.md 를 먼저 읽고 작업하는지 진행 로그에서 확인하세요. 이것이 팀 세팅의 핵심 동작입니다.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502920" y="525780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0"/>
          <p:cNvSpPr/>
          <p:nvPr/>
        </p:nvSpPr>
        <p:spPr>
          <a:xfrm>
            <a:off x="502920" y="5257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978408" y="5266944"/>
            <a:ext cx="106801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확인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978408" y="5586984"/>
            <a:ext cx="10680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모듈 구성과 역할 설명이 한국어로 출력되면 온보딩 완료입니다!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502920" y="5989320"/>
            <a:ext cx="11183112" cy="640080"/>
          </a:xfrm>
          <a:prstGeom prst="roundRect">
            <a:avLst>
              <a:gd fmla="val 11429" name="adj"/>
            </a:avLst>
          </a:prstGeom>
          <a:solidFill>
            <a:srgbClr val="F9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1" name="Google Shape;5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813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0"/>
          <p:cNvSpPr/>
          <p:nvPr/>
        </p:nvSpPr>
        <p:spPr>
          <a:xfrm>
            <a:off x="1069848" y="5989320"/>
            <a:ext cx="10433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응답이 한국어로 나오고 상태줄(claude-hud)이 하단에 표시되면 언어 · 상태줄 설정까지 모두 적용된 것입니다.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01C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1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9" name="Google Shape;5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1"/>
          <p:cNvSpPr/>
          <p:nvPr/>
        </p:nvSpPr>
        <p:spPr>
          <a:xfrm>
            <a:off x="1280160" y="429768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세팅 완료 — 최종 체크리스트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1298448" y="1188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2A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B9B2A7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아래 항목이 전부 해당되면 온보딩이 끝났습니다. 이제 Claude Code와 함께 개발을 시작하세요!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1"/>
          <p:cNvSpPr/>
          <p:nvPr/>
        </p:nvSpPr>
        <p:spPr>
          <a:xfrm>
            <a:off x="502920" y="2103120"/>
            <a:ext cx="11183112" cy="658368"/>
          </a:xfrm>
          <a:prstGeom prst="roundRect">
            <a:avLst>
              <a:gd fmla="val 11111" name="adj"/>
            </a:avLst>
          </a:prstGeom>
          <a:solidFill>
            <a:srgbClr val="2C2925"/>
          </a:solidFill>
          <a:ln cap="flat" cmpd="sng" w="9525">
            <a:solidFill>
              <a:srgbClr val="3A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3" name="Google Shape;54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29514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21"/>
          <p:cNvSpPr/>
          <p:nvPr/>
        </p:nvSpPr>
        <p:spPr>
          <a:xfrm>
            <a:off x="1234440" y="2103120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--version 을 입력하면 버전이 나온다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502920" y="2889504"/>
            <a:ext cx="11183112" cy="658368"/>
          </a:xfrm>
          <a:prstGeom prst="roundRect">
            <a:avLst>
              <a:gd fmla="val 11111" name="adj"/>
            </a:avLst>
          </a:prstGeom>
          <a:solidFill>
            <a:srgbClr val="2C2925"/>
          </a:solidFill>
          <a:ln cap="flat" cmpd="sng" w="9525">
            <a:solidFill>
              <a:srgbClr val="3A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6" name="Google Shape;54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3081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21"/>
          <p:cNvSpPr/>
          <p:nvPr/>
        </p:nvSpPr>
        <p:spPr>
          <a:xfrm>
            <a:off x="1234440" y="2889504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실행 시 로그인 없이 바로 시작되고, 응답이 한국어다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502920" y="3675888"/>
            <a:ext cx="11183112" cy="658368"/>
          </a:xfrm>
          <a:prstGeom prst="roundRect">
            <a:avLst>
              <a:gd fmla="val 11111" name="adj"/>
            </a:avLst>
          </a:prstGeom>
          <a:solidFill>
            <a:srgbClr val="2C2925"/>
          </a:solidFill>
          <a:ln cap="flat" cmpd="sng" w="9525">
            <a:solidFill>
              <a:srgbClr val="3A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9" name="Google Shape;5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38679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1"/>
          <p:cNvSpPr/>
          <p:nvPr/>
        </p:nvSpPr>
        <p:spPr>
          <a:xfrm>
            <a:off x="1234440" y="367588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IntelliJ에서 Claude 아이콘으로 터미널이 열린다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502920" y="4462272"/>
            <a:ext cx="11183112" cy="658368"/>
          </a:xfrm>
          <a:prstGeom prst="roundRect">
            <a:avLst>
              <a:gd fmla="val 11111" name="adj"/>
            </a:avLst>
          </a:prstGeom>
          <a:solidFill>
            <a:srgbClr val="2C2925"/>
          </a:solidFill>
          <a:ln cap="flat" cmpd="sng" w="9525">
            <a:solidFill>
              <a:srgbClr val="3A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2" name="Google Shape;55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46542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21"/>
          <p:cNvSpPr/>
          <p:nvPr/>
        </p:nvSpPr>
        <p:spPr>
          <a:xfrm>
            <a:off x="1234440" y="4462272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/agents 입력 시 코딩 에이전트 8종이 나온다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502920" y="5248656"/>
            <a:ext cx="11183112" cy="658368"/>
          </a:xfrm>
          <a:prstGeom prst="roundRect">
            <a:avLst>
              <a:gd fmla="val 11111" name="adj"/>
            </a:avLst>
          </a:prstGeom>
          <a:solidFill>
            <a:srgbClr val="2C2925"/>
          </a:solidFill>
          <a:ln cap="flat" cmpd="sng" w="9525">
            <a:solidFill>
              <a:srgbClr val="3A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5" name="Google Shape;55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54406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1"/>
          <p:cNvSpPr/>
          <p:nvPr/>
        </p:nvSpPr>
        <p:spPr>
          <a:xfrm>
            <a:off x="1234440" y="5248656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모듈 분석 요청 시 에이전트가 모듈 문서를 읽고 정확히 설명한다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1"/>
          <p:cNvSpPr/>
          <p:nvPr/>
        </p:nvSpPr>
        <p:spPr>
          <a:xfrm>
            <a:off x="521208" y="62636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37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8A8378"/>
                </a:solidFill>
                <a:latin typeface="Malgun Gothic"/>
                <a:ea typeface="Malgun Gothic"/>
                <a:cs typeface="Malgun Gothic"/>
                <a:sym typeface="Malgun Gothic"/>
              </a:rPr>
              <a:t>막히는 부분이 있으면 HyperMig 개발팀 채널에 편하게 질문해 주세요.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