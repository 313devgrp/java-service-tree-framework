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9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12192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2" d="100"/>
          <a:sy n="92" d="100"/>
        </p:scale>
        <p:origin x="120" y="5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" name="Google Shape;38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" name="Google Shape;62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5" name="Google Shape;105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1" name="Google Shape;141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3" name="Google Shape;173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9" name="Google Shape;199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0" name="Google Shape;230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5" name="Google Shape;255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6" name="Google Shape;276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6" name="Google Shape;326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7" name="Google Shape;327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51" name="Google Shape;351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71" name="Google Shape;371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2" name="Google Shape;372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92" name="Google Shape;392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3" name="Google Shape;393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7" name="Google Shape;417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9" name="Google Shape;479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0" name="Google Shape;480;p1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05" name="Google Shape;505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6" name="Google Shape;506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35" name="Google Shape;535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6" name="Google Shape;536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hyper-mig.com/gitea/root/HyperMig/src/branch/main/claude-coding-agents-setup.tar.gz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01C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822960" y="822960"/>
            <a:ext cx="2286000" cy="566928"/>
          </a:xfrm>
          <a:prstGeom prst="roundRect">
            <a:avLst>
              <a:gd name="adj" fmla="val 14516"/>
            </a:avLst>
          </a:prstGeom>
          <a:solidFill>
            <a:srgbClr val="2C292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987552" y="1060704"/>
            <a:ext cx="100584" cy="100584"/>
          </a:xfrm>
          <a:prstGeom prst="ellipse">
            <a:avLst/>
          </a:prstGeom>
          <a:solidFill>
            <a:srgbClr val="E86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3"/>
          <p:cNvSpPr/>
          <p:nvPr/>
        </p:nvSpPr>
        <p:spPr>
          <a:xfrm>
            <a:off x="1188720" y="1060704"/>
            <a:ext cx="100584" cy="100584"/>
          </a:xfrm>
          <a:prstGeom prst="ellipse">
            <a:avLst/>
          </a:prstGeom>
          <a:solidFill>
            <a:srgbClr val="F0B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3"/>
          <p:cNvSpPr/>
          <p:nvPr/>
        </p:nvSpPr>
        <p:spPr>
          <a:xfrm>
            <a:off x="1389888" y="1060704"/>
            <a:ext cx="100584" cy="100584"/>
          </a:xfrm>
          <a:prstGeom prst="ellipse">
            <a:avLst/>
          </a:prstGeom>
          <a:solidFill>
            <a:srgbClr val="8FBF6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3"/>
          <p:cNvSpPr/>
          <p:nvPr/>
        </p:nvSpPr>
        <p:spPr>
          <a:xfrm>
            <a:off x="1600200" y="82296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400"/>
              <a:buFont typeface="Courier New"/>
              <a:buNone/>
            </a:pPr>
            <a:r>
              <a:rPr lang="en-US" sz="1400" b="0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1400" b="0" i="0" u="none" strike="noStrike" cap="none">
                <a:solidFill>
                  <a:srgbClr val="E8E3DB"/>
                </a:solidFill>
                <a:latin typeface="Courier New"/>
                <a:ea typeface="Courier New"/>
                <a:cs typeface="Courier New"/>
                <a:sym typeface="Courier New"/>
              </a:rPr>
              <a:t>claude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700"/>
              <a:buFont typeface="Malgun Gothic"/>
              <a:buNone/>
            </a:pPr>
            <a:r>
              <a:rPr lang="en-US" sz="47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Claude Code 설치 및 세팅 가이드</a:t>
            </a:r>
            <a:endParaRPr sz="4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841248" y="352044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9B2A7"/>
              </a:buClr>
              <a:buSzPts val="1700"/>
              <a:buFont typeface="Malgun Gothic"/>
              <a:buNone/>
            </a:pPr>
            <a:r>
              <a:rPr lang="en-US" sz="1700" b="0" i="0" u="none" strike="noStrike" cap="none">
                <a:solidFill>
                  <a:srgbClr val="B9B2A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개발팀 온보딩  ·  처음 쓰는 분도 그대로 따라 하면 완료됩니다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/>
          <p:nvPr/>
        </p:nvSpPr>
        <p:spPr>
          <a:xfrm>
            <a:off x="841248" y="402336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A8378"/>
              </a:buClr>
              <a:buSzPts val="1300"/>
              <a:buFont typeface="Malgun Gothic"/>
              <a:buNone/>
            </a:pPr>
            <a:r>
              <a:rPr lang="en-US" sz="1300" b="0" i="0" u="none" strike="noStrike" cap="none">
                <a:solidFill>
                  <a:srgbClr val="8A8378"/>
                </a:solidFill>
                <a:latin typeface="Malgun Gothic"/>
                <a:ea typeface="Malgun Gothic"/>
                <a:cs typeface="Malgun Gothic"/>
                <a:sym typeface="Malgun Gothic"/>
              </a:rPr>
              <a:t>소요 시간 약 20~30분  ·  명령어는 모두 복사해서 붙여넣으면 됩니다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3"/>
          <p:cNvSpPr/>
          <p:nvPr/>
        </p:nvSpPr>
        <p:spPr>
          <a:xfrm>
            <a:off x="8229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3"/>
          <p:cNvSpPr/>
          <p:nvPr/>
        </p:nvSpPr>
        <p:spPr>
          <a:xfrm>
            <a:off x="9692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설치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3"/>
          <p:cNvSpPr/>
          <p:nvPr/>
        </p:nvSpPr>
        <p:spPr>
          <a:xfrm>
            <a:off x="26517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3"/>
          <p:cNvSpPr/>
          <p:nvPr/>
        </p:nvSpPr>
        <p:spPr>
          <a:xfrm>
            <a:off x="27980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실행·로그인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3"/>
          <p:cNvSpPr/>
          <p:nvPr/>
        </p:nvSpPr>
        <p:spPr>
          <a:xfrm>
            <a:off x="44805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3"/>
          <p:cNvSpPr/>
          <p:nvPr/>
        </p:nvSpPr>
        <p:spPr>
          <a:xfrm>
            <a:off x="46268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03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IntelliJ 연동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3"/>
          <p:cNvSpPr/>
          <p:nvPr/>
        </p:nvSpPr>
        <p:spPr>
          <a:xfrm>
            <a:off x="63093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3"/>
          <p:cNvSpPr/>
          <p:nvPr/>
        </p:nvSpPr>
        <p:spPr>
          <a:xfrm>
            <a:off x="64556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04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환경설정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3"/>
          <p:cNvSpPr/>
          <p:nvPr/>
        </p:nvSpPr>
        <p:spPr>
          <a:xfrm>
            <a:off x="81381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3"/>
          <p:cNvSpPr/>
          <p:nvPr/>
        </p:nvSpPr>
        <p:spPr>
          <a:xfrm>
            <a:off x="82844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05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설정 확인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3"/>
          <p:cNvSpPr/>
          <p:nvPr/>
        </p:nvSpPr>
        <p:spPr>
          <a:xfrm>
            <a:off x="99669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3"/>
          <p:cNvSpPr/>
          <p:nvPr/>
        </p:nvSpPr>
        <p:spPr>
          <a:xfrm>
            <a:off x="101132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06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테스트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4"/>
          <p:cNvSpPr/>
          <p:nvPr/>
        </p:nvSpPr>
        <p:spPr>
          <a:xfrm>
            <a:off x="502920" y="384048"/>
            <a:ext cx="1005840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시작하기 전에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3000"/>
              <a:buFont typeface="Malgun Gothic"/>
              <a:buNone/>
            </a:pPr>
            <a:r>
              <a:rPr lang="en-US" sz="30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터미널 여는 방법부터 확인하세요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4"/>
          <p:cNvSpPr/>
          <p:nvPr/>
        </p:nvSpPr>
        <p:spPr>
          <a:xfrm>
            <a:off x="521208" y="1143000"/>
            <a:ext cx="111556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300"/>
              <a:buFont typeface="Malgun Gothic"/>
              <a:buNone/>
            </a:pPr>
            <a:r>
              <a:rPr lang="en-US" sz="13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 가이드의 모든 명령어는 “터미널”이라는 검은 입력 창에 입력합니다. 내 환경에 맞는 방법으로 터미널을 열어 두세요.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4"/>
          <p:cNvSpPr/>
          <p:nvPr/>
        </p:nvSpPr>
        <p:spPr>
          <a:xfrm>
            <a:off x="502920" y="1828800"/>
            <a:ext cx="3639312" cy="3017520"/>
          </a:xfrm>
          <a:prstGeom prst="roundRect">
            <a:avLst>
              <a:gd name="adj" fmla="val 2727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4"/>
          <p:cNvSpPr/>
          <p:nvPr/>
        </p:nvSpPr>
        <p:spPr>
          <a:xfrm>
            <a:off x="777240" y="2103120"/>
            <a:ext cx="512064" cy="512064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5" name="Google Shape;45;p4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5256" y="2231136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4"/>
          <p:cNvSpPr/>
          <p:nvPr/>
        </p:nvSpPr>
        <p:spPr>
          <a:xfrm>
            <a:off x="777240" y="2788920"/>
            <a:ext cx="3090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650"/>
              <a:buFont typeface="Malgun Gothic"/>
              <a:buNone/>
            </a:pPr>
            <a:r>
              <a:rPr lang="en-US" sz="16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Windows</a:t>
            </a:r>
            <a:endParaRPr sz="16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4"/>
          <p:cNvSpPr/>
          <p:nvPr/>
        </p:nvSpPr>
        <p:spPr>
          <a:xfrm>
            <a:off x="777240" y="3200400"/>
            <a:ext cx="3090672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시작 메뉴에서 </a:t>
            </a:r>
            <a:r>
              <a:rPr lang="en-US" sz="11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PowerShell</a:t>
            </a: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 을 검색해 실행합니다.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50"/>
              <a:buFont typeface="Calibri"/>
              <a:buNone/>
            </a:pP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또는 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150"/>
              <a:buFont typeface="Malgun Gothic"/>
              <a:buNone/>
            </a:pPr>
            <a:r>
              <a:rPr lang="en-US" sz="11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윈도우 키 + R</a:t>
            </a: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 → “powershell” 입력 → Enter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4"/>
          <p:cNvSpPr/>
          <p:nvPr/>
        </p:nvSpPr>
        <p:spPr>
          <a:xfrm>
            <a:off x="4288536" y="1828800"/>
            <a:ext cx="3639312" cy="3017520"/>
          </a:xfrm>
          <a:prstGeom prst="roundRect">
            <a:avLst>
              <a:gd name="adj" fmla="val 2727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p4"/>
          <p:cNvSpPr/>
          <p:nvPr/>
        </p:nvSpPr>
        <p:spPr>
          <a:xfrm>
            <a:off x="4562856" y="2103120"/>
            <a:ext cx="512064" cy="512064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0" name="Google Shape;50;p4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90872" y="2231136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4"/>
          <p:cNvSpPr/>
          <p:nvPr/>
        </p:nvSpPr>
        <p:spPr>
          <a:xfrm>
            <a:off x="4562856" y="2788920"/>
            <a:ext cx="3090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650"/>
              <a:buFont typeface="Malgun Gothic"/>
              <a:buNone/>
            </a:pPr>
            <a:r>
              <a:rPr lang="en-US" sz="16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macOS</a:t>
            </a:r>
            <a:endParaRPr sz="16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4"/>
          <p:cNvSpPr/>
          <p:nvPr/>
        </p:nvSpPr>
        <p:spPr>
          <a:xfrm>
            <a:off x="4562856" y="3200400"/>
            <a:ext cx="3090672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150"/>
              <a:buFont typeface="Malgun Gothic"/>
              <a:buNone/>
            </a:pPr>
            <a:r>
              <a:rPr lang="en-US" sz="11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⌘ + Space</a:t>
            </a: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 로 Spotlight를 열고 </a:t>
            </a:r>
            <a:r>
              <a:rPr lang="en-US" sz="11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터미널</a:t>
            </a: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 을 검색해 실행합니다.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4"/>
          <p:cNvSpPr/>
          <p:nvPr/>
        </p:nvSpPr>
        <p:spPr>
          <a:xfrm>
            <a:off x="8074152" y="1828800"/>
            <a:ext cx="3639312" cy="3017520"/>
          </a:xfrm>
          <a:prstGeom prst="roundRect">
            <a:avLst>
              <a:gd name="adj" fmla="val 2727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4"/>
          <p:cNvSpPr/>
          <p:nvPr/>
        </p:nvSpPr>
        <p:spPr>
          <a:xfrm>
            <a:off x="8348472" y="2103120"/>
            <a:ext cx="512064" cy="512064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5" name="Google Shape;55;p4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76488" y="2231136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4"/>
          <p:cNvSpPr/>
          <p:nvPr/>
        </p:nvSpPr>
        <p:spPr>
          <a:xfrm>
            <a:off x="8348472" y="2788920"/>
            <a:ext cx="3090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650"/>
              <a:buFont typeface="Malgun Gothic"/>
              <a:buNone/>
            </a:pPr>
            <a:r>
              <a:rPr lang="en-US" sz="16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IntelliJ 안에서 (권장)</a:t>
            </a:r>
            <a:endParaRPr sz="16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4"/>
          <p:cNvSpPr/>
          <p:nvPr/>
        </p:nvSpPr>
        <p:spPr>
          <a:xfrm>
            <a:off x="8348472" y="3200400"/>
            <a:ext cx="3090672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IntelliJ 하단의 </a:t>
            </a:r>
            <a:r>
              <a:rPr lang="en-US" sz="11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터미널 탭</a:t>
            </a: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 을 클릭합니다.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50"/>
              <a:buFont typeface="Calibri"/>
              <a:buNone/>
            </a:pP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단축키: 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150"/>
              <a:buFont typeface="Malgun Gothic"/>
              <a:buNone/>
            </a:pPr>
            <a:r>
              <a:rPr lang="en-US" sz="11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Alt + F12</a:t>
            </a: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  (macOS: ⌥ + F12)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프로젝트 폴더에서 바로 열려 편리합니다.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4"/>
          <p:cNvSpPr/>
          <p:nvPr/>
        </p:nvSpPr>
        <p:spPr>
          <a:xfrm>
            <a:off x="502920" y="5166360"/>
            <a:ext cx="11183112" cy="1097280"/>
          </a:xfrm>
          <a:prstGeom prst="roundRect">
            <a:avLst>
              <a:gd name="adj" fmla="val 7500"/>
            </a:avLst>
          </a:prstGeom>
          <a:solidFill>
            <a:srgbClr val="F9EF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4"/>
          <p:cNvSpPr/>
          <p:nvPr/>
        </p:nvSpPr>
        <p:spPr>
          <a:xfrm>
            <a:off x="777240" y="5166360"/>
            <a:ext cx="10607040" cy="109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복사 · 붙여넣기만 하면 됩니다   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가이드의 명령어를 드래그해 복사(Ctrl+C)한 뒤 터미널에 붙여넣고 Enter를 누르세요.  붙여넣기: Windows PowerShell은 </a:t>
            </a:r>
            <a:r>
              <a:rPr lang="en-US" sz="11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마우스 우클릭</a:t>
            </a:r>
            <a:r>
              <a:rPr lang="en-US" sz="11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 또는 Ctrl+V,  macOS는 ⌘+V 입니다.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5"/>
          <p:cNvSpPr/>
          <p:nvPr/>
        </p:nvSpPr>
        <p:spPr>
          <a:xfrm>
            <a:off x="502920" y="384048"/>
            <a:ext cx="1005840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전체 흐름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3000"/>
              <a:buFont typeface="Malgun Gothic"/>
              <a:buNone/>
            </a:pPr>
            <a:r>
              <a:rPr lang="en-US" sz="30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여섯 단계만 따라 하면 끝납니다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5"/>
          <p:cNvSpPr/>
          <p:nvPr/>
        </p:nvSpPr>
        <p:spPr>
          <a:xfrm>
            <a:off x="521208" y="1143000"/>
            <a:ext cx="111556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300"/>
              <a:buFont typeface="Malgun Gothic"/>
              <a:buNone/>
            </a:pPr>
            <a:r>
              <a:rPr lang="en-US" sz="13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각 단계마다 “어떻게 하는지”와 “어떤 화면이 나오면 성공인지”를 함께 안내합니다.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5"/>
          <p:cNvSpPr/>
          <p:nvPr/>
        </p:nvSpPr>
        <p:spPr>
          <a:xfrm>
            <a:off x="502920" y="1783080"/>
            <a:ext cx="3611880" cy="2057400"/>
          </a:xfrm>
          <a:prstGeom prst="roundRect">
            <a:avLst>
              <a:gd name="adj" fmla="val 4000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5"/>
          <p:cNvSpPr/>
          <p:nvPr/>
        </p:nvSpPr>
        <p:spPr>
          <a:xfrm>
            <a:off x="777240" y="2057400"/>
            <a:ext cx="530352" cy="53035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9" name="Google Shape;69;p5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5256" y="2185416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5"/>
          <p:cNvSpPr/>
          <p:nvPr/>
        </p:nvSpPr>
        <p:spPr>
          <a:xfrm>
            <a:off x="3337560" y="2020824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D8D2C9"/>
              </a:buClr>
              <a:buSzPts val="1600"/>
              <a:buFont typeface="Malgun Gothic"/>
              <a:buNone/>
            </a:pPr>
            <a:r>
              <a:rPr lang="en-US" sz="1600" b="1" i="0" u="none" strike="noStrike" cap="none">
                <a:solidFill>
                  <a:srgbClr val="D8D2C9"/>
                </a:solidFill>
                <a:latin typeface="Malgun Gothic"/>
                <a:ea typeface="Malgun Gothic"/>
                <a:cs typeface="Malgun Gothic"/>
                <a:sym typeface="Malgun Gothic"/>
              </a:rPr>
              <a:t>01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5"/>
          <p:cNvSpPr/>
          <p:nvPr/>
        </p:nvSpPr>
        <p:spPr>
          <a:xfrm>
            <a:off x="777240" y="2743200"/>
            <a:ext cx="30632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700"/>
              <a:buFont typeface="Malgun Gothic"/>
              <a:buNone/>
            </a:pPr>
            <a:r>
              <a:rPr lang="en-US" sz="17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설치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5"/>
          <p:cNvSpPr/>
          <p:nvPr/>
        </p:nvSpPr>
        <p:spPr>
          <a:xfrm>
            <a:off x="777240" y="3136392"/>
            <a:ext cx="306324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터미널에 설치 명령어를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붙여넣고 Enter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5"/>
          <p:cNvSpPr/>
          <p:nvPr/>
        </p:nvSpPr>
        <p:spPr>
          <a:xfrm>
            <a:off x="4315968" y="1783080"/>
            <a:ext cx="3611880" cy="2057400"/>
          </a:xfrm>
          <a:prstGeom prst="roundRect">
            <a:avLst>
              <a:gd name="adj" fmla="val 4000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5"/>
          <p:cNvSpPr/>
          <p:nvPr/>
        </p:nvSpPr>
        <p:spPr>
          <a:xfrm>
            <a:off x="4590288" y="2057400"/>
            <a:ext cx="530352" cy="53035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5" name="Google Shape;75;p5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718304" y="2185416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5"/>
          <p:cNvSpPr/>
          <p:nvPr/>
        </p:nvSpPr>
        <p:spPr>
          <a:xfrm>
            <a:off x="7150608" y="2020824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D8D2C9"/>
              </a:buClr>
              <a:buSzPts val="1600"/>
              <a:buFont typeface="Malgun Gothic"/>
              <a:buNone/>
            </a:pPr>
            <a:r>
              <a:rPr lang="en-US" sz="1600" b="1" i="0" u="none" strike="noStrike" cap="none">
                <a:solidFill>
                  <a:srgbClr val="D8D2C9"/>
                </a:solidFill>
                <a:latin typeface="Malgun Gothic"/>
                <a:ea typeface="Malgun Gothic"/>
                <a:cs typeface="Malgun Gothic"/>
                <a:sym typeface="Malgun Gothic"/>
              </a:rPr>
              <a:t>02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5"/>
          <p:cNvSpPr/>
          <p:nvPr/>
        </p:nvSpPr>
        <p:spPr>
          <a:xfrm>
            <a:off x="4590288" y="2743200"/>
            <a:ext cx="30632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700"/>
              <a:buFont typeface="Malgun Gothic"/>
              <a:buNone/>
            </a:pPr>
            <a:r>
              <a:rPr lang="en-US" sz="17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실행 · 로그인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5"/>
          <p:cNvSpPr/>
          <p:nvPr/>
        </p:nvSpPr>
        <p:spPr>
          <a:xfrm>
            <a:off x="4590288" y="3136392"/>
            <a:ext cx="306324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claude 입력 → 화면에서 1번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선택 → 브라우저에서 로그인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5"/>
          <p:cNvSpPr/>
          <p:nvPr/>
        </p:nvSpPr>
        <p:spPr>
          <a:xfrm>
            <a:off x="8129016" y="1783080"/>
            <a:ext cx="3611880" cy="2057400"/>
          </a:xfrm>
          <a:prstGeom prst="roundRect">
            <a:avLst>
              <a:gd name="adj" fmla="val 4000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5"/>
          <p:cNvSpPr/>
          <p:nvPr/>
        </p:nvSpPr>
        <p:spPr>
          <a:xfrm>
            <a:off x="8403336" y="2057400"/>
            <a:ext cx="530352" cy="53035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1" name="Google Shape;81;p5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531352" y="2185416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5"/>
          <p:cNvSpPr/>
          <p:nvPr/>
        </p:nvSpPr>
        <p:spPr>
          <a:xfrm>
            <a:off x="10963656" y="2020824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D8D2C9"/>
              </a:buClr>
              <a:buSzPts val="1600"/>
              <a:buFont typeface="Malgun Gothic"/>
              <a:buNone/>
            </a:pPr>
            <a:r>
              <a:rPr lang="en-US" sz="1600" b="1" i="0" u="none" strike="noStrike" cap="none">
                <a:solidFill>
                  <a:srgbClr val="D8D2C9"/>
                </a:solidFill>
                <a:latin typeface="Malgun Gothic"/>
                <a:ea typeface="Malgun Gothic"/>
                <a:cs typeface="Malgun Gothic"/>
                <a:sym typeface="Malgun Gothic"/>
              </a:rPr>
              <a:t>03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5"/>
          <p:cNvSpPr/>
          <p:nvPr/>
        </p:nvSpPr>
        <p:spPr>
          <a:xfrm>
            <a:off x="8403336" y="2743200"/>
            <a:ext cx="30632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700"/>
              <a:buFont typeface="Malgun Gothic"/>
              <a:buNone/>
            </a:pPr>
            <a:r>
              <a:rPr lang="en-US" sz="17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IntelliJ 연동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5"/>
          <p:cNvSpPr/>
          <p:nvPr/>
        </p:nvSpPr>
        <p:spPr>
          <a:xfrm>
            <a:off x="8403336" y="3136392"/>
            <a:ext cx="306324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플러그인 설치 후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Claude 아이콘으로 실행 확인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5"/>
          <p:cNvSpPr/>
          <p:nvPr/>
        </p:nvSpPr>
        <p:spPr>
          <a:xfrm>
            <a:off x="502920" y="4114800"/>
            <a:ext cx="3611880" cy="2057400"/>
          </a:xfrm>
          <a:prstGeom prst="roundRect">
            <a:avLst>
              <a:gd name="adj" fmla="val 4000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5"/>
          <p:cNvSpPr/>
          <p:nvPr/>
        </p:nvSpPr>
        <p:spPr>
          <a:xfrm>
            <a:off x="777240" y="4389120"/>
            <a:ext cx="530352" cy="53035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7" name="Google Shape;87;p5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05256" y="4517136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"/>
          <p:cNvSpPr/>
          <p:nvPr/>
        </p:nvSpPr>
        <p:spPr>
          <a:xfrm>
            <a:off x="3337560" y="4352544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D8D2C9"/>
              </a:buClr>
              <a:buSzPts val="1600"/>
              <a:buFont typeface="Malgun Gothic"/>
              <a:buNone/>
            </a:pPr>
            <a:r>
              <a:rPr lang="en-US" sz="1600" b="1" i="0" u="none" strike="noStrike" cap="none">
                <a:solidFill>
                  <a:srgbClr val="D8D2C9"/>
                </a:solidFill>
                <a:latin typeface="Malgun Gothic"/>
                <a:ea typeface="Malgun Gothic"/>
                <a:cs typeface="Malgun Gothic"/>
                <a:sym typeface="Malgun Gothic"/>
              </a:rPr>
              <a:t>04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5"/>
          <p:cNvSpPr/>
          <p:nvPr/>
        </p:nvSpPr>
        <p:spPr>
          <a:xfrm>
            <a:off x="777240" y="5074920"/>
            <a:ext cx="30632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700"/>
              <a:buFont typeface="Malgun Gothic"/>
              <a:buNone/>
            </a:pPr>
            <a:r>
              <a:rPr lang="en-US" sz="17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환경설정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5"/>
          <p:cNvSpPr/>
          <p:nvPr/>
        </p:nvSpPr>
        <p:spPr>
          <a:xfrm>
            <a:off x="777240" y="5468112"/>
            <a:ext cx="306324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세팅 파일 압축 해제 후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프롬프트 한 줄 입력하면 자동 진행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5"/>
          <p:cNvSpPr/>
          <p:nvPr/>
        </p:nvSpPr>
        <p:spPr>
          <a:xfrm>
            <a:off x="4315968" y="4114800"/>
            <a:ext cx="3611880" cy="2057400"/>
          </a:xfrm>
          <a:prstGeom prst="roundRect">
            <a:avLst>
              <a:gd name="adj" fmla="val 4000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5"/>
          <p:cNvSpPr/>
          <p:nvPr/>
        </p:nvSpPr>
        <p:spPr>
          <a:xfrm>
            <a:off x="4590288" y="4389120"/>
            <a:ext cx="530352" cy="53035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93" name="Google Shape;93;p5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718304" y="4517136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5"/>
          <p:cNvSpPr/>
          <p:nvPr/>
        </p:nvSpPr>
        <p:spPr>
          <a:xfrm>
            <a:off x="7150608" y="4352544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D8D2C9"/>
              </a:buClr>
              <a:buSzPts val="1600"/>
              <a:buFont typeface="Malgun Gothic"/>
              <a:buNone/>
            </a:pPr>
            <a:r>
              <a:rPr lang="en-US" sz="1600" b="1" i="0" u="none" strike="noStrike" cap="none">
                <a:solidFill>
                  <a:srgbClr val="D8D2C9"/>
                </a:solidFill>
                <a:latin typeface="Malgun Gothic"/>
                <a:ea typeface="Malgun Gothic"/>
                <a:cs typeface="Malgun Gothic"/>
                <a:sym typeface="Malgun Gothic"/>
              </a:rPr>
              <a:t>05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5"/>
          <p:cNvSpPr/>
          <p:nvPr/>
        </p:nvSpPr>
        <p:spPr>
          <a:xfrm>
            <a:off x="4590288" y="5074920"/>
            <a:ext cx="30632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700"/>
              <a:buFont typeface="Malgun Gothic"/>
              <a:buNone/>
            </a:pPr>
            <a:r>
              <a:rPr lang="en-US" sz="17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설정 확인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5"/>
          <p:cNvSpPr/>
          <p:nvPr/>
        </p:nvSpPr>
        <p:spPr>
          <a:xfrm>
            <a:off x="4590288" y="5468112"/>
            <a:ext cx="306324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에이전트 목록이 표로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출력되는지 확인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5"/>
          <p:cNvSpPr/>
          <p:nvPr/>
        </p:nvSpPr>
        <p:spPr>
          <a:xfrm>
            <a:off x="8129016" y="4114800"/>
            <a:ext cx="3611880" cy="2057400"/>
          </a:xfrm>
          <a:prstGeom prst="roundRect">
            <a:avLst>
              <a:gd name="adj" fmla="val 4000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5"/>
          <p:cNvSpPr/>
          <p:nvPr/>
        </p:nvSpPr>
        <p:spPr>
          <a:xfrm>
            <a:off x="8403336" y="4389120"/>
            <a:ext cx="530352" cy="53035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99" name="Google Shape;99;p5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531352" y="4517136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5"/>
          <p:cNvSpPr/>
          <p:nvPr/>
        </p:nvSpPr>
        <p:spPr>
          <a:xfrm>
            <a:off x="10963656" y="4352544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D8D2C9"/>
              </a:buClr>
              <a:buSzPts val="1600"/>
              <a:buFont typeface="Malgun Gothic"/>
              <a:buNone/>
            </a:pPr>
            <a:r>
              <a:rPr lang="en-US" sz="1600" b="1" i="0" u="none" strike="noStrike" cap="none">
                <a:solidFill>
                  <a:srgbClr val="D8D2C9"/>
                </a:solidFill>
                <a:latin typeface="Malgun Gothic"/>
                <a:ea typeface="Malgun Gothic"/>
                <a:cs typeface="Malgun Gothic"/>
                <a:sym typeface="Malgun Gothic"/>
              </a:rPr>
              <a:t>06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5"/>
          <p:cNvSpPr/>
          <p:nvPr/>
        </p:nvSpPr>
        <p:spPr>
          <a:xfrm>
            <a:off x="8403336" y="5074920"/>
            <a:ext cx="30632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700"/>
              <a:buFont typeface="Malgun Gothic"/>
              <a:buNone/>
            </a:pPr>
            <a:r>
              <a:rPr lang="en-US" sz="17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테스트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5"/>
          <p:cNvSpPr/>
          <p:nvPr/>
        </p:nvSpPr>
        <p:spPr>
          <a:xfrm>
            <a:off x="8403336" y="5468112"/>
            <a:ext cx="306324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분석 프롬프트를 입력해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동작을 최종 확인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6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6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algun Gothic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6"/>
          <p:cNvSpPr/>
          <p:nvPr/>
        </p:nvSpPr>
        <p:spPr>
          <a:xfrm>
            <a:off x="1280160" y="384048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STEP 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3000"/>
              <a:buFont typeface="Malgun Gothic"/>
              <a:buNone/>
            </a:pPr>
            <a:r>
              <a:rPr lang="en-US" sz="30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Claude Code 설치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6"/>
          <p:cNvSpPr/>
          <p:nvPr/>
        </p:nvSpPr>
        <p:spPr>
          <a:xfrm>
            <a:off x="1298448" y="1115568"/>
            <a:ext cx="10332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300"/>
              <a:buFont typeface="Malgun Gothic"/>
              <a:buNone/>
            </a:pPr>
            <a:r>
              <a:rPr lang="en-US" sz="13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내 환경에 맞는 카드 하나를 골라, 명령어를 통째로 복사해 터미널에 붙여넣고 Enter를 누르세요.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6"/>
          <p:cNvSpPr/>
          <p:nvPr/>
        </p:nvSpPr>
        <p:spPr>
          <a:xfrm>
            <a:off x="502920" y="1874520"/>
            <a:ext cx="3639312" cy="3611880"/>
          </a:xfrm>
          <a:prstGeom prst="roundRect">
            <a:avLst>
              <a:gd name="adj" fmla="val 2278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6"/>
          <p:cNvSpPr/>
          <p:nvPr/>
        </p:nvSpPr>
        <p:spPr>
          <a:xfrm>
            <a:off x="777240" y="2130552"/>
            <a:ext cx="3090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650"/>
              <a:buFont typeface="Malgun Gothic"/>
              <a:buNone/>
            </a:pPr>
            <a:r>
              <a:rPr lang="en-US" sz="16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macOS · Linux · WSL</a:t>
            </a:r>
            <a:endParaRPr sz="16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6"/>
          <p:cNvSpPr/>
          <p:nvPr/>
        </p:nvSpPr>
        <p:spPr>
          <a:xfrm>
            <a:off x="777240" y="2532888"/>
            <a:ext cx="309067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Mac이나 Linux를 쓴다면 이 명령어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6"/>
          <p:cNvSpPr/>
          <p:nvPr/>
        </p:nvSpPr>
        <p:spPr>
          <a:xfrm>
            <a:off x="777240" y="3246120"/>
            <a:ext cx="3090672" cy="1920240"/>
          </a:xfrm>
          <a:prstGeom prst="roundRect">
            <a:avLst>
              <a:gd name="adj" fmla="val 4286"/>
            </a:avLst>
          </a:prstGeom>
          <a:solidFill>
            <a:srgbClr val="2C2925"/>
          </a:solidFill>
          <a:ln>
            <a:noFill/>
          </a:ln>
          <a:effectLst>
            <a:outerShdw blurRad="127000" dist="25400" dir="54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6"/>
          <p:cNvSpPr/>
          <p:nvPr/>
        </p:nvSpPr>
        <p:spPr>
          <a:xfrm>
            <a:off x="978408" y="3429000"/>
            <a:ext cx="100584" cy="100584"/>
          </a:xfrm>
          <a:prstGeom prst="ellipse">
            <a:avLst/>
          </a:prstGeom>
          <a:solidFill>
            <a:srgbClr val="E86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6"/>
          <p:cNvSpPr/>
          <p:nvPr/>
        </p:nvSpPr>
        <p:spPr>
          <a:xfrm>
            <a:off x="1179576" y="3429000"/>
            <a:ext cx="100584" cy="100584"/>
          </a:xfrm>
          <a:prstGeom prst="ellipse">
            <a:avLst/>
          </a:prstGeom>
          <a:solidFill>
            <a:srgbClr val="F0B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6"/>
          <p:cNvSpPr/>
          <p:nvPr/>
        </p:nvSpPr>
        <p:spPr>
          <a:xfrm>
            <a:off x="1380744" y="3429000"/>
            <a:ext cx="100584" cy="100584"/>
          </a:xfrm>
          <a:prstGeom prst="ellipse">
            <a:avLst/>
          </a:prstGeom>
          <a:solidFill>
            <a:srgbClr val="8FBF6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6"/>
          <p:cNvSpPr/>
          <p:nvPr/>
        </p:nvSpPr>
        <p:spPr>
          <a:xfrm>
            <a:off x="1033272" y="3630168"/>
            <a:ext cx="2578608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50"/>
              <a:buFont typeface="Courier New"/>
              <a:buNone/>
            </a:pPr>
            <a:r>
              <a:rPr lang="en-US" sz="1150" b="0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1150" b="0" i="0" u="none" strike="noStrike" cap="none">
                <a:solidFill>
                  <a:srgbClr val="E8E3DB"/>
                </a:solidFill>
                <a:latin typeface="Courier New"/>
                <a:ea typeface="Courier New"/>
                <a:cs typeface="Courier New"/>
                <a:sym typeface="Courier New"/>
              </a:rPr>
              <a:t>curl -fsSL https://claude.ai/install.sh | bash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6"/>
          <p:cNvSpPr/>
          <p:nvPr/>
        </p:nvSpPr>
        <p:spPr>
          <a:xfrm>
            <a:off x="4288536" y="1874520"/>
            <a:ext cx="3639312" cy="3611880"/>
          </a:xfrm>
          <a:prstGeom prst="roundRect">
            <a:avLst>
              <a:gd name="adj" fmla="val 2278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6"/>
          <p:cNvSpPr/>
          <p:nvPr/>
        </p:nvSpPr>
        <p:spPr>
          <a:xfrm>
            <a:off x="4562856" y="2130552"/>
            <a:ext cx="3090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650"/>
              <a:buFont typeface="Malgun Gothic"/>
              <a:buNone/>
            </a:pPr>
            <a:r>
              <a:rPr lang="en-US" sz="16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Windows PowerShell</a:t>
            </a:r>
            <a:endParaRPr sz="16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6"/>
          <p:cNvSpPr/>
          <p:nvPr/>
        </p:nvSpPr>
        <p:spPr>
          <a:xfrm>
            <a:off x="4562856" y="2532888"/>
            <a:ext cx="309067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Windows라면 이 명령어 (권장)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6"/>
          <p:cNvSpPr/>
          <p:nvPr/>
        </p:nvSpPr>
        <p:spPr>
          <a:xfrm>
            <a:off x="4562856" y="3246120"/>
            <a:ext cx="3090672" cy="1920240"/>
          </a:xfrm>
          <a:prstGeom prst="roundRect">
            <a:avLst>
              <a:gd name="adj" fmla="val 4286"/>
            </a:avLst>
          </a:prstGeom>
          <a:solidFill>
            <a:srgbClr val="2C2925"/>
          </a:solidFill>
          <a:ln>
            <a:noFill/>
          </a:ln>
          <a:effectLst>
            <a:outerShdw blurRad="127000" dist="25400" dir="54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6"/>
          <p:cNvSpPr/>
          <p:nvPr/>
        </p:nvSpPr>
        <p:spPr>
          <a:xfrm>
            <a:off x="4764024" y="3429000"/>
            <a:ext cx="100584" cy="100584"/>
          </a:xfrm>
          <a:prstGeom prst="ellipse">
            <a:avLst/>
          </a:prstGeom>
          <a:solidFill>
            <a:srgbClr val="E86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6"/>
          <p:cNvSpPr/>
          <p:nvPr/>
        </p:nvSpPr>
        <p:spPr>
          <a:xfrm>
            <a:off x="4965192" y="3429000"/>
            <a:ext cx="100584" cy="100584"/>
          </a:xfrm>
          <a:prstGeom prst="ellipse">
            <a:avLst/>
          </a:prstGeom>
          <a:solidFill>
            <a:srgbClr val="F0B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6"/>
          <p:cNvSpPr/>
          <p:nvPr/>
        </p:nvSpPr>
        <p:spPr>
          <a:xfrm>
            <a:off x="5166360" y="3429000"/>
            <a:ext cx="100584" cy="100584"/>
          </a:xfrm>
          <a:prstGeom prst="ellipse">
            <a:avLst/>
          </a:prstGeom>
          <a:solidFill>
            <a:srgbClr val="8FBF6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6"/>
          <p:cNvSpPr/>
          <p:nvPr/>
        </p:nvSpPr>
        <p:spPr>
          <a:xfrm>
            <a:off x="4818888" y="3630168"/>
            <a:ext cx="2578608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50"/>
              <a:buFont typeface="Courier New"/>
              <a:buNone/>
            </a:pPr>
            <a:r>
              <a:rPr lang="en-US" sz="1150" b="0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PS&gt; </a:t>
            </a:r>
            <a:r>
              <a:rPr lang="en-US" sz="1150" b="0" i="0" u="none" strike="noStrike" cap="none">
                <a:solidFill>
                  <a:srgbClr val="E8E3DB"/>
                </a:solidFill>
                <a:latin typeface="Courier New"/>
                <a:ea typeface="Courier New"/>
                <a:cs typeface="Courier New"/>
                <a:sym typeface="Courier New"/>
              </a:rPr>
              <a:t>irm https://claude.ai/install.ps1 | iex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6"/>
          <p:cNvSpPr/>
          <p:nvPr/>
        </p:nvSpPr>
        <p:spPr>
          <a:xfrm>
            <a:off x="8074152" y="1874520"/>
            <a:ext cx="3639312" cy="3611880"/>
          </a:xfrm>
          <a:prstGeom prst="roundRect">
            <a:avLst>
              <a:gd name="adj" fmla="val 2278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6"/>
          <p:cNvSpPr/>
          <p:nvPr/>
        </p:nvSpPr>
        <p:spPr>
          <a:xfrm>
            <a:off x="8348472" y="2130552"/>
            <a:ext cx="3090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650"/>
              <a:buFont typeface="Malgun Gothic"/>
              <a:buNone/>
            </a:pPr>
            <a:r>
              <a:rPr lang="en-US" sz="16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Windows CMD</a:t>
            </a:r>
            <a:endParaRPr sz="16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6"/>
          <p:cNvSpPr/>
          <p:nvPr/>
        </p:nvSpPr>
        <p:spPr>
          <a:xfrm>
            <a:off x="8348472" y="2532888"/>
            <a:ext cx="309067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명령 프롬프트(cmd)를 쓸 때만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6"/>
          <p:cNvSpPr/>
          <p:nvPr/>
        </p:nvSpPr>
        <p:spPr>
          <a:xfrm>
            <a:off x="8348472" y="3246120"/>
            <a:ext cx="3090672" cy="1920240"/>
          </a:xfrm>
          <a:prstGeom prst="roundRect">
            <a:avLst>
              <a:gd name="adj" fmla="val 4286"/>
            </a:avLst>
          </a:prstGeom>
          <a:solidFill>
            <a:srgbClr val="2C2925"/>
          </a:solidFill>
          <a:ln>
            <a:noFill/>
          </a:ln>
          <a:effectLst>
            <a:outerShdw blurRad="127000" dist="25400" dir="54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6"/>
          <p:cNvSpPr/>
          <p:nvPr/>
        </p:nvSpPr>
        <p:spPr>
          <a:xfrm>
            <a:off x="8549640" y="3429000"/>
            <a:ext cx="100584" cy="100584"/>
          </a:xfrm>
          <a:prstGeom prst="ellipse">
            <a:avLst/>
          </a:prstGeom>
          <a:solidFill>
            <a:srgbClr val="E86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6"/>
          <p:cNvSpPr/>
          <p:nvPr/>
        </p:nvSpPr>
        <p:spPr>
          <a:xfrm>
            <a:off x="8750808" y="3429000"/>
            <a:ext cx="100584" cy="100584"/>
          </a:xfrm>
          <a:prstGeom prst="ellipse">
            <a:avLst/>
          </a:prstGeom>
          <a:solidFill>
            <a:srgbClr val="F0B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6"/>
          <p:cNvSpPr/>
          <p:nvPr/>
        </p:nvSpPr>
        <p:spPr>
          <a:xfrm>
            <a:off x="8951976" y="3429000"/>
            <a:ext cx="100584" cy="100584"/>
          </a:xfrm>
          <a:prstGeom prst="ellipse">
            <a:avLst/>
          </a:prstGeom>
          <a:solidFill>
            <a:srgbClr val="8FBF6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6"/>
          <p:cNvSpPr/>
          <p:nvPr/>
        </p:nvSpPr>
        <p:spPr>
          <a:xfrm>
            <a:off x="8604504" y="3630168"/>
            <a:ext cx="2578608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50"/>
              <a:buFont typeface="Courier New"/>
              <a:buNone/>
            </a:pPr>
            <a:r>
              <a:rPr lang="en-US" sz="1150" b="0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&gt; </a:t>
            </a:r>
            <a:r>
              <a:rPr lang="en-US" sz="1150" b="0" i="0" u="none" strike="noStrike" cap="none">
                <a:solidFill>
                  <a:srgbClr val="E8E3DB"/>
                </a:solidFill>
                <a:latin typeface="Courier New"/>
                <a:ea typeface="Courier New"/>
                <a:cs typeface="Courier New"/>
                <a:sym typeface="Courier New"/>
              </a:rPr>
              <a:t>curl -fsSL https://claude.ai/install.cmd -o install.cmd &amp;&amp; install.cmd &amp;&amp; del install.cmd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6"/>
          <p:cNvSpPr/>
          <p:nvPr/>
        </p:nvSpPr>
        <p:spPr>
          <a:xfrm>
            <a:off x="502920" y="5715000"/>
            <a:ext cx="11183112" cy="777240"/>
          </a:xfrm>
          <a:prstGeom prst="roundRect">
            <a:avLst>
              <a:gd name="adj" fmla="val 9412"/>
            </a:avLst>
          </a:prstGeom>
          <a:solidFill>
            <a:srgbClr val="F9EF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37" name="Google Shape;137;p6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4088" y="5975604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6"/>
          <p:cNvSpPr/>
          <p:nvPr/>
        </p:nvSpPr>
        <p:spPr>
          <a:xfrm>
            <a:off x="1069848" y="5715000"/>
            <a:ext cx="10433304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설치가 끝나면 터미널을 완전히 닫았다가 새로 연 뒤  </a:t>
            </a:r>
            <a:r>
              <a:rPr lang="en-US" sz="1150" b="1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claude --version</a:t>
            </a:r>
            <a:r>
              <a:rPr lang="en-US" sz="11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  을 입력해 보세요. 버전 번호(예: 2.1.207)가 나오면 성공입니다. “명령을 찾을 수 없음”이 나오면 터미널을 다시 열어 재시도하세요.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7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7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algun Gothic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7"/>
          <p:cNvSpPr/>
          <p:nvPr/>
        </p:nvSpPr>
        <p:spPr>
          <a:xfrm>
            <a:off x="1280160" y="384048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STEP 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3000"/>
              <a:buFont typeface="Malgun Gothic"/>
              <a:buNone/>
            </a:pPr>
            <a:r>
              <a:rPr lang="en-US" sz="30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Claude Code 실행하기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7"/>
          <p:cNvSpPr/>
          <p:nvPr/>
        </p:nvSpPr>
        <p:spPr>
          <a:xfrm>
            <a:off x="1298448" y="1115568"/>
            <a:ext cx="10332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300"/>
              <a:buFont typeface="Malgun Gothic"/>
              <a:buNone/>
            </a:pPr>
            <a:r>
              <a:rPr lang="en-US" sz="13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설치가 끝났다면 이제 실행해 봅니다. 터미널에 딱 한 단어만 입력하면 됩니다.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7"/>
          <p:cNvSpPr/>
          <p:nvPr/>
        </p:nvSpPr>
        <p:spPr>
          <a:xfrm>
            <a:off x="502920" y="182880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7"/>
          <p:cNvSpPr/>
          <p:nvPr/>
        </p:nvSpPr>
        <p:spPr>
          <a:xfrm>
            <a:off x="502920" y="182880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7"/>
          <p:cNvSpPr/>
          <p:nvPr/>
        </p:nvSpPr>
        <p:spPr>
          <a:xfrm>
            <a:off x="978408" y="1837944"/>
            <a:ext cx="4736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프로젝트 폴더로 이동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7"/>
          <p:cNvSpPr/>
          <p:nvPr/>
        </p:nvSpPr>
        <p:spPr>
          <a:xfrm>
            <a:off x="978408" y="2157984"/>
            <a:ext cx="4736592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IntelliJ 하단 터미널을 쓰면 이미 프로젝트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폴더라서 이 단계는 건너뛰어도 됩니다.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일반 터미널이라면 cd 폴더경로 로 이동하세요.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7"/>
          <p:cNvSpPr/>
          <p:nvPr/>
        </p:nvSpPr>
        <p:spPr>
          <a:xfrm>
            <a:off x="502920" y="297180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7"/>
          <p:cNvSpPr/>
          <p:nvPr/>
        </p:nvSpPr>
        <p:spPr>
          <a:xfrm>
            <a:off x="502920" y="297180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7"/>
          <p:cNvSpPr/>
          <p:nvPr/>
        </p:nvSpPr>
        <p:spPr>
          <a:xfrm>
            <a:off x="978408" y="2980944"/>
            <a:ext cx="4736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claude 입력 후 Enter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7"/>
          <p:cNvSpPr/>
          <p:nvPr/>
        </p:nvSpPr>
        <p:spPr>
          <a:xfrm>
            <a:off x="978408" y="3300984"/>
            <a:ext cx="4736592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소문자로 claude 라고만 입력하면 됩니다.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7"/>
          <p:cNvSpPr/>
          <p:nvPr/>
        </p:nvSpPr>
        <p:spPr>
          <a:xfrm>
            <a:off x="502920" y="365760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7"/>
          <p:cNvSpPr/>
          <p:nvPr/>
        </p:nvSpPr>
        <p:spPr>
          <a:xfrm>
            <a:off x="502920" y="365760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7"/>
          <p:cNvSpPr/>
          <p:nvPr/>
        </p:nvSpPr>
        <p:spPr>
          <a:xfrm>
            <a:off x="978408" y="3666744"/>
            <a:ext cx="4736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잠시 기다리기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7"/>
          <p:cNvSpPr/>
          <p:nvPr/>
        </p:nvSpPr>
        <p:spPr>
          <a:xfrm>
            <a:off x="978408" y="3986784"/>
            <a:ext cx="473659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몇 초 뒤 오른쪽과 같은 환영 화면이 나타나고,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처음 실행이라면 로그인 화면으로 이어집니다.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7"/>
          <p:cNvSpPr/>
          <p:nvPr/>
        </p:nvSpPr>
        <p:spPr>
          <a:xfrm>
            <a:off x="502920" y="4709160"/>
            <a:ext cx="5212080" cy="1371600"/>
          </a:xfrm>
          <a:prstGeom prst="roundRect">
            <a:avLst>
              <a:gd name="adj" fmla="val 5333"/>
            </a:avLst>
          </a:prstGeom>
          <a:solidFill>
            <a:srgbClr val="F9EF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61" name="Google Shape;161;p7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4088" y="5266944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7"/>
          <p:cNvSpPr/>
          <p:nvPr/>
        </p:nvSpPr>
        <p:spPr>
          <a:xfrm>
            <a:off x="1069848" y="4709160"/>
            <a:ext cx="4462272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Claude Code 로고 배너와 버전 정보가 보이면 정상 실행된 것입니다. 종료하고 싶을 땐  </a:t>
            </a:r>
            <a:r>
              <a:rPr lang="en-US" sz="1150" b="1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/exit</a:t>
            </a:r>
            <a:r>
              <a:rPr lang="en-US" sz="11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  를 입력하거나 Ctrl+C를 두 번 누르면 됩니다.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7"/>
          <p:cNvSpPr/>
          <p:nvPr/>
        </p:nvSpPr>
        <p:spPr>
          <a:xfrm>
            <a:off x="6126480" y="178308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400"/>
              <a:buFont typeface="Malgun Gothic"/>
              <a:buNone/>
            </a:pPr>
            <a:r>
              <a:rPr lang="en-US" sz="14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실행하면 이런 화면이 나옵니다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7"/>
          <p:cNvSpPr/>
          <p:nvPr/>
        </p:nvSpPr>
        <p:spPr>
          <a:xfrm>
            <a:off x="6126480" y="221284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00"/>
              <a:buFont typeface="Malgun Gothic"/>
              <a:buNone/>
            </a:pPr>
            <a:r>
              <a:rPr lang="en-US" sz="11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터미널에 claude 를 입력한 모습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7"/>
          <p:cNvSpPr/>
          <p:nvPr/>
        </p:nvSpPr>
        <p:spPr>
          <a:xfrm>
            <a:off x="6080760" y="2496312"/>
            <a:ext cx="5650992" cy="402857"/>
          </a:xfrm>
          <a:prstGeom prst="roundRect">
            <a:avLst>
              <a:gd name="adj" fmla="val 15889"/>
            </a:avLst>
          </a:prstGeom>
          <a:solidFill>
            <a:srgbClr val="FFFFFF"/>
          </a:solidFill>
          <a:ln w="12700" cap="flat" cmpd="sng">
            <a:solidFill>
              <a:srgbClr val="E4E0DA"/>
            </a:solidFill>
            <a:prstDash val="solid"/>
            <a:round/>
            <a:headEnd type="none" w="sm" len="sm"/>
            <a:tailEnd type="none" w="sm" len="sm"/>
          </a:ln>
          <a:effectLst>
            <a:outerShdw blurRad="152400" dist="38100" dir="5400000" algn="bl" rotWithShape="0">
              <a:srgbClr val="000000">
                <a:alpha val="2196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66" name="Google Shape;166;p7" descr="shots/run_prompt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126480" y="2542032"/>
            <a:ext cx="5559552" cy="311417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7"/>
          <p:cNvSpPr/>
          <p:nvPr/>
        </p:nvSpPr>
        <p:spPr>
          <a:xfrm>
            <a:off x="6126480" y="331012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00"/>
              <a:buFont typeface="Malgun Gothic"/>
              <a:buNone/>
            </a:pPr>
            <a:r>
              <a:rPr lang="en-US" sz="11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Enter를 누르면 잠시 후 환영 화면이 표시됩니다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7"/>
          <p:cNvSpPr/>
          <p:nvPr/>
        </p:nvSpPr>
        <p:spPr>
          <a:xfrm>
            <a:off x="6080760" y="3593592"/>
            <a:ext cx="5650992" cy="1157756"/>
          </a:xfrm>
          <a:prstGeom prst="roundRect">
            <a:avLst>
              <a:gd name="adj" fmla="val 5529"/>
            </a:avLst>
          </a:prstGeom>
          <a:solidFill>
            <a:srgbClr val="FFFFFF"/>
          </a:solidFill>
          <a:ln w="12700" cap="flat" cmpd="sng">
            <a:solidFill>
              <a:srgbClr val="E4E0DA"/>
            </a:solidFill>
            <a:prstDash val="solid"/>
            <a:round/>
            <a:headEnd type="none" w="sm" len="sm"/>
            <a:tailEnd type="none" w="sm" len="sm"/>
          </a:ln>
          <a:effectLst>
            <a:outerShdw blurRad="152400" dist="38100" dir="5400000" algn="bl" rotWithShape="0">
              <a:srgbClr val="000000">
                <a:alpha val="2196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69" name="Google Shape;169;p7" descr="shots/run_banner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126480" y="3639312"/>
            <a:ext cx="5559552" cy="1066316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7"/>
          <p:cNvSpPr/>
          <p:nvPr/>
        </p:nvSpPr>
        <p:spPr>
          <a:xfrm>
            <a:off x="6126480" y="4983480"/>
            <a:ext cx="5559552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00"/>
              <a:buFont typeface="Malgun Gothic"/>
              <a:buNone/>
            </a:pPr>
            <a:r>
              <a:rPr lang="en-US" sz="11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화면의 버전 · 모델 표기는 시점에 따라 다를 수 있습니다. </a:t>
            </a:r>
            <a:r>
              <a:rPr lang="en-US" sz="11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처음 실행이라면 곧바로 로그인 선택 화면이 이어집니다 → 다음 페이지에서 계속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8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8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algun Gothic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8"/>
          <p:cNvSpPr/>
          <p:nvPr/>
        </p:nvSpPr>
        <p:spPr>
          <a:xfrm>
            <a:off x="1280160" y="384048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STEP 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3000"/>
              <a:buFont typeface="Malgun Gothic"/>
              <a:buNone/>
            </a:pPr>
            <a:r>
              <a:rPr lang="en-US" sz="30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로그인 화면 — 1번을 선택하세요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8"/>
          <p:cNvSpPr/>
          <p:nvPr/>
        </p:nvSpPr>
        <p:spPr>
          <a:xfrm>
            <a:off x="1298448" y="1115568"/>
            <a:ext cx="10332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300"/>
              <a:buFont typeface="Malgun Gothic"/>
              <a:buNone/>
            </a:pPr>
            <a:r>
              <a:rPr lang="en-US" sz="13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처음 실행하면 자동으로 나타나는 화면입니다. 마우스는 쓰지 않고 키보드로만 조작합니다.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8"/>
          <p:cNvSpPr/>
          <p:nvPr/>
        </p:nvSpPr>
        <p:spPr>
          <a:xfrm>
            <a:off x="745236" y="1965960"/>
            <a:ext cx="10698480" cy="2397318"/>
          </a:xfrm>
          <a:prstGeom prst="roundRect">
            <a:avLst>
              <a:gd name="adj" fmla="val 2670"/>
            </a:avLst>
          </a:prstGeom>
          <a:solidFill>
            <a:srgbClr val="FFFFFF"/>
          </a:solidFill>
          <a:ln w="12700" cap="flat" cmpd="sng">
            <a:solidFill>
              <a:srgbClr val="E4E0DA"/>
            </a:solidFill>
            <a:prstDash val="solid"/>
            <a:round/>
            <a:headEnd type="none" w="sm" len="sm"/>
            <a:tailEnd type="none" w="sm" len="sm"/>
          </a:ln>
          <a:effectLst>
            <a:outerShdw blurRad="152400" dist="38100" dir="5400000" algn="bl" rotWithShape="0">
              <a:srgbClr val="000000">
                <a:alpha val="2196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81" name="Google Shape;181;p8" descr="shots/login1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90956" y="2011680"/>
            <a:ext cx="10607040" cy="2305878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8"/>
          <p:cNvSpPr/>
          <p:nvPr/>
        </p:nvSpPr>
        <p:spPr>
          <a:xfrm>
            <a:off x="502920" y="4709160"/>
            <a:ext cx="3611880" cy="1600200"/>
          </a:xfrm>
          <a:prstGeom prst="roundRect">
            <a:avLst>
              <a:gd name="adj" fmla="val 5143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8"/>
          <p:cNvSpPr/>
          <p:nvPr/>
        </p:nvSpPr>
        <p:spPr>
          <a:xfrm>
            <a:off x="731520" y="493776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8"/>
          <p:cNvSpPr/>
          <p:nvPr/>
        </p:nvSpPr>
        <p:spPr>
          <a:xfrm>
            <a:off x="731520" y="493776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8"/>
          <p:cNvSpPr/>
          <p:nvPr/>
        </p:nvSpPr>
        <p:spPr>
          <a:xfrm>
            <a:off x="1216152" y="4946904"/>
            <a:ext cx="2697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화면 확인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8"/>
          <p:cNvSpPr/>
          <p:nvPr/>
        </p:nvSpPr>
        <p:spPr>
          <a:xfrm>
            <a:off x="731520" y="5394960"/>
            <a:ext cx="315468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00"/>
              <a:buFont typeface="Malgun Gothic"/>
              <a:buNone/>
            </a:pPr>
            <a:r>
              <a:rPr lang="en-US" sz="11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“Select login method” 라는 선택 화면이 보입니다. 세 가지 로그인 방법 중 하나를 고르는 단계입니다.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8"/>
          <p:cNvSpPr/>
          <p:nvPr/>
        </p:nvSpPr>
        <p:spPr>
          <a:xfrm>
            <a:off x="4288536" y="4709160"/>
            <a:ext cx="3611880" cy="1600200"/>
          </a:xfrm>
          <a:prstGeom prst="roundRect">
            <a:avLst>
              <a:gd name="adj" fmla="val 5143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8"/>
          <p:cNvSpPr/>
          <p:nvPr/>
        </p:nvSpPr>
        <p:spPr>
          <a:xfrm>
            <a:off x="4517136" y="493776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8"/>
          <p:cNvSpPr/>
          <p:nvPr/>
        </p:nvSpPr>
        <p:spPr>
          <a:xfrm>
            <a:off x="4517136" y="493776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8"/>
          <p:cNvSpPr/>
          <p:nvPr/>
        </p:nvSpPr>
        <p:spPr>
          <a:xfrm>
            <a:off x="5001768" y="4946904"/>
            <a:ext cx="2697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키보드 ↑ ↓ 로 이동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8"/>
          <p:cNvSpPr/>
          <p:nvPr/>
        </p:nvSpPr>
        <p:spPr>
          <a:xfrm>
            <a:off x="4517136" y="5394960"/>
            <a:ext cx="315468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00"/>
              <a:buFont typeface="Malgun Gothic"/>
              <a:buNone/>
            </a:pPr>
            <a:r>
              <a:rPr lang="en-US" sz="11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방향키로 항목을 이동할 수 있습니다. </a:t>
            </a:r>
            <a:r>
              <a:rPr lang="en-US" sz="11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❯ 표시가 1번에 있는지</a:t>
            </a:r>
            <a:r>
              <a:rPr lang="en-US" sz="11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 확인하세요. (기본으로 1번에 있습니다)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8"/>
          <p:cNvSpPr/>
          <p:nvPr/>
        </p:nvSpPr>
        <p:spPr>
          <a:xfrm>
            <a:off x="8074152" y="4709160"/>
            <a:ext cx="3611880" cy="1600200"/>
          </a:xfrm>
          <a:prstGeom prst="roundRect">
            <a:avLst>
              <a:gd name="adj" fmla="val 5143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8"/>
          <p:cNvSpPr/>
          <p:nvPr/>
        </p:nvSpPr>
        <p:spPr>
          <a:xfrm>
            <a:off x="8302752" y="493776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p8"/>
          <p:cNvSpPr/>
          <p:nvPr/>
        </p:nvSpPr>
        <p:spPr>
          <a:xfrm>
            <a:off x="8302752" y="493776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8"/>
          <p:cNvSpPr/>
          <p:nvPr/>
        </p:nvSpPr>
        <p:spPr>
          <a:xfrm>
            <a:off x="8787384" y="4946904"/>
            <a:ext cx="2697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Enter 로 선택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8"/>
          <p:cNvSpPr/>
          <p:nvPr/>
        </p:nvSpPr>
        <p:spPr>
          <a:xfrm>
            <a:off x="8302752" y="5394960"/>
            <a:ext cx="315468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050"/>
              <a:buFont typeface="Courier New"/>
              <a:buNone/>
            </a:pPr>
            <a:r>
              <a:rPr lang="en-US" sz="1050" b="1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1. Claude account with subscription</a:t>
            </a:r>
            <a:r>
              <a:rPr lang="en-US" sz="11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 에서 Enter를 누릅니다. 우리 팀은 항상 1번만 사용합니다.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9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9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algun Gothic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9"/>
          <p:cNvSpPr/>
          <p:nvPr/>
        </p:nvSpPr>
        <p:spPr>
          <a:xfrm>
            <a:off x="1280160" y="384048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STEP 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3000"/>
              <a:buFont typeface="Malgun Gothic"/>
              <a:buNone/>
            </a:pPr>
            <a:r>
              <a:rPr lang="en-US" sz="30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브라우저에서 로그인 완료하기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9"/>
          <p:cNvSpPr/>
          <p:nvPr/>
        </p:nvSpPr>
        <p:spPr>
          <a:xfrm>
            <a:off x="1298448" y="1115568"/>
            <a:ext cx="10332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300"/>
              <a:buFont typeface="Malgun Gothic"/>
              <a:buNone/>
            </a:pPr>
            <a:r>
              <a:rPr lang="en-US" sz="13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1번을 선택하면 브라우저가 자동으로 열립니다. 실제 화면과 함께 순서대로 진행해 보세요.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9"/>
          <p:cNvSpPr/>
          <p:nvPr/>
        </p:nvSpPr>
        <p:spPr>
          <a:xfrm>
            <a:off x="502920" y="178308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9"/>
          <p:cNvSpPr/>
          <p:nvPr/>
        </p:nvSpPr>
        <p:spPr>
          <a:xfrm>
            <a:off x="502920" y="178308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9"/>
          <p:cNvSpPr/>
          <p:nvPr/>
        </p:nvSpPr>
        <p:spPr>
          <a:xfrm>
            <a:off x="978408" y="1792224"/>
            <a:ext cx="31363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브라우저에서 [승인] 클릭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9"/>
          <p:cNvSpPr/>
          <p:nvPr/>
        </p:nvSpPr>
        <p:spPr>
          <a:xfrm>
            <a:off x="978408" y="2121408"/>
            <a:ext cx="313639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050"/>
              <a:buFont typeface="Malgun Gothic"/>
              <a:buNone/>
            </a:pPr>
            <a:r>
              <a:rPr lang="en-US" sz="10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연결 요청 화면이 뜨면 팀 계정으로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050"/>
              <a:buFont typeface="Malgun Gothic"/>
              <a:buNone/>
            </a:pPr>
            <a:r>
              <a:rPr lang="en-US" sz="10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로그인한 뒤 승인 버튼을 누릅니다.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9"/>
          <p:cNvSpPr/>
          <p:nvPr/>
        </p:nvSpPr>
        <p:spPr>
          <a:xfrm>
            <a:off x="1120140" y="2834640"/>
            <a:ext cx="2377440" cy="2836957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12700" cap="flat" cmpd="sng">
            <a:solidFill>
              <a:srgbClr val="E4E0DA"/>
            </a:solidFill>
            <a:prstDash val="solid"/>
            <a:round/>
            <a:headEnd type="none" w="sm" len="sm"/>
            <a:tailEnd type="none" w="sm" len="sm"/>
          </a:ln>
          <a:effectLst>
            <a:outerShdw blurRad="152400" dist="38100" dir="5400000" algn="bl" rotWithShape="0">
              <a:srgbClr val="000000">
                <a:alpha val="2196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11" name="Google Shape;211;p9" descr="shots/login3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65860" y="2880360"/>
            <a:ext cx="2286000" cy="2745517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9"/>
          <p:cNvSpPr/>
          <p:nvPr/>
        </p:nvSpPr>
        <p:spPr>
          <a:xfrm>
            <a:off x="4297680" y="178308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9"/>
          <p:cNvSpPr/>
          <p:nvPr/>
        </p:nvSpPr>
        <p:spPr>
          <a:xfrm>
            <a:off x="4297680" y="178308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9"/>
          <p:cNvSpPr/>
          <p:nvPr/>
        </p:nvSpPr>
        <p:spPr>
          <a:xfrm>
            <a:off x="4773168" y="1792224"/>
            <a:ext cx="31363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완료 화면이 뜨면 창 닫기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9"/>
          <p:cNvSpPr/>
          <p:nvPr/>
        </p:nvSpPr>
        <p:spPr>
          <a:xfrm>
            <a:off x="4773168" y="2121408"/>
            <a:ext cx="313639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050"/>
              <a:buFont typeface="Malgun Gothic"/>
              <a:buNone/>
            </a:pPr>
            <a:r>
              <a:rPr lang="en-US" sz="10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“Claude Code 설정이 완료되었습니다”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050"/>
              <a:buFont typeface="Malgun Gothic"/>
              <a:buNone/>
            </a:pPr>
            <a:r>
              <a:rPr lang="en-US" sz="10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 보이면 브라우저는 닫아도 됩니다.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9"/>
          <p:cNvSpPr/>
          <p:nvPr/>
        </p:nvSpPr>
        <p:spPr>
          <a:xfrm>
            <a:off x="4572000" y="2834640"/>
            <a:ext cx="3063240" cy="2374463"/>
          </a:xfrm>
          <a:prstGeom prst="roundRect">
            <a:avLst>
              <a:gd name="adj" fmla="val 2696"/>
            </a:avLst>
          </a:prstGeom>
          <a:solidFill>
            <a:srgbClr val="FFFFFF"/>
          </a:solidFill>
          <a:ln w="12700" cap="flat" cmpd="sng">
            <a:solidFill>
              <a:srgbClr val="E4E0DA"/>
            </a:solidFill>
            <a:prstDash val="solid"/>
            <a:round/>
            <a:headEnd type="none" w="sm" len="sm"/>
            <a:tailEnd type="none" w="sm" len="sm"/>
          </a:ln>
          <a:effectLst>
            <a:outerShdw blurRad="152400" dist="38100" dir="5400000" algn="bl" rotWithShape="0">
              <a:srgbClr val="000000">
                <a:alpha val="2196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17" name="Google Shape;217;p9" descr="shots/login4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17720" y="2880360"/>
            <a:ext cx="2971800" cy="2283023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9"/>
          <p:cNvSpPr/>
          <p:nvPr/>
        </p:nvSpPr>
        <p:spPr>
          <a:xfrm>
            <a:off x="8092440" y="178308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9"/>
          <p:cNvSpPr/>
          <p:nvPr/>
        </p:nvSpPr>
        <p:spPr>
          <a:xfrm>
            <a:off x="8092440" y="178308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9"/>
          <p:cNvSpPr/>
          <p:nvPr/>
        </p:nvSpPr>
        <p:spPr>
          <a:xfrm>
            <a:off x="8567928" y="1792224"/>
            <a:ext cx="311810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터미널로 돌아와 Enter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9"/>
          <p:cNvSpPr/>
          <p:nvPr/>
        </p:nvSpPr>
        <p:spPr>
          <a:xfrm>
            <a:off x="8567928" y="2121408"/>
            <a:ext cx="311810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050"/>
              <a:buFont typeface="Malgun Gothic"/>
              <a:buNone/>
            </a:pPr>
            <a:r>
              <a:rPr lang="en-US" sz="10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Logged in as 회사계정 · Login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050"/>
              <a:buFont typeface="Malgun Gothic"/>
              <a:buNone/>
            </a:pPr>
            <a:r>
              <a:rPr lang="en-US" sz="10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successful 확인 후 Enter를 누릅니다.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9"/>
          <p:cNvSpPr/>
          <p:nvPr/>
        </p:nvSpPr>
        <p:spPr>
          <a:xfrm>
            <a:off x="8083296" y="2834640"/>
            <a:ext cx="3611880" cy="869829"/>
          </a:xfrm>
          <a:prstGeom prst="roundRect">
            <a:avLst>
              <a:gd name="adj" fmla="val 7359"/>
            </a:avLst>
          </a:prstGeom>
          <a:solidFill>
            <a:srgbClr val="FFFFFF"/>
          </a:solidFill>
          <a:ln w="12700" cap="flat" cmpd="sng">
            <a:solidFill>
              <a:srgbClr val="E4E0DA"/>
            </a:solidFill>
            <a:prstDash val="solid"/>
            <a:round/>
            <a:headEnd type="none" w="sm" len="sm"/>
            <a:tailEnd type="none" w="sm" len="sm"/>
          </a:ln>
          <a:effectLst>
            <a:outerShdw blurRad="152400" dist="38100" dir="5400000" algn="bl" rotWithShape="0">
              <a:srgbClr val="000000">
                <a:alpha val="2196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23" name="Google Shape;223;p9" descr="shots/login5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129016" y="2880360"/>
            <a:ext cx="3520440" cy="778389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9"/>
          <p:cNvSpPr/>
          <p:nvPr/>
        </p:nvSpPr>
        <p:spPr>
          <a:xfrm>
            <a:off x="502920" y="5897880"/>
            <a:ext cx="11183112" cy="548640"/>
          </a:xfrm>
          <a:prstGeom prst="roundRect">
            <a:avLst>
              <a:gd name="adj" fmla="val 13333"/>
            </a:avLst>
          </a:prstGeom>
          <a:solidFill>
            <a:srgbClr val="F9EF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25" name="Google Shape;225;p9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04088" y="6044184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9"/>
          <p:cNvSpPr/>
          <p:nvPr/>
        </p:nvSpPr>
        <p:spPr>
          <a:xfrm>
            <a:off x="1069848" y="5897880"/>
            <a:ext cx="1043330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한 번 로그인하면 자격 증명이 저장되어 </a:t>
            </a:r>
            <a:r>
              <a:rPr lang="en-US" sz="11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다시 로그인할 필요가 없습니다.</a:t>
            </a:r>
            <a:r>
              <a:rPr lang="en-US" sz="11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  다음부터는 claude 만 입력하면 바로 시작됩니다.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9"/>
          <p:cNvSpPr/>
          <p:nvPr/>
        </p:nvSpPr>
        <p:spPr>
          <a:xfrm>
            <a:off x="502920" y="6510528"/>
            <a:ext cx="1115568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막히면?  </a:t>
            </a:r>
            <a:r>
              <a:rPr lang="en-US" sz="11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브라우저가 안 열리면 터미널에 표시된 URL을 (c 키로 복사해) 주소창에 붙여넣으세요. 잘못 선택했다면 Esc를 누른 뒤 </a:t>
            </a:r>
            <a:r>
              <a:rPr lang="en-US" sz="1100" b="1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/login</a:t>
            </a:r>
            <a:r>
              <a:rPr lang="en-US" sz="11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 으로 언제든 다시 시작할 수 있습니다.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1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p10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algun Gothic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0"/>
          <p:cNvSpPr/>
          <p:nvPr/>
        </p:nvSpPr>
        <p:spPr>
          <a:xfrm>
            <a:off x="1280160" y="384048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STEP 3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3000"/>
              <a:buFont typeface="Malgun Gothic"/>
              <a:buNone/>
            </a:pPr>
            <a:r>
              <a:rPr lang="en-US" sz="30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IntelliJ 연동 — 플러그인 설치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0"/>
          <p:cNvSpPr/>
          <p:nvPr/>
        </p:nvSpPr>
        <p:spPr>
          <a:xfrm>
            <a:off x="502920" y="178308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10"/>
          <p:cNvSpPr/>
          <p:nvPr/>
        </p:nvSpPr>
        <p:spPr>
          <a:xfrm>
            <a:off x="502920" y="178308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0"/>
          <p:cNvSpPr/>
          <p:nvPr/>
        </p:nvSpPr>
        <p:spPr>
          <a:xfrm>
            <a:off x="978408" y="1792224"/>
            <a:ext cx="309067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설정 창 열기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0"/>
          <p:cNvSpPr/>
          <p:nvPr/>
        </p:nvSpPr>
        <p:spPr>
          <a:xfrm>
            <a:off x="978408" y="2112264"/>
            <a:ext cx="30906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IntelliJ 메뉴에서 File → Settings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(macOS: IntelliJ IDEA → Settings)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0"/>
          <p:cNvSpPr/>
          <p:nvPr/>
        </p:nvSpPr>
        <p:spPr>
          <a:xfrm>
            <a:off x="502920" y="265176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10"/>
          <p:cNvSpPr/>
          <p:nvPr/>
        </p:nvSpPr>
        <p:spPr>
          <a:xfrm>
            <a:off x="502920" y="265176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0"/>
          <p:cNvSpPr/>
          <p:nvPr/>
        </p:nvSpPr>
        <p:spPr>
          <a:xfrm>
            <a:off x="978408" y="2660904"/>
            <a:ext cx="309067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Plugins 에서 검색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0"/>
          <p:cNvSpPr/>
          <p:nvPr/>
        </p:nvSpPr>
        <p:spPr>
          <a:xfrm>
            <a:off x="978408" y="2980944"/>
            <a:ext cx="30906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왼쪽 목록에서 “플러그인”을 누르고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검색창에 claude code 입력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0"/>
          <p:cNvSpPr/>
          <p:nvPr/>
        </p:nvSpPr>
        <p:spPr>
          <a:xfrm>
            <a:off x="502920" y="352044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"/>
          <p:cNvSpPr/>
          <p:nvPr/>
        </p:nvSpPr>
        <p:spPr>
          <a:xfrm>
            <a:off x="502920" y="352044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0"/>
          <p:cNvSpPr/>
          <p:nvPr/>
        </p:nvSpPr>
        <p:spPr>
          <a:xfrm>
            <a:off x="978408" y="3529584"/>
            <a:ext cx="309067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설치 후 재시작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0"/>
          <p:cNvSpPr/>
          <p:nvPr/>
        </p:nvSpPr>
        <p:spPr>
          <a:xfrm>
            <a:off x="978408" y="3849624"/>
            <a:ext cx="3090672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Anthropic PBC가 만든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Claude Code [Beta] 의 “설치”를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누르고 IDE를 재시작합니다.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0"/>
          <p:cNvSpPr/>
          <p:nvPr/>
        </p:nvSpPr>
        <p:spPr>
          <a:xfrm>
            <a:off x="502920" y="4709160"/>
            <a:ext cx="3566160" cy="1188720"/>
          </a:xfrm>
          <a:prstGeom prst="roundRect">
            <a:avLst>
              <a:gd name="adj" fmla="val 6154"/>
            </a:avLst>
          </a:prstGeom>
          <a:solidFill>
            <a:srgbClr val="F9EF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49" name="Google Shape;249;p10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4088" y="5175504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10"/>
          <p:cNvSpPr/>
          <p:nvPr/>
        </p:nvSpPr>
        <p:spPr>
          <a:xfrm>
            <a:off x="1069848" y="4709160"/>
            <a:ext cx="2816352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비슷한 이름의 플러그인이 많습니다. 제작사가 </a:t>
            </a:r>
            <a:r>
              <a:rPr lang="en-US" sz="115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Anthropic PBC</a:t>
            </a:r>
            <a:r>
              <a:rPr lang="en-US" sz="11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 인 것을 설치하세요.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0"/>
          <p:cNvSpPr/>
          <p:nvPr/>
        </p:nvSpPr>
        <p:spPr>
          <a:xfrm>
            <a:off x="4434840" y="1554480"/>
            <a:ext cx="6765816" cy="4937760"/>
          </a:xfrm>
          <a:prstGeom prst="roundRect">
            <a:avLst>
              <a:gd name="adj" fmla="val 1296"/>
            </a:avLst>
          </a:prstGeom>
          <a:solidFill>
            <a:srgbClr val="FFFFFF"/>
          </a:solidFill>
          <a:ln w="12700" cap="flat" cmpd="sng">
            <a:solidFill>
              <a:srgbClr val="E4E0DA"/>
            </a:solidFill>
            <a:prstDash val="solid"/>
            <a:round/>
            <a:headEnd type="none" w="sm" len="sm"/>
            <a:tailEnd type="none" w="sm" len="sm"/>
          </a:ln>
          <a:effectLst>
            <a:outerShdw blurRad="152400" dist="38100" dir="5400000" algn="bl" rotWithShape="0">
              <a:srgbClr val="000000">
                <a:alpha val="2196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52" name="Google Shape;252;p10" descr="shots/intellij1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80560" y="1600200"/>
            <a:ext cx="6674376" cy="48463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9" name="Google Shape;259;p1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algun Gothic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1"/>
          <p:cNvSpPr/>
          <p:nvPr/>
        </p:nvSpPr>
        <p:spPr>
          <a:xfrm>
            <a:off x="1280160" y="384048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STEP 3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3000"/>
              <a:buFont typeface="Malgun Gothic"/>
              <a:buNone/>
            </a:pPr>
            <a:r>
              <a:rPr lang="en-US" sz="30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IntelliJ 연동 — 실행 확인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1"/>
          <p:cNvSpPr/>
          <p:nvPr/>
        </p:nvSpPr>
        <p:spPr>
          <a:xfrm>
            <a:off x="502920" y="178308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11"/>
          <p:cNvSpPr/>
          <p:nvPr/>
        </p:nvSpPr>
        <p:spPr>
          <a:xfrm>
            <a:off x="502920" y="178308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1"/>
          <p:cNvSpPr/>
          <p:nvPr/>
        </p:nvSpPr>
        <p:spPr>
          <a:xfrm>
            <a:off x="978408" y="1792224"/>
            <a:ext cx="309067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Claude 아이콘 클릭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1"/>
          <p:cNvSpPr/>
          <p:nvPr/>
        </p:nvSpPr>
        <p:spPr>
          <a:xfrm>
            <a:off x="978408" y="2112264"/>
            <a:ext cx="30906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재시작 후 IDE 화면 상단(우측)에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생긴 Claude 아이콘을 누릅니다.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1"/>
          <p:cNvSpPr/>
          <p:nvPr/>
        </p:nvSpPr>
        <p:spPr>
          <a:xfrm>
            <a:off x="502920" y="265176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p11"/>
          <p:cNvSpPr/>
          <p:nvPr/>
        </p:nvSpPr>
        <p:spPr>
          <a:xfrm>
            <a:off x="502920" y="265176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1"/>
          <p:cNvSpPr/>
          <p:nvPr/>
        </p:nvSpPr>
        <p:spPr>
          <a:xfrm>
            <a:off x="978408" y="2660904"/>
            <a:ext cx="309067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터미널 탭 자동 실행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1"/>
          <p:cNvSpPr/>
          <p:nvPr/>
        </p:nvSpPr>
        <p:spPr>
          <a:xfrm>
            <a:off x="978408" y="2980944"/>
            <a:ext cx="3090672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하단에 Claude Code 탭이 열리고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자동으로 실행됩니다. 앞에서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로그인했다면 바로 사용 가능합니다.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1"/>
          <p:cNvSpPr/>
          <p:nvPr/>
        </p:nvSpPr>
        <p:spPr>
          <a:xfrm>
            <a:off x="502920" y="3840480"/>
            <a:ext cx="3566160" cy="1143000"/>
          </a:xfrm>
          <a:prstGeom prst="roundRect">
            <a:avLst>
              <a:gd name="adj" fmla="val 6400"/>
            </a:avLst>
          </a:prstGeom>
          <a:solidFill>
            <a:srgbClr val="F9EF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70" name="Google Shape;270;p11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4088" y="4283964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11"/>
          <p:cNvSpPr/>
          <p:nvPr/>
        </p:nvSpPr>
        <p:spPr>
          <a:xfrm>
            <a:off x="1069848" y="3840480"/>
            <a:ext cx="2816352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오른쪽처럼 Claude Code 배너와 입력창이 보이면 연동 완료입니다. 이후 작업은 모두 이 창에서 진행합니다.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1"/>
          <p:cNvSpPr/>
          <p:nvPr/>
        </p:nvSpPr>
        <p:spPr>
          <a:xfrm>
            <a:off x="4160520" y="1554480"/>
            <a:ext cx="7554044" cy="4937760"/>
          </a:xfrm>
          <a:prstGeom prst="roundRect">
            <a:avLst>
              <a:gd name="adj" fmla="val 1296"/>
            </a:avLst>
          </a:prstGeom>
          <a:solidFill>
            <a:srgbClr val="FFFFFF"/>
          </a:solidFill>
          <a:ln w="12700" cap="flat" cmpd="sng">
            <a:solidFill>
              <a:srgbClr val="E4E0DA"/>
            </a:solidFill>
            <a:prstDash val="solid"/>
            <a:round/>
            <a:headEnd type="none" w="sm" len="sm"/>
            <a:tailEnd type="none" w="sm" len="sm"/>
          </a:ln>
          <a:effectLst>
            <a:outerShdw blurRad="152400" dist="38100" dir="5400000" algn="bl" rotWithShape="0">
              <a:srgbClr val="000000">
                <a:alpha val="2196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73" name="Google Shape;273;p11" descr="shots/intellij2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206240" y="1600200"/>
            <a:ext cx="7462604" cy="48463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12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0" name="Google Shape;280;p12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algun Gothic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2"/>
          <p:cNvSpPr/>
          <p:nvPr/>
        </p:nvSpPr>
        <p:spPr>
          <a:xfrm>
            <a:off x="1280160" y="384048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STEP 4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3000"/>
              <a:buFont typeface="Malgun Gothic"/>
              <a:buNone/>
            </a:pPr>
            <a:r>
              <a:rPr lang="en-US" sz="30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환경설정 — 세팅 파일 적용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2"/>
          <p:cNvSpPr/>
          <p:nvPr/>
        </p:nvSpPr>
        <p:spPr>
          <a:xfrm>
            <a:off x="1298448" y="1115568"/>
            <a:ext cx="10332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300"/>
              <a:buFont typeface="Malgun Gothic"/>
              <a:buNone/>
            </a:pPr>
            <a:r>
              <a:rPr lang="en-US" sz="13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팀 공용 세팅 파일 하나만 적용하면 범용 코딩 에이전트 8종 · 플러그인 · 안전 규칙이 자동으로 구성됩니다.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2"/>
          <p:cNvSpPr/>
          <p:nvPr/>
        </p:nvSpPr>
        <p:spPr>
          <a:xfrm>
            <a:off x="502920" y="187452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4" name="Google Shape;284;p12"/>
          <p:cNvSpPr/>
          <p:nvPr/>
        </p:nvSpPr>
        <p:spPr>
          <a:xfrm>
            <a:off x="502920" y="187452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2"/>
          <p:cNvSpPr/>
          <p:nvPr/>
        </p:nvSpPr>
        <p:spPr>
          <a:xfrm>
            <a:off x="978408" y="1883664"/>
            <a:ext cx="106801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세팅 파일 다운로드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2"/>
          <p:cNvSpPr/>
          <p:nvPr/>
        </p:nvSpPr>
        <p:spPr>
          <a:xfrm>
            <a:off x="978408" y="2203704"/>
            <a:ext cx="1068019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팀 채널에서 공유된 </a:t>
            </a:r>
            <a:r>
              <a:rPr lang="en-US" sz="1150" b="0" i="0" u="sng" strike="noStrike" cap="none">
                <a:solidFill>
                  <a:schemeClr val="hlink"/>
                </a:solidFill>
                <a:latin typeface="Malgun Gothic"/>
                <a:ea typeface="Malgun Gothic"/>
                <a:cs typeface="Malgun Gothic"/>
                <a:sym typeface="Malgun Gothic"/>
                <a:hlinkClick r:id="rId3"/>
              </a:rPr>
              <a:t>claude-coding-agents-setup.tar.gz</a:t>
            </a: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 파일을 내려받습니다.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2"/>
          <p:cNvSpPr/>
          <p:nvPr/>
        </p:nvSpPr>
        <p:spPr>
          <a:xfrm>
            <a:off x="502920" y="260604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2"/>
          <p:cNvSpPr/>
          <p:nvPr/>
        </p:nvSpPr>
        <p:spPr>
          <a:xfrm>
            <a:off x="502920" y="260604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2"/>
          <p:cNvSpPr/>
          <p:nvPr/>
        </p:nvSpPr>
        <p:spPr>
          <a:xfrm>
            <a:off x="978408" y="2615184"/>
            <a:ext cx="106801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HyperMig 폴더에 그대로 두기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12"/>
          <p:cNvSpPr/>
          <p:nvPr/>
        </p:nvSpPr>
        <p:spPr>
          <a:xfrm>
            <a:off x="978408" y="2935224"/>
            <a:ext cx="1068019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HyperMig 모듈들이 있는 프로젝트 최상위 폴더에 파일을 옮겨 둡니다. 압축은 직접 풀지 않아도 됩니다 — Claude가 대신 풀어 줍니다.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2"/>
          <p:cNvSpPr/>
          <p:nvPr/>
        </p:nvSpPr>
        <p:spPr>
          <a:xfrm>
            <a:off x="502920" y="333756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2" name="Google Shape;292;p12"/>
          <p:cNvSpPr/>
          <p:nvPr/>
        </p:nvSpPr>
        <p:spPr>
          <a:xfrm>
            <a:off x="502920" y="333756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2"/>
          <p:cNvSpPr/>
          <p:nvPr/>
        </p:nvSpPr>
        <p:spPr>
          <a:xfrm>
            <a:off x="978408" y="3346704"/>
            <a:ext cx="106801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Claude Code에 아래 문장을 입력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2"/>
          <p:cNvSpPr/>
          <p:nvPr/>
        </p:nvSpPr>
        <p:spPr>
          <a:xfrm>
            <a:off x="978408" y="3666744"/>
            <a:ext cx="1068019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아래 프롬프트를 복사해 Claude Code 입력창에 붙여넣고 Enter를 누르세요. @ 뒤의 파일명까지 그대로 입력하면 됩니다.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2"/>
          <p:cNvSpPr/>
          <p:nvPr/>
        </p:nvSpPr>
        <p:spPr>
          <a:xfrm>
            <a:off x="502920" y="4160520"/>
            <a:ext cx="11183112" cy="1234440"/>
          </a:xfrm>
          <a:prstGeom prst="roundRect">
            <a:avLst>
              <a:gd name="adj" fmla="val 6667"/>
            </a:avLst>
          </a:prstGeom>
          <a:solidFill>
            <a:srgbClr val="2C2925"/>
          </a:solidFill>
          <a:ln>
            <a:noFill/>
          </a:ln>
          <a:effectLst>
            <a:outerShdw blurRad="127000" dist="25400" dir="54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" name="Google Shape;296;p12"/>
          <p:cNvSpPr/>
          <p:nvPr/>
        </p:nvSpPr>
        <p:spPr>
          <a:xfrm>
            <a:off x="704088" y="4343400"/>
            <a:ext cx="100584" cy="100584"/>
          </a:xfrm>
          <a:prstGeom prst="ellipse">
            <a:avLst/>
          </a:prstGeom>
          <a:solidFill>
            <a:srgbClr val="E86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12"/>
          <p:cNvSpPr/>
          <p:nvPr/>
        </p:nvSpPr>
        <p:spPr>
          <a:xfrm>
            <a:off x="905256" y="4343400"/>
            <a:ext cx="100584" cy="100584"/>
          </a:xfrm>
          <a:prstGeom prst="ellipse">
            <a:avLst/>
          </a:prstGeom>
          <a:solidFill>
            <a:srgbClr val="F0B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8" name="Google Shape;298;p12"/>
          <p:cNvSpPr/>
          <p:nvPr/>
        </p:nvSpPr>
        <p:spPr>
          <a:xfrm>
            <a:off x="1106424" y="4343400"/>
            <a:ext cx="100584" cy="100584"/>
          </a:xfrm>
          <a:prstGeom prst="ellipse">
            <a:avLst/>
          </a:prstGeom>
          <a:solidFill>
            <a:srgbClr val="8FBF6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9" name="Google Shape;299;p12"/>
          <p:cNvSpPr/>
          <p:nvPr/>
        </p:nvSpPr>
        <p:spPr>
          <a:xfrm>
            <a:off x="758952" y="4544568"/>
            <a:ext cx="10671048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300"/>
              <a:buFont typeface="Courier New"/>
              <a:buNone/>
            </a:pPr>
            <a:r>
              <a:rPr lang="en-US" sz="1300" b="0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&gt; </a:t>
            </a:r>
            <a:r>
              <a:rPr lang="en-US" sz="1300" b="0" i="0" u="none" strike="noStrike" cap="none">
                <a:solidFill>
                  <a:srgbClr val="8FBF6F"/>
                </a:solidFill>
                <a:latin typeface="Courier New"/>
                <a:ea typeface="Courier New"/>
                <a:cs typeface="Courier New"/>
                <a:sym typeface="Courier New"/>
              </a:rPr>
              <a:t>@claude-coding-agents-setup.tar.gz</a:t>
            </a:r>
            <a:r>
              <a:rPr lang="en-US" sz="1300" b="0" i="0" u="none" strike="noStrike" cap="none">
                <a:solidFill>
                  <a:srgbClr val="E8E3DB"/>
                </a:solidFill>
                <a:latin typeface="Courier New"/>
                <a:ea typeface="Courier New"/>
                <a:cs typeface="Courier New"/>
                <a:sym typeface="Courier New"/>
              </a:rPr>
              <a:t>를 압축 해제한 뒤, 그 안의 TEAM-SETUP.md 가이드에 따라 환경 설정을 진행해줘.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12"/>
          <p:cNvSpPr/>
          <p:nvPr/>
        </p:nvSpPr>
        <p:spPr>
          <a:xfrm>
            <a:off x="502920" y="5623560"/>
            <a:ext cx="11183112" cy="777240"/>
          </a:xfrm>
          <a:prstGeom prst="roundRect">
            <a:avLst>
              <a:gd name="adj" fmla="val 9412"/>
            </a:avLst>
          </a:prstGeom>
          <a:solidFill>
            <a:srgbClr val="F9EF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01" name="Google Shape;301;p12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4088" y="5884164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12"/>
          <p:cNvSpPr/>
          <p:nvPr/>
        </p:nvSpPr>
        <p:spPr>
          <a:xfrm>
            <a:off x="1069848" y="5623560"/>
            <a:ext cx="10433304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입력창에 </a:t>
            </a:r>
            <a:r>
              <a:rPr lang="en-US" sz="1150" b="1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@</a:t>
            </a:r>
            <a:r>
              <a:rPr lang="en-US" sz="11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 를 입력하면 파일 목록이 떠서 클릭으로 선택할 수도 있습니다. Enter를 누르면 Claude가 스스로 압축을 풀고 세팅을 시작합니다.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13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9" name="Google Shape;309;p13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algun Gothic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3"/>
          <p:cNvSpPr/>
          <p:nvPr/>
        </p:nvSpPr>
        <p:spPr>
          <a:xfrm>
            <a:off x="1280160" y="384048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STEP 4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3000"/>
              <a:buFont typeface="Malgun Gothic"/>
              <a:buNone/>
            </a:pPr>
            <a:r>
              <a:rPr lang="en-US" sz="30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환경설정 — 이렇게 입력합니다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3"/>
          <p:cNvSpPr/>
          <p:nvPr/>
        </p:nvSpPr>
        <p:spPr>
          <a:xfrm>
            <a:off x="502920" y="178308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" name="Google Shape;312;p13"/>
          <p:cNvSpPr/>
          <p:nvPr/>
        </p:nvSpPr>
        <p:spPr>
          <a:xfrm>
            <a:off x="502920" y="178308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13"/>
          <p:cNvSpPr/>
          <p:nvPr/>
        </p:nvSpPr>
        <p:spPr>
          <a:xfrm>
            <a:off x="978408" y="1792224"/>
            <a:ext cx="309067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워크스페이스 루트에서 실행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3"/>
          <p:cNvSpPr/>
          <p:nvPr/>
        </p:nvSpPr>
        <p:spPr>
          <a:xfrm>
            <a:off x="978408" y="2112264"/>
            <a:ext cx="3090672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tar.gz 파일을 프로젝트 최상위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폴더에 둔 상태에서 Claude Code를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엽니다.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3"/>
          <p:cNvSpPr/>
          <p:nvPr/>
        </p:nvSpPr>
        <p:spPr>
          <a:xfrm>
            <a:off x="502920" y="292608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6" name="Google Shape;316;p13"/>
          <p:cNvSpPr/>
          <p:nvPr/>
        </p:nvSpPr>
        <p:spPr>
          <a:xfrm>
            <a:off x="502920" y="292608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3"/>
          <p:cNvSpPr/>
          <p:nvPr/>
        </p:nvSpPr>
        <p:spPr>
          <a:xfrm>
            <a:off x="978408" y="2935224"/>
            <a:ext cx="309067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하단 입력창에 붙여넣기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3"/>
          <p:cNvSpPr/>
          <p:nvPr/>
        </p:nvSpPr>
        <p:spPr>
          <a:xfrm>
            <a:off x="978408" y="3255264"/>
            <a:ext cx="3090672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화면 아래 &gt; 표시가 있는 입력창에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앞 페이지의 프롬프트를 붙여넣은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모습입니다. Enter로 시작하세요.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13"/>
          <p:cNvSpPr/>
          <p:nvPr/>
        </p:nvSpPr>
        <p:spPr>
          <a:xfrm>
            <a:off x="502920" y="4114800"/>
            <a:ext cx="3566160" cy="1143000"/>
          </a:xfrm>
          <a:prstGeom prst="roundRect">
            <a:avLst>
              <a:gd name="adj" fmla="val 6400"/>
            </a:avLst>
          </a:prstGeom>
          <a:solidFill>
            <a:srgbClr val="F9EF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20" name="Google Shape;320;p13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4088" y="4558284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321" name="Google Shape;321;p13"/>
          <p:cNvSpPr/>
          <p:nvPr/>
        </p:nvSpPr>
        <p:spPr>
          <a:xfrm>
            <a:off x="1069848" y="4114800"/>
            <a:ext cx="2816352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Enter를 누르면 Claude가 스스로 압축을 풀고 세팅을 시작합니다. 다음 페이지처럼 진행 화면이 나타납니다.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3"/>
          <p:cNvSpPr/>
          <p:nvPr/>
        </p:nvSpPr>
        <p:spPr>
          <a:xfrm>
            <a:off x="4160520" y="1554480"/>
            <a:ext cx="7554044" cy="4937760"/>
          </a:xfrm>
          <a:prstGeom prst="roundRect">
            <a:avLst>
              <a:gd name="adj" fmla="val 1296"/>
            </a:avLst>
          </a:prstGeom>
          <a:solidFill>
            <a:srgbClr val="FFFFFF"/>
          </a:solidFill>
          <a:ln w="12700" cap="flat" cmpd="sng">
            <a:solidFill>
              <a:srgbClr val="E4E0DA"/>
            </a:solidFill>
            <a:prstDash val="solid"/>
            <a:round/>
            <a:headEnd type="none" w="sm" len="sm"/>
            <a:tailEnd type="none" w="sm" len="sm"/>
          </a:ln>
          <a:effectLst>
            <a:outerShdw blurRad="152400" dist="38100" dir="5400000" algn="bl" rotWithShape="0">
              <a:srgbClr val="000000">
                <a:alpha val="2196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23" name="Google Shape;323;p13" descr="shots/setup1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206240" y="1600200"/>
            <a:ext cx="7462604" cy="48463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14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0" name="Google Shape;330;p14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algun Gothic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4"/>
          <p:cNvSpPr/>
          <p:nvPr/>
        </p:nvSpPr>
        <p:spPr>
          <a:xfrm>
            <a:off x="1280160" y="384048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STEP 4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3000"/>
              <a:buFont typeface="Malgun Gothic"/>
              <a:buNone/>
            </a:pPr>
            <a:r>
              <a:rPr lang="en-US" sz="30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환경설정 — 이런 화면이 나옵니다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4"/>
          <p:cNvSpPr/>
          <p:nvPr/>
        </p:nvSpPr>
        <p:spPr>
          <a:xfrm>
            <a:off x="502920" y="178308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14"/>
          <p:cNvSpPr/>
          <p:nvPr/>
        </p:nvSpPr>
        <p:spPr>
          <a:xfrm>
            <a:off x="502920" y="178308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4"/>
          <p:cNvSpPr/>
          <p:nvPr/>
        </p:nvSpPr>
        <p:spPr>
          <a:xfrm>
            <a:off x="978408" y="1792224"/>
            <a:ext cx="309067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자동 점검 · 파일 배치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14"/>
          <p:cNvSpPr/>
          <p:nvPr/>
        </p:nvSpPr>
        <p:spPr>
          <a:xfrm>
            <a:off x="978408" y="2112264"/>
            <a:ext cx="3090672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Claude가 압축을 풀고 settings.json,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코딩 에이전트 8종, 모듈별 CLAUDE.md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·AGENTS.md를 루트에 배치합니다.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4"/>
          <p:cNvSpPr/>
          <p:nvPr/>
        </p:nvSpPr>
        <p:spPr>
          <a:xfrm>
            <a:off x="502920" y="292608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7" name="Google Shape;337;p14"/>
          <p:cNvSpPr/>
          <p:nvPr/>
        </p:nvSpPr>
        <p:spPr>
          <a:xfrm>
            <a:off x="502920" y="292608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4"/>
          <p:cNvSpPr/>
          <p:nvPr/>
        </p:nvSpPr>
        <p:spPr>
          <a:xfrm>
            <a:off x="978408" y="2935224"/>
            <a:ext cx="309067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진행 로그 확인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4"/>
          <p:cNvSpPr/>
          <p:nvPr/>
        </p:nvSpPr>
        <p:spPr>
          <a:xfrm>
            <a:off x="978408" y="3255264"/>
            <a:ext cx="3090672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루트 확인 → 단계 1 완료(에이전트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8종 · 모듈 문서 배치)가 순서대로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출력되는지 확인하세요.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4"/>
          <p:cNvSpPr/>
          <p:nvPr/>
        </p:nvSpPr>
        <p:spPr>
          <a:xfrm>
            <a:off x="502920" y="406908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1" name="Google Shape;341;p14"/>
          <p:cNvSpPr/>
          <p:nvPr/>
        </p:nvSpPr>
        <p:spPr>
          <a:xfrm>
            <a:off x="502920" y="406908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4"/>
          <p:cNvSpPr/>
          <p:nvPr/>
        </p:nvSpPr>
        <p:spPr>
          <a:xfrm>
            <a:off x="978408" y="4078224"/>
            <a:ext cx="309067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다음 안내 기다리기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4"/>
          <p:cNvSpPr/>
          <p:nvPr/>
        </p:nvSpPr>
        <p:spPr>
          <a:xfrm>
            <a:off x="978408" y="4398264"/>
            <a:ext cx="3090672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단계 2가 되면 “아래 명령을 직접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입력해 주세요”라는 안내가 나옵니다.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다음 페이지에서 계속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4"/>
          <p:cNvSpPr/>
          <p:nvPr/>
        </p:nvSpPr>
        <p:spPr>
          <a:xfrm>
            <a:off x="502920" y="5212080"/>
            <a:ext cx="3566160" cy="960120"/>
          </a:xfrm>
          <a:prstGeom prst="roundRect">
            <a:avLst>
              <a:gd name="adj" fmla="val 7619"/>
            </a:avLst>
          </a:prstGeom>
          <a:solidFill>
            <a:srgbClr val="F9EF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45" name="Google Shape;345;p14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4088" y="5564124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346" name="Google Shape;346;p14"/>
          <p:cNvSpPr/>
          <p:nvPr/>
        </p:nvSpPr>
        <p:spPr>
          <a:xfrm>
            <a:off x="1069848" y="5212080"/>
            <a:ext cx="2816352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1~2분 정도 걸립니다. 도중에 질문이 나오면 안내에 따라 Enter로 승인하면 됩니다.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4"/>
          <p:cNvSpPr/>
          <p:nvPr/>
        </p:nvSpPr>
        <p:spPr>
          <a:xfrm>
            <a:off x="4160520" y="1554480"/>
            <a:ext cx="7554044" cy="4937760"/>
          </a:xfrm>
          <a:prstGeom prst="roundRect">
            <a:avLst>
              <a:gd name="adj" fmla="val 1296"/>
            </a:avLst>
          </a:prstGeom>
          <a:solidFill>
            <a:srgbClr val="FFFFFF"/>
          </a:solidFill>
          <a:ln w="12700" cap="flat" cmpd="sng">
            <a:solidFill>
              <a:srgbClr val="E4E0DA"/>
            </a:solidFill>
            <a:prstDash val="solid"/>
            <a:round/>
            <a:headEnd type="none" w="sm" len="sm"/>
            <a:tailEnd type="none" w="sm" len="sm"/>
          </a:ln>
          <a:effectLst>
            <a:outerShdw blurRad="152400" dist="38100" dir="5400000" algn="bl" rotWithShape="0">
              <a:srgbClr val="000000">
                <a:alpha val="2196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48" name="Google Shape;348;p14" descr="shots/setup2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206240" y="1600200"/>
            <a:ext cx="7462604" cy="48463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15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p15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algun Gothic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5"/>
          <p:cNvSpPr/>
          <p:nvPr/>
        </p:nvSpPr>
        <p:spPr>
          <a:xfrm>
            <a:off x="1280160" y="384048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STEP 4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3000"/>
              <a:buFont typeface="Malgun Gothic"/>
              <a:buNone/>
            </a:pPr>
            <a:r>
              <a:rPr lang="en-US" sz="30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환경설정 — 플러그인 8줄 입력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5"/>
          <p:cNvSpPr/>
          <p:nvPr/>
        </p:nvSpPr>
        <p:spPr>
          <a:xfrm>
            <a:off x="1298448" y="1115568"/>
            <a:ext cx="10332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300"/>
              <a:buFont typeface="Malgun Gothic"/>
              <a:buNone/>
            </a:pPr>
            <a:r>
              <a:rPr lang="en-US" sz="13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Claude의 안내(단계 2)가 나오면, 아래 8줄을 위에서부터 한 줄씩 입력합니다. 한 줄 붙여넣고 Enter → 완료되면 다음 줄!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15"/>
          <p:cNvSpPr/>
          <p:nvPr/>
        </p:nvSpPr>
        <p:spPr>
          <a:xfrm>
            <a:off x="502920" y="1920240"/>
            <a:ext cx="7863840" cy="3200400"/>
          </a:xfrm>
          <a:prstGeom prst="roundRect">
            <a:avLst>
              <a:gd name="adj" fmla="val 2571"/>
            </a:avLst>
          </a:prstGeom>
          <a:solidFill>
            <a:srgbClr val="2C2925"/>
          </a:solidFill>
          <a:ln>
            <a:noFill/>
          </a:ln>
          <a:effectLst>
            <a:outerShdw blurRad="127000" dist="25400" dir="54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9" name="Google Shape;359;p15"/>
          <p:cNvSpPr/>
          <p:nvPr/>
        </p:nvSpPr>
        <p:spPr>
          <a:xfrm>
            <a:off x="704088" y="2103120"/>
            <a:ext cx="100584" cy="100584"/>
          </a:xfrm>
          <a:prstGeom prst="ellipse">
            <a:avLst/>
          </a:prstGeom>
          <a:solidFill>
            <a:srgbClr val="E86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0" name="Google Shape;360;p15"/>
          <p:cNvSpPr/>
          <p:nvPr/>
        </p:nvSpPr>
        <p:spPr>
          <a:xfrm>
            <a:off x="905256" y="2103120"/>
            <a:ext cx="100584" cy="100584"/>
          </a:xfrm>
          <a:prstGeom prst="ellipse">
            <a:avLst/>
          </a:prstGeom>
          <a:solidFill>
            <a:srgbClr val="F0B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1" name="Google Shape;361;p15"/>
          <p:cNvSpPr/>
          <p:nvPr/>
        </p:nvSpPr>
        <p:spPr>
          <a:xfrm>
            <a:off x="1106424" y="2103120"/>
            <a:ext cx="100584" cy="100584"/>
          </a:xfrm>
          <a:prstGeom prst="ellipse">
            <a:avLst/>
          </a:prstGeom>
          <a:solidFill>
            <a:srgbClr val="8FBF6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2" name="Google Shape;362;p15"/>
          <p:cNvSpPr/>
          <p:nvPr/>
        </p:nvSpPr>
        <p:spPr>
          <a:xfrm>
            <a:off x="758952" y="2304288"/>
            <a:ext cx="7351776" cy="2651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250"/>
              <a:buFont typeface="Courier New"/>
              <a:buNone/>
            </a:pPr>
            <a:r>
              <a:rPr lang="en-US" sz="1250" b="0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&gt; </a:t>
            </a:r>
            <a:r>
              <a:rPr lang="en-US" sz="1250" b="0" i="0" u="none" strike="noStrike" cap="none">
                <a:solidFill>
                  <a:srgbClr val="8FBF6F"/>
                </a:solidFill>
                <a:latin typeface="Courier New"/>
                <a:ea typeface="Courier New"/>
                <a:cs typeface="Courier New"/>
                <a:sym typeface="Courier New"/>
              </a:rPr>
              <a:t>/plugin</a:t>
            </a:r>
            <a:r>
              <a:rPr lang="en-US" sz="1250" b="0" i="0" u="none" strike="noStrike" cap="none">
                <a:solidFill>
                  <a:srgbClr val="E8E3DB"/>
                </a:solidFill>
                <a:latin typeface="Courier New"/>
                <a:ea typeface="Courier New"/>
                <a:cs typeface="Courier New"/>
                <a:sym typeface="Courier New"/>
              </a:rPr>
              <a:t> marketplace add anthropics/claude-plugins-official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250"/>
              <a:buFont typeface="Courier New"/>
              <a:buNone/>
            </a:pPr>
            <a:r>
              <a:rPr lang="en-US" sz="1250" b="0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&gt; </a:t>
            </a:r>
            <a:r>
              <a:rPr lang="en-US" sz="1250" b="0" i="0" u="none" strike="noStrike" cap="none">
                <a:solidFill>
                  <a:srgbClr val="8FBF6F"/>
                </a:solidFill>
                <a:latin typeface="Courier New"/>
                <a:ea typeface="Courier New"/>
                <a:cs typeface="Courier New"/>
                <a:sym typeface="Courier New"/>
              </a:rPr>
              <a:t>/plugin</a:t>
            </a:r>
            <a:r>
              <a:rPr lang="en-US" sz="1250" b="0" i="0" u="none" strike="noStrike" cap="none">
                <a:solidFill>
                  <a:srgbClr val="E8E3DB"/>
                </a:solidFill>
                <a:latin typeface="Courier New"/>
                <a:ea typeface="Courier New"/>
                <a:cs typeface="Courier New"/>
                <a:sym typeface="Courier New"/>
              </a:rPr>
              <a:t> marketplace add jarrodwatts/claude-hud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250"/>
              <a:buFont typeface="Courier New"/>
              <a:buNone/>
            </a:pPr>
            <a:r>
              <a:rPr lang="en-US" sz="1250" b="0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&gt; </a:t>
            </a:r>
            <a:r>
              <a:rPr lang="en-US" sz="1250" b="0" i="0" u="none" strike="noStrike" cap="none">
                <a:solidFill>
                  <a:srgbClr val="8FBF6F"/>
                </a:solidFill>
                <a:latin typeface="Courier New"/>
                <a:ea typeface="Courier New"/>
                <a:cs typeface="Courier New"/>
                <a:sym typeface="Courier New"/>
              </a:rPr>
              <a:t>/plugin</a:t>
            </a:r>
            <a:r>
              <a:rPr lang="en-US" sz="1250" b="0" i="0" u="none" strike="noStrike" cap="none">
                <a:solidFill>
                  <a:srgbClr val="E8E3DB"/>
                </a:solidFill>
                <a:latin typeface="Courier New"/>
                <a:ea typeface="Courier New"/>
                <a:cs typeface="Courier New"/>
                <a:sym typeface="Courier New"/>
              </a:rPr>
              <a:t> install superpowers@claude-plugins-official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250"/>
              <a:buFont typeface="Courier New"/>
              <a:buNone/>
            </a:pPr>
            <a:r>
              <a:rPr lang="en-US" sz="1250" b="0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&gt; </a:t>
            </a:r>
            <a:r>
              <a:rPr lang="en-US" sz="1250" b="0" i="0" u="none" strike="noStrike" cap="none">
                <a:solidFill>
                  <a:srgbClr val="8FBF6F"/>
                </a:solidFill>
                <a:latin typeface="Courier New"/>
                <a:ea typeface="Courier New"/>
                <a:cs typeface="Courier New"/>
                <a:sym typeface="Courier New"/>
              </a:rPr>
              <a:t>/plugin</a:t>
            </a:r>
            <a:r>
              <a:rPr lang="en-US" sz="1250" b="0" i="0" u="none" strike="noStrike" cap="none">
                <a:solidFill>
                  <a:srgbClr val="E8E3DB"/>
                </a:solidFill>
                <a:latin typeface="Courier New"/>
                <a:ea typeface="Courier New"/>
                <a:cs typeface="Courier New"/>
                <a:sym typeface="Courier New"/>
              </a:rPr>
              <a:t> install frontend-design@claude-plugins-official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250"/>
              <a:buFont typeface="Courier New"/>
              <a:buNone/>
            </a:pPr>
            <a:r>
              <a:rPr lang="en-US" sz="1250" b="0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&gt; </a:t>
            </a:r>
            <a:r>
              <a:rPr lang="en-US" sz="1250" b="0" i="0" u="none" strike="noStrike" cap="none">
                <a:solidFill>
                  <a:srgbClr val="8FBF6F"/>
                </a:solidFill>
                <a:latin typeface="Courier New"/>
                <a:ea typeface="Courier New"/>
                <a:cs typeface="Courier New"/>
                <a:sym typeface="Courier New"/>
              </a:rPr>
              <a:t>/plugin</a:t>
            </a:r>
            <a:r>
              <a:rPr lang="en-US" sz="1250" b="0" i="0" u="none" strike="noStrike" cap="none">
                <a:solidFill>
                  <a:srgbClr val="E8E3DB"/>
                </a:solidFill>
                <a:latin typeface="Courier New"/>
                <a:ea typeface="Courier New"/>
                <a:cs typeface="Courier New"/>
                <a:sym typeface="Courier New"/>
              </a:rPr>
              <a:t> install context7@claude-plugins-official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250"/>
              <a:buFont typeface="Courier New"/>
              <a:buNone/>
            </a:pPr>
            <a:r>
              <a:rPr lang="en-US" sz="1250" b="0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&gt; </a:t>
            </a:r>
            <a:r>
              <a:rPr lang="en-US" sz="1250" b="0" i="0" u="none" strike="noStrike" cap="none">
                <a:solidFill>
                  <a:srgbClr val="8FBF6F"/>
                </a:solidFill>
                <a:latin typeface="Courier New"/>
                <a:ea typeface="Courier New"/>
                <a:cs typeface="Courier New"/>
                <a:sym typeface="Courier New"/>
              </a:rPr>
              <a:t>/plugin</a:t>
            </a:r>
            <a:r>
              <a:rPr lang="en-US" sz="1250" b="0" i="0" u="none" strike="noStrike" cap="none">
                <a:solidFill>
                  <a:srgbClr val="E8E3DB"/>
                </a:solidFill>
                <a:latin typeface="Courier New"/>
                <a:ea typeface="Courier New"/>
                <a:cs typeface="Courier New"/>
                <a:sym typeface="Courier New"/>
              </a:rPr>
              <a:t> install code-review@claude-plugins-official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250"/>
              <a:buFont typeface="Courier New"/>
              <a:buNone/>
            </a:pPr>
            <a:r>
              <a:rPr lang="en-US" sz="1250" b="0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&gt; </a:t>
            </a:r>
            <a:r>
              <a:rPr lang="en-US" sz="1250" b="0" i="0" u="none" strike="noStrike" cap="none">
                <a:solidFill>
                  <a:srgbClr val="8FBF6F"/>
                </a:solidFill>
                <a:latin typeface="Courier New"/>
                <a:ea typeface="Courier New"/>
                <a:cs typeface="Courier New"/>
                <a:sym typeface="Courier New"/>
              </a:rPr>
              <a:t>/plugin</a:t>
            </a:r>
            <a:r>
              <a:rPr lang="en-US" sz="1250" b="0" i="0" u="none" strike="noStrike" cap="none">
                <a:solidFill>
                  <a:srgbClr val="E8E3DB"/>
                </a:solidFill>
                <a:latin typeface="Courier New"/>
                <a:ea typeface="Courier New"/>
                <a:cs typeface="Courier New"/>
                <a:sym typeface="Courier New"/>
              </a:rPr>
              <a:t> install claude-code-setup@claude-plugins-official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250"/>
              <a:buFont typeface="Courier New"/>
              <a:buNone/>
            </a:pPr>
            <a:r>
              <a:rPr lang="en-US" sz="1250" b="0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&gt; </a:t>
            </a:r>
            <a:r>
              <a:rPr lang="en-US" sz="1250" b="0" i="0" u="none" strike="noStrike" cap="none">
                <a:solidFill>
                  <a:srgbClr val="8FBF6F"/>
                </a:solidFill>
                <a:latin typeface="Courier New"/>
                <a:ea typeface="Courier New"/>
                <a:cs typeface="Courier New"/>
                <a:sym typeface="Courier New"/>
              </a:rPr>
              <a:t>/plugin</a:t>
            </a:r>
            <a:r>
              <a:rPr lang="en-US" sz="1250" b="0" i="0" u="none" strike="noStrike" cap="none">
                <a:solidFill>
                  <a:srgbClr val="E8E3DB"/>
                </a:solidFill>
                <a:latin typeface="Courier New"/>
                <a:ea typeface="Courier New"/>
                <a:cs typeface="Courier New"/>
                <a:sym typeface="Courier New"/>
              </a:rPr>
              <a:t> install claude-hud@claude-hud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5"/>
          <p:cNvSpPr/>
          <p:nvPr/>
        </p:nvSpPr>
        <p:spPr>
          <a:xfrm>
            <a:off x="8641080" y="1920240"/>
            <a:ext cx="3044952" cy="3200400"/>
          </a:xfrm>
          <a:prstGeom prst="roundRect">
            <a:avLst>
              <a:gd name="adj" fmla="val 2703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64" name="Google Shape;364;p15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15400" y="2194560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365" name="Google Shape;365;p15"/>
          <p:cNvSpPr/>
          <p:nvPr/>
        </p:nvSpPr>
        <p:spPr>
          <a:xfrm>
            <a:off x="8915400" y="2697480"/>
            <a:ext cx="2542032" cy="2331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순서가 중요해요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Calibri"/>
              <a:buNone/>
            </a:pP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00"/>
              <a:buFont typeface="Malgun Gothic"/>
              <a:buNone/>
            </a:pPr>
            <a:r>
              <a:rPr lang="en-US" sz="11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위의 marketplace add 두 줄을 먼저 입력해야 아래 install 이 동작합니다.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Calibri"/>
              <a:buNone/>
            </a:pP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Calibri"/>
              <a:buNone/>
            </a:pP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한 줄씩 차례로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Calibri"/>
              <a:buNone/>
            </a:pP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00"/>
              <a:buFont typeface="Malgun Gothic"/>
              <a:buNone/>
            </a:pPr>
            <a:r>
              <a:rPr lang="en-US" sz="11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8줄을 한꺼번에 붙여넣지 말고, 한 줄 입력 → 완료 확인 → 다음 줄 순서로 진행하세요.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5"/>
          <p:cNvSpPr/>
          <p:nvPr/>
        </p:nvSpPr>
        <p:spPr>
          <a:xfrm>
            <a:off x="502920" y="5394960"/>
            <a:ext cx="11183112" cy="731520"/>
          </a:xfrm>
          <a:prstGeom prst="roundRect">
            <a:avLst>
              <a:gd name="adj" fmla="val 10000"/>
            </a:avLst>
          </a:prstGeom>
          <a:solidFill>
            <a:srgbClr val="F9EF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67" name="Google Shape;367;p15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4088" y="5632704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368" name="Google Shape;368;p15"/>
          <p:cNvSpPr/>
          <p:nvPr/>
        </p:nvSpPr>
        <p:spPr>
          <a:xfrm>
            <a:off x="1069848" y="5394960"/>
            <a:ext cx="1043330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8줄을 모두 입력하고 Claude가 “완료”라고 답하면 이 단계는 끝입니다. 설치한 플러그인은 자동으로 활성화되므로 따로 켤 필요가 없습니다.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16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" name="Google Shape;375;p16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algun Gothic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16"/>
          <p:cNvSpPr/>
          <p:nvPr/>
        </p:nvSpPr>
        <p:spPr>
          <a:xfrm>
            <a:off x="1280160" y="384048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STEP 4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3000"/>
              <a:buFont typeface="Malgun Gothic"/>
              <a:buNone/>
            </a:pPr>
            <a:r>
              <a:rPr lang="en-US" sz="30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환경설정 — 이런 화면이 나옵니다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6"/>
          <p:cNvSpPr/>
          <p:nvPr/>
        </p:nvSpPr>
        <p:spPr>
          <a:xfrm>
            <a:off x="502920" y="178308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8" name="Google Shape;378;p16"/>
          <p:cNvSpPr/>
          <p:nvPr/>
        </p:nvSpPr>
        <p:spPr>
          <a:xfrm>
            <a:off x="502920" y="178308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6"/>
          <p:cNvSpPr/>
          <p:nvPr/>
        </p:nvSpPr>
        <p:spPr>
          <a:xfrm>
            <a:off x="978408" y="1792224"/>
            <a:ext cx="309067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등록 화면 표시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6"/>
          <p:cNvSpPr/>
          <p:nvPr/>
        </p:nvSpPr>
        <p:spPr>
          <a:xfrm>
            <a:off x="978408" y="2112264"/>
            <a:ext cx="3090672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marketplace add 를 입력하면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오른쪽처럼 Add Marketplace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화면이 나올 수 있습니다.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6"/>
          <p:cNvSpPr/>
          <p:nvPr/>
        </p:nvSpPr>
        <p:spPr>
          <a:xfrm>
            <a:off x="502920" y="292608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2" name="Google Shape;382;p16"/>
          <p:cNvSpPr/>
          <p:nvPr/>
        </p:nvSpPr>
        <p:spPr>
          <a:xfrm>
            <a:off x="502920" y="292608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6"/>
          <p:cNvSpPr/>
          <p:nvPr/>
        </p:nvSpPr>
        <p:spPr>
          <a:xfrm>
            <a:off x="978408" y="2935224"/>
            <a:ext cx="309067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Enter로 진행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6"/>
          <p:cNvSpPr/>
          <p:nvPr/>
        </p:nvSpPr>
        <p:spPr>
          <a:xfrm>
            <a:off x="978408" y="3255264"/>
            <a:ext cx="3090672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입력값이 이미 채워져 있으므로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그대로 Enter만 누르면 GitHub에서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저장소를 내려받기 시작합니다.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6"/>
          <p:cNvSpPr/>
          <p:nvPr/>
        </p:nvSpPr>
        <p:spPr>
          <a:xfrm>
            <a:off x="502920" y="4114800"/>
            <a:ext cx="3566160" cy="1143000"/>
          </a:xfrm>
          <a:prstGeom prst="roundRect">
            <a:avLst>
              <a:gd name="adj" fmla="val 6400"/>
            </a:avLst>
          </a:prstGeom>
          <a:solidFill>
            <a:srgbClr val="F9EF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86" name="Google Shape;386;p16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4088" y="4558284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387" name="Google Shape;387;p16"/>
          <p:cNvSpPr/>
          <p:nvPr/>
        </p:nvSpPr>
        <p:spPr>
          <a:xfrm>
            <a:off x="1069848" y="4114800"/>
            <a:ext cx="2816352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“Cloning repository...” 메시지 후 완료 표시가 나오면 정상입니다. 이어서 다음 install 줄을 입력하세요.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6"/>
          <p:cNvSpPr/>
          <p:nvPr/>
        </p:nvSpPr>
        <p:spPr>
          <a:xfrm>
            <a:off x="4160520" y="1554480"/>
            <a:ext cx="7554044" cy="4937760"/>
          </a:xfrm>
          <a:prstGeom prst="roundRect">
            <a:avLst>
              <a:gd name="adj" fmla="val 1296"/>
            </a:avLst>
          </a:prstGeom>
          <a:solidFill>
            <a:srgbClr val="FFFFFF"/>
          </a:solidFill>
          <a:ln w="12700" cap="flat" cmpd="sng">
            <a:solidFill>
              <a:srgbClr val="E4E0DA"/>
            </a:solidFill>
            <a:prstDash val="solid"/>
            <a:round/>
            <a:headEnd type="none" w="sm" len="sm"/>
            <a:tailEnd type="none" w="sm" len="sm"/>
          </a:ln>
          <a:effectLst>
            <a:outerShdw blurRad="152400" dist="38100" dir="5400000" algn="bl" rotWithShape="0">
              <a:srgbClr val="000000">
                <a:alpha val="2196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89" name="Google Shape;389;p16" descr="shots/setup3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206240" y="1600200"/>
            <a:ext cx="7462604" cy="48463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17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6" name="Google Shape;396;p17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algun Gothic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7"/>
          <p:cNvSpPr/>
          <p:nvPr/>
        </p:nvSpPr>
        <p:spPr>
          <a:xfrm>
            <a:off x="1280160" y="384048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STEP 4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3000"/>
              <a:buFont typeface="Malgun Gothic"/>
              <a:buNone/>
            </a:pPr>
            <a:r>
              <a:rPr lang="en-US" sz="30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환경설정 — 자동 검증과 재시작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17"/>
          <p:cNvSpPr/>
          <p:nvPr/>
        </p:nvSpPr>
        <p:spPr>
          <a:xfrm>
            <a:off x="502920" y="178308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Google Shape;399;p17"/>
          <p:cNvSpPr/>
          <p:nvPr/>
        </p:nvSpPr>
        <p:spPr>
          <a:xfrm>
            <a:off x="502920" y="178308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17"/>
          <p:cNvSpPr/>
          <p:nvPr/>
        </p:nvSpPr>
        <p:spPr>
          <a:xfrm>
            <a:off x="978408" y="1792224"/>
            <a:ext cx="309067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검증 결과표 확인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7"/>
          <p:cNvSpPr/>
          <p:nvPr/>
        </p:nvSpPr>
        <p:spPr>
          <a:xfrm>
            <a:off x="978408" y="2112264"/>
            <a:ext cx="3090672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플러그인 설치가 끝나면 Claude가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검증(단계 3)을 실행합니다. 플러그인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6종 · 권한 규칙 · 모델 · 에이전트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8종이 모두 ✅ 이면 통과입니다.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17"/>
          <p:cNvSpPr/>
          <p:nvPr/>
        </p:nvSpPr>
        <p:spPr>
          <a:xfrm>
            <a:off x="502920" y="320040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3" name="Google Shape;403;p17"/>
          <p:cNvSpPr/>
          <p:nvPr/>
        </p:nvSpPr>
        <p:spPr>
          <a:xfrm>
            <a:off x="502920" y="320040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17"/>
          <p:cNvSpPr/>
          <p:nvPr/>
        </p:nvSpPr>
        <p:spPr>
          <a:xfrm>
            <a:off x="978408" y="3209544"/>
            <a:ext cx="309067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세션 재시작 + 신뢰 승인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17"/>
          <p:cNvSpPr/>
          <p:nvPr/>
        </p:nvSpPr>
        <p:spPr>
          <a:xfrm>
            <a:off x="978408" y="3529584"/>
            <a:ext cx="3090672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/exit 로 종료 후 claude 를 다시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실행합니다. 처음 열 때 설정 신뢰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프롬프트가 뜨면 승인해 주세요.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17"/>
          <p:cNvSpPr/>
          <p:nvPr/>
        </p:nvSpPr>
        <p:spPr>
          <a:xfrm>
            <a:off x="502920" y="434340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7" name="Google Shape;407;p17"/>
          <p:cNvSpPr/>
          <p:nvPr/>
        </p:nvSpPr>
        <p:spPr>
          <a:xfrm>
            <a:off x="502920" y="434340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17"/>
          <p:cNvSpPr/>
          <p:nvPr/>
        </p:nvSpPr>
        <p:spPr>
          <a:xfrm>
            <a:off x="978408" y="4352544"/>
            <a:ext cx="309067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모델 참고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7"/>
          <p:cNvSpPr/>
          <p:nvPr/>
        </p:nvSpPr>
        <p:spPr>
          <a:xfrm>
            <a:off x="978408" y="4672584"/>
            <a:ext cx="3090672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모델이 claude-opus-4-6으로 지정돼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있습니다. 내 플랜에서 쓸 수 없다면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settings.json에서 바꿔 주세요.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7"/>
          <p:cNvSpPr/>
          <p:nvPr/>
        </p:nvSpPr>
        <p:spPr>
          <a:xfrm>
            <a:off x="502920" y="5486400"/>
            <a:ext cx="3566160" cy="960120"/>
          </a:xfrm>
          <a:prstGeom prst="roundRect">
            <a:avLst>
              <a:gd name="adj" fmla="val 7619"/>
            </a:avLst>
          </a:prstGeom>
          <a:solidFill>
            <a:srgbClr val="F9EF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11" name="Google Shape;411;p17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4088" y="5838444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412" name="Google Shape;412;p17"/>
          <p:cNvSpPr/>
          <p:nvPr/>
        </p:nvSpPr>
        <p:spPr>
          <a:xfrm>
            <a:off x="1069848" y="5486400"/>
            <a:ext cx="2816352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재시작해야 권한 · 언어 · 상태줄 · 에이전트가 완전히 적용됩니다. 꼭 한 번 껐다 켜 주세요.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7"/>
          <p:cNvSpPr/>
          <p:nvPr/>
        </p:nvSpPr>
        <p:spPr>
          <a:xfrm>
            <a:off x="4160520" y="1554480"/>
            <a:ext cx="7554044" cy="4937760"/>
          </a:xfrm>
          <a:prstGeom prst="roundRect">
            <a:avLst>
              <a:gd name="adj" fmla="val 1296"/>
            </a:avLst>
          </a:prstGeom>
          <a:solidFill>
            <a:srgbClr val="FFFFFF"/>
          </a:solidFill>
          <a:ln w="12700" cap="flat" cmpd="sng">
            <a:solidFill>
              <a:srgbClr val="E4E0DA"/>
            </a:solidFill>
            <a:prstDash val="solid"/>
            <a:round/>
            <a:headEnd type="none" w="sm" len="sm"/>
            <a:tailEnd type="none" w="sm" len="sm"/>
          </a:ln>
          <a:effectLst>
            <a:outerShdw blurRad="152400" dist="38100" dir="5400000" algn="bl" rotWithShape="0">
              <a:srgbClr val="000000">
                <a:alpha val="2196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14" name="Google Shape;414;p17" descr="shots/setup_new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206240" y="1600200"/>
            <a:ext cx="7462604" cy="48463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18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" name="Google Shape;421;p18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algun Gothic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18"/>
          <p:cNvSpPr/>
          <p:nvPr/>
        </p:nvSpPr>
        <p:spPr>
          <a:xfrm>
            <a:off x="1280160" y="384048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STEP 5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3000"/>
              <a:buFont typeface="Malgun Gothic"/>
              <a:buNone/>
            </a:pPr>
            <a:r>
              <a:rPr lang="en-US" sz="30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설정 확인 — 코딩 에이전트 8종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8"/>
          <p:cNvSpPr/>
          <p:nvPr/>
        </p:nvSpPr>
        <p:spPr>
          <a:xfrm>
            <a:off x="502920" y="173736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아래 명령을 입력해 보세요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18"/>
          <p:cNvSpPr/>
          <p:nvPr/>
        </p:nvSpPr>
        <p:spPr>
          <a:xfrm>
            <a:off x="502920" y="2103120"/>
            <a:ext cx="3566160" cy="1005840"/>
          </a:xfrm>
          <a:prstGeom prst="roundRect">
            <a:avLst>
              <a:gd name="adj" fmla="val 8182"/>
            </a:avLst>
          </a:prstGeom>
          <a:solidFill>
            <a:srgbClr val="2C2925"/>
          </a:solidFill>
          <a:ln>
            <a:noFill/>
          </a:ln>
          <a:effectLst>
            <a:outerShdw blurRad="127000" dist="25400" dir="54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5" name="Google Shape;425;p18"/>
          <p:cNvSpPr/>
          <p:nvPr/>
        </p:nvSpPr>
        <p:spPr>
          <a:xfrm>
            <a:off x="704088" y="2286000"/>
            <a:ext cx="100584" cy="100584"/>
          </a:xfrm>
          <a:prstGeom prst="ellipse">
            <a:avLst/>
          </a:prstGeom>
          <a:solidFill>
            <a:srgbClr val="E86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6" name="Google Shape;426;p18"/>
          <p:cNvSpPr/>
          <p:nvPr/>
        </p:nvSpPr>
        <p:spPr>
          <a:xfrm>
            <a:off x="905256" y="2286000"/>
            <a:ext cx="100584" cy="100584"/>
          </a:xfrm>
          <a:prstGeom prst="ellipse">
            <a:avLst/>
          </a:prstGeom>
          <a:solidFill>
            <a:srgbClr val="F0B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7" name="Google Shape;427;p18"/>
          <p:cNvSpPr/>
          <p:nvPr/>
        </p:nvSpPr>
        <p:spPr>
          <a:xfrm>
            <a:off x="1106424" y="2286000"/>
            <a:ext cx="100584" cy="100584"/>
          </a:xfrm>
          <a:prstGeom prst="ellipse">
            <a:avLst/>
          </a:prstGeom>
          <a:solidFill>
            <a:srgbClr val="8FBF6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8" name="Google Shape;428;p18"/>
          <p:cNvSpPr/>
          <p:nvPr/>
        </p:nvSpPr>
        <p:spPr>
          <a:xfrm>
            <a:off x="758952" y="2487168"/>
            <a:ext cx="305409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300"/>
              <a:buFont typeface="Courier New"/>
              <a:buNone/>
            </a:pPr>
            <a:r>
              <a:rPr lang="en-US" sz="1300" b="0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&gt; </a:t>
            </a:r>
            <a:r>
              <a:rPr lang="en-US" sz="1300" b="0" i="0" u="none" strike="noStrike" cap="none">
                <a:solidFill>
                  <a:srgbClr val="8FBF6F"/>
                </a:solidFill>
                <a:latin typeface="Courier New"/>
                <a:ea typeface="Courier New"/>
                <a:cs typeface="Courier New"/>
                <a:sym typeface="Courier New"/>
              </a:rPr>
              <a:t>/agents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18"/>
          <p:cNvSpPr/>
          <p:nvPr/>
        </p:nvSpPr>
        <p:spPr>
          <a:xfrm>
            <a:off x="502920" y="342900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0" name="Google Shape;430;p18"/>
          <p:cNvSpPr/>
          <p:nvPr/>
        </p:nvSpPr>
        <p:spPr>
          <a:xfrm>
            <a:off x="502920" y="342900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18"/>
          <p:cNvSpPr/>
          <p:nvPr/>
        </p:nvSpPr>
        <p:spPr>
          <a:xfrm>
            <a:off x="978408" y="3438144"/>
            <a:ext cx="309067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8종이 표시되는지 확인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18"/>
          <p:cNvSpPr/>
          <p:nvPr/>
        </p:nvSpPr>
        <p:spPr>
          <a:xfrm>
            <a:off x="978408" y="3758184"/>
            <a:ext cx="30906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오른쪽 표의 에이전트 8종이 모두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목록에 보이면 세팅 성공입니다.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18"/>
          <p:cNvSpPr/>
          <p:nvPr/>
        </p:nvSpPr>
        <p:spPr>
          <a:xfrm>
            <a:off x="502920" y="429768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4" name="Google Shape;434;p18"/>
          <p:cNvSpPr/>
          <p:nvPr/>
        </p:nvSpPr>
        <p:spPr>
          <a:xfrm>
            <a:off x="502920" y="429768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18"/>
          <p:cNvSpPr/>
          <p:nvPr/>
        </p:nvSpPr>
        <p:spPr>
          <a:xfrm>
            <a:off x="978408" y="4306824"/>
            <a:ext cx="309067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숫자가 다르면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18"/>
          <p:cNvSpPr/>
          <p:nvPr/>
        </p:nvSpPr>
        <p:spPr>
          <a:xfrm>
            <a:off x="978408" y="4626864"/>
            <a:ext cx="3090672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8종보다 적게 나오면 STEP 4의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검증 단계를 다시 실행해 달라고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Claude에게 요청하세요.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18"/>
          <p:cNvSpPr/>
          <p:nvPr/>
        </p:nvSpPr>
        <p:spPr>
          <a:xfrm>
            <a:off x="502920" y="5440680"/>
            <a:ext cx="3566160" cy="1188720"/>
          </a:xfrm>
          <a:prstGeom prst="roundRect">
            <a:avLst>
              <a:gd name="adj" fmla="val 6154"/>
            </a:avLst>
          </a:prstGeom>
          <a:solidFill>
            <a:srgbClr val="F9EF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38" name="Google Shape;438;p18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4088" y="5907024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439" name="Google Shape;439;p18"/>
          <p:cNvSpPr/>
          <p:nvPr/>
        </p:nvSpPr>
        <p:spPr>
          <a:xfrm>
            <a:off x="1069848" y="5440680"/>
            <a:ext cx="2816352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에이전트는 기술 분야별 전문 도우미로, 특정 프로젝트에 묶여 있지 않아 다른 프로젝트에서도 재사용할 수 있습니다. 필요할 때 Claude가 알아서 호출합니다.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8"/>
          <p:cNvSpPr/>
          <p:nvPr/>
        </p:nvSpPr>
        <p:spPr>
          <a:xfrm>
            <a:off x="4480560" y="1737360"/>
            <a:ext cx="7205472" cy="466344"/>
          </a:xfrm>
          <a:prstGeom prst="roundRect">
            <a:avLst>
              <a:gd name="adj" fmla="val 11765"/>
            </a:avLst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1" name="Google Shape;441;p18"/>
          <p:cNvSpPr/>
          <p:nvPr/>
        </p:nvSpPr>
        <p:spPr>
          <a:xfrm>
            <a:off x="4709160" y="1737360"/>
            <a:ext cx="1920240" cy="466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Malgun Gothic"/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에이전트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18"/>
          <p:cNvSpPr/>
          <p:nvPr/>
        </p:nvSpPr>
        <p:spPr>
          <a:xfrm>
            <a:off x="6675120" y="1737360"/>
            <a:ext cx="3291840" cy="466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Malgun Gothic"/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담당 도메인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8"/>
          <p:cNvSpPr/>
          <p:nvPr/>
        </p:nvSpPr>
        <p:spPr>
          <a:xfrm>
            <a:off x="10104120" y="1737360"/>
            <a:ext cx="1463040" cy="466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Malgun Gothic"/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유형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18"/>
          <p:cNvSpPr/>
          <p:nvPr/>
        </p:nvSpPr>
        <p:spPr>
          <a:xfrm>
            <a:off x="4480560" y="2249424"/>
            <a:ext cx="7205472" cy="466344"/>
          </a:xfrm>
          <a:prstGeom prst="roundRect">
            <a:avLst>
              <a:gd name="adj" fmla="val 11765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5" name="Google Shape;445;p18"/>
          <p:cNvSpPr/>
          <p:nvPr/>
        </p:nvSpPr>
        <p:spPr>
          <a:xfrm>
            <a:off x="4709160" y="2249424"/>
            <a:ext cx="2011680" cy="466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100"/>
              <a:buFont typeface="Courier New"/>
              <a:buNone/>
            </a:pPr>
            <a:r>
              <a:rPr lang="en-US" sz="1100" b="1" i="0" u="none" strike="noStrike" cap="none">
                <a:solidFill>
                  <a:srgbClr val="33302B"/>
                </a:solidFill>
                <a:latin typeface="Courier New"/>
                <a:ea typeface="Courier New"/>
                <a:cs typeface="Courier New"/>
                <a:sym typeface="Courier New"/>
              </a:rPr>
              <a:t>frontend-publisher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18"/>
          <p:cNvSpPr/>
          <p:nvPr/>
        </p:nvSpPr>
        <p:spPr>
          <a:xfrm>
            <a:off x="6675120" y="2249424"/>
            <a:ext cx="3337560" cy="466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050"/>
              <a:buFont typeface="Malgun Gothic"/>
              <a:buNone/>
            </a:pPr>
            <a:r>
              <a:rPr lang="en-US" sz="10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JavaScript · jQuery · Bootstrap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18"/>
          <p:cNvSpPr/>
          <p:nvPr/>
        </p:nvSpPr>
        <p:spPr>
          <a:xfrm>
            <a:off x="10104120" y="2249424"/>
            <a:ext cx="1508760" cy="466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050"/>
              <a:buFont typeface="Malgun Gothic"/>
              <a:buNone/>
            </a:pPr>
            <a:r>
              <a:rPr lang="en-US" sz="10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구현형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18"/>
          <p:cNvSpPr/>
          <p:nvPr/>
        </p:nvSpPr>
        <p:spPr>
          <a:xfrm>
            <a:off x="4480560" y="2761488"/>
            <a:ext cx="7205472" cy="466344"/>
          </a:xfrm>
          <a:prstGeom prst="roundRect">
            <a:avLst>
              <a:gd name="adj" fmla="val 11765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9" name="Google Shape;449;p18"/>
          <p:cNvSpPr/>
          <p:nvPr/>
        </p:nvSpPr>
        <p:spPr>
          <a:xfrm>
            <a:off x="4709160" y="2761488"/>
            <a:ext cx="2011680" cy="466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100"/>
              <a:buFont typeface="Courier New"/>
              <a:buNone/>
            </a:pPr>
            <a:r>
              <a:rPr lang="en-US" sz="1100" b="1" i="0" u="none" strike="noStrike" cap="none">
                <a:solidFill>
                  <a:srgbClr val="33302B"/>
                </a:solidFill>
                <a:latin typeface="Courier New"/>
                <a:ea typeface="Courier New"/>
                <a:cs typeface="Courier New"/>
                <a:sym typeface="Courier New"/>
              </a:rPr>
              <a:t>security-expert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18"/>
          <p:cNvSpPr/>
          <p:nvPr/>
        </p:nvSpPr>
        <p:spPr>
          <a:xfrm>
            <a:off x="6675120" y="2761488"/>
            <a:ext cx="3337560" cy="466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050"/>
              <a:buFont typeface="Malgun Gothic"/>
              <a:buNone/>
            </a:pPr>
            <a:r>
              <a:rPr lang="en-US" sz="10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Spring Security · Keycloak · Redis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18"/>
          <p:cNvSpPr/>
          <p:nvPr/>
        </p:nvSpPr>
        <p:spPr>
          <a:xfrm>
            <a:off x="10104120" y="2761488"/>
            <a:ext cx="1508760" cy="466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050"/>
              <a:buFont typeface="Malgun Gothic"/>
              <a:buNone/>
            </a:pPr>
            <a:r>
              <a:rPr lang="en-US" sz="10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구현형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18"/>
          <p:cNvSpPr/>
          <p:nvPr/>
        </p:nvSpPr>
        <p:spPr>
          <a:xfrm>
            <a:off x="4480560" y="3273552"/>
            <a:ext cx="7205472" cy="466344"/>
          </a:xfrm>
          <a:prstGeom prst="roundRect">
            <a:avLst>
              <a:gd name="adj" fmla="val 11765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3" name="Google Shape;453;p18"/>
          <p:cNvSpPr/>
          <p:nvPr/>
        </p:nvSpPr>
        <p:spPr>
          <a:xfrm>
            <a:off x="4709160" y="3273552"/>
            <a:ext cx="2011680" cy="466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100"/>
              <a:buFont typeface="Courier New"/>
              <a:buNone/>
            </a:pPr>
            <a:r>
              <a:rPr lang="en-US" sz="1100" b="1" i="0" u="none" strike="noStrike" cap="none">
                <a:solidFill>
                  <a:srgbClr val="33302B"/>
                </a:solidFill>
                <a:latin typeface="Courier New"/>
                <a:ea typeface="Courier New"/>
                <a:cs typeface="Courier New"/>
                <a:sym typeface="Courier New"/>
              </a:rPr>
              <a:t>backend-developer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18"/>
          <p:cNvSpPr/>
          <p:nvPr/>
        </p:nvSpPr>
        <p:spPr>
          <a:xfrm>
            <a:off x="6675120" y="3273552"/>
            <a:ext cx="3337560" cy="466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050"/>
              <a:buFont typeface="Malgun Gothic"/>
              <a:buNone/>
            </a:pPr>
            <a:r>
              <a:rPr lang="en-US" sz="10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Spring Boot · MySQL · MyBatis/JPA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18"/>
          <p:cNvSpPr/>
          <p:nvPr/>
        </p:nvSpPr>
        <p:spPr>
          <a:xfrm>
            <a:off x="10104120" y="3273552"/>
            <a:ext cx="1508760" cy="466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050"/>
              <a:buFont typeface="Malgun Gothic"/>
              <a:buNone/>
            </a:pPr>
            <a:r>
              <a:rPr lang="en-US" sz="10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구현형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18"/>
          <p:cNvSpPr/>
          <p:nvPr/>
        </p:nvSpPr>
        <p:spPr>
          <a:xfrm>
            <a:off x="4480560" y="3785616"/>
            <a:ext cx="7205472" cy="466344"/>
          </a:xfrm>
          <a:prstGeom prst="roundRect">
            <a:avLst>
              <a:gd name="adj" fmla="val 11765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7" name="Google Shape;457;p18"/>
          <p:cNvSpPr/>
          <p:nvPr/>
        </p:nvSpPr>
        <p:spPr>
          <a:xfrm>
            <a:off x="4709160" y="3785616"/>
            <a:ext cx="2011680" cy="466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100"/>
              <a:buFont typeface="Courier New"/>
              <a:buNone/>
            </a:pPr>
            <a:r>
              <a:rPr lang="en-US" sz="1100" b="1" i="0" u="none" strike="noStrike" cap="none">
                <a:solidFill>
                  <a:srgbClr val="33302B"/>
                </a:solidFill>
                <a:latin typeface="Courier New"/>
                <a:ea typeface="Courier New"/>
                <a:cs typeface="Courier New"/>
                <a:sym typeface="Courier New"/>
              </a:rPr>
              <a:t>search-engineer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18"/>
          <p:cNvSpPr/>
          <p:nvPr/>
        </p:nvSpPr>
        <p:spPr>
          <a:xfrm>
            <a:off x="6675120" y="3785616"/>
            <a:ext cx="3337560" cy="466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050"/>
              <a:buFont typeface="Malgun Gothic"/>
              <a:buNone/>
            </a:pPr>
            <a:r>
              <a:rPr lang="en-US" sz="10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OpenSearch / Elasticsearch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18"/>
          <p:cNvSpPr/>
          <p:nvPr/>
        </p:nvSpPr>
        <p:spPr>
          <a:xfrm>
            <a:off x="10104120" y="3785616"/>
            <a:ext cx="1508760" cy="466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050"/>
              <a:buFont typeface="Malgun Gothic"/>
              <a:buNone/>
            </a:pPr>
            <a:r>
              <a:rPr lang="en-US" sz="10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구현형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18"/>
          <p:cNvSpPr/>
          <p:nvPr/>
        </p:nvSpPr>
        <p:spPr>
          <a:xfrm>
            <a:off x="4480560" y="4297680"/>
            <a:ext cx="7205472" cy="466344"/>
          </a:xfrm>
          <a:prstGeom prst="roundRect">
            <a:avLst>
              <a:gd name="adj" fmla="val 11765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1" name="Google Shape;461;p18"/>
          <p:cNvSpPr/>
          <p:nvPr/>
        </p:nvSpPr>
        <p:spPr>
          <a:xfrm>
            <a:off x="4709160" y="4297680"/>
            <a:ext cx="2011680" cy="466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100"/>
              <a:buFont typeface="Courier New"/>
              <a:buNone/>
            </a:pPr>
            <a:r>
              <a:rPr lang="en-US" sz="1100" b="1" i="0" u="none" strike="noStrike" cap="none">
                <a:solidFill>
                  <a:srgbClr val="33302B"/>
                </a:solidFill>
                <a:latin typeface="Courier New"/>
                <a:ea typeface="Courier New"/>
                <a:cs typeface="Courier New"/>
                <a:sym typeface="Courier New"/>
              </a:rPr>
              <a:t>config-expert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18"/>
          <p:cNvSpPr/>
          <p:nvPr/>
        </p:nvSpPr>
        <p:spPr>
          <a:xfrm>
            <a:off x="6675120" y="4297680"/>
            <a:ext cx="3337560" cy="466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050"/>
              <a:buFont typeface="Malgun Gothic"/>
              <a:buNone/>
            </a:pPr>
            <a:r>
              <a:rPr lang="en-US" sz="10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Spring Cloud Config · git/Gitea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18"/>
          <p:cNvSpPr/>
          <p:nvPr/>
        </p:nvSpPr>
        <p:spPr>
          <a:xfrm>
            <a:off x="10104120" y="4297680"/>
            <a:ext cx="1508760" cy="466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050"/>
              <a:buFont typeface="Malgun Gothic"/>
              <a:buNone/>
            </a:pPr>
            <a:r>
              <a:rPr lang="en-US" sz="10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구현형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18"/>
          <p:cNvSpPr/>
          <p:nvPr/>
        </p:nvSpPr>
        <p:spPr>
          <a:xfrm>
            <a:off x="4480560" y="4809744"/>
            <a:ext cx="7205472" cy="466344"/>
          </a:xfrm>
          <a:prstGeom prst="roundRect">
            <a:avLst>
              <a:gd name="adj" fmla="val 11765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5" name="Google Shape;465;p18"/>
          <p:cNvSpPr/>
          <p:nvPr/>
        </p:nvSpPr>
        <p:spPr>
          <a:xfrm>
            <a:off x="4709160" y="4809744"/>
            <a:ext cx="2011680" cy="466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100"/>
              <a:buFont typeface="Courier New"/>
              <a:buNone/>
            </a:pPr>
            <a:r>
              <a:rPr lang="en-US" sz="1100" b="1" i="0" u="none" strike="noStrike" cap="none">
                <a:solidFill>
                  <a:srgbClr val="33302B"/>
                </a:solidFill>
                <a:latin typeface="Courier New"/>
                <a:ea typeface="Courier New"/>
                <a:cs typeface="Courier New"/>
                <a:sym typeface="Courier New"/>
              </a:rPr>
              <a:t>messaging-expert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18"/>
          <p:cNvSpPr/>
          <p:nvPr/>
        </p:nvSpPr>
        <p:spPr>
          <a:xfrm>
            <a:off x="6675120" y="4809744"/>
            <a:ext cx="3337560" cy="466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050"/>
              <a:buFont typeface="Malgun Gothic"/>
              <a:buNone/>
            </a:pPr>
            <a:r>
              <a:rPr lang="en-US" sz="10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WebSocket(STOMP) · 알림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18"/>
          <p:cNvSpPr/>
          <p:nvPr/>
        </p:nvSpPr>
        <p:spPr>
          <a:xfrm>
            <a:off x="10104120" y="4809744"/>
            <a:ext cx="1508760" cy="466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050"/>
              <a:buFont typeface="Malgun Gothic"/>
              <a:buNone/>
            </a:pPr>
            <a:r>
              <a:rPr lang="en-US" sz="10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구현형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18"/>
          <p:cNvSpPr/>
          <p:nvPr/>
        </p:nvSpPr>
        <p:spPr>
          <a:xfrm>
            <a:off x="4480560" y="5321808"/>
            <a:ext cx="7205472" cy="466344"/>
          </a:xfrm>
          <a:prstGeom prst="roundRect">
            <a:avLst>
              <a:gd name="adj" fmla="val 11765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9" name="Google Shape;469;p18"/>
          <p:cNvSpPr/>
          <p:nvPr/>
        </p:nvSpPr>
        <p:spPr>
          <a:xfrm>
            <a:off x="4709160" y="5321808"/>
            <a:ext cx="2011680" cy="466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100"/>
              <a:buFont typeface="Courier New"/>
              <a:buNone/>
            </a:pPr>
            <a:r>
              <a:rPr lang="en-US" sz="1100" b="1" i="0" u="none" strike="noStrike" cap="none">
                <a:solidFill>
                  <a:srgbClr val="33302B"/>
                </a:solidFill>
                <a:latin typeface="Courier New"/>
                <a:ea typeface="Courier New"/>
                <a:cs typeface="Courier New"/>
                <a:sym typeface="Courier New"/>
              </a:rPr>
              <a:t>ai-service-expert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18"/>
          <p:cNvSpPr/>
          <p:nvPr/>
        </p:nvSpPr>
        <p:spPr>
          <a:xfrm>
            <a:off x="6675120" y="5321808"/>
            <a:ext cx="3337560" cy="466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050"/>
              <a:buFont typeface="Malgun Gothic"/>
              <a:buNone/>
            </a:pPr>
            <a:r>
              <a:rPr lang="en-US" sz="10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Spring AI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18"/>
          <p:cNvSpPr/>
          <p:nvPr/>
        </p:nvSpPr>
        <p:spPr>
          <a:xfrm>
            <a:off x="10104120" y="5321808"/>
            <a:ext cx="1508760" cy="466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050"/>
              <a:buFont typeface="Malgun Gothic"/>
              <a:buNone/>
            </a:pPr>
            <a:r>
              <a:rPr lang="en-US" sz="10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구현형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18"/>
          <p:cNvSpPr/>
          <p:nvPr/>
        </p:nvSpPr>
        <p:spPr>
          <a:xfrm>
            <a:off x="4480560" y="5833872"/>
            <a:ext cx="7205472" cy="466344"/>
          </a:xfrm>
          <a:prstGeom prst="roundRect">
            <a:avLst>
              <a:gd name="adj" fmla="val 11765"/>
            </a:avLst>
          </a:prstGeom>
          <a:solidFill>
            <a:srgbClr val="F9EF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3" name="Google Shape;473;p18"/>
          <p:cNvSpPr/>
          <p:nvPr/>
        </p:nvSpPr>
        <p:spPr>
          <a:xfrm>
            <a:off x="4709160" y="5833872"/>
            <a:ext cx="2011680" cy="466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Courier New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dba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18"/>
          <p:cNvSpPr/>
          <p:nvPr/>
        </p:nvSpPr>
        <p:spPr>
          <a:xfrm>
            <a:off x="6675120" y="5833872"/>
            <a:ext cx="3337560" cy="466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050"/>
              <a:buFont typeface="Malgun Gothic"/>
              <a:buNone/>
            </a:pPr>
            <a:r>
              <a:rPr lang="en-US" sz="10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MySQL · OpenSearch · Redis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18"/>
          <p:cNvSpPr/>
          <p:nvPr/>
        </p:nvSpPr>
        <p:spPr>
          <a:xfrm>
            <a:off x="10104120" y="5833872"/>
            <a:ext cx="1508760" cy="466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050"/>
              <a:buFont typeface="Malgun Gothic"/>
              <a:buNone/>
            </a:pPr>
            <a:r>
              <a:rPr lang="en-US" sz="105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자문형 (읽기 전용)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" name="Google Shape;476;p18"/>
          <p:cNvSpPr/>
          <p:nvPr/>
        </p:nvSpPr>
        <p:spPr>
          <a:xfrm>
            <a:off x="4498848" y="6373368"/>
            <a:ext cx="7132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050"/>
              <a:buFont typeface="Malgun Gothic"/>
              <a:buNone/>
            </a:pPr>
            <a:r>
              <a:rPr lang="en-US" sz="10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자문형(dba)은 진단과 조언만 하고 코드를 직접 수정하지 않습니다.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19"/>
          <p:cNvSpPr/>
          <p:nvPr/>
        </p:nvSpPr>
        <p:spPr>
          <a:xfrm>
            <a:off x="502920" y="384048"/>
            <a:ext cx="1005840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참고 — 몰라도 사용에는 지장 없어요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3000"/>
              <a:buFont typeface="Malgun Gothic"/>
              <a:buNone/>
            </a:pPr>
            <a:r>
              <a:rPr lang="en-US" sz="30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세팅 파일이 만들어 주는 것들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19"/>
          <p:cNvSpPr/>
          <p:nvPr/>
        </p:nvSpPr>
        <p:spPr>
          <a:xfrm>
            <a:off x="521208" y="1143000"/>
            <a:ext cx="111556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300"/>
              <a:buFont typeface="Malgun Gothic"/>
              <a:buNone/>
            </a:pPr>
            <a:r>
              <a:rPr lang="en-US" sz="13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이전 버전과 달리 에이전트가 기술 도메인 기반 범용 8종으로 바뀌었고, 한국어 리뷰본 문서와 hypermig-pm 스킬은 더 이상 포함되지 않습니다.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19"/>
          <p:cNvSpPr/>
          <p:nvPr/>
        </p:nvSpPr>
        <p:spPr>
          <a:xfrm>
            <a:off x="502920" y="1874520"/>
            <a:ext cx="11183112" cy="658368"/>
          </a:xfrm>
          <a:prstGeom prst="roundRect">
            <a:avLst>
              <a:gd name="adj" fmla="val 8333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5" name="Google Shape;485;p19"/>
          <p:cNvSpPr/>
          <p:nvPr/>
        </p:nvSpPr>
        <p:spPr>
          <a:xfrm>
            <a:off x="777240" y="1874520"/>
            <a:ext cx="397764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200"/>
              <a:buFont typeface="Courier New"/>
              <a:buNone/>
            </a:pPr>
            <a:r>
              <a:rPr lang="en-US" sz="1200" b="1" i="0" u="none" strike="noStrike" cap="none">
                <a:solidFill>
                  <a:srgbClr val="33302B"/>
                </a:solidFill>
                <a:latin typeface="Courier New"/>
                <a:ea typeface="Courier New"/>
                <a:cs typeface="Courier New"/>
                <a:sym typeface="Courier New"/>
              </a:rPr>
              <a:t>CLAUDE.md (루트)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19"/>
          <p:cNvSpPr/>
          <p:nvPr/>
        </p:nvSpPr>
        <p:spPr>
          <a:xfrm>
            <a:off x="4846320" y="1874520"/>
            <a:ext cx="667512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진입점 문서 — 루트에서 작업할 때 AGENTS.md를 먼저 읽도록 안내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19"/>
          <p:cNvSpPr/>
          <p:nvPr/>
        </p:nvSpPr>
        <p:spPr>
          <a:xfrm>
            <a:off x="502920" y="2615184"/>
            <a:ext cx="11183112" cy="658368"/>
          </a:xfrm>
          <a:prstGeom prst="roundRect">
            <a:avLst>
              <a:gd name="adj" fmla="val 8333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8" name="Google Shape;488;p19"/>
          <p:cNvSpPr/>
          <p:nvPr/>
        </p:nvSpPr>
        <p:spPr>
          <a:xfrm>
            <a:off x="777240" y="2615184"/>
            <a:ext cx="397764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200"/>
              <a:buFont typeface="Courier New"/>
              <a:buNone/>
            </a:pPr>
            <a:r>
              <a:rPr lang="en-US" sz="1200" b="1" i="0" u="none" strike="noStrike" cap="none">
                <a:solidFill>
                  <a:srgbClr val="33302B"/>
                </a:solidFill>
                <a:latin typeface="Courier New"/>
                <a:ea typeface="Courier New"/>
                <a:cs typeface="Courier New"/>
                <a:sym typeface="Courier New"/>
              </a:rPr>
              <a:t>AGENTS.md (루트)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19"/>
          <p:cNvSpPr/>
          <p:nvPr/>
        </p:nvSpPr>
        <p:spPr>
          <a:xfrm>
            <a:off x="4846320" y="2615184"/>
            <a:ext cx="667512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워크스페이스 전체 가이드 — 모듈 맵 · 공통 규칙 · 커밋 정책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19"/>
          <p:cNvSpPr/>
          <p:nvPr/>
        </p:nvSpPr>
        <p:spPr>
          <a:xfrm>
            <a:off x="502920" y="3355848"/>
            <a:ext cx="11183112" cy="658368"/>
          </a:xfrm>
          <a:prstGeom prst="roundRect">
            <a:avLst>
              <a:gd name="adj" fmla="val 8333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1" name="Google Shape;491;p19"/>
          <p:cNvSpPr/>
          <p:nvPr/>
        </p:nvSpPr>
        <p:spPr>
          <a:xfrm>
            <a:off x="777240" y="3355848"/>
            <a:ext cx="397764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200"/>
              <a:buFont typeface="Courier New"/>
              <a:buNone/>
            </a:pPr>
            <a:r>
              <a:rPr lang="en-US" sz="1200" b="1" i="0" u="none" strike="noStrike" cap="none">
                <a:solidFill>
                  <a:srgbClr val="33302B"/>
                </a:solidFill>
                <a:latin typeface="Courier New"/>
                <a:ea typeface="Courier New"/>
                <a:cs typeface="Courier New"/>
                <a:sym typeface="Courier New"/>
              </a:rPr>
              <a:t>.claude/settings.json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19"/>
          <p:cNvSpPr/>
          <p:nvPr/>
        </p:nvSpPr>
        <p:spPr>
          <a:xfrm>
            <a:off x="4846320" y="3355848"/>
            <a:ext cx="667512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권한(allow 45 · deny 31 · ask 9) · 언어 · 테마 · 모델 · 상태줄 — git commit · push 차단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19"/>
          <p:cNvSpPr/>
          <p:nvPr/>
        </p:nvSpPr>
        <p:spPr>
          <a:xfrm>
            <a:off x="502920" y="4096512"/>
            <a:ext cx="11183112" cy="658368"/>
          </a:xfrm>
          <a:prstGeom prst="roundRect">
            <a:avLst>
              <a:gd name="adj" fmla="val 8333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4" name="Google Shape;494;p19"/>
          <p:cNvSpPr/>
          <p:nvPr/>
        </p:nvSpPr>
        <p:spPr>
          <a:xfrm>
            <a:off x="777240" y="4096512"/>
            <a:ext cx="397764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200"/>
              <a:buFont typeface="Courier New"/>
              <a:buNone/>
            </a:pPr>
            <a:r>
              <a:rPr lang="en-US" sz="1200" b="1" i="0" u="none" strike="noStrike" cap="none">
                <a:solidFill>
                  <a:srgbClr val="33302B"/>
                </a:solidFill>
                <a:latin typeface="Courier New"/>
                <a:ea typeface="Courier New"/>
                <a:cs typeface="Courier New"/>
                <a:sym typeface="Courier New"/>
              </a:rPr>
              <a:t>.claude/agents/*.md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19"/>
          <p:cNvSpPr/>
          <p:nvPr/>
        </p:nvSpPr>
        <p:spPr>
          <a:xfrm>
            <a:off x="4846320" y="4096512"/>
            <a:ext cx="667512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범용 코딩 에이전트 8종 정의 — 특정 프로젝트에 비종속, 다른 프로젝트에서도 재사용 가능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19"/>
          <p:cNvSpPr/>
          <p:nvPr/>
        </p:nvSpPr>
        <p:spPr>
          <a:xfrm>
            <a:off x="502920" y="4837176"/>
            <a:ext cx="11183112" cy="658368"/>
          </a:xfrm>
          <a:prstGeom prst="roundRect">
            <a:avLst>
              <a:gd name="adj" fmla="val 8333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7" name="Google Shape;497;p19"/>
          <p:cNvSpPr/>
          <p:nvPr/>
        </p:nvSpPr>
        <p:spPr>
          <a:xfrm>
            <a:off x="777240" y="4837176"/>
            <a:ext cx="397764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200"/>
              <a:buFont typeface="Courier New"/>
              <a:buNone/>
            </a:pPr>
            <a:r>
              <a:rPr lang="en-US" sz="1200" b="1" i="0" u="none" strike="noStrike" cap="none">
                <a:solidFill>
                  <a:srgbClr val="33302B"/>
                </a:solidFill>
                <a:latin typeface="Courier New"/>
                <a:ea typeface="Courier New"/>
                <a:cs typeface="Courier New"/>
                <a:sym typeface="Courier New"/>
              </a:rPr>
              <a:t>{모듈}/CLAUDE.md · AGENTS.md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19"/>
          <p:cNvSpPr/>
          <p:nvPr/>
        </p:nvSpPr>
        <p:spPr>
          <a:xfrm>
            <a:off x="4846320" y="4837176"/>
            <a:ext cx="667512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10개 모듈 각각의 개별 컨벤션 — 모듈 안에서 작업할 때 에이전트가 먼저 읽는 문서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19"/>
          <p:cNvSpPr/>
          <p:nvPr/>
        </p:nvSpPr>
        <p:spPr>
          <a:xfrm>
            <a:off x="502920" y="5577840"/>
            <a:ext cx="11183112" cy="658368"/>
          </a:xfrm>
          <a:prstGeom prst="roundRect">
            <a:avLst>
              <a:gd name="adj" fmla="val 8333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0" name="Google Shape;500;p19"/>
          <p:cNvSpPr/>
          <p:nvPr/>
        </p:nvSpPr>
        <p:spPr>
          <a:xfrm>
            <a:off x="777240" y="5577840"/>
            <a:ext cx="397764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200"/>
              <a:buFont typeface="Courier New"/>
              <a:buNone/>
            </a:pPr>
            <a:r>
              <a:rPr lang="en-US" sz="1200" b="1" i="0" u="none" strike="noStrike" cap="none">
                <a:solidFill>
                  <a:srgbClr val="33302B"/>
                </a:solidFill>
                <a:latin typeface="Courier New"/>
                <a:ea typeface="Courier New"/>
                <a:cs typeface="Courier New"/>
                <a:sym typeface="Courier New"/>
              </a:rPr>
              <a:t>TEAM-SETUP.md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19"/>
          <p:cNvSpPr/>
          <p:nvPr/>
        </p:nvSpPr>
        <p:spPr>
          <a:xfrm>
            <a:off x="4846320" y="5577840"/>
            <a:ext cx="667512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Claude가 읽고 수행하는 설치 지시서 (방금 세팅에 사용한 파일)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19"/>
          <p:cNvSpPr/>
          <p:nvPr/>
        </p:nvSpPr>
        <p:spPr>
          <a:xfrm>
            <a:off x="521208" y="6373368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00"/>
              <a:buFont typeface="Malgun Gothic"/>
              <a:buNone/>
            </a:pPr>
            <a:r>
              <a:rPr lang="en-US" sz="11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에이전트 파일은 영문 단일본이지만, 사용자에게 보이는 출력은 한국어로 지시되어 있습니다.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p2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9" name="Google Shape;509;p20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algun Gothic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20"/>
          <p:cNvSpPr/>
          <p:nvPr/>
        </p:nvSpPr>
        <p:spPr>
          <a:xfrm>
            <a:off x="1280160" y="384048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STEP 6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3000"/>
              <a:buFont typeface="Malgun Gothic"/>
              <a:buNone/>
            </a:pPr>
            <a:r>
              <a:rPr lang="en-US" sz="30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마지막 테스트 — 모듈 분석 요청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511;p20"/>
          <p:cNvSpPr/>
          <p:nvPr/>
        </p:nvSpPr>
        <p:spPr>
          <a:xfrm>
            <a:off x="1298448" y="1115568"/>
            <a:ext cx="10332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300"/>
              <a:buFont typeface="Malgun Gothic"/>
              <a:buNone/>
            </a:pPr>
            <a:r>
              <a:rPr lang="en-US" sz="13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에이전트가 알아서 호출되고, 모듈 문서를 먼저 읽고 작업하는지 확인하는 테스트입니다.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20"/>
          <p:cNvSpPr/>
          <p:nvPr/>
        </p:nvSpPr>
        <p:spPr>
          <a:xfrm>
            <a:off x="502920" y="182880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아래 문장을 입력해 보세요 (다른 모듈 이름으로 바꿔도 됩니다)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p20"/>
          <p:cNvSpPr/>
          <p:nvPr/>
        </p:nvSpPr>
        <p:spPr>
          <a:xfrm>
            <a:off x="502920" y="2240280"/>
            <a:ext cx="11183112" cy="1234440"/>
          </a:xfrm>
          <a:prstGeom prst="roundRect">
            <a:avLst>
              <a:gd name="adj" fmla="val 6667"/>
            </a:avLst>
          </a:prstGeom>
          <a:solidFill>
            <a:srgbClr val="2C2925"/>
          </a:solidFill>
          <a:ln>
            <a:noFill/>
          </a:ln>
          <a:effectLst>
            <a:outerShdw blurRad="127000" dist="25400" dir="54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4" name="Google Shape;514;p20"/>
          <p:cNvSpPr/>
          <p:nvPr/>
        </p:nvSpPr>
        <p:spPr>
          <a:xfrm>
            <a:off x="704088" y="2423160"/>
            <a:ext cx="100584" cy="100584"/>
          </a:xfrm>
          <a:prstGeom prst="ellipse">
            <a:avLst/>
          </a:prstGeom>
          <a:solidFill>
            <a:srgbClr val="E86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5" name="Google Shape;515;p20"/>
          <p:cNvSpPr/>
          <p:nvPr/>
        </p:nvSpPr>
        <p:spPr>
          <a:xfrm>
            <a:off x="905256" y="2423160"/>
            <a:ext cx="100584" cy="100584"/>
          </a:xfrm>
          <a:prstGeom prst="ellipse">
            <a:avLst/>
          </a:prstGeom>
          <a:solidFill>
            <a:srgbClr val="F0B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6" name="Google Shape;516;p20"/>
          <p:cNvSpPr/>
          <p:nvPr/>
        </p:nvSpPr>
        <p:spPr>
          <a:xfrm>
            <a:off x="1106424" y="2423160"/>
            <a:ext cx="100584" cy="100584"/>
          </a:xfrm>
          <a:prstGeom prst="ellipse">
            <a:avLst/>
          </a:prstGeom>
          <a:solidFill>
            <a:srgbClr val="8FBF6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7" name="Google Shape;517;p20"/>
          <p:cNvSpPr/>
          <p:nvPr/>
        </p:nvSpPr>
        <p:spPr>
          <a:xfrm>
            <a:off x="758952" y="2624328"/>
            <a:ext cx="10671048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300"/>
              <a:buFont typeface="Courier New"/>
              <a:buNone/>
            </a:pPr>
            <a:r>
              <a:rPr lang="en-US" sz="1300" b="0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&gt; </a:t>
            </a:r>
            <a:r>
              <a:rPr lang="en-US" sz="1300" b="0" i="0" u="none" strike="noStrike" cap="none">
                <a:solidFill>
                  <a:srgbClr val="8FBF6F"/>
                </a:solidFill>
                <a:latin typeface="Courier New"/>
                <a:ea typeface="Courier New"/>
                <a:cs typeface="Courier New"/>
                <a:sym typeface="Courier New"/>
              </a:rPr>
              <a:t>server-backend-core</a:t>
            </a:r>
            <a:r>
              <a:rPr lang="en-US" sz="1300" b="0" i="0" u="none" strike="noStrike" cap="none">
                <a:solidFill>
                  <a:srgbClr val="E8E3DB"/>
                </a:solidFill>
                <a:latin typeface="Courier New"/>
                <a:ea typeface="Courier New"/>
                <a:cs typeface="Courier New"/>
                <a:sym typeface="Courier New"/>
              </a:rPr>
              <a:t> 모듈의 구조와 역할을 분석해서 설명해줘.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20"/>
          <p:cNvSpPr/>
          <p:nvPr/>
        </p:nvSpPr>
        <p:spPr>
          <a:xfrm>
            <a:off x="502920" y="379476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9" name="Google Shape;519;p20"/>
          <p:cNvSpPr/>
          <p:nvPr/>
        </p:nvSpPr>
        <p:spPr>
          <a:xfrm>
            <a:off x="502920" y="379476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p20"/>
          <p:cNvSpPr/>
          <p:nvPr/>
        </p:nvSpPr>
        <p:spPr>
          <a:xfrm>
            <a:off x="978408" y="3803904"/>
            <a:ext cx="106801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에이전트 자동 위임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20"/>
          <p:cNvSpPr/>
          <p:nvPr/>
        </p:nvSpPr>
        <p:spPr>
          <a:xfrm>
            <a:off x="978408" y="4123944"/>
            <a:ext cx="1068019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backend-developer 등 해당 도메인의 에이전트가 자동으로 호출되어 분석을 시작합니다. Agent(...) 표시가 뜨면 정상입니다.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20"/>
          <p:cNvSpPr/>
          <p:nvPr/>
        </p:nvSpPr>
        <p:spPr>
          <a:xfrm>
            <a:off x="502920" y="452628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3" name="Google Shape;523;p20"/>
          <p:cNvSpPr/>
          <p:nvPr/>
        </p:nvSpPr>
        <p:spPr>
          <a:xfrm>
            <a:off x="502920" y="452628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20"/>
          <p:cNvSpPr/>
          <p:nvPr/>
        </p:nvSpPr>
        <p:spPr>
          <a:xfrm>
            <a:off x="978408" y="4535424"/>
            <a:ext cx="106801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모듈 문서 우선 확인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20"/>
          <p:cNvSpPr/>
          <p:nvPr/>
        </p:nvSpPr>
        <p:spPr>
          <a:xfrm>
            <a:off x="978408" y="4855464"/>
            <a:ext cx="1068019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에이전트가 그 모듈의 CLAUDE.md · AGENTS.md 를 먼저 읽고 작업하는지 진행 로그에서 확인하세요. 이것이 팀 세팅의 핵심 동작입니다.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20"/>
          <p:cNvSpPr/>
          <p:nvPr/>
        </p:nvSpPr>
        <p:spPr>
          <a:xfrm>
            <a:off x="502920" y="525780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7" name="Google Shape;527;p20"/>
          <p:cNvSpPr/>
          <p:nvPr/>
        </p:nvSpPr>
        <p:spPr>
          <a:xfrm>
            <a:off x="502920" y="525780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20"/>
          <p:cNvSpPr/>
          <p:nvPr/>
        </p:nvSpPr>
        <p:spPr>
          <a:xfrm>
            <a:off x="978408" y="5266944"/>
            <a:ext cx="106801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설명 확인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" name="Google Shape;529;p20"/>
          <p:cNvSpPr/>
          <p:nvPr/>
        </p:nvSpPr>
        <p:spPr>
          <a:xfrm>
            <a:off x="978408" y="5586984"/>
            <a:ext cx="1068019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모듈 구성과 역할 설명이 한국어로 출력되면 온보딩 완료입니다!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20"/>
          <p:cNvSpPr/>
          <p:nvPr/>
        </p:nvSpPr>
        <p:spPr>
          <a:xfrm>
            <a:off x="502920" y="5989320"/>
            <a:ext cx="11183112" cy="640080"/>
          </a:xfrm>
          <a:prstGeom prst="roundRect">
            <a:avLst>
              <a:gd name="adj" fmla="val 11429"/>
            </a:avLst>
          </a:prstGeom>
          <a:solidFill>
            <a:srgbClr val="F9EF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31" name="Google Shape;531;p20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4088" y="6181344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532" name="Google Shape;532;p20"/>
          <p:cNvSpPr/>
          <p:nvPr/>
        </p:nvSpPr>
        <p:spPr>
          <a:xfrm>
            <a:off x="1069848" y="5989320"/>
            <a:ext cx="10433304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응답이 한국어로 나오고 상태줄(claude-hud)이 하단에 표시되면 언어 · 상태줄 설정까지 모두 적용된 것입니다.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01C"/>
        </a:solidFill>
        <a:effectLst/>
      </p:bgPr>
    </p:bg>
    <p:spTree>
      <p:nvGrpSpPr>
        <p:cNvPr id="1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21"/>
          <p:cNvSpPr/>
          <p:nvPr/>
        </p:nvSpPr>
        <p:spPr>
          <a:xfrm>
            <a:off x="502920" y="502920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39" name="Google Shape;539;p21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0080" y="6400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540" name="Google Shape;540;p21"/>
          <p:cNvSpPr/>
          <p:nvPr/>
        </p:nvSpPr>
        <p:spPr>
          <a:xfrm>
            <a:off x="1280160" y="429768"/>
            <a:ext cx="1033272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완료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Malgun Gothic"/>
              <a:buNone/>
            </a:pPr>
            <a:r>
              <a:rPr lang="en-US" sz="30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세팅 완료 — 최종 체크리스트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21"/>
          <p:cNvSpPr/>
          <p:nvPr/>
        </p:nvSpPr>
        <p:spPr>
          <a:xfrm>
            <a:off x="1298448" y="11887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9B2A7"/>
              </a:buClr>
              <a:buSzPts val="1300"/>
              <a:buFont typeface="Malgun Gothic"/>
              <a:buNone/>
            </a:pPr>
            <a:r>
              <a:rPr lang="en-US" sz="1300" b="0" i="0" u="none" strike="noStrike" cap="none">
                <a:solidFill>
                  <a:srgbClr val="B9B2A7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아래 항목이 전부 해당되면 온보딩이 끝났습니다. 이제 Claude Code와 함께 개발을 시작하세요!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" name="Google Shape;542;p21"/>
          <p:cNvSpPr/>
          <p:nvPr/>
        </p:nvSpPr>
        <p:spPr>
          <a:xfrm>
            <a:off x="502920" y="2103120"/>
            <a:ext cx="11183112" cy="658368"/>
          </a:xfrm>
          <a:prstGeom prst="roundRect">
            <a:avLst>
              <a:gd name="adj" fmla="val 11111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43" name="Google Shape;543;p21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77240" y="2295144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544" name="Google Shape;544;p21"/>
          <p:cNvSpPr/>
          <p:nvPr/>
        </p:nvSpPr>
        <p:spPr>
          <a:xfrm>
            <a:off x="1234440" y="2103120"/>
            <a:ext cx="1024128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400"/>
              <a:buFont typeface="Malgun Gothic"/>
              <a:buNone/>
            </a:pPr>
            <a:r>
              <a:rPr lang="en-US" sz="1400" b="0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claude --version 을 입력하면 버전이 나온다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" name="Google Shape;545;p21"/>
          <p:cNvSpPr/>
          <p:nvPr/>
        </p:nvSpPr>
        <p:spPr>
          <a:xfrm>
            <a:off x="502920" y="2889504"/>
            <a:ext cx="11183112" cy="658368"/>
          </a:xfrm>
          <a:prstGeom prst="roundRect">
            <a:avLst>
              <a:gd name="adj" fmla="val 11111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46" name="Google Shape;546;p21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77240" y="3081528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547" name="Google Shape;547;p21"/>
          <p:cNvSpPr/>
          <p:nvPr/>
        </p:nvSpPr>
        <p:spPr>
          <a:xfrm>
            <a:off x="1234440" y="2889504"/>
            <a:ext cx="1024128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400"/>
              <a:buFont typeface="Malgun Gothic"/>
              <a:buNone/>
            </a:pPr>
            <a:r>
              <a:rPr lang="en-US" sz="1400" b="0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claude 실행 시 로그인 없이 바로 시작되고, 응답이 한국어다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" name="Google Shape;548;p21"/>
          <p:cNvSpPr/>
          <p:nvPr/>
        </p:nvSpPr>
        <p:spPr>
          <a:xfrm>
            <a:off x="502920" y="3675888"/>
            <a:ext cx="11183112" cy="658368"/>
          </a:xfrm>
          <a:prstGeom prst="roundRect">
            <a:avLst>
              <a:gd name="adj" fmla="val 11111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49" name="Google Shape;549;p21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77240" y="3867912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550" name="Google Shape;550;p21"/>
          <p:cNvSpPr/>
          <p:nvPr/>
        </p:nvSpPr>
        <p:spPr>
          <a:xfrm>
            <a:off x="1234440" y="3675888"/>
            <a:ext cx="1024128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400"/>
              <a:buFont typeface="Malgun Gothic"/>
              <a:buNone/>
            </a:pPr>
            <a:r>
              <a:rPr lang="en-US" sz="1400" b="0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IntelliJ에서 Claude 아이콘으로 터미널이 열린다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" name="Google Shape;551;p21"/>
          <p:cNvSpPr/>
          <p:nvPr/>
        </p:nvSpPr>
        <p:spPr>
          <a:xfrm>
            <a:off x="502920" y="4462272"/>
            <a:ext cx="11183112" cy="658368"/>
          </a:xfrm>
          <a:prstGeom prst="roundRect">
            <a:avLst>
              <a:gd name="adj" fmla="val 11111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52" name="Google Shape;552;p21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77240" y="4654296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553" name="Google Shape;553;p21"/>
          <p:cNvSpPr/>
          <p:nvPr/>
        </p:nvSpPr>
        <p:spPr>
          <a:xfrm>
            <a:off x="1234440" y="4462272"/>
            <a:ext cx="1024128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400"/>
              <a:buFont typeface="Malgun Gothic"/>
              <a:buNone/>
            </a:pPr>
            <a:r>
              <a:rPr lang="en-US" sz="1400" b="0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/agents 입력 시 코딩 에이전트 8종이 나온다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" name="Google Shape;554;p21"/>
          <p:cNvSpPr/>
          <p:nvPr/>
        </p:nvSpPr>
        <p:spPr>
          <a:xfrm>
            <a:off x="502920" y="5248656"/>
            <a:ext cx="11183112" cy="658368"/>
          </a:xfrm>
          <a:prstGeom prst="roundRect">
            <a:avLst>
              <a:gd name="adj" fmla="val 11111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55" name="Google Shape;555;p21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77240" y="5440680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556" name="Google Shape;556;p21"/>
          <p:cNvSpPr/>
          <p:nvPr/>
        </p:nvSpPr>
        <p:spPr>
          <a:xfrm>
            <a:off x="1234440" y="5248656"/>
            <a:ext cx="1024128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400"/>
              <a:buFont typeface="Malgun Gothic"/>
              <a:buNone/>
            </a:pPr>
            <a:r>
              <a:rPr lang="en-US" sz="1400" b="0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모듈 분석 요청 시 에이전트가 모듈 문서를 읽고 정확히 설명한다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" name="Google Shape;557;p21"/>
          <p:cNvSpPr/>
          <p:nvPr/>
        </p:nvSpPr>
        <p:spPr>
          <a:xfrm>
            <a:off x="521208" y="6263640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A8378"/>
              </a:buClr>
              <a:buSzPts val="1200"/>
              <a:buFont typeface="Malgun Gothic"/>
              <a:buNone/>
            </a:pPr>
            <a:r>
              <a:rPr lang="en-US" sz="1200" b="0" i="0" u="none" strike="noStrike" cap="none">
                <a:solidFill>
                  <a:srgbClr val="8A8378"/>
                </a:solidFill>
                <a:latin typeface="Malgun Gothic"/>
                <a:ea typeface="Malgun Gothic"/>
                <a:cs typeface="Malgun Gothic"/>
                <a:sym typeface="Malgun Gothic"/>
              </a:rPr>
              <a:t>막히는 부분이 있으면 HyperMig 개발팀 채널에 편하게 질문해 주세요.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2056</Words>
  <Application>Microsoft Office PowerPoint</Application>
  <PresentationFormat>와이드스크린</PresentationFormat>
  <Paragraphs>363</Paragraphs>
  <Slides>19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4" baseType="lpstr">
      <vt:lpstr>Malgun Gothic</vt:lpstr>
      <vt:lpstr>Arial</vt:lpstr>
      <vt:lpstr>Calibri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동민 이</cp:lastModifiedBy>
  <cp:revision>1</cp:revision>
  <dcterms:modified xsi:type="dcterms:W3CDTF">2026-07-22T05:06:56Z</dcterms:modified>
</cp:coreProperties>
</file>