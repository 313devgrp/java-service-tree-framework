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50"/>
  </p:notesMasterIdLst>
  <p:sldIdLst>
    <p:sldId id="256" r:id="rId2"/>
    <p:sldId id="275" r:id="rId3"/>
    <p:sldId id="334" r:id="rId4"/>
    <p:sldId id="27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09" r:id="rId14"/>
    <p:sldId id="305" r:id="rId15"/>
    <p:sldId id="310" r:id="rId16"/>
    <p:sldId id="311" r:id="rId17"/>
    <p:sldId id="306" r:id="rId18"/>
    <p:sldId id="307" r:id="rId19"/>
    <p:sldId id="308" r:id="rId20"/>
    <p:sldId id="278" r:id="rId21"/>
    <p:sldId id="279" r:id="rId22"/>
    <p:sldId id="312" r:id="rId23"/>
    <p:sldId id="280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2" r:id="rId34"/>
    <p:sldId id="291" r:id="rId35"/>
    <p:sldId id="313" r:id="rId36"/>
    <p:sldId id="282" r:id="rId37"/>
    <p:sldId id="325" r:id="rId38"/>
    <p:sldId id="293" r:id="rId39"/>
    <p:sldId id="294" r:id="rId40"/>
    <p:sldId id="301" r:id="rId41"/>
    <p:sldId id="333" r:id="rId42"/>
    <p:sldId id="326" r:id="rId43"/>
    <p:sldId id="327" r:id="rId44"/>
    <p:sldId id="328" r:id="rId45"/>
    <p:sldId id="329" r:id="rId46"/>
    <p:sldId id="330" r:id="rId47"/>
    <p:sldId id="331" r:id="rId48"/>
    <p:sldId id="332" r:id="rId4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9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프리젠테이션 5 Medium" pitchFamily="2" charset="-127"/>
                <a:ea typeface="프리젠테이션 5 Medium" pitchFamily="2" charset="-127"/>
              </a:rPr>
              <a:t>shell 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에 </a:t>
            </a:r>
            <a:r>
              <a:rPr lang="ko-KR" altLang="en-US" sz="1200" dirty="0" err="1">
                <a:latin typeface="프리젠테이션 5 Medium" pitchFamily="2" charset="-127"/>
                <a:ea typeface="프리젠테이션 5 Medium" pitchFamily="2" charset="-127"/>
              </a:rPr>
              <a:t>복붙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 할 것</a:t>
            </a:r>
            <a:r>
              <a:rPr lang="en-US" altLang="ko-KR" sz="1200" dirty="0">
                <a:latin typeface="프리젠테이션 5 Medium" pitchFamily="2" charset="-127"/>
                <a:ea typeface="프리젠테이션 5 Medium" pitchFamily="2" charset="-127"/>
              </a:rPr>
              <a:t>. Win, mac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도 모를 수 있으니</a:t>
            </a:r>
            <a:endParaRPr lang="en-US" altLang="ko-KR" sz="1200" dirty="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C59E2C7F-FD25-4611-DE02-6BFD5D4C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5210D5BC-B106-53EC-E4D4-0B3A4516D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12D0175A-4A0F-83BF-9766-5B7F06D10C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78066F8A-37B0-84F1-EC37-D089A3AD66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4209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6FD17F9F-B4B9-1CE7-621F-9FF20D47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1624F3B6-4843-797B-DC06-24E38F653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A74498B8-577F-9A4A-C390-FB31E6884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5B306417-8FCB-FB08-6A6D-E03F006D5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018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9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10AD-D58D-AFA0-7422-EF35785A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13EA5-7C36-76C4-13E5-7E7A87124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4AE5C-0C93-B2A2-0B27-E0A643AC4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7CF53-3741-759D-BC7B-A99CB0729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78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20B3-9FA4-F18B-EED7-5350E0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C7D30-7EF0-2FFC-6064-C05B91C89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5F6CB-3B1C-EF9F-7DAF-4D0D4205D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42B2E-0B04-0651-2CD5-C565FDA07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4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76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20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042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48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439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7FEBBA35-376F-FADB-0DFA-FAB9DF32D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6F035ABC-8A56-6FB3-B4A1-9F9571BBA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88FB738D-FA5C-A129-279F-80EF23FE72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52B90AB7-4DEF-5126-C3F7-442DC233C1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62601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70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510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971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85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244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706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96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906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820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225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16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003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BDF73409-2011-02DE-764E-1A9E94532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439B88CE-3B17-6AFA-B22F-3C4D9BE6B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1CAFDBB7-3F5A-8AAD-0E1D-87549923B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DAE2FD32-DF76-3F25-C8A3-EAA0B5D03E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1488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240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D0FB-0FDD-BF70-3080-82D2D455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40674-336F-882F-FDB4-6D77296A3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9426E-45E9-2126-3D30-A3736A21A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057C3-323E-93AB-9EFD-C3763B7D4C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095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613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526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91F6-FCCE-DF5E-CFA1-9ABF93C1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B8648-D0C7-3223-C9EF-F1FC2D763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8DFD6-9868-5CDF-3B0E-7284024F1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BD018-369A-E56F-6E45-77E649129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115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51DD-8596-E421-DB2E-BCDA9A45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7E99A-F644-F003-A6C9-9994CB923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3AFF7-FD0B-AF79-0334-ED4BA08CE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EB1B3-0F86-FDC9-4E9A-F2DDBA842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244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3A93D-AC63-770D-3FD0-67324B73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6EA31-DDE8-F65A-4D84-FFEBD8B0C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0D024-2D4F-0692-F95B-064ECBDAD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C114B-B2E3-B92E-97D8-892B9FD5A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656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5C56-FC34-AE59-9E0E-B771C334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31D14-B388-AD43-4D28-43802AC32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2BDA5-9FBB-594C-521F-AC6D60E73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3DF64-C569-78C6-A7E2-231F16A6D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198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ED6D-313B-2C88-A6B3-3853F9B0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7A0F7-3E04-4C97-12C8-C2DB55651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C74D7-795F-44B6-5558-234715B18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A4EDC-26E7-1FD4-2DB0-F699EAB84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078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0975-7B66-72BB-D7CC-206A77E9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F7F9F-7592-AA3C-7CAF-6444B9175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D84FD-1DB5-CF63-8605-191FB8EF6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8FDDF-3676-68C9-75E5-534D3EADF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583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570A-896F-4323-3845-14F0B6A4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26B77-558A-6A55-111A-0939AC52F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72563-2894-F58D-87AF-630096B4D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AF013-93A3-5259-9812-717381E8F4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466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7B93-6434-5FAB-5B6A-E63504B9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F48F5-B198-55F4-C0B6-B84083A99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C4718-084A-A456-5C50-B3B7476A3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5C4DE-914F-B703-8AA7-DFB52445AF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6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with_summa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5837C8-A634-463F-8402-E4EF2F987E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341313"/>
            <a:ext cx="10944225" cy="458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프리젠테이션 6 SemiBold" pitchFamily="2" charset="-127"/>
                <a:ea typeface="프리젠테이션 6 SemiBold" pitchFamily="2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내용 개체 틀 6">
            <a:extLst>
              <a:ext uri="{FF2B5EF4-FFF2-40B4-BE49-F238E27FC236}">
                <a16:creationId xmlns:a16="http://schemas.microsoft.com/office/drawing/2014/main" id="{68906FBF-DA87-1C5D-400A-E2B1869412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908050"/>
            <a:ext cx="10944225" cy="54237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1300"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r>
              <a:rPr lang="ko-KR" altLang="en-US" dirty="0"/>
              <a:t>요약</a:t>
            </a:r>
            <a:endParaRPr lang="en-US" altLang="ko-KR" dirty="0"/>
          </a:p>
          <a:p>
            <a:pPr lvl="0"/>
            <a:r>
              <a:rPr lang="ko-KR" altLang="en-US" dirty="0"/>
              <a:t> 요약</a:t>
            </a:r>
          </a:p>
        </p:txBody>
      </p:sp>
    </p:spTree>
    <p:extLst>
      <p:ext uri="{BB962C8B-B14F-4D97-AF65-F5344CB8AC3E}">
        <p14:creationId xmlns:p14="http://schemas.microsoft.com/office/powerpoint/2010/main" val="4233212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210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913">
          <p15:clr>
            <a:srgbClr val="FBAE40"/>
          </p15:clr>
        </p15:guide>
        <p15:guide id="8" orient="horz" pos="98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5837C8-A634-463F-8402-E4EF2F987E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448700"/>
            <a:ext cx="10944225" cy="458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프리젠테이션 6 SemiBold" pitchFamily="2" charset="-127"/>
                <a:ea typeface="프리젠테이션 6 SemiBold" pitchFamily="2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00350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313DEVGRP/Java-Service-Tree-Framework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Malgun Gothic"/>
              <a:buNone/>
            </a:pPr>
            <a:r>
              <a:rPr 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 Agent + Sub Agent </a:t>
            </a:r>
            <a:br>
              <a:rPr 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및 세팅 가이드</a:t>
            </a:r>
            <a:endParaRPr sz="4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557338"/>
            <a:ext cx="1830143" cy="457200"/>
          </a:xfrm>
          <a:prstGeom prst="rect">
            <a:avLst/>
          </a:prstGeom>
          <a:solidFill>
            <a:srgbClr val="1623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654550" y="1557338"/>
            <a:ext cx="3456432" cy="4572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111681" y="1557338"/>
            <a:ext cx="3456432" cy="4572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23888" y="1557338"/>
            <a:ext cx="18301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도구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11712" y="1557338"/>
            <a:ext cx="37902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Windows (PowerShell)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01953" y="155733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macOS (</a:t>
            </a:r>
            <a:r>
              <a:rPr lang="en-US" sz="1200" dirty="0" err="1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zsh</a:t>
            </a: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189" y="2590356"/>
            <a:ext cx="183014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53851" y="2590356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110982" y="2590356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0349" y="2590356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Node.js 22+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62880" y="2590356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OpenJS.NodeJS.LTS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16200" y="2590356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node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3189" y="3157284"/>
            <a:ext cx="1830143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53851" y="3157284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10982" y="3157284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60349" y="3157284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git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2880" y="3157284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Git.Git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16200" y="3157284"/>
            <a:ext cx="3351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git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3189" y="3724212"/>
            <a:ext cx="183014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53851" y="3724212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110982" y="3724212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60349" y="3724212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Python 3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62880" y="3724212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Python.Python.3.12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16200" y="3724212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python@3.12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3189" y="4291140"/>
            <a:ext cx="1830143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653851" y="4291140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10982" y="4291140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60349" y="4291140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jq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62880" y="4291140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jqlang.jq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16200" y="4291140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jq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3189" y="4858068"/>
            <a:ext cx="183014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653851" y="4858068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110982" y="4858068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60349" y="4858068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Go 1.22+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62880" y="4858068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GoLang.Go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16200" y="4858068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go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3888" y="5762295"/>
            <a:ext cx="10944224" cy="777240"/>
          </a:xfrm>
          <a:prstGeom prst="roundRect">
            <a:avLst>
              <a:gd name="adj" fmla="val 9412"/>
            </a:avLst>
          </a:prstGeom>
          <a:solidFill>
            <a:srgbClr val="16232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488" y="5963463"/>
            <a:ext cx="365760" cy="36576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355408" y="5762295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설치 후 </a:t>
            </a:r>
            <a:r>
              <a:rPr lang="ko-KR" altLang="en-US" sz="1400" b="1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실행 하기 위해서는 </a:t>
            </a:r>
            <a:r>
              <a:rPr lang="ko-KR" altLang="en-US" sz="1400" b="1" dirty="0" err="1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열려있는</a:t>
            </a:r>
            <a:r>
              <a:rPr lang="ko-KR" altLang="en-US" sz="1400" b="1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 모든 터미널을 반드시 닫았다 열어야 합니다</a:t>
            </a:r>
            <a:r>
              <a:rPr lang="en-US" altLang="ko-KR" sz="1400" b="1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. </a:t>
            </a:r>
            <a:r>
              <a:rPr lang="en-US" altLang="ko-KR" b="1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※</a:t>
            </a:r>
            <a:r>
              <a:rPr lang="ko-KR" altLang="en-US" sz="1400" b="1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환경변수 적용</a:t>
            </a:r>
            <a:endParaRPr 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B1DCFA61-42E2-40A7-BAB5-CC159B7D10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사전 준비 </a:t>
            </a:r>
            <a:r>
              <a:rPr lang="en-US" altLang="ko-KR" dirty="0"/>
              <a:t>– </a:t>
            </a:r>
            <a:r>
              <a:rPr lang="ko-KR" altLang="en-US" dirty="0"/>
              <a:t>공통 도구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0FB5A8E-9993-C96C-C55F-61166452774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7200"/>
            <a:ext cx="10944225" cy="542378"/>
          </a:xfrm>
        </p:spPr>
        <p:txBody>
          <a:bodyPr/>
          <a:lstStyle/>
          <a:p>
            <a:r>
              <a:rPr lang="ko-KR" altLang="en-US" dirty="0"/>
              <a:t> 이미 설치가 되었다면</a:t>
            </a:r>
            <a:r>
              <a:rPr lang="en-US" altLang="ko-KR" dirty="0"/>
              <a:t>, </a:t>
            </a:r>
            <a:r>
              <a:rPr lang="ko-KR" altLang="en-US" dirty="0"/>
              <a:t>따로 설치할 필요 없다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 아래 도구가 없으면 대부분 명확한 에러와 함께 멈춘다</a:t>
            </a:r>
            <a:endParaRPr lang="en-US" altLang="ko-KR" dirty="0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40687BDF-63E2-E2BC-6CF9-5F0B7B12470D}"/>
              </a:ext>
            </a:extLst>
          </p:cNvPr>
          <p:cNvSpPr/>
          <p:nvPr/>
        </p:nvSpPr>
        <p:spPr>
          <a:xfrm>
            <a:off x="2454031" y="1557338"/>
            <a:ext cx="2200519" cy="457200"/>
          </a:xfrm>
          <a:prstGeom prst="rect">
            <a:avLst/>
          </a:prstGeom>
          <a:solidFill>
            <a:srgbClr val="1623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DCC1E2D-EC59-33AC-377C-56E48BF078A5}"/>
              </a:ext>
            </a:extLst>
          </p:cNvPr>
          <p:cNvSpPr/>
          <p:nvPr/>
        </p:nvSpPr>
        <p:spPr>
          <a:xfrm>
            <a:off x="2454031" y="1557338"/>
            <a:ext cx="2199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용도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CD7D978E-4F74-9F4D-D1C0-7144E48BE0D7}"/>
              </a:ext>
            </a:extLst>
          </p:cNvPr>
          <p:cNvSpPr/>
          <p:nvPr/>
        </p:nvSpPr>
        <p:spPr>
          <a:xfrm>
            <a:off x="2453331" y="2594801"/>
            <a:ext cx="22005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b="1" dirty="0">
                <a:latin typeface="프리젠테이션 5 Medium" pitchFamily="2" charset="-127"/>
                <a:ea typeface="프리젠테이션 5 Medium" pitchFamily="2" charset="-127"/>
              </a:rPr>
              <a:t>Claude Code</a:t>
            </a:r>
            <a:r>
              <a:rPr lang="ko-KR" altLang="en-US" sz="1000" b="1" dirty="0">
                <a:latin typeface="프리젠테이션 5 Medium" pitchFamily="2" charset="-127"/>
                <a:ea typeface="프리젠테이션 5 Medium" pitchFamily="2" charset="-127"/>
              </a:rPr>
              <a:t>의 </a:t>
            </a:r>
            <a:r>
              <a:rPr lang="en-US" altLang="ko-KR" sz="1000" b="1" dirty="0">
                <a:latin typeface="프리젠테이션 5 Medium" pitchFamily="2" charset="-127"/>
                <a:ea typeface="프리젠테이션 5 Medium" pitchFamily="2" charset="-127"/>
              </a:rPr>
              <a:t>CLI </a:t>
            </a:r>
            <a:r>
              <a:rPr lang="ko-KR" altLang="en-US" sz="1000" b="1" dirty="0">
                <a:latin typeface="프리젠테이션 5 Medium" pitchFamily="2" charset="-127"/>
                <a:ea typeface="프리젠테이션 5 Medium" pitchFamily="2" charset="-127"/>
              </a:rPr>
              <a:t>를 실행 하기 위해서는 </a:t>
            </a:r>
            <a:r>
              <a:rPr lang="en-US" altLang="ko-KR" sz="1000" b="1" dirty="0">
                <a:latin typeface="프리젠테이션 5 Medium" pitchFamily="2" charset="-127"/>
                <a:ea typeface="프리젠테이션 5 Medium" pitchFamily="2" charset="-127"/>
              </a:rPr>
              <a:t>NodeJS </a:t>
            </a:r>
            <a:r>
              <a:rPr lang="ko-KR" altLang="en-US" sz="1000" b="1" dirty="0">
                <a:latin typeface="프리젠테이션 5 Medium" pitchFamily="2" charset="-127"/>
                <a:ea typeface="프리젠테이션 5 Medium" pitchFamily="2" charset="-127"/>
              </a:rPr>
              <a:t>가 필수 입니다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2A20ED63-B744-D5F7-26BC-EE43EC0D1EF8}"/>
              </a:ext>
            </a:extLst>
          </p:cNvPr>
          <p:cNvSpPr/>
          <p:nvPr/>
        </p:nvSpPr>
        <p:spPr>
          <a:xfrm>
            <a:off x="2453331" y="3724212"/>
            <a:ext cx="22005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워커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도구  실행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+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스크립트</a:t>
            </a:r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C39EAA07-22F7-E5CE-AE9D-211552A0EEB2}"/>
              </a:ext>
            </a:extLst>
          </p:cNvPr>
          <p:cNvSpPr/>
          <p:nvPr/>
        </p:nvSpPr>
        <p:spPr>
          <a:xfrm>
            <a:off x="2453331" y="4858068"/>
            <a:ext cx="22005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빌드 및 실행</a:t>
            </a:r>
            <a:endParaRPr lang="en-US" altLang="ko-KR" sz="1000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(mac) MAT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를 직접 설치시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, go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설치 불필요</a:t>
            </a:r>
          </a:p>
        </p:txBody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D9AD35B1-3FF0-B9EE-B6A6-88C6A2F1C4E7}"/>
              </a:ext>
            </a:extLst>
          </p:cNvPr>
          <p:cNvSpPr/>
          <p:nvPr/>
        </p:nvSpPr>
        <p:spPr>
          <a:xfrm>
            <a:off x="2452641" y="4291140"/>
            <a:ext cx="2200519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gemini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의 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json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 응답 파싱</a:t>
            </a:r>
            <a:endParaRPr lang="en-US" altLang="ko-KR" sz="1000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gemini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사용 </a:t>
            </a:r>
            <a:r>
              <a:rPr lang="ko-KR" altLang="en-US" sz="1000" dirty="0" err="1">
                <a:latin typeface="프리젠테이션 5 Medium" pitchFamily="2" charset="-127"/>
                <a:ea typeface="프리젠테이션 5 Medium" pitchFamily="2" charset="-127"/>
              </a:rPr>
              <a:t>안하는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 경우 설치 불필요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B0DD2C92-1DD1-D128-E57C-2183D6B65CA4}"/>
              </a:ext>
            </a:extLst>
          </p:cNvPr>
          <p:cNvSpPr/>
          <p:nvPr/>
        </p:nvSpPr>
        <p:spPr>
          <a:xfrm>
            <a:off x="2453331" y="3157284"/>
            <a:ext cx="2200519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대상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repo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작업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+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산출물 관리</a:t>
            </a:r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85001E24-387B-41BC-A845-0653DB5E39B2}"/>
              </a:ext>
            </a:extLst>
          </p:cNvPr>
          <p:cNvSpPr/>
          <p:nvPr/>
        </p:nvSpPr>
        <p:spPr>
          <a:xfrm>
            <a:off x="623189" y="2018983"/>
            <a:ext cx="1830143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D671EFD2-4550-491B-BE15-DA98248F7C16}"/>
              </a:ext>
            </a:extLst>
          </p:cNvPr>
          <p:cNvSpPr/>
          <p:nvPr/>
        </p:nvSpPr>
        <p:spPr>
          <a:xfrm>
            <a:off x="4653851" y="2018983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437999C-6AFA-4B5B-8DD2-DE685DDA8084}"/>
              </a:ext>
            </a:extLst>
          </p:cNvPr>
          <p:cNvSpPr/>
          <p:nvPr/>
        </p:nvSpPr>
        <p:spPr>
          <a:xfrm>
            <a:off x="8110982" y="2018983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3AA93767-A594-4F55-B0D3-77E4B5DC5DF5}"/>
              </a:ext>
            </a:extLst>
          </p:cNvPr>
          <p:cNvSpPr/>
          <p:nvPr/>
        </p:nvSpPr>
        <p:spPr>
          <a:xfrm>
            <a:off x="760349" y="2018983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winget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181A276E-B373-4D94-A898-9CF7CEF7FDE4}"/>
              </a:ext>
            </a:extLst>
          </p:cNvPr>
          <p:cNvSpPr/>
          <p:nvPr/>
        </p:nvSpPr>
        <p:spPr>
          <a:xfrm>
            <a:off x="4762880" y="2018983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프리젠테이션 5 Medium" pitchFamily="2" charset="-127"/>
                <a:ea typeface="프리젠테이션 5 Medium" pitchFamily="2" charset="-127"/>
              </a:rPr>
              <a:t>Install-Module -Name </a:t>
            </a:r>
            <a:r>
              <a:rPr lang="en-US" sz="1000" dirty="0" err="1">
                <a:latin typeface="프리젠테이션 5 Medium" pitchFamily="2" charset="-127"/>
                <a:ea typeface="프리젠테이션 5 Medium" pitchFamily="2" charset="-127"/>
              </a:rPr>
              <a:t>Microsoft.WinGet.Client</a:t>
            </a:r>
            <a:r>
              <a:rPr lang="en-US" sz="1000" dirty="0">
                <a:latin typeface="프리젠테이션 5 Medium" pitchFamily="2" charset="-127"/>
                <a:ea typeface="프리젠테이션 5 Medium" pitchFamily="2" charset="-127"/>
              </a:rPr>
              <a:t> -Force -Repository </a:t>
            </a:r>
            <a:r>
              <a:rPr lang="en-US" sz="1000" dirty="0" err="1">
                <a:latin typeface="프리젠테이션 5 Medium" pitchFamily="2" charset="-127"/>
                <a:ea typeface="프리젠테이션 5 Medium" pitchFamily="2" charset="-127"/>
              </a:rPr>
              <a:t>PSGalleryRepair-WinGetPackageManager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26951DFF-5086-40F8-BD28-029DD2944621}"/>
              </a:ext>
            </a:extLst>
          </p:cNvPr>
          <p:cNvSpPr/>
          <p:nvPr/>
        </p:nvSpPr>
        <p:spPr>
          <a:xfrm>
            <a:off x="8216200" y="2018983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2AF8C674-469E-4F31-824D-9A184F041A27}"/>
              </a:ext>
            </a:extLst>
          </p:cNvPr>
          <p:cNvSpPr/>
          <p:nvPr/>
        </p:nvSpPr>
        <p:spPr>
          <a:xfrm>
            <a:off x="2453331" y="2018983"/>
            <a:ext cx="2200519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b="1" dirty="0">
                <a:latin typeface="프리젠테이션 5 Medium" pitchFamily="2" charset="-127"/>
                <a:ea typeface="프리젠테이션 5 Medium" pitchFamily="2" charset="-127"/>
              </a:rPr>
              <a:t>Windows</a:t>
            </a:r>
            <a:r>
              <a:rPr lang="ko-KR" altLang="en-US" sz="1000" b="1" dirty="0">
                <a:latin typeface="프리젠테이션 5 Medium" pitchFamily="2" charset="-127"/>
                <a:ea typeface="프리젠테이션 5 Medium" pitchFamily="2" charset="-127"/>
              </a:rPr>
              <a:t> 용 </a:t>
            </a:r>
            <a:r>
              <a:rPr lang="en-US" altLang="ko-KR" sz="1000" b="1" dirty="0">
                <a:latin typeface="프리젠테이션 5 Medium" pitchFamily="2" charset="-127"/>
                <a:ea typeface="프리젠테이션 5 Medium" pitchFamily="2" charset="-127"/>
              </a:rPr>
              <a:t>CLI </a:t>
            </a:r>
            <a:r>
              <a:rPr lang="ko-KR" altLang="en-US" sz="1000" b="1" dirty="0">
                <a:latin typeface="프리젠테이션 5 Medium" pitchFamily="2" charset="-127"/>
                <a:ea typeface="프리젠테이션 5 Medium" pitchFamily="2" charset="-127"/>
              </a:rPr>
              <a:t>기반 패키지 관리</a:t>
            </a:r>
            <a:endParaRPr lang="en-US" altLang="ko-KR" sz="1000" b="1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00" b="1" dirty="0" err="1">
                <a:latin typeface="프리젠테이션 5 Medium" pitchFamily="2" charset="-127"/>
                <a:ea typeface="프리젠테이션 5 Medium" pitchFamily="2" charset="-127"/>
              </a:rPr>
              <a:t>Winget</a:t>
            </a:r>
            <a:r>
              <a:rPr lang="en-US" altLang="ko-KR" sz="1000" b="1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000" b="1" dirty="0">
                <a:latin typeface="프리젠테이션 5 Medium" pitchFamily="2" charset="-127"/>
                <a:ea typeface="프리젠테이션 5 Medium" pitchFamily="2" charset="-127"/>
              </a:rPr>
              <a:t>이 실행이 </a:t>
            </a:r>
            <a:r>
              <a:rPr lang="ko-KR" altLang="en-US" sz="1000" b="1" dirty="0" err="1">
                <a:latin typeface="프리젠테이션 5 Medium" pitchFamily="2" charset="-127"/>
                <a:ea typeface="프리젠테이션 5 Medium" pitchFamily="2" charset="-127"/>
              </a:rPr>
              <a:t>안되는경우에만</a:t>
            </a:r>
            <a:r>
              <a:rPr lang="ko-KR" altLang="en-US" sz="1000" b="1" dirty="0">
                <a:latin typeface="프리젠테이션 5 Medium" pitchFamily="2" charset="-127"/>
                <a:ea typeface="프리젠테이션 5 Medium" pitchFamily="2" charset="-127"/>
              </a:rPr>
              <a:t> 설치 진행</a:t>
            </a:r>
            <a:endParaRPr lang="en-US" altLang="ko-KR" sz="1000" b="1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8FBE43B7-7D7A-44C3-8B5E-CEE756F8AD26}"/>
              </a:ext>
            </a:extLst>
          </p:cNvPr>
          <p:cNvSpPr/>
          <p:nvPr/>
        </p:nvSpPr>
        <p:spPr>
          <a:xfrm>
            <a:off x="8214802" y="2020951"/>
            <a:ext cx="33540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해당 사항 없음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그룹 79">
            <a:extLst>
              <a:ext uri="{FF2B5EF4-FFF2-40B4-BE49-F238E27FC236}">
                <a16:creationId xmlns:a16="http://schemas.microsoft.com/office/drawing/2014/main" id="{32F11E5A-5D6F-C024-8DDC-F0864903AC06}"/>
              </a:ext>
            </a:extLst>
          </p:cNvPr>
          <p:cNvGrpSpPr/>
          <p:nvPr/>
        </p:nvGrpSpPr>
        <p:grpSpPr>
          <a:xfrm>
            <a:off x="623887" y="4867471"/>
            <a:ext cx="10944225" cy="1178095"/>
            <a:chOff x="623888" y="5135966"/>
            <a:chExt cx="10944225" cy="1178095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D17A65E2-11CB-F9CB-DD11-3FA82CD845EF}"/>
                </a:ext>
              </a:extLst>
            </p:cNvPr>
            <p:cNvSpPr/>
            <p:nvPr/>
          </p:nvSpPr>
          <p:spPr>
            <a:xfrm>
              <a:off x="623888" y="5135966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12">
              <a:extLst>
                <a:ext uri="{FF2B5EF4-FFF2-40B4-BE49-F238E27FC236}">
                  <a16:creationId xmlns:a16="http://schemas.microsoft.com/office/drawing/2014/main" id="{A5525A5B-D834-1195-3353-A67146B5389E}"/>
                </a:ext>
              </a:extLst>
            </p:cNvPr>
            <p:cNvSpPr/>
            <p:nvPr/>
          </p:nvSpPr>
          <p:spPr>
            <a:xfrm>
              <a:off x="1446849" y="5318846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Cursor CLI</a:t>
              </a:r>
            </a:p>
          </p:txBody>
        </p:sp>
        <p:sp>
          <p:nvSpPr>
            <p:cNvPr id="49" name="Text 13">
              <a:extLst>
                <a:ext uri="{FF2B5EF4-FFF2-40B4-BE49-F238E27FC236}">
                  <a16:creationId xmlns:a16="http://schemas.microsoft.com/office/drawing/2014/main" id="{F0C6AD0F-858B-256F-CD42-BA73878E35B7}"/>
                </a:ext>
              </a:extLst>
            </p:cNvPr>
            <p:cNvSpPr/>
            <p:nvPr/>
          </p:nvSpPr>
          <p:spPr>
            <a:xfrm>
              <a:off x="1446849" y="5664323"/>
              <a:ext cx="3022360" cy="607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5000"/>
                </a:lnSpc>
              </a:pP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가장 큰 특징은 모델을 골라서 실행할 수 있다는 점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"cursor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로 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gemini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", "cursor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로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gpt-5.5"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처럼 원하는 모델을 지정해 기획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분석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리뷰를 시킬 수 있어 유연함</a:t>
              </a:r>
              <a:endParaRPr lang="en-US" altLang="ko-KR" sz="10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AF532411-15A4-DD7E-0861-C60BFC9071F5}"/>
                </a:ext>
              </a:extLst>
            </p:cNvPr>
            <p:cNvSpPr/>
            <p:nvPr/>
          </p:nvSpPr>
          <p:spPr>
            <a:xfrm>
              <a:off x="4555809" y="5238310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F46DF249-504A-ACA6-A1C4-7EC80CB96F5C}"/>
                </a:ext>
              </a:extLst>
            </p:cNvPr>
            <p:cNvSpPr/>
            <p:nvPr/>
          </p:nvSpPr>
          <p:spPr>
            <a:xfrm>
              <a:off x="5389808" y="5240199"/>
              <a:ext cx="60917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'https://cursor.com/install?win32=true' | 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iex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52" name="Shape 8">
              <a:extLst>
                <a:ext uri="{FF2B5EF4-FFF2-40B4-BE49-F238E27FC236}">
                  <a16:creationId xmlns:a16="http://schemas.microsoft.com/office/drawing/2014/main" id="{B0666B71-B428-3333-EF07-243D1F03D84B}"/>
                </a:ext>
              </a:extLst>
            </p:cNvPr>
            <p:cNvSpPr/>
            <p:nvPr/>
          </p:nvSpPr>
          <p:spPr>
            <a:xfrm>
              <a:off x="4555808" y="5768662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53" name="Text 17">
              <a:extLst>
                <a:ext uri="{FF2B5EF4-FFF2-40B4-BE49-F238E27FC236}">
                  <a16:creationId xmlns:a16="http://schemas.microsoft.com/office/drawing/2014/main" id="{4BE921C6-E274-8998-21D1-31482E3A0E5D}"/>
                </a:ext>
              </a:extLst>
            </p:cNvPr>
            <p:cNvSpPr/>
            <p:nvPr/>
          </p:nvSpPr>
          <p:spPr>
            <a:xfrm>
              <a:off x="5389810" y="5766773"/>
              <a:ext cx="60917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https://cursor.com/install -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fsS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| bash</a:t>
              </a:r>
            </a:p>
          </p:txBody>
        </p:sp>
        <p:sp>
          <p:nvSpPr>
            <p:cNvPr id="54" name="Shape 19">
              <a:extLst>
                <a:ext uri="{FF2B5EF4-FFF2-40B4-BE49-F238E27FC236}">
                  <a16:creationId xmlns:a16="http://schemas.microsoft.com/office/drawing/2014/main" id="{8798CA9B-B8AE-0D54-8931-8FD1AA96065E}"/>
                </a:ext>
              </a:extLst>
            </p:cNvPr>
            <p:cNvSpPr/>
            <p:nvPr/>
          </p:nvSpPr>
          <p:spPr>
            <a:xfrm>
              <a:off x="847492" y="5364115"/>
              <a:ext cx="457200" cy="45720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B58F5F8D-F746-B0EB-6223-ACB7CDFAE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9335" y="5482915"/>
              <a:ext cx="219600" cy="219600"/>
            </a:xfrm>
            <a:prstGeom prst="rect">
              <a:avLst/>
            </a:prstGeom>
          </p:spPr>
        </p:pic>
      </p:grpSp>
      <p:sp>
        <p:nvSpPr>
          <p:cNvPr id="75" name="내용 개체 틀 74">
            <a:extLst>
              <a:ext uri="{FF2B5EF4-FFF2-40B4-BE49-F238E27FC236}">
                <a16:creationId xmlns:a16="http://schemas.microsoft.com/office/drawing/2014/main" id="{575B5C5B-9F1A-8E2C-691B-347F82E2612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워커 </a:t>
            </a:r>
            <a:r>
              <a:rPr lang="en-US" altLang="ko-KR" dirty="0"/>
              <a:t>– CLI </a:t>
            </a:r>
            <a:r>
              <a:rPr lang="ko-KR" altLang="en-US" dirty="0"/>
              <a:t>설치</a:t>
            </a:r>
          </a:p>
        </p:txBody>
      </p:sp>
      <p:sp>
        <p:nvSpPr>
          <p:cNvPr id="76" name="내용 개체 틀 75">
            <a:extLst>
              <a:ext uri="{FF2B5EF4-FFF2-40B4-BE49-F238E27FC236}">
                <a16:creationId xmlns:a16="http://schemas.microsoft.com/office/drawing/2014/main" id="{24702F6D-E89E-A2AD-BBE2-D50BD7B02C9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49"/>
            <a:ext cx="10944225" cy="475307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err="1"/>
              <a:t>Antigraviy</a:t>
            </a:r>
            <a:r>
              <a:rPr lang="ko-KR" altLang="en-US" dirty="0"/>
              <a:t> 는 필수 사항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Codex </a:t>
            </a:r>
            <a:r>
              <a:rPr lang="ko-KR" altLang="en-US" dirty="0"/>
              <a:t>와 </a:t>
            </a:r>
            <a:r>
              <a:rPr lang="en-US" altLang="ko-KR" dirty="0"/>
              <a:t>Cursor</a:t>
            </a:r>
            <a:r>
              <a:rPr lang="ko-KR" altLang="en-US" dirty="0"/>
              <a:t>는 필수 사항이 아닙니다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23F8E7C-7CC2-4499-BF5F-12530CF6416D}"/>
              </a:ext>
            </a:extLst>
          </p:cNvPr>
          <p:cNvGrpSpPr/>
          <p:nvPr/>
        </p:nvGrpSpPr>
        <p:grpSpPr>
          <a:xfrm>
            <a:off x="623888" y="2956728"/>
            <a:ext cx="10944225" cy="1727864"/>
            <a:chOff x="623888" y="1367029"/>
            <a:chExt cx="10944225" cy="1727864"/>
          </a:xfrm>
        </p:grpSpPr>
        <p:sp>
          <p:nvSpPr>
            <p:cNvPr id="36" name="Shape 10">
              <a:extLst>
                <a:ext uri="{FF2B5EF4-FFF2-40B4-BE49-F238E27FC236}">
                  <a16:creationId xmlns:a16="http://schemas.microsoft.com/office/drawing/2014/main" id="{9989639A-6DC9-C557-50D0-2C6760BBE7B6}"/>
                </a:ext>
              </a:extLst>
            </p:cNvPr>
            <p:cNvSpPr/>
            <p:nvPr/>
          </p:nvSpPr>
          <p:spPr>
            <a:xfrm>
              <a:off x="623888" y="1367029"/>
              <a:ext cx="10944225" cy="1727864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12">
              <a:extLst>
                <a:ext uri="{FF2B5EF4-FFF2-40B4-BE49-F238E27FC236}">
                  <a16:creationId xmlns:a16="http://schemas.microsoft.com/office/drawing/2014/main" id="{5BB63F55-C108-9B1A-E5BB-39E66E92E714}"/>
                </a:ext>
              </a:extLst>
            </p:cNvPr>
            <p:cNvSpPr/>
            <p:nvPr/>
          </p:nvSpPr>
          <p:spPr>
            <a:xfrm>
              <a:off x="1446849" y="1549908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Codex CLI </a:t>
              </a:r>
            </a:p>
          </p:txBody>
        </p:sp>
        <p:sp>
          <p:nvSpPr>
            <p:cNvPr id="40" name="Text 13">
              <a:extLst>
                <a:ext uri="{FF2B5EF4-FFF2-40B4-BE49-F238E27FC236}">
                  <a16:creationId xmlns:a16="http://schemas.microsoft.com/office/drawing/2014/main" id="{54E37409-059E-9E32-BA6B-9E9A36E42742}"/>
                </a:ext>
              </a:extLst>
            </p:cNvPr>
            <p:cNvSpPr/>
            <p:nvPr/>
          </p:nvSpPr>
          <p:spPr>
            <a:xfrm>
              <a:off x="1446849" y="1915668"/>
              <a:ext cx="3022360" cy="5854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5000"/>
                </a:lnSpc>
              </a:pP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GPT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계열 코딩 워커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보조 구현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테스트 작성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이미지 생성 등에 활용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</a:t>
              </a:r>
              <a:b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</a:b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정상 경로는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MCP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를 통해 붙고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, ChatGPT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유료 구독 또는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OPENAI_API_KEY(</a:t>
              </a: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종량과금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)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중 하나로 인증</a:t>
              </a:r>
              <a:endParaRPr lang="en-US" altLang="ko-KR" sz="10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6C566630-2762-7746-051C-1FF82C5DCDC7}"/>
                </a:ext>
              </a:extLst>
            </p:cNvPr>
            <p:cNvSpPr/>
            <p:nvPr/>
          </p:nvSpPr>
          <p:spPr>
            <a:xfrm>
              <a:off x="4555809" y="1469372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42" name="Text 15">
              <a:extLst>
                <a:ext uri="{FF2B5EF4-FFF2-40B4-BE49-F238E27FC236}">
                  <a16:creationId xmlns:a16="http://schemas.microsoft.com/office/drawing/2014/main" id="{BC513CDC-6E67-E636-F883-8920A1CFF376}"/>
                </a:ext>
              </a:extLst>
            </p:cNvPr>
            <p:cNvSpPr/>
            <p:nvPr/>
          </p:nvSpPr>
          <p:spPr>
            <a:xfrm>
              <a:off x="5389808" y="1471261"/>
              <a:ext cx="60917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https://chatgpt.com/codex/install.ps1 | 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iex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0B650D36-A8E1-AC0A-BD10-5E9B6597BA5C}"/>
                </a:ext>
              </a:extLst>
            </p:cNvPr>
            <p:cNvSpPr/>
            <p:nvPr/>
          </p:nvSpPr>
          <p:spPr>
            <a:xfrm>
              <a:off x="4555807" y="2571241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44" name="Text 17">
              <a:extLst>
                <a:ext uri="{FF2B5EF4-FFF2-40B4-BE49-F238E27FC236}">
                  <a16:creationId xmlns:a16="http://schemas.microsoft.com/office/drawing/2014/main" id="{C0C27703-2208-4F9E-5CAA-7664F4A7DEE0}"/>
                </a:ext>
              </a:extLst>
            </p:cNvPr>
            <p:cNvSpPr/>
            <p:nvPr/>
          </p:nvSpPr>
          <p:spPr>
            <a:xfrm>
              <a:off x="5389809" y="2569352"/>
              <a:ext cx="60917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-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fsSL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https://chatgpt.com/codex/install.sh | 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sh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endParaRPr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3A42B519-2E44-16F2-CD26-0F56E50EB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7492" y="162082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6" name="Shape 6">
              <a:extLst>
                <a:ext uri="{FF2B5EF4-FFF2-40B4-BE49-F238E27FC236}">
                  <a16:creationId xmlns:a16="http://schemas.microsoft.com/office/drawing/2014/main" id="{1C608174-505C-4C74-9832-DB4504EEEAB6}"/>
                </a:ext>
              </a:extLst>
            </p:cNvPr>
            <p:cNvSpPr/>
            <p:nvPr/>
          </p:nvSpPr>
          <p:spPr>
            <a:xfrm>
              <a:off x="4555807" y="2010209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 </a:t>
              </a:r>
              <a:r>
                <a:rPr lang="ko-KR" altLang="en-US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인스톨 </a:t>
              </a:r>
              <a:r>
                <a:rPr lang="ko-KR" altLang="en-US" sz="1000" dirty="0" err="1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실패시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55" name="Text 15">
              <a:extLst>
                <a:ext uri="{FF2B5EF4-FFF2-40B4-BE49-F238E27FC236}">
                  <a16:creationId xmlns:a16="http://schemas.microsoft.com/office/drawing/2014/main" id="{1542B282-9AE9-4FD6-8D42-195E37C15280}"/>
                </a:ext>
              </a:extLst>
            </p:cNvPr>
            <p:cNvSpPr/>
            <p:nvPr/>
          </p:nvSpPr>
          <p:spPr>
            <a:xfrm>
              <a:off x="6224954" y="2012098"/>
              <a:ext cx="525655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https://chatgpt.com/codex/install.ps1 -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OutFile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"$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env:TEMP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\codex-install.ps1"</a:t>
              </a:r>
            </a:p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powershell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-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ExecutionPolicy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Bypass -File "$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env:TEMP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\codex-install.ps1"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115E009-299D-49A3-87CC-AB7502BC1A90}"/>
              </a:ext>
            </a:extLst>
          </p:cNvPr>
          <p:cNvGrpSpPr/>
          <p:nvPr/>
        </p:nvGrpSpPr>
        <p:grpSpPr>
          <a:xfrm>
            <a:off x="623886" y="1603125"/>
            <a:ext cx="10944225" cy="1178095"/>
            <a:chOff x="623887" y="2618275"/>
            <a:chExt cx="10944225" cy="1178095"/>
          </a:xfrm>
        </p:grpSpPr>
        <p:sp>
          <p:nvSpPr>
            <p:cNvPr id="57" name="Shape 10">
              <a:extLst>
                <a:ext uri="{FF2B5EF4-FFF2-40B4-BE49-F238E27FC236}">
                  <a16:creationId xmlns:a16="http://schemas.microsoft.com/office/drawing/2014/main" id="{6030F223-AD0D-4BFC-BF6A-15EB33D55DDA}"/>
                </a:ext>
              </a:extLst>
            </p:cNvPr>
            <p:cNvSpPr/>
            <p:nvPr/>
          </p:nvSpPr>
          <p:spPr>
            <a:xfrm>
              <a:off x="623887" y="2618275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Shape 11">
              <a:extLst>
                <a:ext uri="{FF2B5EF4-FFF2-40B4-BE49-F238E27FC236}">
                  <a16:creationId xmlns:a16="http://schemas.microsoft.com/office/drawing/2014/main" id="{4CF6CE93-E4A2-4177-A726-387BD7519BC1}"/>
                </a:ext>
              </a:extLst>
            </p:cNvPr>
            <p:cNvSpPr/>
            <p:nvPr/>
          </p:nvSpPr>
          <p:spPr>
            <a:xfrm>
              <a:off x="852488" y="2846875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12">
              <a:extLst>
                <a:ext uri="{FF2B5EF4-FFF2-40B4-BE49-F238E27FC236}">
                  <a16:creationId xmlns:a16="http://schemas.microsoft.com/office/drawing/2014/main" id="{B9F24BD2-9557-4BAE-BE74-75D61EBF0B9C}"/>
                </a:ext>
              </a:extLst>
            </p:cNvPr>
            <p:cNvSpPr/>
            <p:nvPr/>
          </p:nvSpPr>
          <p:spPr>
            <a:xfrm>
              <a:off x="1446848" y="2801155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Antigravity (</a:t>
              </a:r>
              <a:r>
                <a:rPr lang="en-US" sz="1400" dirty="0" err="1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agy</a:t>
              </a:r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)</a:t>
              </a:r>
            </a:p>
          </p:txBody>
        </p:sp>
        <p:sp>
          <p:nvSpPr>
            <p:cNvPr id="60" name="Text 13">
              <a:extLst>
                <a:ext uri="{FF2B5EF4-FFF2-40B4-BE49-F238E27FC236}">
                  <a16:creationId xmlns:a16="http://schemas.microsoft.com/office/drawing/2014/main" id="{4D2C73C8-6647-41AF-A6D1-837F4F09E3B4}"/>
                </a:ext>
              </a:extLst>
            </p:cNvPr>
            <p:cNvSpPr/>
            <p:nvPr/>
          </p:nvSpPr>
          <p:spPr>
            <a:xfrm>
              <a:off x="1446847" y="3166915"/>
              <a:ext cx="3022362" cy="541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5000"/>
                </a:lnSpc>
              </a:pP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Gemini </a:t>
              </a: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백엔드를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쓰는 워커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. </a:t>
              </a:r>
              <a:b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강점은 대용량 문서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이미지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멀티모달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처리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및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넓은 컨텍스트에 유리 </a:t>
              </a:r>
              <a:endParaRPr lang="en-US" altLang="ko-KR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>
                <a:lnSpc>
                  <a:spcPct val="105000"/>
                </a:lnSpc>
              </a:pP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agy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→ OAuth 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로그인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무료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=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주간쿼터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</a:t>
              </a:r>
              <a:endPara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61" name="Shape 6">
              <a:extLst>
                <a:ext uri="{FF2B5EF4-FFF2-40B4-BE49-F238E27FC236}">
                  <a16:creationId xmlns:a16="http://schemas.microsoft.com/office/drawing/2014/main" id="{62363D7F-D649-4DF6-8134-A55F0D25FE84}"/>
                </a:ext>
              </a:extLst>
            </p:cNvPr>
            <p:cNvSpPr/>
            <p:nvPr/>
          </p:nvSpPr>
          <p:spPr>
            <a:xfrm>
              <a:off x="4555808" y="2720619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62" name="Text 15">
              <a:extLst>
                <a:ext uri="{FF2B5EF4-FFF2-40B4-BE49-F238E27FC236}">
                  <a16:creationId xmlns:a16="http://schemas.microsoft.com/office/drawing/2014/main" id="{9597193E-6DD7-470C-8DC7-1EF34C4C0629}"/>
                </a:ext>
              </a:extLst>
            </p:cNvPr>
            <p:cNvSpPr/>
            <p:nvPr/>
          </p:nvSpPr>
          <p:spPr>
            <a:xfrm>
              <a:off x="5389807" y="2722508"/>
              <a:ext cx="60917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https://antigravity.google/cli/install.ps1 | iex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63" name="Shape 8">
              <a:extLst>
                <a:ext uri="{FF2B5EF4-FFF2-40B4-BE49-F238E27FC236}">
                  <a16:creationId xmlns:a16="http://schemas.microsoft.com/office/drawing/2014/main" id="{9CC66F42-904F-4486-90BE-28DE1D499CBB}"/>
                </a:ext>
              </a:extLst>
            </p:cNvPr>
            <p:cNvSpPr/>
            <p:nvPr/>
          </p:nvSpPr>
          <p:spPr>
            <a:xfrm>
              <a:off x="4555807" y="3250971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64" name="Text 17">
              <a:extLst>
                <a:ext uri="{FF2B5EF4-FFF2-40B4-BE49-F238E27FC236}">
                  <a16:creationId xmlns:a16="http://schemas.microsoft.com/office/drawing/2014/main" id="{33C5060E-DDDD-4435-92C7-43C18A057842}"/>
                </a:ext>
              </a:extLst>
            </p:cNvPr>
            <p:cNvSpPr/>
            <p:nvPr/>
          </p:nvSpPr>
          <p:spPr>
            <a:xfrm>
              <a:off x="5389809" y="3249082"/>
              <a:ext cx="60917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-fsSL https://antigravity.google/cli/install.sh | bash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pic>
          <p:nvPicPr>
            <p:cNvPr id="65" name="그래픽 64">
              <a:extLst>
                <a:ext uri="{FF2B5EF4-FFF2-40B4-BE49-F238E27FC236}">
                  <a16:creationId xmlns:a16="http://schemas.microsoft.com/office/drawing/2014/main" id="{7B8B9F43-E328-49D6-8E57-B77B69DA5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6352" y="2965675"/>
              <a:ext cx="219600" cy="219600"/>
            </a:xfrm>
            <a:prstGeom prst="rect">
              <a:avLst/>
            </a:prstGeom>
          </p:spPr>
        </p:pic>
      </p:grpSp>
      <p:sp>
        <p:nvSpPr>
          <p:cNvPr id="67" name="내용 개체 틀 75">
            <a:extLst>
              <a:ext uri="{FF2B5EF4-FFF2-40B4-BE49-F238E27FC236}">
                <a16:creationId xmlns:a16="http://schemas.microsoft.com/office/drawing/2014/main" id="{71D69495-7289-4123-9959-654D879A1730}"/>
              </a:ext>
            </a:extLst>
          </p:cNvPr>
          <p:cNvSpPr txBox="1">
            <a:spLocks/>
          </p:cNvSpPr>
          <p:nvPr/>
        </p:nvSpPr>
        <p:spPr>
          <a:xfrm>
            <a:off x="623886" y="4234896"/>
            <a:ext cx="10944225" cy="4589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300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ED8FB5DE-78EE-1305-0BC2-F0B191F8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EF063581-8DA5-FA9B-5B42-2881243D5C6C}"/>
              </a:ext>
            </a:extLst>
          </p:cNvPr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F0396184-A4A8-09B4-19EE-98EAA47DD985}"/>
              </a:ext>
            </a:extLst>
          </p:cNvPr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DBE483A1-3714-C965-EBE3-B9734E9B8731}"/>
              </a:ext>
            </a:extLst>
          </p:cNvPr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13218B43-8A02-51D8-70E3-8A6B6A41FA3D}"/>
              </a:ext>
            </a:extLst>
          </p:cNvPr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3B49D09B-ECDA-6AA7-A146-71C6D1826475}"/>
              </a:ext>
            </a:extLst>
          </p:cNvPr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9427F2A7-427F-92A6-C6D1-7C33E37F9BEE}"/>
              </a:ext>
            </a:extLst>
          </p:cNvPr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Malgun Gothic"/>
              <a:buNone/>
            </a:pPr>
            <a:r>
              <a:rPr lang="ko-KR" alt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클로드 </a:t>
            </a:r>
            <a:r>
              <a:rPr 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및 세팅 가이드</a:t>
            </a:r>
            <a:endParaRPr sz="4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BCF07BCF-FAFA-CD5C-AA03-6CFCA55B601F}"/>
              </a:ext>
            </a:extLst>
          </p:cNvPr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C49415F8-792A-E882-493B-9E88FA1942CD}"/>
              </a:ext>
            </a:extLst>
          </p:cNvPr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3E17029F-AF26-6312-D4C4-B4221D6E4B1F}"/>
              </a:ext>
            </a:extLst>
          </p:cNvPr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3CEB636A-3863-BCB7-9A86-6B40535CCB8C}"/>
              </a:ext>
            </a:extLst>
          </p:cNvPr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540EC4E7-7828-61B5-F88E-325557F47622}"/>
              </a:ext>
            </a:extLst>
          </p:cNvPr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704074CD-A6DF-6609-E63E-881A5571A467}"/>
              </a:ext>
            </a:extLst>
          </p:cNvPr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CEF12B9A-26C2-B954-FD3B-E1793257BFE3}"/>
              </a:ext>
            </a:extLst>
          </p:cNvPr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D6FD9AF1-6FB5-E3A0-5B17-87492BEB9B97}"/>
              </a:ext>
            </a:extLst>
          </p:cNvPr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>
            <a:extLst>
              <a:ext uri="{FF2B5EF4-FFF2-40B4-BE49-F238E27FC236}">
                <a16:creationId xmlns:a16="http://schemas.microsoft.com/office/drawing/2014/main" id="{F76EF038-9B06-86EA-B969-7B3A68779B8F}"/>
              </a:ext>
            </a:extLst>
          </p:cNvPr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>
            <a:extLst>
              <a:ext uri="{FF2B5EF4-FFF2-40B4-BE49-F238E27FC236}">
                <a16:creationId xmlns:a16="http://schemas.microsoft.com/office/drawing/2014/main" id="{FED2E46C-0EFA-4E72-D4D6-B559ABD821A6}"/>
              </a:ext>
            </a:extLst>
          </p:cNvPr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>
            <a:extLst>
              <a:ext uri="{FF2B5EF4-FFF2-40B4-BE49-F238E27FC236}">
                <a16:creationId xmlns:a16="http://schemas.microsoft.com/office/drawing/2014/main" id="{C3F49E45-52BE-2245-E041-E0D3EE1CC9EE}"/>
              </a:ext>
            </a:extLst>
          </p:cNvPr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>
            <a:extLst>
              <a:ext uri="{FF2B5EF4-FFF2-40B4-BE49-F238E27FC236}">
                <a16:creationId xmlns:a16="http://schemas.microsoft.com/office/drawing/2014/main" id="{FC44A538-63AF-C76F-4199-208B736A8272}"/>
              </a:ext>
            </a:extLst>
          </p:cNvPr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>
            <a:extLst>
              <a:ext uri="{FF2B5EF4-FFF2-40B4-BE49-F238E27FC236}">
                <a16:creationId xmlns:a16="http://schemas.microsoft.com/office/drawing/2014/main" id="{D0A92C18-5B6F-2D89-9D12-B9DC31CB2EFE}"/>
              </a:ext>
            </a:extLst>
          </p:cNvPr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>
            <a:extLst>
              <a:ext uri="{FF2B5EF4-FFF2-40B4-BE49-F238E27FC236}">
                <a16:creationId xmlns:a16="http://schemas.microsoft.com/office/drawing/2014/main" id="{DF3BF159-DBD1-0C28-58F0-8642684245E1}"/>
              </a:ext>
            </a:extLst>
          </p:cNvPr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844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502920" y="3840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시작하기 전에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 여는 방법부터 확인하세요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21208" y="11430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가이드의 모든 명령어는 “터미널”이라는 검은 입력 창에 입력합니다. 내 환경에 맞는 방법으로 터미널을 열어 두세요.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" y="1828800"/>
            <a:ext cx="3639312" cy="301752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77240" y="21031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256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777240" y="278892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77240" y="3200400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 메뉴에서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PowerShell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을 검색해 실행합니다.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또는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윈도우 키 + R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“powershell” 입력 → Enter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288536" y="1828800"/>
            <a:ext cx="3639312" cy="301752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62856" y="21031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" name="Google Shape;5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0872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4562856" y="278892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macOS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62856" y="3200400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⌘ + Space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로 Spotlight를 열고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을 검색해 실행합니다.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074152" y="1828800"/>
            <a:ext cx="3639312" cy="301752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348472" y="21031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6488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8348472" y="278892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안에서 (권장)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348472" y="3200400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하단의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 탭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을 클릭합니다.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단축키: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Alt + F12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(macOS: ⌥ + F12)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폴더에서 바로 열려 편리합니다.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2920" y="5166360"/>
            <a:ext cx="11183112" cy="1097280"/>
          </a:xfrm>
          <a:prstGeom prst="roundRect">
            <a:avLst>
              <a:gd name="adj" fmla="val 7500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77240" y="5166360"/>
            <a:ext cx="106070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복사 · 붙여넣기만 하면 됩니다   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가이드의 명령어를 드래그해 복사(Ctrl+C)한 뒤 터미널에 붙여넣고 Enter를 누르세요.  붙여넣기: Windows PowerShell은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마우스 우클릭</a:t>
            </a: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또는 Ctrl+V,  macOS는 ⌘+V 입니다.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502920" y="3840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흐름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여섯 단계만 따라 하면 끝납니다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21208" y="11430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단계마다 “어떻게 하는지”와 “어떤 화면이 나오면 성공인지”를 함께 안내합니다.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2920" y="17830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77240" y="205740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256" y="21854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3337560" y="202082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77240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77240" y="3136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터미널에 설치 명령어를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붙여넣고 Enter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315968" y="17830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590288" y="205740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8304" y="21854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7150608" y="202082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90288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· 로그인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90288" y="3136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입력 → 화면에서 1번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→ 브라우저에서 로그인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129016" y="17830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403336" y="205740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31352" y="21854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10963656" y="202082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403336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403336" y="3136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플러그인 설치 후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아이콘으로 실행 확인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2920" y="4114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240" y="438912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5256" y="4517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3337560" y="435254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77240" y="50749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77240" y="54681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세팅 파일 압축 해제 후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한 줄 입력하면 자동 진행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315968" y="4114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90288" y="438912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18304" y="4517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7150608" y="435254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90288" y="50749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90288" y="54681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 목록이 표로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출력되는지 확인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129016" y="4114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403336" y="438912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31352" y="4517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10963656" y="435254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403336" y="50749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403336" y="54681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프롬프트를 입력해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동작을 최종 확인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환경에 맞는 카드 하나를 골라, 명령어를 통째로 복사해 터미널에 붙여넣고 Enter를 누르세요.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02920" y="1874520"/>
            <a:ext cx="3639312" cy="361188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77240" y="213055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macOS · Linux · WSL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77240" y="2532888"/>
            <a:ext cx="309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Mac이나 Linux를 쓴다면 이 명령어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77240" y="3246120"/>
            <a:ext cx="3090672" cy="192024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>
            <a:noFill/>
          </a:ln>
          <a:effectLst>
            <a:outerShdw blurRad="127000" dist="25400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978408" y="3429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179576" y="3429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380744" y="3429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1033272" y="3630168"/>
            <a:ext cx="257860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15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curl -fsSL https://claude.ai/install.sh | bash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288536" y="1874520"/>
            <a:ext cx="3639312" cy="361188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562856" y="213055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 PowerShell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62856" y="2532888"/>
            <a:ext cx="309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Windows라면 이 명령어 (권장)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62856" y="3246120"/>
            <a:ext cx="3090672" cy="192024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>
            <a:noFill/>
          </a:ln>
          <a:effectLst>
            <a:outerShdw blurRad="127000" dist="25400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764024" y="3429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965192" y="3429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166360" y="3429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818888" y="3630168"/>
            <a:ext cx="257860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PS&gt; </a:t>
            </a:r>
            <a:r>
              <a:rPr lang="en-US" sz="115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irm https://claude.ai/install.ps1 | iex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074152" y="1874520"/>
            <a:ext cx="3639312" cy="361188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8348472" y="213055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 CMD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348472" y="2532888"/>
            <a:ext cx="309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 프롬프트(cmd)를 쓸 때만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348472" y="3246120"/>
            <a:ext cx="3090672" cy="192024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>
            <a:noFill/>
          </a:ln>
          <a:effectLst>
            <a:outerShdw blurRad="127000" dist="25400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549640" y="3429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750808" y="3429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951976" y="3429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604504" y="3630168"/>
            <a:ext cx="257860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115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curl -fsSL https://claude.ai/install.cmd -o install.cmd &amp;&amp; install.cmd &amp;&amp; del install.cmd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02920" y="57150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59756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1069848" y="5715000"/>
            <a:ext cx="104333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설치가 끝나면 터미널을 완전히 닫았다가 새로 연 뒤  </a:t>
            </a:r>
            <a:r>
              <a:rPr lang="en-US" sz="1150" b="1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claude --version</a:t>
            </a: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을 입력해 보세요. 버전 번호(예: 2.1.207)가 나오면 성공입니다. “명령을 찾을 수 없음”이 나오면 터미널을 다시 열어 재시도하세요.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68;p7">
            <a:extLst>
              <a:ext uri="{FF2B5EF4-FFF2-40B4-BE49-F238E27FC236}">
                <a16:creationId xmlns:a16="http://schemas.microsoft.com/office/drawing/2014/main" id="{ADB20C1E-1268-4E68-8314-81AB133A87CB}"/>
              </a:ext>
            </a:extLst>
          </p:cNvPr>
          <p:cNvSpPr/>
          <p:nvPr/>
        </p:nvSpPr>
        <p:spPr>
          <a:xfrm>
            <a:off x="6089904" y="4605626"/>
            <a:ext cx="5650992" cy="1157756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실행하기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설치가 끝났다면 이제 실행해 봅니다. 터미널에 딱 한 단어만 입력하면 됩니다.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2920" y="18288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02920" y="1828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78408" y="1837944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폴더로 이동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78408" y="2157984"/>
            <a:ext cx="4736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하단 터미널을 쓰면 이미 프로젝트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폴더라서 이 단계는 건너뛰어도 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터미널이라면 cd 폴더경로 로 이동하세요.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02920" y="29718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02920" y="2971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78408" y="2980944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입력 후 Enter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978408" y="3300984"/>
            <a:ext cx="47365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소문자로 claude 라고만 입력하면 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0" y="36576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02920" y="3657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78408" y="3666744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잠시</a:t>
            </a:r>
            <a:r>
              <a:rPr lang="en-US" sz="135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35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기다리기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78408" y="3986784"/>
            <a:ext cx="47365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몇 초 뒤 </a:t>
            </a: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오른쪽과</a:t>
            </a: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</a:t>
            </a: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환영</a:t>
            </a: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화면이</a:t>
            </a: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나타나고</a:t>
            </a: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</a:t>
            </a: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실행이라면</a:t>
            </a: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화면으로</a:t>
            </a:r>
            <a:r>
              <a:rPr lang="en-US" sz="115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이어집니다</a:t>
            </a:r>
            <a:r>
              <a:rPr lang="en-US" sz="1150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</p:txBody>
      </p:sp>
      <p:sp>
        <p:nvSpPr>
          <p:cNvPr id="160" name="Google Shape;160;p7"/>
          <p:cNvSpPr/>
          <p:nvPr/>
        </p:nvSpPr>
        <p:spPr>
          <a:xfrm>
            <a:off x="427419" y="5549485"/>
            <a:ext cx="5212080" cy="956177"/>
          </a:xfrm>
          <a:prstGeom prst="roundRect">
            <a:avLst>
              <a:gd name="adj" fmla="val 5333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96" y="584767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994347" y="5549485"/>
            <a:ext cx="4462272" cy="95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배너와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버전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정보가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보이면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실행된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것입니다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종료하고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싶을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땐  </a:t>
            </a:r>
            <a:r>
              <a:rPr lang="en-US" sz="1150" b="1" i="0" u="none" strike="noStrike" cap="none" dirty="0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/exit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를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입력하거나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Ctrl+C를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두 번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누르면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 b="0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됩니다</a:t>
            </a:r>
            <a:r>
              <a:rPr lang="en-US" sz="1150" b="0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12648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400"/>
              <a:buFont typeface="Malgun Gothic"/>
              <a:buNone/>
            </a:pPr>
            <a:r>
              <a:rPr lang="en-US" sz="14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실행하면 이런 화면이 나옵니다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126480" y="22128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터미널에 claude 를 입력한 모습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080760" y="2496312"/>
            <a:ext cx="5650992" cy="402857"/>
          </a:xfrm>
          <a:prstGeom prst="roundRect">
            <a:avLst>
              <a:gd name="adj" fmla="val 15889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7" descr="shots/run_promp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6480" y="2542032"/>
            <a:ext cx="5559552" cy="31141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6089904" y="3092707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Enter를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누르면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잠시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후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환영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화면이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표시됩니다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080760" y="3434589"/>
            <a:ext cx="5650992" cy="1157756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7" descr="shots/run_bann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6480" y="3480309"/>
            <a:ext cx="5559552" cy="10663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6080760" y="5914322"/>
            <a:ext cx="5559552" cy="61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화면의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버전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표기는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시점에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다를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 </a:t>
            </a:r>
            <a:r>
              <a:rPr lang="en-US" sz="1100" b="0" i="0" u="none" strike="noStrike" cap="none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있습니다</a:t>
            </a:r>
            <a:r>
              <a:rPr lang="en-US" sz="1100" b="0" i="0" u="none" strike="noStrike" cap="none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</a:t>
            </a:r>
            <a:r>
              <a:rPr lang="en-US" sz="110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실행이라면</a:t>
            </a:r>
            <a:r>
              <a:rPr lang="en-US" sz="110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곧바로</a:t>
            </a:r>
            <a:r>
              <a:rPr lang="en-US" sz="110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r>
              <a:rPr lang="en-US" sz="110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r>
              <a:rPr lang="en-US" sz="110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화면이</a:t>
            </a:r>
            <a:r>
              <a:rPr lang="en-US" sz="110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이어집니다</a:t>
            </a:r>
            <a:r>
              <a:rPr lang="en-US" sz="110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</a:t>
            </a:r>
            <a:r>
              <a:rPr lang="en-US" sz="110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페이지에서</a:t>
            </a:r>
            <a:r>
              <a:rPr lang="en-US" sz="110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계속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588862-8D3D-4FA7-9CB4-509A4A0B0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4" y="4684826"/>
            <a:ext cx="5559552" cy="1027658"/>
          </a:xfrm>
          <a:prstGeom prst="rect">
            <a:avLst/>
          </a:prstGeom>
        </p:spPr>
      </p:pic>
      <p:sp>
        <p:nvSpPr>
          <p:cNvPr id="34" name="Google Shape;156;p7">
            <a:extLst>
              <a:ext uri="{FF2B5EF4-FFF2-40B4-BE49-F238E27FC236}">
                <a16:creationId xmlns:a16="http://schemas.microsoft.com/office/drawing/2014/main" id="{2B52F664-AECB-481A-96E7-802566E4DD3D}"/>
              </a:ext>
            </a:extLst>
          </p:cNvPr>
          <p:cNvSpPr/>
          <p:nvPr/>
        </p:nvSpPr>
        <p:spPr>
          <a:xfrm>
            <a:off x="502920" y="4613777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4</a:t>
            </a:r>
            <a:endParaRPr dirty="0"/>
          </a:p>
        </p:txBody>
      </p:sp>
      <p:sp>
        <p:nvSpPr>
          <p:cNvPr id="35" name="Google Shape;158;p7">
            <a:extLst>
              <a:ext uri="{FF2B5EF4-FFF2-40B4-BE49-F238E27FC236}">
                <a16:creationId xmlns:a16="http://schemas.microsoft.com/office/drawing/2014/main" id="{9D5DDCE0-233C-4D79-B4E6-98D19A8CBB36}"/>
              </a:ext>
            </a:extLst>
          </p:cNvPr>
          <p:cNvSpPr/>
          <p:nvPr/>
        </p:nvSpPr>
        <p:spPr>
          <a:xfrm>
            <a:off x="978408" y="4622921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altLang="ko-KR" sz="135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Codex </a:t>
            </a:r>
            <a:r>
              <a:rPr lang="ko-KR" altLang="en-US" sz="1350" b="1" i="0" u="none" strike="noStrike" cap="none" dirty="0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프롬프트</a:t>
            </a:r>
            <a:endParaRPr lang="ko-KR" altLang="en-US"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59;p7">
            <a:extLst>
              <a:ext uri="{FF2B5EF4-FFF2-40B4-BE49-F238E27FC236}">
                <a16:creationId xmlns:a16="http://schemas.microsoft.com/office/drawing/2014/main" id="{7F40E03D-32A9-4FE8-814B-AC0A27AFFB76}"/>
              </a:ext>
            </a:extLst>
          </p:cNvPr>
          <p:cNvSpPr/>
          <p:nvPr/>
        </p:nvSpPr>
        <p:spPr>
          <a:xfrm>
            <a:off x="978408" y="4942961"/>
            <a:ext cx="4736592" cy="46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가이드에서는 </a:t>
            </a:r>
            <a:r>
              <a:rPr lang="en-US" sz="1150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Codex </a:t>
            </a: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사용하지 않기때문에</a:t>
            </a:r>
            <a:endParaRPr lang="en-US" altLang="ko-KR" sz="1150" dirty="0">
              <a:solidFill>
                <a:srgbClr val="7A746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150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번을 선택 </a:t>
            </a:r>
            <a:r>
              <a:rPr lang="ko-KR" altLang="en-US" sz="1150" dirty="0" err="1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하시면됩니다</a:t>
            </a:r>
            <a:r>
              <a:rPr lang="en-US" altLang="ko-KR" sz="1150" dirty="0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en-US" sz="1150" dirty="0">
              <a:solidFill>
                <a:srgbClr val="7A746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화면 — 1번을 선택하세요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 실행하면 자동으로 나타나는 화면입니다. 마우스는 쓰지 않고 키보드로만 조작합니다.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45236" y="1965960"/>
            <a:ext cx="10698480" cy="2397318"/>
          </a:xfrm>
          <a:prstGeom prst="roundRect">
            <a:avLst>
              <a:gd name="adj" fmla="val 2670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8" descr="shots/login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956" y="2011680"/>
            <a:ext cx="10607040" cy="230587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502920" y="470916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731520" y="4937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731520" y="4937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216152" y="494690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확인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31520" y="539496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“Select login method” 라는 선택 화면이 보입니다. 세 가지 로그인 방법 중 하나를 고르는 단계입니다.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288536" y="470916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517136" y="4937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517136" y="4937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001768" y="494690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키보드 ↑ ↓ 로 이동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17136" y="539496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방향키로 항목을 이동할 수 있습니다. </a:t>
            </a:r>
            <a:r>
              <a:rPr lang="en-US" sz="11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❯ 표시가 1번에 있는지</a:t>
            </a: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확인하세요. (기본으로 1번에 있습니다)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074152" y="470916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302752" y="4937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302752" y="4937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787384" y="494690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 로 선택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302752" y="539496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050"/>
              <a:buFont typeface="Courier New"/>
              <a:buNone/>
            </a:pPr>
            <a:r>
              <a:rPr lang="en-US" sz="1050" b="1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1. Claude account with subscription</a:t>
            </a: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에서 Enter를 누릅니다. 우리 팀은 항상 1번만 사용합니다.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브라우저에서 로그인 완료하기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1번을 선택하면 브라우저가 자동으로 열립니다. 실제 화면과 함께 순서대로 진행해 보세요.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978408" y="1792224"/>
            <a:ext cx="31363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브라우저에서 [승인] 클릭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978408" y="212140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 요청 화면이 뜨면 팀 계정으로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로그인한 뒤 승인 버튼을 누릅니다.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120140" y="2834640"/>
            <a:ext cx="2377440" cy="2836957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1" name="Google Shape;211;p9" descr="shots/login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5860" y="2880360"/>
            <a:ext cx="2286000" cy="274551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429768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29768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773168" y="1792224"/>
            <a:ext cx="31363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화면이 뜨면 창 닫기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773168" y="212140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“Claude Code 설정이 완료되었습니다”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보이면 브라우저는 닫아도 됩니다.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0" y="2834640"/>
            <a:ext cx="3063240" cy="2374463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9" descr="shots/login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7720" y="2880360"/>
            <a:ext cx="2971800" cy="228302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809244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809244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567928" y="1792224"/>
            <a:ext cx="31181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터미널로 돌아와 Enter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567928" y="2121408"/>
            <a:ext cx="311810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Logged in as 회사계정 · Login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successful 확인 후 Enter를 누릅니다.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083296" y="2834640"/>
            <a:ext cx="3611880" cy="869829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3" name="Google Shape;223;p9" descr="shots/login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9016" y="2880360"/>
            <a:ext cx="3520440" cy="77838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502920" y="5897880"/>
            <a:ext cx="11183112" cy="548640"/>
          </a:xfrm>
          <a:prstGeom prst="roundRect">
            <a:avLst>
              <a:gd name="adj" fmla="val 13333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088" y="6044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1069848" y="5897880"/>
            <a:ext cx="104333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번 로그인하면 자격 증명이 저장되어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다시 로그인할 필요가 없습니다.</a:t>
            </a: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다음부터는 claude 만 입력하면 바로 시작됩니다.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막히면?  </a:t>
            </a: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브라우저가 안 열리면 터미널에 표시된 URL을 (c 키로 복사해) 주소창에 붙여넣으세요. 잘못 선택했다면 Esc를 누른 뒤 </a:t>
            </a:r>
            <a:r>
              <a:rPr lang="en-US" sz="1100" b="1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/login</a:t>
            </a: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으로 언제든 다시 시작할 수 있습니다.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 — 플러그인 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창 열기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78408" y="211226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메뉴에서 File → Settings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(macOS: IntelliJ IDEA → Settings)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02920" y="2651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978408" y="266090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Plugins 에서 검색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978408" y="298094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왼쪽 목록에서 “플러그인”을 누르고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검색창에 claude code 입력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02920" y="352044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02920" y="3520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978408" y="352958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후 재시작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78408" y="384962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PBC가 만든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[Beta] 의 “설치”를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누르고 IDE를 재시작합니다.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02920" y="47091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51755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/>
          <p:nvPr/>
        </p:nvSpPr>
        <p:spPr>
          <a:xfrm>
            <a:off x="1069848" y="4709160"/>
            <a:ext cx="2816352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비슷한 이름의 플러그인이 많습니다. 제작사가 </a:t>
            </a:r>
            <a:r>
              <a:rPr lang="en-US" sz="115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PBC</a:t>
            </a: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인 것을 설치하세요.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434840" y="1554480"/>
            <a:ext cx="6765816" cy="493776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10" descr="shots/intellij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0560" y="1600200"/>
            <a:ext cx="6674376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 — 실행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아이콘 클릭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978408" y="211226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재시작 후 IDE 화면 상단(우측)에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생긴 Claude 아이콘을 누릅니다.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02920" y="2651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978408" y="266090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 탭 자동 실행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78408" y="298094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하단에 Claude Code 탭이 열리고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자동으로 실행됩니다. 앞에서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로그인했다면 바로 사용 가능합니다.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02920" y="38404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0" name="Google Shape;27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42839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1069848" y="3840480"/>
            <a:ext cx="281635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오른쪽처럼 Claude Code 배너와 입력창이 보이면 연동 완료입니다. 이후 작업은 모두 이 창에서 진행합니다.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160520" y="1554480"/>
            <a:ext cx="7554044" cy="493776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3" name="Google Shape;273;p11" descr="shots/intellij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6240" y="1600200"/>
            <a:ext cx="7462604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C6D29E2D-7501-A672-3353-301E5278F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9857F58E-7FBD-122E-8247-6113EE450FE1}"/>
              </a:ext>
            </a:extLst>
          </p:cNvPr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6985B587-9C2B-B685-E3B1-4106B691CB40}"/>
              </a:ext>
            </a:extLst>
          </p:cNvPr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27BC7415-504D-9AC2-E9A7-5D687F8DA0D7}"/>
              </a:ext>
            </a:extLst>
          </p:cNvPr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17C65AFD-FFA5-1CB9-14F5-2A1D8690F492}"/>
              </a:ext>
            </a:extLst>
          </p:cNvPr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4D34FBB6-AF77-14FE-79BB-ADD5B48D98C9}"/>
              </a:ext>
            </a:extLst>
          </p:cNvPr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663911F3-DE5F-C518-BD3D-19DFD77535CF}"/>
              </a:ext>
            </a:extLst>
          </p:cNvPr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R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Multi-agent-starter (</a:t>
            </a:r>
            <a:r>
              <a:rPr lang="ko-KR" altLang="en-US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스타터</a:t>
            </a:r>
            <a:r>
              <a:rPr lang="en-US" altLang="ko-KR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설치</a:t>
            </a:r>
            <a:endParaRPr lang="en-US" altLang="ko-KR" sz="48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en-US" altLang="ko-KR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Multi-agent</a:t>
            </a:r>
            <a:r>
              <a:rPr lang="ko-KR" altLang="en-US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System </a:t>
            </a:r>
            <a:r>
              <a:rPr lang="ko-KR" altLang="en-US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구성</a:t>
            </a:r>
            <a:endParaRPr lang="en-US" altLang="ko-KR" sz="4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D1909742-2010-3566-D9C4-8FE510BD99FB}"/>
              </a:ext>
            </a:extLst>
          </p:cNvPr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9CC070EE-8DCB-8288-0A8F-56A78E892461}"/>
              </a:ext>
            </a:extLst>
          </p:cNvPr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02D43642-0EBE-ED7E-D441-B3C0C283199B}"/>
              </a:ext>
            </a:extLst>
          </p:cNvPr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C90A3BBC-5B32-C4A8-3239-0E8BF040992E}"/>
              </a:ext>
            </a:extLst>
          </p:cNvPr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3903D50D-4B8B-A439-9458-8388B25DF98D}"/>
              </a:ext>
            </a:extLst>
          </p:cNvPr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1F856ABF-C7CB-E5C7-3820-B1146227E6F7}"/>
              </a:ext>
            </a:extLst>
          </p:cNvPr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84D0B0AC-DB58-F0D8-3C01-DD3C79B3CE7B}"/>
              </a:ext>
            </a:extLst>
          </p:cNvPr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837AA453-DBA0-C98C-B5E0-563717F36F8E}"/>
              </a:ext>
            </a:extLst>
          </p:cNvPr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>
            <a:extLst>
              <a:ext uri="{FF2B5EF4-FFF2-40B4-BE49-F238E27FC236}">
                <a16:creationId xmlns:a16="http://schemas.microsoft.com/office/drawing/2014/main" id="{41BEB656-526F-240F-3D18-7C9482AB7FB8}"/>
              </a:ext>
            </a:extLst>
          </p:cNvPr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>
            <a:extLst>
              <a:ext uri="{FF2B5EF4-FFF2-40B4-BE49-F238E27FC236}">
                <a16:creationId xmlns:a16="http://schemas.microsoft.com/office/drawing/2014/main" id="{BA0CDC59-052A-B494-AC26-3CC92DD3F6B0}"/>
              </a:ext>
            </a:extLst>
          </p:cNvPr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>
            <a:extLst>
              <a:ext uri="{FF2B5EF4-FFF2-40B4-BE49-F238E27FC236}">
                <a16:creationId xmlns:a16="http://schemas.microsoft.com/office/drawing/2014/main" id="{AA000127-387C-8F1B-4B6C-94377CE89EF2}"/>
              </a:ext>
            </a:extLst>
          </p:cNvPr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>
            <a:extLst>
              <a:ext uri="{FF2B5EF4-FFF2-40B4-BE49-F238E27FC236}">
                <a16:creationId xmlns:a16="http://schemas.microsoft.com/office/drawing/2014/main" id="{71CE2E44-719C-628A-7B5A-0B2C5EDB07CF}"/>
              </a:ext>
            </a:extLst>
          </p:cNvPr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>
            <a:extLst>
              <a:ext uri="{FF2B5EF4-FFF2-40B4-BE49-F238E27FC236}">
                <a16:creationId xmlns:a16="http://schemas.microsoft.com/office/drawing/2014/main" id="{9EF824D5-AA73-7ADE-D858-860A7D2FA939}"/>
              </a:ext>
            </a:extLst>
          </p:cNvPr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>
            <a:extLst>
              <a:ext uri="{FF2B5EF4-FFF2-40B4-BE49-F238E27FC236}">
                <a16:creationId xmlns:a16="http://schemas.microsoft.com/office/drawing/2014/main" id="{2A93A782-8EB6-B009-9B13-F8945CC1DA4E}"/>
              </a:ext>
            </a:extLst>
          </p:cNvPr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1313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0" y="1323436"/>
            <a:ext cx="8155857" cy="45872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2717319" y="2319450"/>
            <a:ext cx="1354347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3945DB-322F-46D4-8E80-BCC440728498}"/>
              </a:ext>
            </a:extLst>
          </p:cNvPr>
          <p:cNvSpPr/>
          <p:nvPr/>
        </p:nvSpPr>
        <p:spPr>
          <a:xfrm>
            <a:off x="3480758" y="2612308"/>
            <a:ext cx="677174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2511300" y="2096691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D53630B-8EF9-4BE3-A13E-B33C6A457904}"/>
              </a:ext>
            </a:extLst>
          </p:cNvPr>
          <p:cNvSpPr>
            <a:spLocks noChangeAspect="1"/>
          </p:cNvSpPr>
          <p:nvPr/>
        </p:nvSpPr>
        <p:spPr>
          <a:xfrm>
            <a:off x="4093724" y="2427280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554F44C-D06A-4250-AD97-FFF2CF5DD56C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9DDFE01A-C5E9-41F7-9251-068B289EF5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449263"/>
            <a:ext cx="10944225" cy="458787"/>
          </a:xfrm>
        </p:spPr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①②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49365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FAC2-BAEA-DD7D-8CDC-FEC494C5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3B4F3B03-9935-031D-0CD5-56F21B1873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①②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22F264-C93E-2C56-C5E8-A40ACDCB7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532" y="714819"/>
            <a:ext cx="8304764" cy="5949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9BD151-0577-4597-B2C9-9CB1A230AA6F}"/>
              </a:ext>
            </a:extLst>
          </p:cNvPr>
          <p:cNvSpPr txBox="1"/>
          <p:nvPr/>
        </p:nvSpPr>
        <p:spPr>
          <a:xfrm>
            <a:off x="209360" y="714819"/>
            <a:ext cx="276548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14</a:t>
            </a:r>
            <a:r>
              <a:rPr lang="ko-KR" altLang="en-US"/>
              <a:t>페이지 </a:t>
            </a:r>
            <a:r>
              <a:rPr lang="en-US" altLang="ko-KR"/>
              <a:t>1</a:t>
            </a:r>
            <a:r>
              <a:rPr lang="ko-KR" altLang="en-US"/>
              <a:t>번 마크에서 폴더를 만들고 작업하는것은</a:t>
            </a:r>
            <a:r>
              <a:rPr lang="en-US" altLang="ko-KR"/>
              <a:t>. </a:t>
            </a:r>
            <a:r>
              <a:rPr lang="ko-KR" altLang="en-US"/>
              <a:t>예제를 위한것이고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실무에서는 다음과 같이 </a:t>
            </a:r>
            <a:endParaRPr lang="en-US" altLang="ko-KR"/>
          </a:p>
          <a:p>
            <a:r>
              <a:rPr lang="en-US" altLang="ko-KR"/>
              <a:t>Root Project </a:t>
            </a:r>
            <a:r>
              <a:rPr lang="ko-KR" altLang="en-US"/>
              <a:t>를 하나 만들고</a:t>
            </a:r>
            <a:endParaRPr lang="en-US" altLang="ko-KR"/>
          </a:p>
          <a:p>
            <a:r>
              <a:rPr lang="ko-KR" altLang="en-US"/>
              <a:t>그 프로젝트에 다음의 코드를 </a:t>
            </a:r>
            <a:endParaRPr lang="en-US" altLang="ko-KR"/>
          </a:p>
          <a:p>
            <a:r>
              <a:rPr lang="ko-KR" altLang="en-US"/>
              <a:t>푸쉬하고 </a:t>
            </a:r>
            <a:r>
              <a:rPr lang="en-US" altLang="ko-KR"/>
              <a:t>, </a:t>
            </a:r>
            <a:r>
              <a:rPr lang="ko-KR" altLang="en-US"/>
              <a:t>풀 받으세요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그리고 로컬 피씨에 </a:t>
            </a:r>
            <a:r>
              <a:rPr lang="en-US" altLang="ko-KR"/>
              <a:t>Git Pull </a:t>
            </a:r>
            <a:r>
              <a:rPr lang="ko-KR" altLang="en-US"/>
              <a:t>하세요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https://github.com/313DEVGRP/Java-Service-Tree-Framework</a:t>
            </a:r>
          </a:p>
        </p:txBody>
      </p:sp>
    </p:spTree>
    <p:extLst>
      <p:ext uri="{BB962C8B-B14F-4D97-AF65-F5344CB8AC3E}">
        <p14:creationId xmlns:p14="http://schemas.microsoft.com/office/powerpoint/2010/main" val="3557924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CC44-BFC2-AD0F-390A-B9F535BA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F3DC2C49-D969-8B5F-857C-FD478C7841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①②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C06C4B-A4D9-3117-6B69-4EFDE1F7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2" y="714819"/>
            <a:ext cx="8304764" cy="5949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230CE5-5C4C-60C3-AB1A-8946450FD207}"/>
              </a:ext>
            </a:extLst>
          </p:cNvPr>
          <p:cNvSpPr txBox="1"/>
          <p:nvPr/>
        </p:nvSpPr>
        <p:spPr>
          <a:xfrm>
            <a:off x="209360" y="714819"/>
            <a:ext cx="280206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14</a:t>
            </a:r>
            <a:r>
              <a:rPr lang="ko-KR" altLang="en-US"/>
              <a:t>페이지 </a:t>
            </a:r>
            <a:r>
              <a:rPr lang="en-US" altLang="ko-KR"/>
              <a:t>2</a:t>
            </a:r>
            <a:r>
              <a:rPr lang="ko-KR" altLang="en-US"/>
              <a:t>번 마크는 파워쉘에서 하는 경우도 있는데</a:t>
            </a:r>
            <a:r>
              <a:rPr lang="en-US" altLang="ko-KR"/>
              <a:t>, </a:t>
            </a:r>
            <a:r>
              <a:rPr lang="ko-KR" altLang="en-US"/>
              <a:t>인텔리제이 안에서 플러그인 </a:t>
            </a:r>
            <a:r>
              <a:rPr lang="en-US" altLang="ko-KR"/>
              <a:t>( Claude ) </a:t>
            </a:r>
            <a:r>
              <a:rPr lang="ko-KR" altLang="en-US"/>
              <a:t>를 설치하면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다음과 같은 화면을 볼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화면을 통해서 지속적으로 개발을 이어갈 것이다</a:t>
            </a:r>
            <a:r>
              <a:rPr lang="en-US" altLang="ko-KR"/>
              <a:t>.</a:t>
            </a:r>
          </a:p>
          <a:p>
            <a:r>
              <a:rPr lang="en-US" altLang="ko-KR"/>
              <a:t>( No. </a:t>
            </a:r>
            <a:r>
              <a:rPr lang="ko-KR" altLang="en-US"/>
              <a:t>브라우저</a:t>
            </a:r>
            <a:r>
              <a:rPr lang="en-US" altLang="ko-KR"/>
              <a:t>, No Desktop</a:t>
            </a:r>
            <a:r>
              <a:rPr lang="ko-KR" altLang="en-US"/>
              <a:t> </a:t>
            </a:r>
            <a:r>
              <a:rPr lang="en-US" altLang="ko-KR"/>
              <a:t>App )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아래쪽 터미널에서 </a:t>
            </a:r>
            <a:r>
              <a:rPr lang="en-US" altLang="ko-KR"/>
              <a:t>“claude” </a:t>
            </a:r>
            <a:r>
              <a:rPr lang="ko-KR" altLang="en-US"/>
              <a:t>명령어를 실행하고 </a:t>
            </a:r>
            <a:r>
              <a:rPr lang="en-US" altLang="ko-KR"/>
              <a:t>17</a:t>
            </a:r>
            <a:r>
              <a:rPr lang="ko-KR" altLang="en-US"/>
              <a:t>페이지의 명령어를 수행하면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또한 클로드에 브라우저 스타일로 명령을 하는 방식은</a:t>
            </a:r>
            <a:endParaRPr lang="en-US" altLang="ko-KR"/>
          </a:p>
          <a:p>
            <a:r>
              <a:rPr lang="ko-KR" altLang="en-US"/>
              <a:t>우측 상단에 질의를 하면 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095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③④⑤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1" y="1323436"/>
            <a:ext cx="8155855" cy="45872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54935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3945DB-322F-46D4-8E80-BCC440728498}"/>
              </a:ext>
            </a:extLst>
          </p:cNvPr>
          <p:cNvSpPr/>
          <p:nvPr/>
        </p:nvSpPr>
        <p:spPr>
          <a:xfrm>
            <a:off x="2926135" y="4007866"/>
            <a:ext cx="955752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37875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D53630B-8EF9-4BE3-A13E-B33C6A457904}"/>
              </a:ext>
            </a:extLst>
          </p:cNvPr>
          <p:cNvSpPr>
            <a:spLocks noChangeAspect="1"/>
          </p:cNvSpPr>
          <p:nvPr/>
        </p:nvSpPr>
        <p:spPr>
          <a:xfrm>
            <a:off x="2791135" y="3817878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813CC6-723F-42CB-8380-855DB25349DC}"/>
              </a:ext>
            </a:extLst>
          </p:cNvPr>
          <p:cNvSpPr/>
          <p:nvPr/>
        </p:nvSpPr>
        <p:spPr>
          <a:xfrm>
            <a:off x="741562" y="4563971"/>
            <a:ext cx="1509932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A9D1BDE-56EB-431F-B72B-5C1A7DB0541A}"/>
              </a:ext>
            </a:extLst>
          </p:cNvPr>
          <p:cNvSpPr>
            <a:spLocks noChangeAspect="1"/>
          </p:cNvSpPr>
          <p:nvPr/>
        </p:nvSpPr>
        <p:spPr>
          <a:xfrm>
            <a:off x="624336" y="4430353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BCC0D627-4E2A-4851-934D-B946F9FF73A9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</p:spTree>
    <p:extLst>
      <p:ext uri="{BB962C8B-B14F-4D97-AF65-F5344CB8AC3E}">
        <p14:creationId xmlns:p14="http://schemas.microsoft.com/office/powerpoint/2010/main" val="2551042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1" y="1323436"/>
            <a:ext cx="8155855" cy="458721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509347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92287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90CB3539-1604-41F7-86F7-19FD485D529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</p:spTree>
    <p:extLst>
      <p:ext uri="{BB962C8B-B14F-4D97-AF65-F5344CB8AC3E}">
        <p14:creationId xmlns:p14="http://schemas.microsoft.com/office/powerpoint/2010/main" val="4156729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⑦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3" cy="458721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509347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92287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7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B14EC29-0100-40F0-905B-5E36E415F0CF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D971FA-2D5A-FAAE-70CE-93058AFFA447}"/>
              </a:ext>
            </a:extLst>
          </p:cNvPr>
          <p:cNvSpPr/>
          <p:nvPr/>
        </p:nvSpPr>
        <p:spPr>
          <a:xfrm>
            <a:off x="1894907" y="5490024"/>
            <a:ext cx="1165927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064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3" cy="458720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509347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92287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D2D5766-9E24-48B0-A7EB-BA62B046864C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</p:spTree>
    <p:extLst>
      <p:ext uri="{BB962C8B-B14F-4D97-AF65-F5344CB8AC3E}">
        <p14:creationId xmlns:p14="http://schemas.microsoft.com/office/powerpoint/2010/main" val="2991824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⑨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2" cy="4587209"/>
          </a:xfrm>
          <a:prstGeom prst="rect">
            <a:avLst/>
          </a:prstGeom>
        </p:spPr>
      </p:pic>
      <p:sp>
        <p:nvSpPr>
          <p:cNvPr id="35" name="Shape 6">
            <a:extLst>
              <a:ext uri="{FF2B5EF4-FFF2-40B4-BE49-F238E27FC236}">
                <a16:creationId xmlns:a16="http://schemas.microsoft.com/office/drawing/2014/main" id="{C0596C7C-7ABE-4399-AEB6-6602BB68A4A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281933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111339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9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5562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ADEFD382-1FE2-4366-1CE9-89155796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779A3724-8726-DD0E-01DE-46AA2A4230C0}"/>
              </a:ext>
            </a:extLst>
          </p:cNvPr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8BC297E1-26D0-8E39-E986-BBF4AB980C31}"/>
              </a:ext>
            </a:extLst>
          </p:cNvPr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377A8FC6-6F0E-FDFF-1BCD-F815BB1BF3EC}"/>
              </a:ext>
            </a:extLst>
          </p:cNvPr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C47F3021-9489-3E82-9EFB-EA00FAA66F6F}"/>
              </a:ext>
            </a:extLst>
          </p:cNvPr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777ECA11-45F0-69DE-E2E6-08BAD642C65D}"/>
              </a:ext>
            </a:extLst>
          </p:cNvPr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A3127DDB-2FF4-F35F-58CC-76F25A039479}"/>
              </a:ext>
            </a:extLst>
          </p:cNvPr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R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(</a:t>
            </a:r>
            <a:r>
              <a:rPr lang="ko-KR" altLang="en-US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스타터</a:t>
            </a:r>
            <a:r>
              <a:rPr lang="en-US" altLang="ko-KR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480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Multi-agent</a:t>
            </a:r>
            <a:r>
              <a:rPr lang="ko-KR" altLang="en-US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System </a:t>
            </a:r>
            <a:r>
              <a:rPr lang="ko-KR" altLang="en-US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구성</a:t>
            </a:r>
            <a:endParaRPr lang="en-US" altLang="ko-KR" sz="4800" dirty="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4CDA689C-1461-A4D3-C559-F83C12083480}"/>
              </a:ext>
            </a:extLst>
          </p:cNvPr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B87F2134-86F0-8103-9D78-CD18904F75DB}"/>
              </a:ext>
            </a:extLst>
          </p:cNvPr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4D334C8D-1D1B-53AD-811F-9AAF3273355F}"/>
              </a:ext>
            </a:extLst>
          </p:cNvPr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EA9E21F8-A5C4-D22B-5CBD-936222B6E6A7}"/>
              </a:ext>
            </a:extLst>
          </p:cNvPr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353EAE59-66A9-891D-BF2B-ED5887C799A4}"/>
              </a:ext>
            </a:extLst>
          </p:cNvPr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DB89350B-628D-A2D1-2DA7-ECE1888C032B}"/>
              </a:ext>
            </a:extLst>
          </p:cNvPr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58C141A9-DC8E-7C81-18E2-03340697452D}"/>
              </a:ext>
            </a:extLst>
          </p:cNvPr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AE153162-596D-8510-0BFA-385F5A2D6785}"/>
              </a:ext>
            </a:extLst>
          </p:cNvPr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>
            <a:extLst>
              <a:ext uri="{FF2B5EF4-FFF2-40B4-BE49-F238E27FC236}">
                <a16:creationId xmlns:a16="http://schemas.microsoft.com/office/drawing/2014/main" id="{199511D5-C38D-AF9E-FF51-B4325DFEC2E3}"/>
              </a:ext>
            </a:extLst>
          </p:cNvPr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>
            <a:extLst>
              <a:ext uri="{FF2B5EF4-FFF2-40B4-BE49-F238E27FC236}">
                <a16:creationId xmlns:a16="http://schemas.microsoft.com/office/drawing/2014/main" id="{CF3237DC-DFA0-AC7E-5359-15F930CC203A}"/>
              </a:ext>
            </a:extLst>
          </p:cNvPr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>
            <a:extLst>
              <a:ext uri="{FF2B5EF4-FFF2-40B4-BE49-F238E27FC236}">
                <a16:creationId xmlns:a16="http://schemas.microsoft.com/office/drawing/2014/main" id="{C1BD5476-7295-87B2-63B3-D81AA39D5A6E}"/>
              </a:ext>
            </a:extLst>
          </p:cNvPr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>
            <a:extLst>
              <a:ext uri="{FF2B5EF4-FFF2-40B4-BE49-F238E27FC236}">
                <a16:creationId xmlns:a16="http://schemas.microsoft.com/office/drawing/2014/main" id="{0433A6CE-245A-0E9D-DF65-2DA0F9922229}"/>
              </a:ext>
            </a:extLst>
          </p:cNvPr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>
            <a:extLst>
              <a:ext uri="{FF2B5EF4-FFF2-40B4-BE49-F238E27FC236}">
                <a16:creationId xmlns:a16="http://schemas.microsoft.com/office/drawing/2014/main" id="{FB72A03F-95F9-7C96-4D1F-E2E4FBC2B91C}"/>
              </a:ext>
            </a:extLst>
          </p:cNvPr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>
            <a:extLst>
              <a:ext uri="{FF2B5EF4-FFF2-40B4-BE49-F238E27FC236}">
                <a16:creationId xmlns:a16="http://schemas.microsoft.com/office/drawing/2014/main" id="{E1376734-7C4E-35DE-E3B1-816369CCD53A}"/>
              </a:ext>
            </a:extLst>
          </p:cNvPr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4790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①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2" cy="458720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4386107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215513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B9B90E5-2904-4EB1-84ED-4396A699ED6A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693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②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3" y="1323436"/>
            <a:ext cx="8155850" cy="458720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963408"/>
            <a:ext cx="8057473" cy="5309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79281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270E4AC-3434-4975-AA3C-6874FB1AA9DD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881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③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3" y="1323436"/>
            <a:ext cx="8155850" cy="458720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963408"/>
            <a:ext cx="8057473" cy="4466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79281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7B72A6E-1CB5-4BC1-B7C1-700F9F674606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79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④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4" y="1323436"/>
            <a:ext cx="8155848" cy="458720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963408"/>
            <a:ext cx="8057473" cy="15039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79281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6372ED8F-C555-4950-A408-35707F944218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728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⑤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4" y="1323436"/>
            <a:ext cx="8155848" cy="458720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562350"/>
            <a:ext cx="8057473" cy="1228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34514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2FC2494-33EE-473D-B3C5-C8ED22B71D6F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280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⑤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4" y="1327550"/>
            <a:ext cx="8155848" cy="457897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3533775" y="2552700"/>
            <a:ext cx="4895850" cy="30765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3398550" y="24177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23CF54B-FDBF-4936-9E45-43F051E2537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247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5" y="1323436"/>
            <a:ext cx="8155846" cy="458720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581275"/>
            <a:ext cx="8057473" cy="27622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04926" y="244475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4A6965-0496-483B-BED2-4D1649226AA1}"/>
              </a:ext>
            </a:extLst>
          </p:cNvPr>
          <p:cNvCxnSpPr/>
          <p:nvPr/>
        </p:nvCxnSpPr>
        <p:spPr>
          <a:xfrm>
            <a:off x="5419725" y="2809875"/>
            <a:ext cx="154305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6">
            <a:extLst>
              <a:ext uri="{FF2B5EF4-FFF2-40B4-BE49-F238E27FC236}">
                <a16:creationId xmlns:a16="http://schemas.microsoft.com/office/drawing/2014/main" id="{89C83319-B8FB-438C-85C1-CDFCB6B82A85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0325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5" y="1323436"/>
            <a:ext cx="8155846" cy="458720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976302"/>
            <a:ext cx="8057473" cy="1275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2839777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4A6965-0496-483B-BED2-4D1649226AA1}"/>
              </a:ext>
            </a:extLst>
          </p:cNvPr>
          <p:cNvCxnSpPr>
            <a:cxnSpLocks/>
          </p:cNvCxnSpPr>
          <p:nvPr/>
        </p:nvCxnSpPr>
        <p:spPr>
          <a:xfrm>
            <a:off x="4010025" y="4181475"/>
            <a:ext cx="23526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4490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⑦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5" y="1341911"/>
            <a:ext cx="8155846" cy="455025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2590800" y="1657349"/>
            <a:ext cx="6190891" cy="3190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2455575" y="1520824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7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D17AF32-DBC2-41F8-B31D-5419EC2330D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B61E27-22DD-46B4-860A-EF1FC11CED9D}"/>
              </a:ext>
            </a:extLst>
          </p:cNvPr>
          <p:cNvSpPr/>
          <p:nvPr/>
        </p:nvSpPr>
        <p:spPr>
          <a:xfrm>
            <a:off x="3467100" y="1772825"/>
            <a:ext cx="270450" cy="9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11478C-046E-4393-9F20-76A333263BDE}"/>
              </a:ext>
            </a:extLst>
          </p:cNvPr>
          <p:cNvSpPr/>
          <p:nvPr/>
        </p:nvSpPr>
        <p:spPr>
          <a:xfrm>
            <a:off x="1019175" y="3944525"/>
            <a:ext cx="270450" cy="9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957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4" cy="458720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976301"/>
            <a:ext cx="8057473" cy="19113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2839777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(1, 2, 3)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8A8D72-19C4-43F3-AEF3-F4FCE5EB8E0B}"/>
              </a:ext>
            </a:extLst>
          </p:cNvPr>
          <p:cNvSpPr/>
          <p:nvPr/>
        </p:nvSpPr>
        <p:spPr>
          <a:xfrm>
            <a:off x="724218" y="1614043"/>
            <a:ext cx="8057473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59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4" cy="45872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1647825"/>
            <a:ext cx="8057473" cy="30194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151282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(1, 2, 3)</a:t>
            </a:r>
          </a:p>
        </p:txBody>
      </p:sp>
    </p:spTree>
    <p:extLst>
      <p:ext uri="{BB962C8B-B14F-4D97-AF65-F5344CB8AC3E}">
        <p14:creationId xmlns:p14="http://schemas.microsoft.com/office/powerpoint/2010/main" val="30458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4" cy="45872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219325"/>
            <a:ext cx="8057473" cy="256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20828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(1, 2, 3)</a:t>
            </a:r>
          </a:p>
        </p:txBody>
      </p:sp>
    </p:spTree>
    <p:extLst>
      <p:ext uri="{BB962C8B-B14F-4D97-AF65-F5344CB8AC3E}">
        <p14:creationId xmlns:p14="http://schemas.microsoft.com/office/powerpoint/2010/main" val="85238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4B924039-8F0D-9C8A-773E-DA89C5E9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F5B8AC51-8DFE-8536-E3F7-74DFC40AC94F}"/>
              </a:ext>
            </a:extLst>
          </p:cNvPr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6A4E4C21-74BE-0811-33E7-57B72CBF0CAA}"/>
              </a:ext>
            </a:extLst>
          </p:cNvPr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0C3C1EE9-65AF-C361-532F-D2573F429C8A}"/>
              </a:ext>
            </a:extLst>
          </p:cNvPr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ED529027-769D-B975-F90C-39BC9EE19FC2}"/>
              </a:ext>
            </a:extLst>
          </p:cNvPr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EDB60AA3-8EB1-3EEB-DB3A-0355D5331D5D}"/>
              </a:ext>
            </a:extLst>
          </p:cNvPr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9AB5C87F-1D3C-FAC7-96F6-17D30D9EF203}"/>
              </a:ext>
            </a:extLst>
          </p:cNvPr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-US" altLang="ko-KR" sz="480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TUI  </a:t>
            </a:r>
            <a:r>
              <a:rPr lang="ko-KR" altLang="en-US" sz="480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모니터링 툴 설치</a:t>
            </a:r>
            <a:endParaRPr lang="en-US" altLang="ko-KR" sz="4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9386B59A-1AE6-E947-A1F7-F15291DDB97F}"/>
              </a:ext>
            </a:extLst>
          </p:cNvPr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C7F9F7D8-6F94-35E6-608A-3ACB655AA8C2}"/>
              </a:ext>
            </a:extLst>
          </p:cNvPr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583956C6-B4B6-580B-E408-B447094D7E91}"/>
              </a:ext>
            </a:extLst>
          </p:cNvPr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0DC68737-C09F-2EFA-F5A2-998203FEC8DD}"/>
              </a:ext>
            </a:extLst>
          </p:cNvPr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8D3F9B0C-5F96-34DB-21EF-DF68D0FFC1F5}"/>
              </a:ext>
            </a:extLst>
          </p:cNvPr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2D336683-8823-A93E-BB00-C34CC06D2E2C}"/>
              </a:ext>
            </a:extLst>
          </p:cNvPr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882C8236-A7EE-AA31-BAD0-D30885B54132}"/>
              </a:ext>
            </a:extLst>
          </p:cNvPr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6C3ABA9E-EFF0-E3EF-9365-A6B90E52CBE1}"/>
              </a:ext>
            </a:extLst>
          </p:cNvPr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>
            <a:extLst>
              <a:ext uri="{FF2B5EF4-FFF2-40B4-BE49-F238E27FC236}">
                <a16:creationId xmlns:a16="http://schemas.microsoft.com/office/drawing/2014/main" id="{A14DF091-313F-9A23-5A89-D87C1418343D}"/>
              </a:ext>
            </a:extLst>
          </p:cNvPr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>
            <a:extLst>
              <a:ext uri="{FF2B5EF4-FFF2-40B4-BE49-F238E27FC236}">
                <a16:creationId xmlns:a16="http://schemas.microsoft.com/office/drawing/2014/main" id="{81DD48E1-49D7-639A-6550-6D275E795168}"/>
              </a:ext>
            </a:extLst>
          </p:cNvPr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>
            <a:extLst>
              <a:ext uri="{FF2B5EF4-FFF2-40B4-BE49-F238E27FC236}">
                <a16:creationId xmlns:a16="http://schemas.microsoft.com/office/drawing/2014/main" id="{86165FB5-C935-6854-FB0F-AB03D61FE9ED}"/>
              </a:ext>
            </a:extLst>
          </p:cNvPr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>
            <a:extLst>
              <a:ext uri="{FF2B5EF4-FFF2-40B4-BE49-F238E27FC236}">
                <a16:creationId xmlns:a16="http://schemas.microsoft.com/office/drawing/2014/main" id="{EC37A6B2-5E7C-EEEC-34BA-869E807A4332}"/>
              </a:ext>
            </a:extLst>
          </p:cNvPr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>
            <a:extLst>
              <a:ext uri="{FF2B5EF4-FFF2-40B4-BE49-F238E27FC236}">
                <a16:creationId xmlns:a16="http://schemas.microsoft.com/office/drawing/2014/main" id="{FCF5AF26-E715-5A61-F8F6-4B2E922E90D5}"/>
              </a:ext>
            </a:extLst>
          </p:cNvPr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>
            <a:extLst>
              <a:ext uri="{FF2B5EF4-FFF2-40B4-BE49-F238E27FC236}">
                <a16:creationId xmlns:a16="http://schemas.microsoft.com/office/drawing/2014/main" id="{9CC60AA6-6241-BAD4-F2F6-9348AE7EB1F5}"/>
              </a:ext>
            </a:extLst>
          </p:cNvPr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9673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en-US" altLang="ko-KR" sz="2000" dirty="0"/>
              <a:t>(MAC)</a:t>
            </a:r>
            <a:r>
              <a:rPr lang="ko-KR" altLang="en-US" sz="2000" dirty="0"/>
              <a:t> </a:t>
            </a:r>
            <a:r>
              <a:rPr lang="ko-KR" altLang="en-US" dirty="0"/>
              <a:t>①</a:t>
            </a:r>
            <a:endParaRPr lang="en-US" altLang="ko-KR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C0596C7C-7ABE-4399-AEB6-6602BB68A4A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명령어 실행</a:t>
            </a:r>
            <a:b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brew install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/tab/mat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→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모니터링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및 실행 ⑤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    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모니터링 할 디렉토리 설정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→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모니터링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및 실행 ⑥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    (mat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ko-KR" altLang="en-US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BE377A-8B74-BE06-02DE-66FFAC2243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6909" y="1417482"/>
            <a:ext cx="7391400" cy="439911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76D8283-90CF-4DBA-B3FD-BF600B82B445}"/>
              </a:ext>
            </a:extLst>
          </p:cNvPr>
          <p:cNvSpPr/>
          <p:nvPr/>
        </p:nvSpPr>
        <p:spPr>
          <a:xfrm>
            <a:off x="1141340" y="1932033"/>
            <a:ext cx="4249810" cy="1705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1006115" y="1775019"/>
            <a:ext cx="374784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2227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4912-9452-E591-4BFB-A1120DFE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DC58EA2-7DA6-D222-4DDA-1918F7DAF643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6A52A466-0828-4F9B-275E-2C32E868CD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</a:t>
            </a:r>
            <a:r>
              <a:rPr lang="en-US" altLang="ko-KR" sz="2000" dirty="0"/>
              <a:t>(Windows) </a:t>
            </a:r>
            <a:r>
              <a:rPr lang="ko-KR" altLang="en-US" dirty="0"/>
              <a:t>①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73D92C6-005D-D625-C00D-19692DFC3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3" y="1323436"/>
            <a:ext cx="8155850" cy="4587207"/>
          </a:xfrm>
          <a:prstGeom prst="rect">
            <a:avLst/>
          </a:prstGeom>
        </p:spPr>
      </p:pic>
      <p:sp>
        <p:nvSpPr>
          <p:cNvPr id="35" name="Shape 6">
            <a:extLst>
              <a:ext uri="{FF2B5EF4-FFF2-40B4-BE49-F238E27FC236}">
                <a16:creationId xmlns:a16="http://schemas.microsoft.com/office/drawing/2014/main" id="{EA5DB426-305D-1B32-46BA-7E27312C2F95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mat.exe)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AD8F58-F7BB-5F2E-04CD-74E6F382DE70}"/>
              </a:ext>
            </a:extLst>
          </p:cNvPr>
          <p:cNvSpPr/>
          <p:nvPr/>
        </p:nvSpPr>
        <p:spPr>
          <a:xfrm>
            <a:off x="1866901" y="3876675"/>
            <a:ext cx="2914650" cy="11620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6F630A74-80F3-5837-CADE-398534FEE6E8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43F1C6-29D9-C00B-28DD-7A138C5F4782}"/>
              </a:ext>
            </a:extLst>
          </p:cNvPr>
          <p:cNvSpPr/>
          <p:nvPr/>
        </p:nvSpPr>
        <p:spPr>
          <a:xfrm>
            <a:off x="724219" y="2376533"/>
            <a:ext cx="3066732" cy="1705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84EBEC8-6CEB-CB5E-4FE7-6212A20DB61D}"/>
              </a:ext>
            </a:extLst>
          </p:cNvPr>
          <p:cNvSpPr/>
          <p:nvPr/>
        </p:nvSpPr>
        <p:spPr>
          <a:xfrm>
            <a:off x="588994" y="2219519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785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</a:t>
            </a:r>
            <a:r>
              <a:rPr lang="en-US" altLang="ko-KR" sz="2000" dirty="0"/>
              <a:t>(Windows) </a:t>
            </a:r>
            <a:r>
              <a:rPr lang="ko-KR" altLang="en-US" dirty="0"/>
              <a:t>②③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3" cy="45872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1628775"/>
            <a:ext cx="8057473" cy="24860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149377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F54D258-C716-4834-98D3-E8955A32C8D4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.exe . )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E8B8F52-026F-46B8-AB60-00086A9EF2B2}"/>
              </a:ext>
            </a:extLst>
          </p:cNvPr>
          <p:cNvSpPr/>
          <p:nvPr/>
        </p:nvSpPr>
        <p:spPr>
          <a:xfrm>
            <a:off x="588993" y="175955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70767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</a:t>
            </a:r>
            <a:r>
              <a:rPr lang="en-US" altLang="ko-KR" sz="2000" dirty="0"/>
              <a:t>(Windows) </a:t>
            </a:r>
            <a:r>
              <a:rPr lang="ko-KR" altLang="en-US" dirty="0"/>
              <a:t>④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3" cy="458720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200400"/>
            <a:ext cx="8057473" cy="2514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30654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F54D258-C716-4834-98D3-E8955A32C8D4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o</a:t>
            </a:r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mat.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exe</a:t>
            </a:r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　． 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윈도우에서 오류시 </a:t>
            </a:r>
            <a:endParaRPr lang="en-US" altLang="ko-KR" sz="120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$env:Path += ";C:\Program Files\Go\bin;$env:USERPROFILE\go\bin“ </a:t>
            </a:r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endParaRPr lang="en-US" altLang="ko-KR" sz="120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</p:spTree>
    <p:extLst>
      <p:ext uri="{BB962C8B-B14F-4D97-AF65-F5344CB8AC3E}">
        <p14:creationId xmlns:p14="http://schemas.microsoft.com/office/powerpoint/2010/main" val="3861143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6162-9444-F117-A44A-EAF9C6BA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07C0E31-AD18-C975-A19F-E24C4A8CD4BE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09FB3C09-086A-215B-60EE-CCDB68D350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⑤⑥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70CD82A-EDB5-12FA-424D-81B0714CEA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7" y="1323436"/>
            <a:ext cx="8155842" cy="80158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DB331B2-6FAE-3485-E4E0-3762BE522FA3}"/>
              </a:ext>
            </a:extLst>
          </p:cNvPr>
          <p:cNvSpPr/>
          <p:nvPr/>
        </p:nvSpPr>
        <p:spPr>
          <a:xfrm>
            <a:off x="724218" y="1628777"/>
            <a:ext cx="8057473" cy="3053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2D5D406-00C0-2DA9-26AA-3851BC921CA0}"/>
              </a:ext>
            </a:extLst>
          </p:cNvPr>
          <p:cNvSpPr/>
          <p:nvPr/>
        </p:nvSpPr>
        <p:spPr>
          <a:xfrm>
            <a:off x="588993" y="149377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CCE460F5-6055-61DF-C5A0-5AEC032BA555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A842F97-31A7-34A1-3A13-7B9C679994E3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.exe . )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50B77D-0CA0-3F27-17EF-72E31A1835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7" y="2214120"/>
            <a:ext cx="8155842" cy="80158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4DE1A3-AA59-9144-1506-67F489D32D09}"/>
              </a:ext>
            </a:extLst>
          </p:cNvPr>
          <p:cNvSpPr/>
          <p:nvPr/>
        </p:nvSpPr>
        <p:spPr>
          <a:xfrm>
            <a:off x="724218" y="2710363"/>
            <a:ext cx="8057473" cy="3053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C50066C-BF70-FECD-0F05-A73E4EEC6EEC}"/>
              </a:ext>
            </a:extLst>
          </p:cNvPr>
          <p:cNvSpPr/>
          <p:nvPr/>
        </p:nvSpPr>
        <p:spPr>
          <a:xfrm>
            <a:off x="571546" y="2584541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A9B1D59-B72E-9245-84BE-C71F090A3CB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7" y="3104803"/>
            <a:ext cx="8155842" cy="288818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1AF637-8B61-4BC0-5730-226D51FCE4E9}"/>
              </a:ext>
            </a:extLst>
          </p:cNvPr>
          <p:cNvSpPr/>
          <p:nvPr/>
        </p:nvSpPr>
        <p:spPr>
          <a:xfrm>
            <a:off x="724218" y="3475223"/>
            <a:ext cx="8057473" cy="25177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0EEDC69-4EA9-C3CE-2367-683C2DE8C58E}"/>
              </a:ext>
            </a:extLst>
          </p:cNvPr>
          <p:cNvSpPr/>
          <p:nvPr/>
        </p:nvSpPr>
        <p:spPr>
          <a:xfrm>
            <a:off x="571546" y="3349402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9160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B8F239E-7C28-0467-67B3-29D411F3D9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sz="1600"/>
              <a:t>$env:KNOT_VAULT = "C:\DEV\sourcecode\Java-Service-Tree-Framework\knot-vault"</a:t>
            </a:r>
          </a:p>
          <a:p>
            <a:endParaRPr lang="en-US" altLang="ko-KR" sz="1600"/>
          </a:p>
          <a:p>
            <a:r>
              <a:rPr lang="ko-KR" altLang="en-US" sz="1600"/>
              <a:t>컨테스트 파일에 </a:t>
            </a:r>
            <a:r>
              <a:rPr lang="en-US" altLang="ko-KR" sz="1600"/>
              <a:t>knot </a:t>
            </a:r>
            <a:r>
              <a:rPr lang="ko-KR" altLang="en-US" sz="1600"/>
              <a:t>자동층</a:t>
            </a:r>
            <a:r>
              <a:rPr lang="en-US" altLang="ko-KR" sz="1600"/>
              <a:t>(</a:t>
            </a:r>
            <a:r>
              <a:rPr lang="ko-KR" altLang="en-US" sz="1600"/>
              <a:t>관리블록</a:t>
            </a:r>
            <a:r>
              <a:rPr lang="en-US" altLang="ko-KR" sz="1600"/>
              <a:t>)</a:t>
            </a:r>
            <a:r>
              <a:rPr lang="ko-KR" altLang="en-US" sz="1600"/>
              <a:t>을 추가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endParaRPr lang="en-US" altLang="ko-KR" sz="1600"/>
          </a:p>
          <a:p>
            <a:r>
              <a:rPr lang="ko-KR" altLang="ko-KR" sz="1600" b="1"/>
              <a:t>knot 플러그인이란</a:t>
            </a:r>
          </a:p>
          <a:p>
            <a:r>
              <a:rPr lang="ko-KR" altLang="ko-KR" sz="1600"/>
              <a:t>$KNOT_VAULT 지식 vault를 다루는 </a:t>
            </a:r>
            <a:r>
              <a:rPr lang="ko-KR" altLang="ko-KR" sz="1600" b="1"/>
              <a:t>동작 4개(verb)</a:t>
            </a:r>
            <a:r>
              <a:rPr lang="ko-KR" altLang="ko-KR" sz="1600"/>
              <a:t> 스킬입니다. 핵심 설계는 </a:t>
            </a:r>
            <a:r>
              <a:rPr lang="ko-KR" altLang="ko-KR" sz="1600" b="1"/>
              <a:t>"로직은 vault에만 있다"</a:t>
            </a:r>
            <a:r>
              <a:rPr lang="ko-KR" altLang="ko-KR" sz="1600"/>
              <a:t> — 플러그인은 $KNOT_VAULT/prompts/·scripts/를 가리키는 얇은 shim일 뿐입니다. 절차를 고칠 땐 vault 한 곳만 고칩니다(정본 단일화). 덕분에 Claude Code·Codex·agy 어디서 불러도 같은 vault prompts를 타서 결과가 같습니다.</a:t>
            </a:r>
          </a:p>
          <a:p>
            <a:r>
              <a:rPr lang="ko-KR" altLang="ko-KR" sz="1600" b="1"/>
              <a:t>지식 추가하는 방법 — 2단계</a:t>
            </a:r>
          </a:p>
          <a:p>
            <a:r>
              <a:rPr lang="ko-KR" altLang="ko-KR" sz="1600"/>
              <a:t>핵심은 </a:t>
            </a:r>
            <a:r>
              <a:rPr lang="ko-KR" altLang="ko-KR" sz="1600" b="1"/>
              <a:t>저장과 컴파일이 분리</a:t>
            </a:r>
            <a:r>
              <a:rPr lang="ko-KR" altLang="ko-KR" sz="1600"/>
              <a:t>돼 있다는 점입니다.</a:t>
            </a:r>
          </a:p>
          <a:p>
            <a:r>
              <a:rPr lang="ko-KR" altLang="ko-KR" sz="1600" b="1"/>
              <a:t>① </a:t>
            </a:r>
            <a:r>
              <a:rPr lang="ko-KR" altLang="ko-KR" sz="1600"/>
              <a:t>save</a:t>
            </a:r>
            <a:r>
              <a:rPr lang="ko-KR" altLang="ko-KR" sz="1600" b="1"/>
              <a:t> — 원자료를 inbox에 넣기</a:t>
            </a:r>
            <a:endParaRPr lang="ko-KR" altLang="ko-KR" sz="1600"/>
          </a:p>
          <a:p>
            <a:r>
              <a:rPr lang="ko-KR" altLang="ko-KR" sz="1600"/>
              <a:t>"이거 knot에 저장해줘"   /   "vault에 넣어줘"</a:t>
            </a:r>
          </a:p>
          <a:p>
            <a:r>
              <a:rPr lang="ko-KR" altLang="ko-KR" sz="1600"/>
              <a:t>자료를 inbox/에 슬러그 파일로 저장하고 </a:t>
            </a:r>
            <a:r>
              <a:rPr lang="ko-KR" altLang="ko-KR" sz="1600" b="1"/>
              <a:t>그 파일만 커밋</a:t>
            </a:r>
            <a:r>
              <a:rPr lang="ko-KR" altLang="ko-KR" sz="1600"/>
              <a:t>합니다. 여기서 끝 — 아직 wiki에 반영되지 않습니다.</a:t>
            </a:r>
          </a:p>
          <a:p>
            <a:r>
              <a:rPr lang="ko-KR" altLang="ko-KR" sz="1600" b="1"/>
              <a:t>② </a:t>
            </a:r>
            <a:r>
              <a:rPr lang="ko-KR" altLang="ko-KR" sz="1600"/>
              <a:t>ingest</a:t>
            </a:r>
            <a:r>
              <a:rPr lang="ko-KR" altLang="ko-KR" sz="1600" b="1"/>
              <a:t> — inbox를 wiki로 컴파일</a:t>
            </a:r>
            <a:endParaRPr lang="ko-KR" altLang="ko-KR" sz="1600"/>
          </a:p>
          <a:p>
            <a:r>
              <a:rPr lang="ko-KR" altLang="ko-KR" sz="1600"/>
              <a:t>"knot ingest"   /   "지식그물 컴파일해줘"</a:t>
            </a:r>
          </a:p>
          <a:p>
            <a:r>
              <a:rPr lang="ko-KR" altLang="ko-KR" sz="1600"/>
              <a:t>prompts/ingest.md 규약대로 source/entity/concept 페이지를 만들고 [[교차링크]]·index.md·log.md를 갱신한 뒤, 원본을 raw/YYYY-MM-DD-*로 옮기고 lint→커밋합니다.</a:t>
            </a:r>
          </a:p>
          <a:p>
            <a:r>
              <a:rPr lang="ko-KR" altLang="ko-KR" sz="1600"/>
              <a:t>왜 나누나 — save가 커밋까지 하는 이유는 ingest 1단계의 </a:t>
            </a:r>
            <a:r>
              <a:rPr lang="ko-KR" altLang="ko-KR" sz="1600" b="1"/>
              <a:t>클린트리 가드</a:t>
            </a:r>
            <a:r>
              <a:rPr lang="ko-KR" altLang="ko-KR" sz="1600"/>
              <a:t>(더러우면 중단) 때문입니다. 커밋해두지 않으면 다음 ingest가 막힙니다.</a:t>
            </a:r>
          </a:p>
          <a:p>
            <a:r>
              <a:rPr lang="ko-KR" altLang="ko-KR" sz="1600" b="1"/>
              <a:t>나머지 2개</a:t>
            </a:r>
            <a:endParaRPr lang="ko-KR" altLang="ko-KR" sz="1600"/>
          </a:p>
          <a:p>
            <a:pPr lvl="0"/>
            <a:r>
              <a:rPr lang="ko-KR" altLang="ko-KR" sz="1600"/>
              <a:t>query — "knot에 물어봐". 근거기반 응답이고, vault에 근거가 없으면 **지어내지 않고 "근거 없음"**이라고 답합니다</a:t>
            </a:r>
          </a:p>
          <a:p>
            <a:pPr lvl="0"/>
            <a:r>
              <a:rPr lang="ko-KR" altLang="ko-KR" sz="1600"/>
              <a:t>lint — "vault 건강검진". scripts/lint.py(기계) + prompts/lint.md(의미 진찰: 모순·stale·고아)</a:t>
            </a:r>
          </a:p>
          <a:p>
            <a:r>
              <a:rPr lang="ko-KR" altLang="ko-KR" sz="1600"/>
              <a:t>무인 운용(scripts/drain.sh를 스케줄러에 등록)도 있지만 </a:t>
            </a:r>
            <a:r>
              <a:rPr lang="ko-KR" altLang="ko-KR" sz="1600" b="1"/>
              <a:t>기본 OFF</a:t>
            </a:r>
            <a:r>
              <a:rPr lang="ko-KR" altLang="ko-KR" sz="1600"/>
              <a:t>이고 물어본 뒤에만 등록합니다</a:t>
            </a:r>
          </a:p>
          <a:p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7371284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3C66-1EBA-4BE4-43CC-C54D526D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6CF62894-C25B-A8DB-4D5F-9C92063775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모니터링</a:t>
            </a:r>
            <a:r>
              <a:rPr lang="en-US" altLang="ko-KR"/>
              <a:t> </a:t>
            </a:r>
            <a:r>
              <a:rPr lang="ko-KR" altLang="en-US"/>
              <a:t>설치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6922FF-8796-796F-F1B9-65B5E6F5D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532" y="714819"/>
            <a:ext cx="8304764" cy="5949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1B0811-4601-3E3E-7994-33BA0EA2494B}"/>
              </a:ext>
            </a:extLst>
          </p:cNvPr>
          <p:cNvSpPr txBox="1"/>
          <p:nvPr/>
        </p:nvSpPr>
        <p:spPr>
          <a:xfrm>
            <a:off x="209360" y="714819"/>
            <a:ext cx="27654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36</a:t>
            </a:r>
            <a:r>
              <a:rPr lang="ko-KR" altLang="en-US"/>
              <a:t>페이지</a:t>
            </a:r>
            <a:r>
              <a:rPr lang="en-US" altLang="ko-KR"/>
              <a:t>~40</a:t>
            </a:r>
            <a:r>
              <a:rPr lang="ko-KR" altLang="en-US"/>
              <a:t>페이지를 건너뛰고</a:t>
            </a:r>
            <a:endParaRPr lang="en-US" altLang="ko-KR"/>
          </a:p>
          <a:p>
            <a:endParaRPr lang="en-US" altLang="ko-KR"/>
          </a:p>
          <a:p>
            <a:r>
              <a:rPr lang="ko-KR" altLang="en-US">
                <a:hlinkClick r:id="rId4"/>
              </a:rPr>
              <a:t>https://github.com/313DEVGRP/Java-Service-Tree-Framework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 프로젝트를 로드했다면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터미널을 열어서</a:t>
            </a:r>
            <a:endParaRPr lang="en-US" altLang="ko-KR"/>
          </a:p>
          <a:p>
            <a:r>
              <a:rPr lang="en-US" altLang="ko-KR"/>
              <a:t>/monitoring </a:t>
            </a:r>
            <a:r>
              <a:rPr lang="ko-KR" altLang="en-US"/>
              <a:t>으로 이동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④ mat </a:t>
            </a:r>
            <a:r>
              <a:rPr lang="ko-KR" altLang="en-US"/>
              <a:t>빌드</a:t>
            </a:r>
          </a:p>
          <a:p>
            <a:r>
              <a:rPr lang="en-US" altLang="ko-KR"/>
              <a:t>( go build –o mat.exe . )</a:t>
            </a:r>
          </a:p>
          <a:p>
            <a:endParaRPr lang="en-US" altLang="ko-KR"/>
          </a:p>
          <a:p>
            <a:r>
              <a:rPr lang="en-US" altLang="ko-KR"/>
              <a:t>⑤ mat </a:t>
            </a:r>
            <a:r>
              <a:rPr lang="ko-KR" altLang="en-US"/>
              <a:t>실행 </a:t>
            </a:r>
            <a:r>
              <a:rPr lang="en-US" altLang="ko-KR"/>
              <a:t>– env </a:t>
            </a:r>
            <a:r>
              <a:rPr lang="ko-KR" altLang="en-US"/>
              <a:t>설정</a:t>
            </a:r>
          </a:p>
          <a:p>
            <a:endParaRPr lang="ko-KR" altLang="en-US"/>
          </a:p>
          <a:p>
            <a:r>
              <a:rPr lang="ko-KR" altLang="en-US"/>
              <a:t>⑥ </a:t>
            </a:r>
            <a:r>
              <a:rPr lang="en-US" altLang="ko-KR"/>
              <a:t>mat </a:t>
            </a:r>
            <a:r>
              <a:rPr lang="ko-KR" altLang="en-US"/>
              <a:t>실행 화면 </a:t>
            </a:r>
            <a:r>
              <a:rPr lang="en-US" altLang="ko-KR"/>
              <a:t>(.\mat.exe)</a:t>
            </a:r>
          </a:p>
          <a:p>
            <a:br>
              <a:rPr lang="en-US" altLang="ko-KR"/>
            </a:br>
            <a:r>
              <a:rPr lang="ko-KR" altLang="en-US"/>
              <a:t>실행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0836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24780-6739-689A-3709-23A7ECFA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2D6BC927-8303-8838-6D40-2ADF2B2881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클로드</a:t>
            </a:r>
            <a:r>
              <a:rPr lang="en-US" altLang="ko-KR"/>
              <a:t> </a:t>
            </a:r>
            <a:r>
              <a:rPr lang="ko-KR" altLang="en-US"/>
              <a:t>실행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E57525-B086-A65F-80D8-C5056F3C98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2" y="714819"/>
            <a:ext cx="8304764" cy="594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128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B1C5-8DB2-FFE1-8F8E-A418C915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72914F43-0961-10F0-A97B-3E8C5E854C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멀티에이전트와 서브에이전트의 설정 확인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7BB690-9F97-E620-8E52-7CC4D372C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3" y="714819"/>
            <a:ext cx="8304762" cy="594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578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60CE-E740-749E-C469-CB9F8D14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31FB1D91-29B9-0FC6-AC88-04B88E5257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오케스트레이션에서 </a:t>
            </a:r>
            <a:r>
              <a:rPr lang="en-US" altLang="ko-KR"/>
              <a:t>MSA </a:t>
            </a:r>
            <a:r>
              <a:rPr lang="ko-KR" altLang="en-US"/>
              <a:t>프로젝트를 로드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FD9457-C679-03F3-29E0-0A6FA3A646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3" y="714819"/>
            <a:ext cx="8304762" cy="594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45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8908-6112-CC29-BF42-7ABAC1FBF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4EA1AC91-AE51-E1E3-5ECB-E883E6E9E9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 구조에서 인공지능을 활용한 개발 방식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89F858-471A-AE7E-B246-0BE4630A9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3" y="714819"/>
            <a:ext cx="8304761" cy="594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54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09F9-D498-4EAD-17A5-2F9F3480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69FAFBDA-DBDE-C8FD-06CD-E43EC6BB3F5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모니터링 할 테스크 선택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A03644-F837-B0AC-C66F-8C4670F384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3" y="714819"/>
            <a:ext cx="8304761" cy="594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556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3634-D7A8-7D67-E9A9-97D0B208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12C20B68-4FA7-E462-9620-D2D6F5DC2B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에이전트 모니터링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4BE3E1-39B0-0F53-F5FD-E1A25D88F2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4" y="714819"/>
            <a:ext cx="8304759" cy="594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39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4196</Words>
  <Application>Microsoft Office PowerPoint</Application>
  <PresentationFormat>와이드스크린</PresentationFormat>
  <Paragraphs>817</Paragraphs>
  <Slides>48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5" baseType="lpstr">
      <vt:lpstr>Malgun Gothic</vt:lpstr>
      <vt:lpstr>프리젠테이션 5 Medium</vt:lpstr>
      <vt:lpstr>프리젠테이션 6 SemiBold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이동민</dc:creator>
  <cp:lastModifiedBy>민규 이</cp:lastModifiedBy>
  <cp:revision>28</cp:revision>
  <dcterms:modified xsi:type="dcterms:W3CDTF">2026-08-10T05:40:09Z</dcterms:modified>
</cp:coreProperties>
</file>